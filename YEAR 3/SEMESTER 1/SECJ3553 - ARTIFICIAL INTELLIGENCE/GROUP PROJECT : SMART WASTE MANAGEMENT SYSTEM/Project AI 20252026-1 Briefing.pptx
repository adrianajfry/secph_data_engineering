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9144000"/>
  <p:notesSz cx="6858000" cy="9144000"/>
  <p:embeddedFontLs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idLMZZcb+ApM/absZAfczwggrM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B91FB26-8CD8-4150-84DE-5954C83DBE40}">
  <a:tblStyle styleId="{BB91FB26-8CD8-4150-84DE-5954C83DBE40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</a:neCell>
    <a:nwCell>
      <a:tcTxStyle b="off" i="off"/>
    </a:nwCell>
  </a:tblStyle>
  <a:tblStyle styleId="{63D4C59A-1B88-4128-8D4D-7D4BE1DCD807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80D91BEC-1D3C-41D2-930B-A399E2BB072D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-bold.fntdata"/><Relationship Id="rId21" Type="http://schemas.openxmlformats.org/officeDocument/2006/relationships/slide" Target="slides/slide15.xml"/><Relationship Id="rId43" Type="http://schemas.openxmlformats.org/officeDocument/2006/relationships/font" Target="fonts/Roboto-regular.fntdata"/><Relationship Id="rId24" Type="http://schemas.openxmlformats.org/officeDocument/2006/relationships/slide" Target="slides/slide18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7.xml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ata-flair.training/blogs/heuristic-search-ai/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https://data-flair.training/blogs/heuristic-search-ai/</a:t>
            </a:r>
            <a:endParaRPr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d2a6f7be0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5" name="Google Shape;295;g38d2a6f7be0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https://www.mdpi.com/1424-8220/16/8/1224/htm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9" name="Google Shape;339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8" name="Google Shape;34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d2a6f7b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3" name="Google Shape;373;g38d2a6f7be0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https://link.springer.com/article/10.1007/s40860-016-0020-z</a:t>
            </a:r>
            <a:endParaRPr/>
          </a:p>
        </p:txBody>
      </p:sp>
      <p:sp>
        <p:nvSpPr>
          <p:cNvPr id="383" name="Google Shape;383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7" name="Google Shape;417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https://link.springer.com/article/10.1007/s40860-016-0020-z</a:t>
            </a:r>
            <a:endParaRPr/>
          </a:p>
        </p:txBody>
      </p:sp>
      <p:sp>
        <p:nvSpPr>
          <p:cNvPr id="435" name="Google Shape;435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37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9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9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0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0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41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1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4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42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2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3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3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4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7" name="Google Shape;67;p44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4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4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4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45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47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7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7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7.xml"/><Relationship Id="rId10" Type="http://schemas.openxmlformats.org/officeDocument/2006/relationships/slideLayout" Target="../slideLayouts/slideLayout6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1" Type="http://schemas.openxmlformats.org/officeDocument/2006/relationships/image" Target="../media/image6.png"/><Relationship Id="rId2" Type="http://schemas.openxmlformats.org/officeDocument/2006/relationships/image" Target="../media/image16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1.xml"/><Relationship Id="rId6" Type="http://schemas.openxmlformats.org/officeDocument/2006/relationships/slideLayout" Target="../slideLayouts/slideLayout2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747" y="6487366"/>
            <a:ext cx="9131300" cy="35718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6"/>
          <p:cNvSpPr/>
          <p:nvPr/>
        </p:nvSpPr>
        <p:spPr>
          <a:xfrm>
            <a:off x="0" y="0"/>
            <a:ext cx="9144000" cy="1417638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header_UTM" id="13" name="Google Shape;1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500" y="106363"/>
            <a:ext cx="1195388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ader_url" id="14" name="Google Shape;1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69894"/>
            <a:ext cx="2376488" cy="25558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6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6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close up of a logo&#10;&#10;Description automatically generated" id="19" name="Google Shape;1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0160" y="6021985"/>
            <a:ext cx="1392237" cy="43338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3.gif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ctrTitle"/>
          </p:nvPr>
        </p:nvSpPr>
        <p:spPr>
          <a:xfrm>
            <a:off x="0" y="2130425"/>
            <a:ext cx="92202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Roboto"/>
              <a:buNone/>
            </a:pPr>
            <a:r>
              <a:rPr b="1" lang="en-US" sz="54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Project Task</a:t>
            </a:r>
            <a:endParaRPr b="1" sz="5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"/>
          <p:cNvSpPr txBox="1"/>
          <p:nvPr>
            <p:ph idx="1" type="subTitle"/>
          </p:nvPr>
        </p:nvSpPr>
        <p:spPr>
          <a:xfrm>
            <a:off x="0" y="3886200"/>
            <a:ext cx="9144000" cy="1752600"/>
          </a:xfrm>
          <a:prstGeom prst="rect">
            <a:avLst/>
          </a:prstGeom>
          <a:solidFill>
            <a:srgbClr val="FFE1AD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None/>
            </a:pPr>
            <a:r>
              <a:rPr b="1" lang="en-US" sz="4000">
                <a:solidFill>
                  <a:srgbClr val="0070C0"/>
                </a:solidFill>
              </a:rPr>
              <a:t>Artificial Intelligence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</a:pPr>
            <a:r>
              <a:t/>
            </a:r>
            <a:endParaRPr b="1" sz="1100">
              <a:solidFill>
                <a:srgbClr val="0070C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i="1" lang="en-US" sz="2800"/>
              <a:t>School of Computing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</a:pPr>
            <a:r>
              <a:rPr i="1" lang="en-US" sz="2800"/>
              <a:t>Universiti Teknologi Malaysia</a:t>
            </a:r>
            <a:endParaRPr/>
          </a:p>
        </p:txBody>
      </p:sp>
      <p:pic>
        <p:nvPicPr>
          <p:cNvPr descr="Image result for artificial intelligence icon" id="96" name="Google Shape;96;p1"/>
          <p:cNvPicPr preferRelativeResize="0"/>
          <p:nvPr/>
        </p:nvPicPr>
        <p:blipFill rotWithShape="1">
          <a:blip r:embed="rId3">
            <a:alphaModFix/>
          </a:blip>
          <a:srcRect b="29337" l="14092" r="15442" t="0"/>
          <a:stretch/>
        </p:blipFill>
        <p:spPr>
          <a:xfrm>
            <a:off x="1" y="3429000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/>
          <p:nvPr/>
        </p:nvSpPr>
        <p:spPr>
          <a:xfrm>
            <a:off x="-7257" y="3059668"/>
            <a:ext cx="9144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i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1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</a:t>
            </a:r>
            <a:r>
              <a:rPr i="1" lang="en-U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1" lang="en-US" sz="2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members per group)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/>
              <a:t>Mark Distribution: Assignment &amp; Project</a:t>
            </a:r>
            <a:endParaRPr b="1" sz="3600"/>
          </a:p>
        </p:txBody>
      </p:sp>
      <p:sp>
        <p:nvSpPr>
          <p:cNvPr id="103" name="Google Shape;103;p3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04" name="Google Shape;104;p3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05" name="Google Shape;105;p3"/>
          <p:cNvGraphicFramePr/>
          <p:nvPr/>
        </p:nvGraphicFramePr>
        <p:xfrm>
          <a:off x="1466652" y="210901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{BB91FB26-8CD8-4150-84DE-5954C83DBE40}</a:tableStyleId>
              </a:tblPr>
              <a:tblGrid>
                <a:gridCol w="685800"/>
                <a:gridCol w="2386900"/>
                <a:gridCol w="1251225"/>
                <a:gridCol w="1060900"/>
                <a:gridCol w="812425"/>
              </a:tblGrid>
              <a:tr h="525100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PLO</a:t>
                      </a:r>
                      <a:r>
                        <a:rPr b="1" lang="en-US" sz="1600"/>
                        <a:t>2</a:t>
                      </a:r>
                      <a:endParaRPr b="1" sz="1600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/>
                        <a:t>(C2)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PLO</a:t>
                      </a:r>
                      <a:r>
                        <a:rPr b="1" lang="en-US" sz="1600"/>
                        <a:t>4</a:t>
                      </a:r>
                      <a:endParaRPr b="1" sz="1600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/>
                        <a:t>(C3B)</a:t>
                      </a:r>
                      <a:endParaRPr b="1" sz="1600"/>
                    </a:p>
                  </a:txBody>
                  <a:tcPr marT="0" marB="0" marR="68575" marL="68575" anchor="ctr"/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(%)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55900"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CLO2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CLO3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 vMerge="1"/>
              </a:tr>
              <a:tr h="25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1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2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u="none" cap="none" strike="noStrike"/>
                        <a:t>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3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2000" u="none" cap="none" strike="noStrike"/>
                        <a:t>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93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 Generic Skills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55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0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0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7943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Total (%)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r>
                        <a:rPr b="1" lang="en-US" sz="2000" u="none" cap="none" strike="noStrike"/>
                        <a:t>5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1" lang="en-US" sz="2000" u="none" cap="none" strike="noStrike"/>
                        <a:t>0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b="1"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Roboto"/>
              <a:buNone/>
            </a:pPr>
            <a:r>
              <a:rPr b="1" lang="en-US" sz="5400">
                <a:latin typeface="Roboto"/>
                <a:ea typeface="Roboto"/>
                <a:cs typeface="Roboto"/>
                <a:sym typeface="Roboto"/>
              </a:rPr>
              <a:t>Outline</a:t>
            </a:r>
            <a:endParaRPr/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457200" y="1600200"/>
            <a:ext cx="85344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Mark Distribution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The theme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Mapping Task Assessment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Design Thinking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Project Timeline &amp; Grading</a:t>
            </a:r>
            <a:endParaRPr/>
          </a:p>
          <a:p>
            <a:pPr indent="-373063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Project: Design Thinking oriented proposal (Week 4)</a:t>
            </a:r>
            <a:endParaRPr/>
          </a:p>
          <a:p>
            <a:pPr indent="-373063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Progress 1 – Assignment 1 (Week 5)</a:t>
            </a:r>
            <a:endParaRPr/>
          </a:p>
          <a:p>
            <a:pPr indent="-373063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Progress 2 – Assignment 2 (Week 9)</a:t>
            </a:r>
            <a:endParaRPr/>
          </a:p>
          <a:p>
            <a:pPr indent="-373063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Progress 3 – Assignment 3 (Week 12)</a:t>
            </a:r>
            <a:endParaRPr/>
          </a:p>
          <a:p>
            <a:pPr indent="-373063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romanLcPeriod"/>
            </a:pPr>
            <a:r>
              <a:rPr lang="en-US" sz="2000"/>
              <a:t>Project: Proof of Concept (Due: Week 14)</a:t>
            </a:r>
            <a:endParaRPr/>
          </a:p>
        </p:txBody>
      </p:sp>
      <p:sp>
        <p:nvSpPr>
          <p:cNvPr id="113" name="Google Shape;113;p2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14" name="Google Shape;114;p2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US"/>
              <a:t>The Theme</a:t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304800" y="1600200"/>
            <a:ext cx="41910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project is aimed to provide innovative solution that improve current established system, or a new unprecedented solution based on real-world problem (according to theme) by implementing artificial intelligence (AI). The assignment and project task will reflect the three major components in AI: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 space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Intelligent 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will develop a prototype as a proof of concept  implementation of an intelligent application (can be in mobile application / web application). Design thinking will be used as a design methodology for you to develop this prototype.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SCSJ 3353: Artificial Intelligence</a:t>
            </a:r>
            <a:endParaRPr/>
          </a:p>
        </p:txBody>
      </p:sp>
      <p:sp>
        <p:nvSpPr>
          <p:cNvPr id="122" name="Google Shape;122;p4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3" name="Google Shape;123;p4"/>
          <p:cNvGrpSpPr/>
          <p:nvPr/>
        </p:nvGrpSpPr>
        <p:grpSpPr>
          <a:xfrm>
            <a:off x="4828520" y="1761271"/>
            <a:ext cx="3677958" cy="4363642"/>
            <a:chOff x="180320" y="161071"/>
            <a:chExt cx="3677958" cy="4363642"/>
          </a:xfrm>
        </p:grpSpPr>
        <p:sp>
          <p:nvSpPr>
            <p:cNvPr id="124" name="Google Shape;124;p4"/>
            <p:cNvSpPr/>
            <p:nvPr/>
          </p:nvSpPr>
          <p:spPr>
            <a:xfrm>
              <a:off x="1524149" y="161071"/>
              <a:ext cx="1031519" cy="1031519"/>
            </a:xfrm>
            <a:prstGeom prst="ellipse">
              <a:avLst/>
            </a:prstGeom>
            <a:solidFill>
              <a:srgbClr val="E7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>
              <a:off x="1743986" y="380904"/>
              <a:ext cx="591855" cy="591855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993318" y="1354060"/>
              <a:ext cx="2051962" cy="69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993325" y="1354044"/>
              <a:ext cx="2052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THEME: 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HEALTHCARE, AGRICULTURE, SMART EDUCATION, SMART CITY, SENTIMENT ANALYSIS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535846" y="2634182"/>
              <a:ext cx="1031519" cy="1031519"/>
            </a:xfrm>
            <a:prstGeom prst="ellipse">
              <a:avLst/>
            </a:prstGeom>
            <a:solidFill>
              <a:srgbClr val="E7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>
              <a:off x="777237" y="2875582"/>
              <a:ext cx="591855" cy="59185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>
              <a:off x="180320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180320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GROUP STRUCTURE: 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4-5 MEMBERS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2489915" y="2689615"/>
              <a:ext cx="1031519" cy="1031519"/>
            </a:xfrm>
            <a:prstGeom prst="ellipse">
              <a:avLst/>
            </a:prstGeom>
            <a:solidFill>
              <a:srgbClr val="E7CFC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709741" y="2909448"/>
              <a:ext cx="591855" cy="59185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2167263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2167263" y="3827170"/>
              <a:ext cx="1691015" cy="6975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ASSESSMENT SKILL</a:t>
              </a:r>
              <a:r>
                <a:rPr b="0" i="0" lang="en-U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PROBLEM SOLVING &amp; TEAMWORKING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 txBox="1"/>
          <p:nvPr>
            <p:ph type="title"/>
          </p:nvPr>
        </p:nvSpPr>
        <p:spPr>
          <a:xfrm>
            <a:off x="469490" y="263559"/>
            <a:ext cx="8229600" cy="656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Mapping Task Assessment</a:t>
            </a:r>
            <a:endParaRPr b="1"/>
          </a:p>
        </p:txBody>
      </p:sp>
      <p:sp>
        <p:nvSpPr>
          <p:cNvPr id="141" name="Google Shape;141;p5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42" name="Google Shape;142;p5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143" name="Google Shape;143;p5"/>
          <p:cNvGraphicFramePr/>
          <p:nvPr/>
        </p:nvGraphicFramePr>
        <p:xfrm>
          <a:off x="304800" y="163285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{63D4C59A-1B88-4128-8D4D-7D4BE1DCD807}</a:tableStyleId>
              </a:tblPr>
              <a:tblGrid>
                <a:gridCol w="457200"/>
                <a:gridCol w="1513125"/>
                <a:gridCol w="3693700"/>
                <a:gridCol w="1172225"/>
                <a:gridCol w="1110350"/>
                <a:gridCol w="587825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No.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Assessment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Solvin</a:t>
                      </a:r>
                      <a:r>
                        <a:rPr b="1" lang="en-US" sz="1200"/>
                        <a:t>g</a:t>
                      </a:r>
                      <a:endParaRPr b="1" sz="1200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/>
                        <a:t>(PLO3, CLO2)</a:t>
                      </a:r>
                      <a:endParaRPr b="1" sz="12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Teamwork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/>
                        <a:t>(PLO8, CLO3)</a:t>
                      </a:r>
                      <a:endParaRPr b="1" sz="12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(%)</a:t>
                      </a:r>
                      <a:endParaRPr b="1"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1150775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Project: Proposal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Proposal that defines: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AI solution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 of AI solution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the process of </a:t>
                      </a: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Emphatize</a:t>
                      </a: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 DT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the process of </a:t>
                      </a: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Define</a:t>
                      </a: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in DT</a:t>
                      </a:r>
                      <a:endParaRPr sz="1200" u="none" cap="none" strike="noStrike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0" marB="0" marR="68575" marL="68575" anchor="ctr"/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6863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Ideate</a:t>
                      </a: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proposing: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Relevant knowledge representation that supports AI solution to achieve the goal</a:t>
                      </a:r>
                      <a:endParaRPr sz="1200" u="none" cap="none" strike="noStrike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1</a:t>
                      </a:r>
                      <a:endParaRPr sz="1200"/>
                    </a:p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/>
                        <a:t>(Peer assessment)</a:t>
                      </a:r>
                      <a:endParaRPr sz="1200"/>
                    </a:p>
                  </a:txBody>
                  <a:tcPr marT="0" marB="0" marR="68575" marL="68575" anchor="ctr"/>
                </a:tc>
                <a:tc vMerge="1"/>
              </a:tr>
              <a:tr h="918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Ideate</a:t>
                      </a: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formulating: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state space search that supports the previous defined knowledge representation to achieve the goal</a:t>
                      </a:r>
                      <a:endParaRPr sz="1200" u="none" cap="none" strike="noStrike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2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(Peer assessment)</a:t>
                      </a:r>
                      <a:endParaRPr sz="1200" u="none" cap="none" strike="noStrike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09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Assignment 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Ideate</a:t>
                      </a: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formulating: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Using PEAS model representation that supports AI solution to achieve the goal</a:t>
                      </a:r>
                      <a:endParaRPr sz="1200" u="none" cap="none" strike="noStrike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2</a:t>
                      </a:r>
                      <a:endParaRPr sz="1200"/>
                    </a:p>
                    <a:p>
                      <a:pPr indent="0" lvl="0" marL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/>
                        <a:t>(Peer assessment)</a:t>
                      </a:r>
                      <a:endParaRPr sz="1200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7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2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/>
                        <a:t>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Project: Prototype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Describe </a:t>
                      </a:r>
                      <a:r>
                        <a:rPr b="1"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Prototype</a:t>
                      </a: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process in DT by developing:</a:t>
                      </a:r>
                      <a:endParaRPr sz="1200" u="none" cap="none" strike="noStrike"/>
                    </a:p>
                    <a:p>
                      <a:pPr indent="-163513" lvl="0" marL="176213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AutoNum type="alphaLcParenR"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Proof of concept of AI solution</a:t>
                      </a:r>
                      <a:endParaRPr sz="1200" u="none" cap="none" strike="noStrike"/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/>
                        <a:t>10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cap="none" strike="noStrike"/>
                        <a:t>5</a:t>
                      </a:r>
                      <a:endParaRPr sz="1200" u="none" cap="none" strike="noStrike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(Peer assessment) 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2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221950">
                <a:tc gridSpan="5"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TOTAL</a:t>
                      </a:r>
                      <a:endParaRPr b="1" sz="1200"/>
                    </a:p>
                  </a:txBody>
                  <a:tcPr marT="0" marB="0" marR="68575" marL="68575" anchor="ctr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35</a:t>
                      </a:r>
                      <a:endParaRPr b="1" sz="1200" u="none" cap="none" strike="noStrike"/>
                    </a:p>
                  </a:txBody>
                  <a:tcPr marT="0" marB="0" marR="68575" marL="6857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49" name="Google Shape;149;p6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artificial intelligence icon" id="150" name="Google Shape;150;p6"/>
          <p:cNvPicPr preferRelativeResize="0"/>
          <p:nvPr/>
        </p:nvPicPr>
        <p:blipFill rotWithShape="1">
          <a:blip r:embed="rId3">
            <a:alphaModFix/>
          </a:blip>
          <a:srcRect b="29337" l="14092" r="15442" t="0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6"/>
          <p:cNvSpPr txBox="1"/>
          <p:nvPr/>
        </p:nvSpPr>
        <p:spPr>
          <a:xfrm>
            <a:off x="1733612" y="2314726"/>
            <a:ext cx="7257988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</a:t>
            </a:r>
            <a:r>
              <a:rPr b="1" i="0" lang="en-US" sz="40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Design Thinking</a:t>
            </a:r>
            <a:r>
              <a:rPr b="1" i="0" lang="en-US" sz="4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2136238" y="3124200"/>
            <a:ext cx="621702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 &amp;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Design Thinking to brainstorm ideas to solve real world problems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rgbClr val="FFE1AD"/>
                </a:solidFill>
              </a:rPr>
              <a:t>SCSJ 3353: Artificial Intelligence</a:t>
            </a:r>
            <a:endParaRPr sz="800">
              <a:solidFill>
                <a:srgbClr val="FFE1AD"/>
              </a:solidFill>
            </a:endParaRPr>
          </a:p>
        </p:txBody>
      </p:sp>
      <p:sp>
        <p:nvSpPr>
          <p:cNvPr id="158" name="Google Shape;158;p8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rgbClr val="FFE1AD"/>
                </a:solidFill>
              </a:rPr>
              <a:t>‹#›</a:t>
            </a:fld>
            <a:endParaRPr sz="900">
              <a:solidFill>
                <a:srgbClr val="FFE1AD"/>
              </a:solidFill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Design Thinking Process</a:t>
            </a:r>
            <a:endParaRPr b="1" i="0" sz="4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0" y="2057400"/>
            <a:ext cx="2666999" cy="36100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1. Empathize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users and discover their pain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2. Define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needs and requirements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3. Ideate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 using 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4. Prototype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ideas into POC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sign_thinking.PNG" id="161" name="Google Shape;16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524000"/>
            <a:ext cx="6248401" cy="44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-76200" y="0"/>
            <a:ext cx="9220200" cy="731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Examples of question in Empathy for DT process</a:t>
            </a:r>
            <a:endParaRPr sz="3200"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169" name="Google Shape;169;p9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70" name="Google Shape;170;p9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76200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oboto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Project Timeline &amp; Grading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7" name="Google Shape;177;p7"/>
          <p:cNvGrpSpPr/>
          <p:nvPr/>
        </p:nvGrpSpPr>
        <p:grpSpPr>
          <a:xfrm>
            <a:off x="1354193" y="1600936"/>
            <a:ext cx="6391502" cy="4705802"/>
            <a:chOff x="896993" y="736"/>
            <a:chExt cx="6391502" cy="4705802"/>
          </a:xfrm>
        </p:grpSpPr>
        <p:sp>
          <p:nvSpPr>
            <p:cNvPr id="178" name="Google Shape;178;p7"/>
            <p:cNvSpPr/>
            <p:nvPr/>
          </p:nvSpPr>
          <p:spPr>
            <a:xfrm>
              <a:off x="3074925" y="736"/>
              <a:ext cx="2046897" cy="96641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7"/>
            <p:cNvSpPr txBox="1"/>
            <p:nvPr/>
          </p:nvSpPr>
          <p:spPr>
            <a:xfrm>
              <a:off x="3122101" y="47912"/>
              <a:ext cx="1952545" cy="87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Progress 1 (Asg1)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5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2539085" y="664267"/>
              <a:ext cx="3862868" cy="3862868"/>
            </a:xfrm>
            <a:custGeom>
              <a:rect b="b" l="l" r="r" t="t"/>
              <a:pathLst>
                <a:path extrusionOk="0" h="120000" w="120000">
                  <a:moveTo>
                    <a:pt x="85591" y="5731"/>
                  </a:moveTo>
                  <a:lnTo>
                    <a:pt x="85591" y="5731"/>
                  </a:lnTo>
                  <a:cubicBezTo>
                    <a:pt x="90935" y="8251"/>
                    <a:pt x="95878" y="11547"/>
                    <a:pt x="100259" y="15512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952997" y="1295400"/>
              <a:ext cx="2335498" cy="96641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7"/>
            <p:cNvSpPr txBox="1"/>
            <p:nvPr/>
          </p:nvSpPr>
          <p:spPr>
            <a:xfrm>
              <a:off x="5000173" y="1342576"/>
              <a:ext cx="2241146" cy="87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Progress 2 (Asg2)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9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2407213" y="796242"/>
              <a:ext cx="3862868" cy="3862868"/>
            </a:xfrm>
            <a:custGeom>
              <a:rect b="b" l="l" r="r" t="t"/>
              <a:pathLst>
                <a:path extrusionOk="0" h="120000" w="120000">
                  <a:moveTo>
                    <a:pt x="119550" y="52669"/>
                  </a:moveTo>
                  <a:cubicBezTo>
                    <a:pt x="120464" y="60094"/>
                    <a:pt x="119981" y="67625"/>
                    <a:pt x="118127" y="74873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4544113" y="3429002"/>
              <a:ext cx="2542490" cy="96641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4591289" y="3476178"/>
              <a:ext cx="2448138" cy="87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6200" lIns="76200" spcFirstLastPara="1" rIns="76200" wrap="square" tIns="76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lang="en-US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Progress 3 (Asg3)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None/>
              </a:pP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12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2241787" y="843670"/>
              <a:ext cx="3862868" cy="3862868"/>
            </a:xfrm>
            <a:custGeom>
              <a:rect b="b" l="l" r="r" t="t"/>
              <a:pathLst>
                <a:path extrusionOk="0" h="120000" w="120000">
                  <a:moveTo>
                    <a:pt x="80369" y="116437"/>
                  </a:moveTo>
                  <a:cubicBezTo>
                    <a:pt x="65865" y="121672"/>
                    <a:pt x="49903" y="121122"/>
                    <a:pt x="35794" y="114901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896993" y="3352803"/>
              <a:ext cx="3065410" cy="96641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944169" y="3399979"/>
              <a:ext cx="2971058" cy="87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lang="en-US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Proof of Concept (POC)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14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1938041" y="608363"/>
              <a:ext cx="3862868" cy="3862868"/>
            </a:xfrm>
            <a:custGeom>
              <a:rect b="b" l="l" r="r" t="t"/>
              <a:pathLst>
                <a:path extrusionOk="0" h="120000" w="120000">
                  <a:moveTo>
                    <a:pt x="3052" y="78891"/>
                  </a:moveTo>
                  <a:lnTo>
                    <a:pt x="3052" y="78891"/>
                  </a:lnTo>
                  <a:cubicBezTo>
                    <a:pt x="839" y="72219"/>
                    <a:pt x="-185" y="65211"/>
                    <a:pt x="28" y="58185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914410" y="1295400"/>
              <a:ext cx="2269797" cy="966415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961586" y="1342576"/>
              <a:ext cx="2175445" cy="872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1. Design Thinking oriented Proposal</a:t>
              </a:r>
              <a:endParaRPr b="0" i="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1" i="0" lang="en-US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Due: Week 4</a:t>
              </a:r>
              <a:endParaRPr b="1" i="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1750954" y="679379"/>
              <a:ext cx="3862868" cy="3862868"/>
            </a:xfrm>
            <a:custGeom>
              <a:rect b="b" l="l" r="r" t="t"/>
              <a:pathLst>
                <a:path extrusionOk="0" h="120000" w="120000">
                  <a:moveTo>
                    <a:pt x="20333" y="14983"/>
                  </a:moveTo>
                  <a:lnTo>
                    <a:pt x="20333" y="14983"/>
                  </a:lnTo>
                  <a:cubicBezTo>
                    <a:pt x="24890" y="10968"/>
                    <a:pt x="30030" y="7668"/>
                    <a:pt x="35577" y="5195"/>
                  </a:cubicBezTo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7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194" name="Google Shape;194;p7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152400" y="2472813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3048002" y="1189419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7561006" y="2739513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7361903" y="4907336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6200" y="4716463"/>
            <a:ext cx="1504335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 - CLO2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76200" y="5334000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- CLO3*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228600" y="5943600"/>
            <a:ext cx="2514600" cy="533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</a:t>
            </a: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- peer review/self review on TW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561006" y="3429000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CLO3*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7361903" y="5573200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CLO3*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4658981" y="1189425"/>
            <a:ext cx="1524000" cy="533400"/>
          </a:xfrm>
          <a:prstGeom prst="roundRect">
            <a:avLst>
              <a:gd fmla="val 16667" name="adj"/>
            </a:avLst>
          </a:prstGeom>
          <a:solidFill>
            <a:srgbClr val="FFC000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- CLO3*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10" name="Google Shape;210;p10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artificial intelligence icon" id="211" name="Google Shape;211;p10"/>
          <p:cNvPicPr preferRelativeResize="0"/>
          <p:nvPr/>
        </p:nvPicPr>
        <p:blipFill rotWithShape="1">
          <a:blip r:embed="rId3">
            <a:alphaModFix/>
          </a:blip>
          <a:srcRect b="29337" l="14092" r="15442" t="0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0"/>
          <p:cNvSpPr txBox="1"/>
          <p:nvPr/>
        </p:nvSpPr>
        <p:spPr>
          <a:xfrm>
            <a:off x="2362200" y="2590800"/>
            <a:ext cx="6629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Project: Design Thinking oriented Proposal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743200" y="3657600"/>
            <a:ext cx="53313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Design Thinking oriented Proposal – 2%</a:t>
            </a:r>
            <a:endParaRPr sz="2800"/>
          </a:p>
        </p:txBody>
      </p:sp>
      <p:sp>
        <p:nvSpPr>
          <p:cNvPr id="219" name="Google Shape;2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project is aimed to provide innovative solution that improve current established system, or a new unprecedented solution based on real-world problem (according to theme either healthcare, agriculture, smart city and smart education) by </a:t>
            </a:r>
            <a:r>
              <a:rPr lang="en-US" u="sng"/>
              <a:t>implementing AI</a:t>
            </a:r>
            <a:r>
              <a:rPr lang="en-US"/>
              <a:t>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</a:t>
            </a:r>
            <a:r>
              <a:rPr lang="en-US" u="sng"/>
              <a:t>Design Thinking (DT) </a:t>
            </a:r>
            <a:r>
              <a:rPr lang="en-US"/>
              <a:t>to discover AI solutions to a real-world problem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Answer how the AI solution can achieve the aim/objective of the proposed product/system/software/apps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Formulate</a:t>
            </a:r>
            <a:r>
              <a:rPr lang="en-US"/>
              <a:t> your solution and describe it in parts following the Design Thinking Process diagram</a:t>
            </a:r>
            <a:endParaRPr i="1"/>
          </a:p>
          <a:p>
            <a:pPr indent="-342900" lvl="0" marL="34290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proposal should comprise at least as follows: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AI solution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The goal of AI solution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Describe the process of </a:t>
            </a:r>
            <a:r>
              <a:rPr b="1" lang="en-US"/>
              <a:t>Emphatize</a:t>
            </a:r>
            <a:r>
              <a:rPr lang="en-US"/>
              <a:t> in DT</a:t>
            </a:r>
            <a:endParaRPr/>
          </a:p>
          <a:p>
            <a:pPr indent="-285750" lvl="1" marL="742950" rtl="0" algn="l">
              <a:lnSpc>
                <a:spcPct val="107000"/>
              </a:lnSpc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en-US"/>
              <a:t>Describe the process of </a:t>
            </a:r>
            <a:r>
              <a:rPr b="1" lang="en-US"/>
              <a:t>Define</a:t>
            </a:r>
            <a:r>
              <a:rPr lang="en-US"/>
              <a:t> in DT</a:t>
            </a:r>
            <a:endParaRPr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i="1"/>
          </a:p>
        </p:txBody>
      </p:sp>
      <p:sp>
        <p:nvSpPr>
          <p:cNvPr id="220" name="Google Shape;220;p11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21" name="Google Shape;221;p11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 txBox="1"/>
          <p:nvPr>
            <p:ph type="title"/>
          </p:nvPr>
        </p:nvSpPr>
        <p:spPr>
          <a:xfrm>
            <a:off x="489155" y="380657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600"/>
              <a:buFont typeface="Roboto"/>
              <a:buNone/>
            </a:pPr>
            <a:r>
              <a:rPr b="1" lang="en-US" sz="26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Design Thinking oriented Proposal (2%)</a:t>
            </a:r>
            <a:endParaRPr sz="2600"/>
          </a:p>
        </p:txBody>
      </p:sp>
      <p:sp>
        <p:nvSpPr>
          <p:cNvPr id="227" name="Google Shape;227;p12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28" name="Google Shape;228;p12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29" name="Google Shape;229;p12"/>
          <p:cNvGraphicFramePr/>
          <p:nvPr/>
        </p:nvGraphicFramePr>
        <p:xfrm>
          <a:off x="457200" y="1585780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{80D91BEC-1D3C-41D2-930B-A399E2BB072D}</a:tableStyleId>
              </a:tblPr>
              <a:tblGrid>
                <a:gridCol w="1125500"/>
                <a:gridCol w="1651850"/>
                <a:gridCol w="1651850"/>
                <a:gridCol w="1651850"/>
                <a:gridCol w="1652475"/>
                <a:gridCol w="724650"/>
              </a:tblGrid>
              <a:tr h="19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Category 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Score? 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Elaboration of emphatize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and pain, user/stakeholder and the goal are clearly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and pain, user/stakeholder and the goal are somehow clearly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and pain, user/stakeholder and the goal are limited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and pain, user/stakeholder and the goal are unclear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Elaboration of Design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Covers user/stakeholder needs in-depth with details and examples. 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Includes essential user/stakeholder needs. 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Includes essential user/stakeholder needs but there are 1-2 factual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User/stakeholder needs is minimal OR there are several factual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784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AI solution &amp; goal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AI solution shows large amount of original thought.  Ideas are creative and inventive.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AI solution  shows some original thought. Work shows new ideas and insights.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AI solution uses other people’s idea (giving them credit) but there is little evidence of original thinking. 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AI solution uses other people’s ideas but does not give them credit.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Roboto"/>
              <a:buNone/>
            </a:pPr>
            <a:r>
              <a:rPr b="1" lang="en-US" sz="32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Checklist: Activity, PIC &amp; Timeline</a:t>
            </a:r>
            <a:endParaRPr sz="3200"/>
          </a:p>
        </p:txBody>
      </p:sp>
      <p:sp>
        <p:nvSpPr>
          <p:cNvPr id="235" name="Google Shape;235;p13"/>
          <p:cNvSpPr txBox="1"/>
          <p:nvPr>
            <p:ph idx="1" type="body"/>
          </p:nvPr>
        </p:nvSpPr>
        <p:spPr>
          <a:xfrm>
            <a:off x="457200" y="1600201"/>
            <a:ext cx="8229600" cy="7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Task: Design thinking oriented proposal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36" name="Google Shape;236;p13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37" name="Google Shape;237;p13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38" name="Google Shape;238;p13"/>
          <p:cNvGraphicFramePr/>
          <p:nvPr/>
        </p:nvGraphicFramePr>
        <p:xfrm>
          <a:off x="228599" y="2245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{80D91BEC-1D3C-41D2-930B-A399E2BB072D}</a:tableStyleId>
              </a:tblPr>
              <a:tblGrid>
                <a:gridCol w="2171700"/>
                <a:gridCol w="3924300"/>
                <a:gridCol w="1475075"/>
                <a:gridCol w="1115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Task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PIC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Deadline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Describe the process of </a:t>
                      </a:r>
                      <a:r>
                        <a:rPr b="1" lang="en-US" sz="1800" u="none" cap="none" strike="noStrike"/>
                        <a:t>Empathize</a:t>
                      </a:r>
                      <a:r>
                        <a:rPr lang="en-US" sz="1800" u="none" cap="none" strike="noStrike"/>
                        <a:t> in DT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Describe the process of </a:t>
                      </a:r>
                      <a:r>
                        <a:rPr b="1" lang="en-US" sz="1800" u="none" cap="none" strike="noStrike"/>
                        <a:t>Define</a:t>
                      </a:r>
                      <a:r>
                        <a:rPr lang="en-US" sz="1800" u="none" cap="none" strike="noStrike"/>
                        <a:t> in DT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The goal of AI solution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AI solution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Roboto"/>
              <a:buNone/>
            </a:pPr>
            <a:r>
              <a:rPr b="1" lang="en-US" sz="32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Checklist: Activity, PIC &amp; Timeline</a:t>
            </a:r>
            <a:endParaRPr sz="3200"/>
          </a:p>
        </p:txBody>
      </p:sp>
      <p:sp>
        <p:nvSpPr>
          <p:cNvPr id="244" name="Google Shape;244;p14"/>
          <p:cNvSpPr txBox="1"/>
          <p:nvPr>
            <p:ph idx="1" type="body"/>
          </p:nvPr>
        </p:nvSpPr>
        <p:spPr>
          <a:xfrm>
            <a:off x="457200" y="1600201"/>
            <a:ext cx="8229600" cy="761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Task: Design thinking oriented proposal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45" name="Google Shape;245;p14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46" name="Google Shape;246;p14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47" name="Google Shape;247;p14"/>
          <p:cNvGraphicFramePr/>
          <p:nvPr/>
        </p:nvGraphicFramePr>
        <p:xfrm>
          <a:off x="228599" y="224501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{80D91BEC-1D3C-41D2-930B-A399E2BB072D}</a:tableStyleId>
              </a:tblPr>
              <a:tblGrid>
                <a:gridCol w="2171700"/>
                <a:gridCol w="3924300"/>
                <a:gridCol w="1475075"/>
                <a:gridCol w="11157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Task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Description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PIC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Deadline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Describe the process of </a:t>
                      </a:r>
                      <a:r>
                        <a:rPr b="1" lang="en-US" sz="1800" u="none" cap="none" strike="noStrike"/>
                        <a:t>Emphatize</a:t>
                      </a:r>
                      <a:r>
                        <a:rPr lang="en-US" sz="1800" u="none" cap="none" strike="noStrike"/>
                        <a:t> in DT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Problem and pain, user/stakeholder and the goal are clearly described.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/>
                        <a:t>Who is my user?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b="1" lang="en-US" sz="1800" u="none" cap="none" strike="noStrike"/>
                        <a:t>What matters to them?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Describe the process of </a:t>
                      </a:r>
                      <a:r>
                        <a:rPr b="1" lang="en-US" sz="1800" u="none" cap="none" strike="noStrike"/>
                        <a:t>Define</a:t>
                      </a:r>
                      <a:r>
                        <a:rPr lang="en-US" sz="1800" u="none" cap="none" strike="noStrike"/>
                        <a:t> in DT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Covers user/stakeholder needs in-depth with details and examples.  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/>
                        <a:t>What are their needs?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The goal of AI solution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AI solution shows large amount of original thought.  Ideas are creative and inventive.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cap="none" strike="noStrike"/>
                        <a:t>Name AI solution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"/>
          <p:cNvSpPr txBox="1"/>
          <p:nvPr>
            <p:ph type="title"/>
          </p:nvPr>
        </p:nvSpPr>
        <p:spPr>
          <a:xfrm>
            <a:off x="-76200" y="0"/>
            <a:ext cx="9220200" cy="73183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Examples of question in Empathy for DT process</a:t>
            </a:r>
            <a:endParaRPr sz="3200"/>
          </a:p>
        </p:txBody>
      </p:sp>
      <p:sp>
        <p:nvSpPr>
          <p:cNvPr id="253" name="Google Shape;25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54" name="Google Shape;254;p15"/>
          <p:cNvSpPr txBox="1"/>
          <p:nvPr>
            <p:ph idx="10" type="dt"/>
          </p:nvPr>
        </p:nvSpPr>
        <p:spPr>
          <a:xfrm>
            <a:off x="457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2019</a:t>
            </a:r>
            <a:endParaRPr/>
          </a:p>
        </p:txBody>
      </p:sp>
      <p:sp>
        <p:nvSpPr>
          <p:cNvPr id="255" name="Google Shape;255;p15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56" name="Google Shape;256;p15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7" name="Google Shape;2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762000"/>
            <a:ext cx="9144000" cy="60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63" name="Google Shape;263;p16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artificial intelligence icon" id="264" name="Google Shape;264;p16"/>
          <p:cNvPicPr preferRelativeResize="0"/>
          <p:nvPr/>
        </p:nvPicPr>
        <p:blipFill rotWithShape="1">
          <a:blip r:embed="rId3">
            <a:alphaModFix/>
          </a:blip>
          <a:srcRect b="29337" l="14092" r="15442" t="0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6"/>
          <p:cNvSpPr txBox="1"/>
          <p:nvPr/>
        </p:nvSpPr>
        <p:spPr>
          <a:xfrm>
            <a:off x="2362200" y="2590800"/>
            <a:ext cx="66294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Progress 1 – Knowledge 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2743200" y="3657600"/>
            <a:ext cx="533136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1% TW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72" name="Google Shape;272;p17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1066800" y="304800"/>
            <a:ext cx="80732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Knowledge Representation – </a:t>
            </a:r>
            <a:r>
              <a:rPr b="1" lang="en-US" sz="32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i="0" lang="en-US" sz="32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1" i="0" sz="3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152400" y="1600200"/>
            <a:ext cx="8763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 the knowledge representation(KR) for your AI solution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at least </a:t>
            </a: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KR using logical 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1" marL="7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detailed write up on the KR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2" marL="11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how the KR supports the proposed AI solution to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achieve the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1" marL="7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FOL to describe the KR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1" marL="7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appropriate connectives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what KR is involved in order to achieve the aim/goal of the proposed product/system/software/apps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Knowledge Representation (3%)</a:t>
            </a:r>
            <a:endParaRPr sz="2800"/>
          </a:p>
        </p:txBody>
      </p:sp>
      <p:sp>
        <p:nvSpPr>
          <p:cNvPr id="280" name="Google Shape;280;p18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281" name="Google Shape;281;p18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282" name="Google Shape;282;p18"/>
          <p:cNvGraphicFramePr/>
          <p:nvPr/>
        </p:nvGraphicFramePr>
        <p:xfrm>
          <a:off x="381000" y="1676400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{80D91BEC-1D3C-41D2-930B-A399E2BB072D}</a:tableStyleId>
              </a:tblPr>
              <a:tblGrid>
                <a:gridCol w="1125500"/>
                <a:gridCol w="1651850"/>
                <a:gridCol w="1651850"/>
                <a:gridCol w="1651850"/>
                <a:gridCol w="1652475"/>
                <a:gridCol w="724650"/>
              </a:tblGrid>
              <a:tr h="19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Category 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Score? 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Correctness of semantics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clearly represented using natural language and FOL with correct semantic.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somehow clear represented using natural language and FOL with some correct semantic.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somehow clear represented using natural language and FOL with limited correct semantic.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unclear represented using natural language and FOL with correct semantic.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7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Correctness of syntax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clearly represented using a correct syntax of FOL.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somehow clear represented using some correct syntax of FOL.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somehow clear represented using limited correct syntax of FOL.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AI solution is unclear represented using a correct syntax of FOL.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88" name="Google Shape;288;p19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1066800" y="304800"/>
            <a:ext cx="80732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- Knowledge Representation</a:t>
            </a:r>
            <a:endParaRPr b="1" i="0" sz="3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19"/>
          <p:cNvSpPr txBox="1"/>
          <p:nvPr/>
        </p:nvSpPr>
        <p:spPr>
          <a:xfrm>
            <a:off x="76200" y="4724400"/>
            <a:ext cx="876300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motion_detector = active AND door_control = on AND window_control = on THEN security_alarm =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lighting_control = off AND radiator = off OR temp=not_active THEN auto_notify = SET_FIRST_WARN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marthome.PNG" id="291" name="Google Shape;2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0"/>
            <a:ext cx="38100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zigbee1.gif" id="292" name="Google Shape;2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0500" y="1524000"/>
            <a:ext cx="49911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d2a6f7be0_1_8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298" name="Google Shape;298;g38d2a6f7be0_1_8"/>
          <p:cNvSpPr txBox="1"/>
          <p:nvPr>
            <p:ph idx="12" type="sldNum"/>
          </p:nvPr>
        </p:nvSpPr>
        <p:spPr>
          <a:xfrm>
            <a:off x="6553200" y="6598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299" name="Google Shape;299;g38d2a6f7be0_1_8"/>
          <p:cNvSpPr/>
          <p:nvPr/>
        </p:nvSpPr>
        <p:spPr>
          <a:xfrm>
            <a:off x="1066800" y="304800"/>
            <a:ext cx="807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</a:t>
            </a:r>
            <a:r>
              <a:rPr b="1" lang="en-US" sz="36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%)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g38d2a6f7be0_1_8"/>
          <p:cNvSpPr txBox="1"/>
          <p:nvPr/>
        </p:nvSpPr>
        <p:spPr>
          <a:xfrm>
            <a:off x="381000" y="1828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49" lvl="0" marL="25714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Peer review on Team Working (TW)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49" lvl="0" marL="257149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Active Participation in the scale of 1 to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49" lvl="0" marL="257149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49" lvl="0" marL="257149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1" name="Google Shape;301;g38d2a6f7be0_1_8"/>
          <p:cNvGraphicFramePr/>
          <p:nvPr/>
        </p:nvGraphicFramePr>
        <p:xfrm>
          <a:off x="457200" y="3429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{63D4C59A-1B88-4128-8D4D-7D4BE1DCD807}</a:tableStyleId>
              </a:tblPr>
              <a:tblGrid>
                <a:gridCol w="1661150"/>
                <a:gridCol w="1661150"/>
                <a:gridCol w="1661150"/>
                <a:gridCol w="1661150"/>
                <a:gridCol w="1661150"/>
              </a:tblGrid>
              <a:tr h="72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 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</a:tr>
              <a:tr h="110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Active participation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Routinely provides useful ideas when participating in the group. 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Usually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Rarely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07" name="Google Shape;307;p20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artificial intelligence icon" id="308" name="Google Shape;308;p20"/>
          <p:cNvPicPr preferRelativeResize="0"/>
          <p:nvPr/>
        </p:nvPicPr>
        <p:blipFill rotWithShape="1">
          <a:blip r:embed="rId3">
            <a:alphaModFix/>
          </a:blip>
          <a:srcRect b="29337" l="14092" r="15442" t="0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0"/>
          <p:cNvSpPr txBox="1"/>
          <p:nvPr/>
        </p:nvSpPr>
        <p:spPr>
          <a:xfrm>
            <a:off x="2362200" y="2590800"/>
            <a:ext cx="62484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Progress 2 – State Space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0"/>
          <p:cNvSpPr/>
          <p:nvPr/>
        </p:nvSpPr>
        <p:spPr>
          <a:xfrm>
            <a:off x="2743200" y="3429000"/>
            <a:ext cx="53313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TW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16" name="Google Shape;316;p21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066800" y="304800"/>
            <a:ext cx="80732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CLO3: State Space Search – </a:t>
            </a:r>
            <a:r>
              <a:rPr b="1" lang="en-US" sz="36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152400" y="1447800"/>
            <a:ext cx="8763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Based on the previous KR,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problem using state space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the state space by specifying the </a:t>
            </a:r>
            <a:r>
              <a:rPr b="0" i="0" lang="en-US" sz="2400" u="none" cap="none" strike="noStrike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states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2400" u="none" cap="none" strike="noStrike">
                <a:solidFill>
                  <a:srgbClr val="0099FF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1" marL="7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detailed write up on the state space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2" marL="11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each state and each 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1" marL="7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the state space as graph (directed/undirected graph)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1" marL="7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 problem by specifying four things: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2" marL="11715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state, Actions, Goal, Path cost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1" marL="7143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sequence of actions leading from initial state to goal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how the problem is formulated to support the proposed KR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State Space Search (5%)</a:t>
            </a:r>
            <a:endParaRPr sz="2800"/>
          </a:p>
        </p:txBody>
      </p:sp>
      <p:sp>
        <p:nvSpPr>
          <p:cNvPr id="324" name="Google Shape;324;p22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25" name="Google Shape;325;p22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26" name="Google Shape;326;p22"/>
          <p:cNvGraphicFramePr/>
          <p:nvPr/>
        </p:nvGraphicFramePr>
        <p:xfrm>
          <a:off x="381000" y="1676400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{80D91BEC-1D3C-41D2-930B-A399E2BB072D}</a:tableStyleId>
              </a:tblPr>
              <a:tblGrid>
                <a:gridCol w="1125500"/>
                <a:gridCol w="1651850"/>
                <a:gridCol w="1651850"/>
                <a:gridCol w="1651850"/>
                <a:gridCol w="1652475"/>
                <a:gridCol w="724650"/>
              </a:tblGrid>
              <a:tr h="29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Score? </a:t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 of state space graph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clearly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somehow clearly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limited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goal, states, actions and path costs are unclear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</a:tr>
              <a:tr h="7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Correctness of state space graph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b="1"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Represent precisely the problem using state space graph. 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Represent somehow precisely the problem using state space graph.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Represent somehow precisely the problem using state space graph but there are 1-2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Represent so minimal the problem using state space graph OR there are several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725" marL="637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3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32" name="Google Shape;332;p23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33" name="Google Shape;333;p23"/>
          <p:cNvSpPr/>
          <p:nvPr/>
        </p:nvSpPr>
        <p:spPr>
          <a:xfrm>
            <a:off x="1066800" y="304800"/>
            <a:ext cx="80732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</a:t>
            </a:r>
            <a:r>
              <a:rPr b="1" lang="en-US" sz="36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%)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23"/>
          <p:cNvSpPr txBox="1"/>
          <p:nvPr/>
        </p:nvSpPr>
        <p:spPr>
          <a:xfrm>
            <a:off x="381000" y="1828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Peer review on Team Working (TW)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Active Participation in the scale of 1 to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35" name="Google Shape;335;p23"/>
          <p:cNvGraphicFramePr/>
          <p:nvPr/>
        </p:nvGraphicFramePr>
        <p:xfrm>
          <a:off x="457200" y="3429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{63D4C59A-1B88-4128-8D4D-7D4BE1DCD807}</a:tableStyleId>
              </a:tblPr>
              <a:tblGrid>
                <a:gridCol w="1661150"/>
                <a:gridCol w="1661150"/>
                <a:gridCol w="1661150"/>
                <a:gridCol w="1661150"/>
                <a:gridCol w="1661150"/>
              </a:tblGrid>
              <a:tr h="72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 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</a:tr>
              <a:tr h="110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Active participation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Routinely provides useful ideas when participating in the group. 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Usually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Rarely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42" name="Google Shape;342;p24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1066800" y="304800"/>
            <a:ext cx="80732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– State Space Search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sensors.png" id="344" name="Google Shape;34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524000"/>
            <a:ext cx="67818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4"/>
          <p:cNvSpPr txBox="1"/>
          <p:nvPr/>
        </p:nvSpPr>
        <p:spPr>
          <a:xfrm>
            <a:off x="4724400" y="1676400"/>
            <a:ext cx="4267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 the problem formulation in a state space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Here the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the system is to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risk types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appropriate response for such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51" name="Google Shape;351;p25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artificial intelligence icon" id="352" name="Google Shape;352;p25"/>
          <p:cNvPicPr preferRelativeResize="0"/>
          <p:nvPr/>
        </p:nvPicPr>
        <p:blipFill rotWithShape="1">
          <a:blip r:embed="rId3">
            <a:alphaModFix/>
          </a:blip>
          <a:srcRect b="29337" l="14092" r="15442" t="0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25"/>
          <p:cNvSpPr txBox="1"/>
          <p:nvPr/>
        </p:nvSpPr>
        <p:spPr>
          <a:xfrm>
            <a:off x="2362200" y="2543100"/>
            <a:ext cx="63246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Progress 3 – Intelligent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2743200" y="3429000"/>
            <a:ext cx="53313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CLO2,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TW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60" name="Google Shape;360;p26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228600" y="1676400"/>
            <a:ext cx="8610600" cy="41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Formulate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proposed AI solution using PEAS model representation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143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each property in PEAS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–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detailed explanation on each property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144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P: Performance measure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144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E: Environment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144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A: Actuators/Effectors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2" marL="13144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S: Sensors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diagram(s) to represent the relations between each property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–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write up on how each property will be represented in the Proof of Concept (POC)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143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Calibri"/>
              <a:buChar char="•"/>
            </a:pPr>
            <a:r>
              <a:rPr b="0" i="1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how agent in AI behaves in the proposed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product/system/software/apps</a:t>
            </a: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Intelligent Agent – </a:t>
            </a:r>
            <a:r>
              <a:rPr b="1" lang="en-US" sz="40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1" i="0" lang="en-US" sz="40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b="1" i="0" sz="4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Intelligent Agent (5%)</a:t>
            </a:r>
            <a:endParaRPr sz="2800"/>
          </a:p>
        </p:txBody>
      </p:sp>
      <p:sp>
        <p:nvSpPr>
          <p:cNvPr id="368" name="Google Shape;368;p27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69" name="Google Shape;369;p27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370" name="Google Shape;370;p27"/>
          <p:cNvGraphicFramePr/>
          <p:nvPr/>
        </p:nvGraphicFramePr>
        <p:xfrm>
          <a:off x="381000" y="1676400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{80D91BEC-1D3C-41D2-930B-A399E2BB072D}</a:tableStyleId>
              </a:tblPr>
              <a:tblGrid>
                <a:gridCol w="1125500"/>
                <a:gridCol w="1651850"/>
                <a:gridCol w="1651850"/>
                <a:gridCol w="1651850"/>
                <a:gridCol w="1652475"/>
                <a:gridCol w="724650"/>
              </a:tblGrid>
              <a:tr h="191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Category 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Score? 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Definition of PEAS model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clearly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somehow clearly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limited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performance measures, environment, actuators/effectors and sensors are unclear described.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7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Correctness of PEAS model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Represent precisely the solution using PEAS model. 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Represent somehow precisely the solution using PEAS model.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Represent somehow precisely the solution using PEAS model but there are 1-2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lang="en-US" sz="1400" u="none" cap="none" strike="noStrike"/>
                        <a:t>Represent so minimal the solution using PEAS model OR there are several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/>
                        <a:t> </a:t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8d2a6f7be0_1_0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76" name="Google Shape;376;g38d2a6f7be0_1_0"/>
          <p:cNvSpPr txBox="1"/>
          <p:nvPr>
            <p:ph idx="12" type="sldNum"/>
          </p:nvPr>
        </p:nvSpPr>
        <p:spPr>
          <a:xfrm>
            <a:off x="6553200" y="6598396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77" name="Google Shape;377;g38d2a6f7be0_1_0"/>
          <p:cNvSpPr/>
          <p:nvPr/>
        </p:nvSpPr>
        <p:spPr>
          <a:xfrm>
            <a:off x="1066800" y="304800"/>
            <a:ext cx="80733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</a:t>
            </a:r>
            <a:r>
              <a:rPr b="1" lang="en-US" sz="36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%)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g38d2a6f7be0_1_0"/>
          <p:cNvSpPr txBox="1"/>
          <p:nvPr/>
        </p:nvSpPr>
        <p:spPr>
          <a:xfrm>
            <a:off x="381000" y="1828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49" lvl="0" marL="25714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 Peer review on Team Working (TW)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49" lvl="0" marL="257149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Active Participation in the scale of 1 to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49" lvl="0" marL="257149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49" lvl="0" marL="257149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9" name="Google Shape;379;g38d2a6f7be0_1_0"/>
          <p:cNvGraphicFramePr/>
          <p:nvPr/>
        </p:nvGraphicFramePr>
        <p:xfrm>
          <a:off x="457200" y="3429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{63D4C59A-1B88-4128-8D4D-7D4BE1DCD807}</a:tableStyleId>
              </a:tblPr>
              <a:tblGrid>
                <a:gridCol w="1661150"/>
                <a:gridCol w="1661150"/>
                <a:gridCol w="1661150"/>
                <a:gridCol w="1661150"/>
                <a:gridCol w="1661150"/>
              </a:tblGrid>
              <a:tr h="722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Category 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2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 anchor="ctr"/>
                </a:tc>
              </a:tr>
              <a:tr h="1106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Active participation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Routinely provides useful ideas when participating in the group. 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Usually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Sometimes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Rarely provides useful ideas when participating in the group.</a:t>
                      </a:r>
                      <a:endParaRPr sz="2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9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386" name="Google Shape;386;p29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387" name="Google Shape;387;p29"/>
          <p:cNvSpPr/>
          <p:nvPr/>
        </p:nvSpPr>
        <p:spPr>
          <a:xfrm>
            <a:off x="1066800" y="304800"/>
            <a:ext cx="80732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– Intelligent Agent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eas-smarthome.gif" id="388" name="Google Shape;38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81200" y="1981200"/>
            <a:ext cx="4895850" cy="2547937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9"/>
          <p:cNvSpPr txBox="1"/>
          <p:nvPr/>
        </p:nvSpPr>
        <p:spPr>
          <a:xfrm>
            <a:off x="762000" y="4876800"/>
            <a:ext cx="7162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Along with detailed explanation on the above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how each property will be represented in the POC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395" name="Google Shape;395;p30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 result for artificial intelligence icon" id="396" name="Google Shape;396;p30"/>
          <p:cNvPicPr preferRelativeResize="0"/>
          <p:nvPr/>
        </p:nvPicPr>
        <p:blipFill rotWithShape="1">
          <a:blip r:embed="rId3">
            <a:alphaModFix/>
          </a:blip>
          <a:srcRect b="29337" l="14092" r="15442" t="0"/>
          <a:stretch/>
        </p:blipFill>
        <p:spPr>
          <a:xfrm>
            <a:off x="64826" y="2259238"/>
            <a:ext cx="2071412" cy="256625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 txBox="1"/>
          <p:nvPr/>
        </p:nvSpPr>
        <p:spPr>
          <a:xfrm>
            <a:off x="2362200" y="2590800"/>
            <a:ext cx="6324600" cy="93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Roboto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Proof of Concept - POC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0"/>
          <p:cNvSpPr/>
          <p:nvPr/>
        </p:nvSpPr>
        <p:spPr>
          <a:xfrm>
            <a:off x="2743200" y="3429000"/>
            <a:ext cx="61722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10% CLO2, 5% TW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04" name="Google Shape;404;p31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405" name="Google Shape;405;p31"/>
          <p:cNvSpPr/>
          <p:nvPr/>
        </p:nvSpPr>
        <p:spPr>
          <a:xfrm>
            <a:off x="228600" y="1828800"/>
            <a:ext cx="8610600" cy="40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prototype as POC of the proposed AI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143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may use any prototyping tools/software and it should include interactive interface. The main idea is for you to express your solution on how AI can be implemented in real-world problems.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5143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Char char="•"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answer how the proposed AI solution can verify the concept in solving problems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51435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Garamond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5143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C00000"/>
              </a:buClr>
              <a:buSzPts val="2200"/>
              <a:buFont typeface="Garamond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1"/>
          <p:cNvSpPr/>
          <p:nvPr/>
        </p:nvSpPr>
        <p:spPr>
          <a:xfrm>
            <a:off x="1066800" y="304800"/>
            <a:ext cx="807327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CLO2: Proof of Concept – 10%</a:t>
            </a:r>
            <a:endParaRPr b="1" i="0" sz="4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Proof of Concept (10%)</a:t>
            </a:r>
            <a:endParaRPr sz="2800"/>
          </a:p>
        </p:txBody>
      </p:sp>
      <p:sp>
        <p:nvSpPr>
          <p:cNvPr id="412" name="Google Shape;412;p32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413" name="Google Shape;413;p32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14" name="Google Shape;414;p32"/>
          <p:cNvGraphicFramePr/>
          <p:nvPr/>
        </p:nvGraphicFramePr>
        <p:xfrm>
          <a:off x="449826" y="1600200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{80D91BEC-1D3C-41D2-930B-A399E2BB072D}</a:tableStyleId>
              </a:tblPr>
              <a:tblGrid>
                <a:gridCol w="1105050"/>
                <a:gridCol w="1621825"/>
                <a:gridCol w="1621825"/>
                <a:gridCol w="1621825"/>
                <a:gridCol w="1622425"/>
                <a:gridCol w="860300"/>
              </a:tblGrid>
              <a:tr h="40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Category 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Score?</a:t>
                      </a: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Originality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POC shows large amount of original thought.  Ideas are creative and inventive.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POC shows some original thought. Work shows new ideas and insights.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Uses other people’s idea (giving them credit) but there is little evidence of original thinking.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Uses other people’s ideas but does not give them credit.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7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</a:rPr>
                        <a:t>Content organization</a:t>
                      </a:r>
                      <a:endParaRPr b="1"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Content shows the most persuasive elements to attract reader.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 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Content shows the persuasive elements to attract reader.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 </a:t>
                      </a:r>
                      <a:endParaRPr sz="14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Content shows minimal persuasive elements to attract reader.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</a:rPr>
                        <a:t>Content shows the very minimal persuasive elements to attract reader.</a:t>
                      </a:r>
                      <a:endParaRPr sz="1400" u="none" cap="none" strike="noStrike"/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Roboto"/>
              <a:buNone/>
            </a:pPr>
            <a:r>
              <a:rPr b="1" lang="en-US" sz="280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Proof of Concept (10%)</a:t>
            </a:r>
            <a:endParaRPr sz="2800"/>
          </a:p>
        </p:txBody>
      </p:sp>
      <p:sp>
        <p:nvSpPr>
          <p:cNvPr id="420" name="Google Shape;420;p33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SCSJ 3353: Artificial Intelligence</a:t>
            </a:r>
            <a:endParaRPr/>
          </a:p>
        </p:txBody>
      </p:sp>
      <p:sp>
        <p:nvSpPr>
          <p:cNvPr id="421" name="Google Shape;421;p33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422" name="Google Shape;422;p33"/>
          <p:cNvGraphicFramePr/>
          <p:nvPr/>
        </p:nvGraphicFramePr>
        <p:xfrm>
          <a:off x="449826" y="1600200"/>
          <a:ext cx="3000000" cy="3000000"/>
        </p:xfrm>
        <a:graphic>
          <a:graphicData uri="http://schemas.openxmlformats.org/drawingml/2006/table">
            <a:tbl>
              <a:tblPr bandCol="1" bandRow="1" firstCol="1" firstRow="1" lastCol="1" lastRow="1">
                <a:noFill/>
                <a:tableStyleId>{80D91BEC-1D3C-41D2-930B-A399E2BB072D}</a:tableStyleId>
              </a:tblPr>
              <a:tblGrid>
                <a:gridCol w="1105050"/>
                <a:gridCol w="1621825"/>
                <a:gridCol w="1621825"/>
                <a:gridCol w="1621825"/>
                <a:gridCol w="1622425"/>
                <a:gridCol w="860300"/>
              </a:tblGrid>
              <a:tr h="400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Category 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4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3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2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1</a:t>
                      </a:r>
                      <a:endParaRPr b="1"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/>
                        <a:t>Score?</a:t>
                      </a: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62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Originality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POC shows large amount of original thought.  Ideas are creative and inventive.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POC shows some original thought. Work shows new ideas and insights.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Uses other people’s idea (giving them credit) but there is little evidence of original thinking.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Uses other people’s ideas but does not give them credit.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7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Problem Formulation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is clearly formulated and well explained with examples.</a:t>
                      </a:r>
                      <a:endParaRPr sz="1400" u="none" cap="none" strike="noStrike"/>
                    </a:p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is clearly formulated with adequate explanation.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is somehow clear with limited explanation.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Problem is unclear.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  <a:tr h="784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Content organization</a:t>
                      </a:r>
                      <a:endParaRPr b="1"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Content shows the most persuasive elements.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Includes essential knowledge about the topic. Subject knowledge appears to be good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Includes essential information about the topic but there are 1-2 factual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Content is minimal OR there are several factual errors.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 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3725" marL="63725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28" name="Google Shape;428;p34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429" name="Google Shape;429;p34"/>
          <p:cNvSpPr/>
          <p:nvPr/>
        </p:nvSpPr>
        <p:spPr>
          <a:xfrm>
            <a:off x="1066800" y="304800"/>
            <a:ext cx="80732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Rubric: Peer Review on TW (5%)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381000" y="1447800"/>
            <a:ext cx="8763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5% Peer review on Team Working (TW)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each of your group member on Team Working Value in the scale of 1 to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1" name="Google Shape;431;p34"/>
          <p:cNvGraphicFramePr/>
          <p:nvPr/>
        </p:nvGraphicFramePr>
        <p:xfrm>
          <a:off x="152400" y="2209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{63D4C59A-1B88-4128-8D4D-7D4BE1DCD807}</a:tableStyleId>
              </a:tblPr>
              <a:tblGrid>
                <a:gridCol w="1371600"/>
                <a:gridCol w="1752600"/>
                <a:gridCol w="1676400"/>
                <a:gridCol w="2270750"/>
                <a:gridCol w="1767850"/>
              </a:tblGrid>
              <a:tr h="334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 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/>
                </a:tc>
              </a:tr>
              <a:tr h="463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Contributions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Routinely provides useful ideas when participating in the group. 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provides useful ideas when participating in the group.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Sometimes provides useful ideas when participating in the group.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Rarely provides useful ideas when participating in the group.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617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Problem-solving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Actively looks for and suggests solutions to problems.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Refines solutions suggested by others.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suggest or refine solutions but is willing to try out solutions suggested by others.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not try to solve problems or help others solve problems.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 others do the work.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92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Attitude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never publicly critical of the project or the work of others. 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has a positive attitude about the task(s).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rarely publicly critical of the project or the work of others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Often has a positive attitude about the task(s).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occasionally publicly critical of the project or the work of other members of the group. 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has a positive attitude about the task(s).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often publicly critical of the project or the work of other members of the group. 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 often negative about the task(s).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926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 on the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task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Consistently stays focused on the task and what needs to be done. 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self-directed</a:t>
                      </a: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on the task and what needs to be done most of the time. 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group members can count on this person</a:t>
                      </a: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Focuses on the task and what needs to be done some of the time. 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 group members must sometimes nag, prod, and remind to keep this person on task.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Rarely focuses on the task and what needs to be done. </a:t>
                      </a:r>
                      <a:r>
                        <a:rPr lang="en-US" sz="1050" u="sng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Lets others do the work.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771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Working with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Others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Almost always listens to, shares with, and supports the efforts of others. Tries to keep people working well together.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Usually listens to, shares, with, and supports the efforts of others. Does not cause "waves" in the group.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Often listens to, shares with, and supports the efforts of others, but sometimes is not a good team member.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Rarely listens to, shares with, and supports the efforts of others. Often is not a good team player.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5"/>
          <p:cNvSpPr txBox="1"/>
          <p:nvPr>
            <p:ph idx="11" type="ftr"/>
          </p:nvPr>
        </p:nvSpPr>
        <p:spPr>
          <a:xfrm>
            <a:off x="2469777" y="6620436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800">
                <a:solidFill>
                  <a:schemeClr val="dk1"/>
                </a:solidFill>
              </a:rPr>
              <a:t>SCSJ 3353: Artificial Intelligence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438" name="Google Shape;438;p35"/>
          <p:cNvSpPr txBox="1"/>
          <p:nvPr>
            <p:ph idx="12" type="sldNum"/>
          </p:nvPr>
        </p:nvSpPr>
        <p:spPr>
          <a:xfrm>
            <a:off x="6553200" y="6598396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 sz="900">
                <a:solidFill>
                  <a:schemeClr val="dk1"/>
                </a:solidFill>
              </a:rPr>
              <a:t>‹#›</a:t>
            </a:fld>
            <a:endParaRPr sz="900">
              <a:solidFill>
                <a:schemeClr val="dk1"/>
              </a:solidFill>
            </a:endParaRPr>
          </a:p>
        </p:txBody>
      </p:sp>
      <p:sp>
        <p:nvSpPr>
          <p:cNvPr id="439" name="Google Shape;439;p35"/>
          <p:cNvSpPr/>
          <p:nvPr/>
        </p:nvSpPr>
        <p:spPr>
          <a:xfrm>
            <a:off x="1066800" y="304800"/>
            <a:ext cx="807327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Example: SmartHome – Proof of Concept</a:t>
            </a:r>
            <a:endParaRPr b="1" i="0" sz="36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35"/>
          <p:cNvSpPr txBox="1"/>
          <p:nvPr/>
        </p:nvSpPr>
        <p:spPr>
          <a:xfrm>
            <a:off x="1143000" y="5638800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50" spcFirstLastPara="1" rIns="68550" wrap="square" tIns="34275">
            <a:noAutofit/>
          </a:bodyPr>
          <a:lstStyle/>
          <a:p>
            <a:pPr indent="-257150" lvl="0" marL="2571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be an </a:t>
            </a:r>
            <a:r>
              <a:rPr b="0" i="1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interactive design </a:t>
            </a: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demonstrate the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7150" lvl="0" marL="25715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 of the proposed AI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04750" lvl="0" marL="2571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oc.PNG" id="441" name="Google Shape;44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1447800"/>
            <a:ext cx="5925016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2019-10-19T12:03:00Z</dcterms:created>
  <dc:creator>ASRAFUL SYIFAA' BINTI AHMAD</dc:creator>
</cp:coreProperties>
</file>