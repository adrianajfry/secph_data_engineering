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5" roundtripDataSignature="AMtx7mg73niDFFzELAVNC8PSfd8ddhcv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customschemas.google.com/relationships/presentationmetadata" Target="metadata"/><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1"/>
              </a:buClr>
              <a:buSzPts val="1400"/>
              <a:buFont typeface="Calibri"/>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Clr>
                <a:schemeClr val="dk1"/>
              </a:buClr>
              <a:buSzPts val="1400"/>
              <a:buFont typeface="Calibri"/>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Clr>
                <a:schemeClr val="dk1"/>
              </a:buClr>
              <a:buSzPts val="1400"/>
              <a:buFont typeface="Calibri"/>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chemeClr val="dk1"/>
              </a:buClr>
              <a:buSzPts val="1200"/>
              <a:buFont typeface="Calibri"/>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7" name="Google Shape;197;p4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5" name="Google Shape;205;p4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2" name="Google Shape;212;p4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8" name="Google Shape;218;p4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4" name="Google Shape;224;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0" name="Google Shape;230;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9" name="Google Shape;249;p5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6" name="Google Shape;256;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2" name="Google Shape;262;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8" name="Google Shape;268;p5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83" name="Google Shape;283;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93" name="Google Shape;293;p5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5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03" name="Google Shape;303;p5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09" name="Google Shape;309;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20" name="Google Shape;320;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5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27" name="Google Shape;327;p5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5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33" name="Google Shape;333;p5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af35b24543_0_3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af35b24543_0_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39" name="Google Shape;339;g3af35b24543_0_3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5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45" name="Google Shape;345;p5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5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53" name="Google Shape;353;p5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6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63" name="Google Shape;363;p6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6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74" name="Google Shape;374;p6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6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81" name="Google Shape;381;p6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6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88" name="Google Shape;388;p6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af35b24543_0_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95" name="Google Shape;395;g3af35b24543_0_2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af35b24543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01" name="Google Shape;401;g3af35b24543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af35b24543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09" name="Google Shape;409;g3af35b24543_0_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af35b24543_0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17" name="Google Shape;417;g3af35b24543_0_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3af35b24543_0_3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3af35b24543_0_3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26" name="Google Shape;426;g3af35b24543_0_3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6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34" name="Google Shape;434;p6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14.png"/><Relationship Id="rId6"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age">
  <p:cSld name="cover page">
    <p:spTree>
      <p:nvGrpSpPr>
        <p:cNvPr id="15" name="Shape 15"/>
        <p:cNvGrpSpPr/>
        <p:nvPr/>
      </p:nvGrpSpPr>
      <p:grpSpPr>
        <a:xfrm>
          <a:off x="0" y="0"/>
          <a:ext cx="0" cy="0"/>
          <a:chOff x="0" y="0"/>
          <a:chExt cx="0" cy="0"/>
        </a:xfrm>
      </p:grpSpPr>
      <p:pic>
        <p:nvPicPr>
          <p:cNvPr id="16" name="Google Shape;16;p66"/>
          <p:cNvPicPr preferRelativeResize="0"/>
          <p:nvPr/>
        </p:nvPicPr>
        <p:blipFill rotWithShape="1">
          <a:blip r:embed="rId2">
            <a:alphaModFix amt="34000"/>
          </a:blip>
          <a:srcRect b="0" l="0" r="0" t="0"/>
          <a:stretch/>
        </p:blipFill>
        <p:spPr>
          <a:xfrm rot="-5400000">
            <a:off x="211027" y="-211028"/>
            <a:ext cx="6880030" cy="7302083"/>
          </a:xfrm>
          <a:prstGeom prst="rect">
            <a:avLst/>
          </a:prstGeom>
          <a:noFill/>
          <a:ln>
            <a:noFill/>
          </a:ln>
        </p:spPr>
      </p:pic>
      <p:pic>
        <p:nvPicPr>
          <p:cNvPr id="17" name="Google Shape;17;p66"/>
          <p:cNvPicPr preferRelativeResize="0"/>
          <p:nvPr/>
        </p:nvPicPr>
        <p:blipFill rotWithShape="1">
          <a:blip r:embed="rId3">
            <a:alphaModFix amt="99000"/>
          </a:blip>
          <a:srcRect b="0" l="0" r="0" t="0"/>
          <a:stretch/>
        </p:blipFill>
        <p:spPr>
          <a:xfrm flipH="1">
            <a:off x="44321" y="3"/>
            <a:ext cx="9055360" cy="3109189"/>
          </a:xfrm>
          <a:prstGeom prst="rect">
            <a:avLst/>
          </a:prstGeom>
          <a:noFill/>
          <a:ln>
            <a:noFill/>
          </a:ln>
        </p:spPr>
      </p:pic>
      <p:sp>
        <p:nvSpPr>
          <p:cNvPr id="18" name="Google Shape;18;p66"/>
          <p:cNvSpPr/>
          <p:nvPr/>
        </p:nvSpPr>
        <p:spPr>
          <a:xfrm rot="5400000">
            <a:off x="4429546" y="2165578"/>
            <a:ext cx="284909" cy="9144000"/>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050" u="none" cap="none" strike="noStrike">
              <a:solidFill>
                <a:schemeClr val="lt1"/>
              </a:solidFill>
              <a:latin typeface="Calibri"/>
              <a:ea typeface="Calibri"/>
              <a:cs typeface="Calibri"/>
              <a:sym typeface="Calibri"/>
            </a:endParaRPr>
          </a:p>
        </p:txBody>
      </p:sp>
      <p:sp>
        <p:nvSpPr>
          <p:cNvPr id="19" name="Google Shape;19;p66"/>
          <p:cNvSpPr txBox="1"/>
          <p:nvPr/>
        </p:nvSpPr>
        <p:spPr>
          <a:xfrm>
            <a:off x="4109523" y="6595124"/>
            <a:ext cx="1032976" cy="21929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25" u="none" cap="none" strike="noStrike">
                <a:solidFill>
                  <a:srgbClr val="F2F2F2"/>
                </a:solidFill>
                <a:latin typeface="Calibri"/>
                <a:ea typeface="Calibri"/>
                <a:cs typeface="Calibri"/>
                <a:sym typeface="Calibri"/>
              </a:rPr>
              <a:t>www.utm.my</a:t>
            </a:r>
            <a:endParaRPr b="1" i="0" sz="825" u="none" cap="none" strike="noStrike">
              <a:solidFill>
                <a:schemeClr val="accent4"/>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0" name="Shape 20"/>
        <p:cNvGrpSpPr/>
        <p:nvPr/>
      </p:nvGrpSpPr>
      <p:grpSpPr>
        <a:xfrm>
          <a:off x="0" y="0"/>
          <a:ext cx="0" cy="0"/>
          <a:chOff x="0" y="0"/>
          <a:chExt cx="0" cy="0"/>
        </a:xfrm>
      </p:grpSpPr>
      <p:pic>
        <p:nvPicPr>
          <p:cNvPr id="21" name="Google Shape;21;p67"/>
          <p:cNvPicPr preferRelativeResize="0"/>
          <p:nvPr/>
        </p:nvPicPr>
        <p:blipFill rotWithShape="1">
          <a:blip r:embed="rId2">
            <a:alphaModFix amt="99000"/>
          </a:blip>
          <a:srcRect b="0" l="0" r="0" t="0"/>
          <a:stretch/>
        </p:blipFill>
        <p:spPr>
          <a:xfrm flipH="1">
            <a:off x="5073" y="1273"/>
            <a:ext cx="9055360" cy="3109189"/>
          </a:xfrm>
          <a:prstGeom prst="rect">
            <a:avLst/>
          </a:prstGeom>
          <a:noFill/>
          <a:ln>
            <a:noFill/>
          </a:ln>
        </p:spPr>
      </p:pic>
      <p:sp>
        <p:nvSpPr>
          <p:cNvPr id="22" name="Google Shape;22;p67"/>
          <p:cNvSpPr txBox="1"/>
          <p:nvPr>
            <p:ph type="title"/>
          </p:nvPr>
        </p:nvSpPr>
        <p:spPr>
          <a:xfrm>
            <a:off x="629841" y="365128"/>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67"/>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24" name="Google Shape;24;p67"/>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5" name="Google Shape;25;p67"/>
          <p:cNvSpPr txBox="1"/>
          <p:nvPr>
            <p:ph idx="3" type="body"/>
          </p:nvPr>
        </p:nvSpPr>
        <p:spPr>
          <a:xfrm>
            <a:off x="4629151"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26" name="Google Shape;26;p67"/>
          <p:cNvSpPr txBox="1"/>
          <p:nvPr>
            <p:ph idx="4" type="body"/>
          </p:nvPr>
        </p:nvSpPr>
        <p:spPr>
          <a:xfrm>
            <a:off x="4629151"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7" name="Google Shape;27;p67"/>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67"/>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67"/>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pic>
        <p:nvPicPr>
          <p:cNvPr id="30" name="Google Shape;30;p67"/>
          <p:cNvPicPr preferRelativeResize="0"/>
          <p:nvPr/>
        </p:nvPicPr>
        <p:blipFill rotWithShape="1">
          <a:blip r:embed="rId3">
            <a:alphaModFix/>
          </a:blip>
          <a:srcRect b="0" l="0" r="0" t="0"/>
          <a:stretch/>
        </p:blipFill>
        <p:spPr>
          <a:xfrm>
            <a:off x="7859160" y="283593"/>
            <a:ext cx="1101125" cy="497461"/>
          </a:xfrm>
          <a:prstGeom prst="rect">
            <a:avLst/>
          </a:prstGeom>
          <a:noFill/>
          <a:ln>
            <a:noFill/>
          </a:ln>
        </p:spPr>
      </p:pic>
      <p:sp>
        <p:nvSpPr>
          <p:cNvPr id="31" name="Google Shape;31;p67"/>
          <p:cNvSpPr/>
          <p:nvPr/>
        </p:nvSpPr>
        <p:spPr>
          <a:xfrm>
            <a:off x="5075" y="342268"/>
            <a:ext cx="7702229" cy="45719"/>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050" u="none" cap="none" strike="noStrike">
              <a:solidFill>
                <a:schemeClr val="lt1"/>
              </a:solidFill>
              <a:latin typeface="Calibri"/>
              <a:ea typeface="Calibri"/>
              <a:cs typeface="Calibri"/>
              <a:sym typeface="Calibri"/>
            </a:endParaRPr>
          </a:p>
        </p:txBody>
      </p:sp>
      <p:grpSp>
        <p:nvGrpSpPr>
          <p:cNvPr id="32" name="Google Shape;32;p67"/>
          <p:cNvGrpSpPr/>
          <p:nvPr/>
        </p:nvGrpSpPr>
        <p:grpSpPr>
          <a:xfrm>
            <a:off x="8936251" y="4900068"/>
            <a:ext cx="219291" cy="1456285"/>
            <a:chOff x="-22867" y="4982614"/>
            <a:chExt cx="292388" cy="1456285"/>
          </a:xfrm>
        </p:grpSpPr>
        <p:sp>
          <p:nvSpPr>
            <p:cNvPr id="33" name="Google Shape;33;p67"/>
            <p:cNvSpPr/>
            <p:nvPr/>
          </p:nvSpPr>
          <p:spPr>
            <a:xfrm>
              <a:off x="-7479" y="4982614"/>
              <a:ext cx="261612" cy="1456285"/>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050" u="none" cap="none" strike="noStrike">
                <a:solidFill>
                  <a:schemeClr val="lt1"/>
                </a:solidFill>
                <a:latin typeface="Calibri"/>
                <a:ea typeface="Calibri"/>
                <a:cs typeface="Calibri"/>
                <a:sym typeface="Calibri"/>
              </a:endParaRPr>
            </a:p>
          </p:txBody>
        </p:sp>
        <p:sp>
          <p:nvSpPr>
            <p:cNvPr id="34" name="Google Shape;34;p67"/>
            <p:cNvSpPr txBox="1"/>
            <p:nvPr/>
          </p:nvSpPr>
          <p:spPr>
            <a:xfrm rot="-5400000">
              <a:off x="-565324" y="5562781"/>
              <a:ext cx="1377301" cy="2923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25" u="none" cap="none" strike="noStrike">
                  <a:solidFill>
                    <a:srgbClr val="F2F2F2"/>
                  </a:solidFill>
                  <a:latin typeface="Calibri"/>
                  <a:ea typeface="Calibri"/>
                  <a:cs typeface="Calibri"/>
                  <a:sym typeface="Calibri"/>
                </a:rPr>
                <a:t>www.utm.my</a:t>
              </a:r>
              <a:endParaRPr b="1" i="0" sz="825" u="none" cap="none" strike="noStrike">
                <a:solidFill>
                  <a:schemeClr val="accent4"/>
                </a:solidFill>
                <a:latin typeface="Calibri"/>
                <a:ea typeface="Calibri"/>
                <a:cs typeface="Calibri"/>
                <a:sym typeface="Calibri"/>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5" name="Shape 35"/>
        <p:cNvGrpSpPr/>
        <p:nvPr/>
      </p:nvGrpSpPr>
      <p:grpSpPr>
        <a:xfrm>
          <a:off x="0" y="0"/>
          <a:ext cx="0" cy="0"/>
          <a:chOff x="0" y="0"/>
          <a:chExt cx="0" cy="0"/>
        </a:xfrm>
      </p:grpSpPr>
      <p:pic>
        <p:nvPicPr>
          <p:cNvPr id="36" name="Google Shape;36;p68"/>
          <p:cNvPicPr preferRelativeResize="0"/>
          <p:nvPr/>
        </p:nvPicPr>
        <p:blipFill rotWithShape="1">
          <a:blip r:embed="rId2">
            <a:alphaModFix/>
          </a:blip>
          <a:srcRect b="0" l="0" r="0" t="0"/>
          <a:stretch/>
        </p:blipFill>
        <p:spPr>
          <a:xfrm flipH="1">
            <a:off x="5075" y="1270"/>
            <a:ext cx="5334040" cy="1831461"/>
          </a:xfrm>
          <a:prstGeom prst="rect">
            <a:avLst/>
          </a:prstGeom>
          <a:noFill/>
          <a:ln>
            <a:noFill/>
          </a:ln>
        </p:spPr>
      </p:pic>
      <p:sp>
        <p:nvSpPr>
          <p:cNvPr id="37" name="Google Shape;37;p68"/>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3000"/>
              <a:buFont typeface="Calibri"/>
              <a:buNone/>
              <a:defRPr sz="30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8"/>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9" name="Google Shape;39;p68"/>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68"/>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68"/>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42" name="Google Shape;42;p68"/>
          <p:cNvSpPr/>
          <p:nvPr/>
        </p:nvSpPr>
        <p:spPr>
          <a:xfrm>
            <a:off x="2920816" y="21434"/>
            <a:ext cx="3345126" cy="256507"/>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50">
              <a:solidFill>
                <a:schemeClr val="lt1"/>
              </a:solidFill>
              <a:latin typeface="Calibri"/>
              <a:ea typeface="Calibri"/>
              <a:cs typeface="Calibri"/>
              <a:sym typeface="Calibri"/>
            </a:endParaRPr>
          </a:p>
        </p:txBody>
      </p:sp>
      <p:pic>
        <p:nvPicPr>
          <p:cNvPr id="43" name="Google Shape;43;p68"/>
          <p:cNvPicPr preferRelativeResize="0"/>
          <p:nvPr/>
        </p:nvPicPr>
        <p:blipFill rotWithShape="1">
          <a:blip r:embed="rId3">
            <a:alphaModFix/>
          </a:blip>
          <a:srcRect b="0" l="0" r="0" t="0"/>
          <a:stretch/>
        </p:blipFill>
        <p:spPr>
          <a:xfrm>
            <a:off x="7859160" y="283593"/>
            <a:ext cx="1101125" cy="497461"/>
          </a:xfrm>
          <a:prstGeom prst="rect">
            <a:avLst/>
          </a:prstGeom>
          <a:noFill/>
          <a:ln>
            <a:noFill/>
          </a:ln>
        </p:spPr>
      </p:pic>
      <p:sp>
        <p:nvSpPr>
          <p:cNvPr id="44" name="Google Shape;44;p68"/>
          <p:cNvSpPr/>
          <p:nvPr/>
        </p:nvSpPr>
        <p:spPr>
          <a:xfrm>
            <a:off x="-1" y="6808665"/>
            <a:ext cx="9186760" cy="108973"/>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50">
              <a:solidFill>
                <a:schemeClr val="lt1"/>
              </a:solidFill>
              <a:latin typeface="Calibri"/>
              <a:ea typeface="Calibri"/>
              <a:cs typeface="Calibri"/>
              <a:sym typeface="Calibri"/>
            </a:endParaRPr>
          </a:p>
        </p:txBody>
      </p:sp>
      <p:grpSp>
        <p:nvGrpSpPr>
          <p:cNvPr id="45" name="Google Shape;45;p68"/>
          <p:cNvGrpSpPr/>
          <p:nvPr/>
        </p:nvGrpSpPr>
        <p:grpSpPr>
          <a:xfrm>
            <a:off x="8936251" y="4900068"/>
            <a:ext cx="219291" cy="1456285"/>
            <a:chOff x="-22867" y="4982614"/>
            <a:chExt cx="292388" cy="1456285"/>
          </a:xfrm>
        </p:grpSpPr>
        <p:sp>
          <p:nvSpPr>
            <p:cNvPr id="46" name="Google Shape;46;p68"/>
            <p:cNvSpPr/>
            <p:nvPr/>
          </p:nvSpPr>
          <p:spPr>
            <a:xfrm>
              <a:off x="-7479" y="4982614"/>
              <a:ext cx="261612" cy="1456285"/>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50">
                <a:solidFill>
                  <a:schemeClr val="lt1"/>
                </a:solidFill>
                <a:latin typeface="Calibri"/>
                <a:ea typeface="Calibri"/>
                <a:cs typeface="Calibri"/>
                <a:sym typeface="Calibri"/>
              </a:endParaRPr>
            </a:p>
          </p:txBody>
        </p:sp>
        <p:sp>
          <p:nvSpPr>
            <p:cNvPr id="47" name="Google Shape;47;p68"/>
            <p:cNvSpPr txBox="1"/>
            <p:nvPr/>
          </p:nvSpPr>
          <p:spPr>
            <a:xfrm rot="-5400000">
              <a:off x="-565324" y="5562781"/>
              <a:ext cx="1377301" cy="2923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25">
                  <a:solidFill>
                    <a:srgbClr val="F2F2F2"/>
                  </a:solidFill>
                  <a:latin typeface="Calibri"/>
                  <a:ea typeface="Calibri"/>
                  <a:cs typeface="Calibri"/>
                  <a:sym typeface="Calibri"/>
                </a:rPr>
                <a:t>www.utm.my</a:t>
              </a:r>
              <a:endParaRPr b="1" i="0" sz="825">
                <a:solidFill>
                  <a:schemeClr val="accent4"/>
                </a:solidFill>
                <a:latin typeface="Calibri"/>
                <a:ea typeface="Calibri"/>
                <a:cs typeface="Calibri"/>
                <a:sym typeface="Calibri"/>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20">
  <p:cSld name="Layout20">
    <p:bg>
      <p:bgPr>
        <a:solidFill>
          <a:srgbClr val="4B473E"/>
        </a:solidFill>
      </p:bgPr>
    </p:bg>
    <p:spTree>
      <p:nvGrpSpPr>
        <p:cNvPr id="48" name="Shape 48"/>
        <p:cNvGrpSpPr/>
        <p:nvPr/>
      </p:nvGrpSpPr>
      <p:grpSpPr>
        <a:xfrm>
          <a:off x="0" y="0"/>
          <a:ext cx="0" cy="0"/>
          <a:chOff x="0" y="0"/>
          <a:chExt cx="0" cy="0"/>
        </a:xfrm>
      </p:grpSpPr>
      <p:sp>
        <p:nvSpPr>
          <p:cNvPr id="49" name="Google Shape;49;p69"/>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0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69"/>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cxnSp>
        <p:nvCxnSpPr>
          <p:cNvPr id="51" name="Google Shape;51;p69"/>
          <p:cNvCxnSpPr/>
          <p:nvPr/>
        </p:nvCxnSpPr>
        <p:spPr>
          <a:xfrm>
            <a:off x="-9525" y="101600"/>
            <a:ext cx="9144000" cy="0"/>
          </a:xfrm>
          <a:prstGeom prst="straightConnector1">
            <a:avLst/>
          </a:prstGeom>
          <a:noFill/>
          <a:ln cap="flat" cmpd="sng" w="9525">
            <a:solidFill>
              <a:schemeClr val="lt1"/>
            </a:solidFill>
            <a:prstDash val="solid"/>
            <a:miter lim="800000"/>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52" name="Shape 52"/>
        <p:cNvGrpSpPr/>
        <p:nvPr/>
      </p:nvGrpSpPr>
      <p:grpSpPr>
        <a:xfrm>
          <a:off x="0" y="0"/>
          <a:ext cx="0" cy="0"/>
          <a:chOff x="0" y="0"/>
          <a:chExt cx="0" cy="0"/>
        </a:xfrm>
      </p:grpSpPr>
      <p:sp>
        <p:nvSpPr>
          <p:cNvPr id="53" name="Google Shape;53;p70"/>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70"/>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70"/>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grpSp>
        <p:nvGrpSpPr>
          <p:cNvPr id="56" name="Google Shape;56;p70"/>
          <p:cNvGrpSpPr/>
          <p:nvPr/>
        </p:nvGrpSpPr>
        <p:grpSpPr>
          <a:xfrm>
            <a:off x="0" y="0"/>
            <a:ext cx="3552108" cy="7783867"/>
            <a:chOff x="0" y="0"/>
            <a:chExt cx="4736144" cy="7783867"/>
          </a:xfrm>
        </p:grpSpPr>
        <p:pic>
          <p:nvPicPr>
            <p:cNvPr id="57" name="Google Shape;57;p70"/>
            <p:cNvPicPr preferRelativeResize="0"/>
            <p:nvPr/>
          </p:nvPicPr>
          <p:blipFill rotWithShape="1">
            <a:blip r:embed="rId2">
              <a:alphaModFix/>
            </a:blip>
            <a:srcRect b="0" l="0" r="0" t="0"/>
            <a:stretch/>
          </p:blipFill>
          <p:spPr>
            <a:xfrm>
              <a:off x="0" y="0"/>
              <a:ext cx="3118649" cy="4463581"/>
            </a:xfrm>
            <a:prstGeom prst="rect">
              <a:avLst/>
            </a:prstGeom>
            <a:noFill/>
            <a:ln>
              <a:noFill/>
            </a:ln>
          </p:spPr>
        </p:pic>
        <p:sp>
          <p:nvSpPr>
            <p:cNvPr id="58" name="Google Shape;58;p70"/>
            <p:cNvSpPr/>
            <p:nvPr/>
          </p:nvSpPr>
          <p:spPr>
            <a:xfrm rot="8446488">
              <a:off x="1155879" y="3069975"/>
              <a:ext cx="2214654" cy="3120244"/>
            </a:xfrm>
            <a:prstGeom prst="parallelogram">
              <a:avLst>
                <a:gd fmla="val 25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50">
                <a:solidFill>
                  <a:schemeClr val="lt1"/>
                </a:solidFill>
                <a:latin typeface="Calibri"/>
                <a:ea typeface="Calibri"/>
                <a:cs typeface="Calibri"/>
                <a:sym typeface="Calibri"/>
              </a:endParaRPr>
            </a:p>
          </p:txBody>
        </p:sp>
        <p:sp>
          <p:nvSpPr>
            <p:cNvPr id="59" name="Google Shape;59;p70"/>
            <p:cNvSpPr/>
            <p:nvPr/>
          </p:nvSpPr>
          <p:spPr>
            <a:xfrm rot="8446488">
              <a:off x="2539020" y="5497285"/>
              <a:ext cx="1784436" cy="1941063"/>
            </a:xfrm>
            <a:custGeom>
              <a:rect b="b" l="l" r="r" t="t"/>
              <a:pathLst>
                <a:path extrusionOk="0" h="1941063" w="1784436">
                  <a:moveTo>
                    <a:pt x="0" y="1941063"/>
                  </a:moveTo>
                  <a:lnTo>
                    <a:pt x="341522" y="0"/>
                  </a:lnTo>
                  <a:lnTo>
                    <a:pt x="1784436" y="1205605"/>
                  </a:lnTo>
                  <a:lnTo>
                    <a:pt x="1660991" y="1941063"/>
                  </a:lnTo>
                  <a:lnTo>
                    <a:pt x="0" y="1941063"/>
                  </a:ln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50">
                <a:solidFill>
                  <a:schemeClr val="lt1"/>
                </a:solidFill>
                <a:latin typeface="Calibri"/>
                <a:ea typeface="Calibri"/>
                <a:cs typeface="Calibri"/>
                <a:sym typeface="Calibri"/>
              </a:endParaRPr>
            </a:p>
          </p:txBody>
        </p:sp>
      </p:grpSp>
      <p:pic>
        <p:nvPicPr>
          <p:cNvPr id="60" name="Google Shape;60;p70"/>
          <p:cNvPicPr preferRelativeResize="0"/>
          <p:nvPr/>
        </p:nvPicPr>
        <p:blipFill rotWithShape="1">
          <a:blip r:embed="rId3">
            <a:alphaModFix/>
          </a:blip>
          <a:srcRect b="0" l="0" r="0" t="0"/>
          <a:stretch/>
        </p:blipFill>
        <p:spPr>
          <a:xfrm flipH="1">
            <a:off x="1594748" y="-1062392"/>
            <a:ext cx="1803810" cy="3385097"/>
          </a:xfrm>
          <a:prstGeom prst="rect">
            <a:avLst/>
          </a:prstGeom>
          <a:noFill/>
          <a:ln>
            <a:noFill/>
          </a:ln>
        </p:spPr>
      </p:pic>
      <p:pic>
        <p:nvPicPr>
          <p:cNvPr id="61" name="Google Shape;61;p70"/>
          <p:cNvPicPr preferRelativeResize="0"/>
          <p:nvPr/>
        </p:nvPicPr>
        <p:blipFill rotWithShape="1">
          <a:blip r:embed="rId4">
            <a:alphaModFix amt="99000"/>
          </a:blip>
          <a:srcRect b="0" l="0" r="0" t="0"/>
          <a:stretch/>
        </p:blipFill>
        <p:spPr>
          <a:xfrm flipH="1" rot="-5400000">
            <a:off x="-2832572" y="2842944"/>
            <a:ext cx="7046892" cy="1361011"/>
          </a:xfrm>
          <a:prstGeom prst="rect">
            <a:avLst/>
          </a:prstGeom>
          <a:noFill/>
          <a:ln>
            <a:noFill/>
          </a:ln>
        </p:spPr>
      </p:pic>
      <p:pic>
        <p:nvPicPr>
          <p:cNvPr id="62" name="Google Shape;62;p70"/>
          <p:cNvPicPr preferRelativeResize="0"/>
          <p:nvPr/>
        </p:nvPicPr>
        <p:blipFill rotWithShape="1">
          <a:blip r:embed="rId5">
            <a:alphaModFix/>
          </a:blip>
          <a:srcRect b="0" l="0" r="0" t="0"/>
          <a:stretch/>
        </p:blipFill>
        <p:spPr>
          <a:xfrm rot="10800000">
            <a:off x="212409" y="3743465"/>
            <a:ext cx="1560526" cy="2978013"/>
          </a:xfrm>
          <a:prstGeom prst="rect">
            <a:avLst/>
          </a:prstGeom>
          <a:noFill/>
          <a:ln>
            <a:noFill/>
          </a:ln>
        </p:spPr>
      </p:pic>
      <p:pic>
        <p:nvPicPr>
          <p:cNvPr id="63" name="Google Shape;63;p70"/>
          <p:cNvPicPr preferRelativeResize="0"/>
          <p:nvPr/>
        </p:nvPicPr>
        <p:blipFill rotWithShape="1">
          <a:blip r:embed="rId6">
            <a:alphaModFix/>
          </a:blip>
          <a:srcRect b="0" l="0" r="0" t="0"/>
          <a:stretch/>
        </p:blipFill>
        <p:spPr>
          <a:xfrm rot="5400000">
            <a:off x="1320140" y="6145602"/>
            <a:ext cx="419100" cy="592931"/>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64" name="Shape 64"/>
        <p:cNvGrpSpPr/>
        <p:nvPr/>
      </p:nvGrpSpPr>
      <p:grpSpPr>
        <a:xfrm>
          <a:off x="0" y="0"/>
          <a:ext cx="0" cy="0"/>
          <a:chOff x="0" y="0"/>
          <a:chExt cx="0" cy="0"/>
        </a:xfrm>
      </p:grpSpPr>
      <p:pic>
        <p:nvPicPr>
          <p:cNvPr id="65" name="Google Shape;65;p71"/>
          <p:cNvPicPr preferRelativeResize="0"/>
          <p:nvPr/>
        </p:nvPicPr>
        <p:blipFill rotWithShape="1">
          <a:blip r:embed="rId2">
            <a:alphaModFix/>
          </a:blip>
          <a:srcRect b="7973" l="0" r="0" t="26333"/>
          <a:stretch/>
        </p:blipFill>
        <p:spPr>
          <a:xfrm>
            <a:off x="0" y="0"/>
            <a:ext cx="9144000" cy="6858000"/>
          </a:xfrm>
          <a:prstGeom prst="rect">
            <a:avLst/>
          </a:prstGeom>
          <a:noFill/>
          <a:ln>
            <a:noFill/>
          </a:ln>
        </p:spPr>
      </p:pic>
      <p:sp>
        <p:nvSpPr>
          <p:cNvPr id="66" name="Google Shape;66;p71"/>
          <p:cNvSpPr/>
          <p:nvPr/>
        </p:nvSpPr>
        <p:spPr>
          <a:xfrm>
            <a:off x="0" y="1"/>
            <a:ext cx="9144000" cy="6858000"/>
          </a:xfrm>
          <a:prstGeom prst="rect">
            <a:avLst/>
          </a:prstGeom>
          <a:gradFill>
            <a:gsLst>
              <a:gs pos="0">
                <a:srgbClr val="6C1D35">
                  <a:alpha val="67843"/>
                </a:srgbClr>
              </a:gs>
              <a:gs pos="12000">
                <a:srgbClr val="6C1D35">
                  <a:alpha val="67843"/>
                </a:srgbClr>
              </a:gs>
              <a:gs pos="77000">
                <a:srgbClr val="511527"/>
              </a:gs>
              <a:gs pos="100000">
                <a:srgbClr val="511527"/>
              </a:gs>
            </a:gsLst>
            <a:lin ang="13500000" scaled="0"/>
          </a:gradFill>
          <a:ln cap="flat" cmpd="sng" w="12700">
            <a:solidFill>
              <a:srgbClr val="2D0C1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50">
              <a:solidFill>
                <a:schemeClr val="lt1"/>
              </a:solidFill>
              <a:latin typeface="Calibri"/>
              <a:ea typeface="Calibri"/>
              <a:cs typeface="Calibri"/>
              <a:sym typeface="Calibri"/>
            </a:endParaRPr>
          </a:p>
        </p:txBody>
      </p:sp>
      <p:sp>
        <p:nvSpPr>
          <p:cNvPr id="67" name="Google Shape;67;p71"/>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71"/>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71"/>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pic>
        <p:nvPicPr>
          <p:cNvPr id="70" name="Google Shape;70;p71"/>
          <p:cNvPicPr preferRelativeResize="0"/>
          <p:nvPr/>
        </p:nvPicPr>
        <p:blipFill rotWithShape="1">
          <a:blip r:embed="rId3">
            <a:alphaModFix/>
          </a:blip>
          <a:srcRect b="0" l="0" r="0" t="0"/>
          <a:stretch/>
        </p:blipFill>
        <p:spPr>
          <a:xfrm flipH="1" rot="10800000">
            <a:off x="5334000" y="-35081"/>
            <a:ext cx="3688080" cy="6921189"/>
          </a:xfrm>
          <a:prstGeom prst="rect">
            <a:avLst/>
          </a:prstGeom>
          <a:noFill/>
          <a:ln>
            <a:noFill/>
          </a:ln>
        </p:spPr>
      </p:pic>
      <p:pic>
        <p:nvPicPr>
          <p:cNvPr id="71" name="Google Shape;71;p71"/>
          <p:cNvPicPr preferRelativeResize="0"/>
          <p:nvPr/>
        </p:nvPicPr>
        <p:blipFill rotWithShape="1">
          <a:blip r:embed="rId3">
            <a:alphaModFix/>
          </a:blip>
          <a:srcRect b="0" l="0" r="0" t="0"/>
          <a:stretch/>
        </p:blipFill>
        <p:spPr>
          <a:xfrm flipH="1" rot="10800000">
            <a:off x="8451197" y="349094"/>
            <a:ext cx="1507527" cy="2829081"/>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page">
  <p:cSld name="end page">
    <p:spTree>
      <p:nvGrpSpPr>
        <p:cNvPr id="72" name="Shape 72"/>
        <p:cNvGrpSpPr/>
        <p:nvPr/>
      </p:nvGrpSpPr>
      <p:grpSpPr>
        <a:xfrm>
          <a:off x="0" y="0"/>
          <a:ext cx="0" cy="0"/>
          <a:chOff x="0" y="0"/>
          <a:chExt cx="0" cy="0"/>
        </a:xfrm>
      </p:grpSpPr>
      <p:sp>
        <p:nvSpPr>
          <p:cNvPr id="73" name="Google Shape;73;p72"/>
          <p:cNvSpPr/>
          <p:nvPr/>
        </p:nvSpPr>
        <p:spPr>
          <a:xfrm>
            <a:off x="1" y="-2"/>
            <a:ext cx="9172575" cy="6858001"/>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50">
              <a:solidFill>
                <a:schemeClr val="lt1"/>
              </a:solidFill>
              <a:latin typeface="Calibri"/>
              <a:ea typeface="Calibri"/>
              <a:cs typeface="Calibri"/>
              <a:sym typeface="Calibri"/>
            </a:endParaRPr>
          </a:p>
        </p:txBody>
      </p:sp>
      <p:pic>
        <p:nvPicPr>
          <p:cNvPr id="74" name="Google Shape;74;p72"/>
          <p:cNvPicPr preferRelativeResize="0"/>
          <p:nvPr/>
        </p:nvPicPr>
        <p:blipFill rotWithShape="1">
          <a:blip r:embed="rId2">
            <a:alphaModFix amt="32000"/>
          </a:blip>
          <a:srcRect b="0" l="20647" r="0" t="0"/>
          <a:stretch/>
        </p:blipFill>
        <p:spPr>
          <a:xfrm rot="-5400000">
            <a:off x="1157288" y="-1157288"/>
            <a:ext cx="6858000" cy="9172575"/>
          </a:xfrm>
          <a:prstGeom prst="rect">
            <a:avLst/>
          </a:prstGeom>
          <a:noFill/>
          <a:ln>
            <a:noFill/>
          </a:ln>
        </p:spPr>
      </p:pic>
      <p:sp>
        <p:nvSpPr>
          <p:cNvPr id="75" name="Google Shape;75;p72"/>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72"/>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72"/>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8" name="Shape 78"/>
        <p:cNvGrpSpPr/>
        <p:nvPr/>
      </p:nvGrpSpPr>
      <p:grpSpPr>
        <a:xfrm>
          <a:off x="0" y="0"/>
          <a:ext cx="0" cy="0"/>
          <a:chOff x="0" y="0"/>
          <a:chExt cx="0" cy="0"/>
        </a:xfrm>
      </p:grpSpPr>
      <p:pic>
        <p:nvPicPr>
          <p:cNvPr id="79" name="Google Shape;79;p73"/>
          <p:cNvPicPr preferRelativeResize="0"/>
          <p:nvPr/>
        </p:nvPicPr>
        <p:blipFill rotWithShape="1">
          <a:blip r:embed="rId2">
            <a:alphaModFix amt="99000"/>
          </a:blip>
          <a:srcRect b="0" l="0" r="0" t="0"/>
          <a:stretch/>
        </p:blipFill>
        <p:spPr>
          <a:xfrm flipH="1">
            <a:off x="5073" y="1273"/>
            <a:ext cx="9055360" cy="3109189"/>
          </a:xfrm>
          <a:prstGeom prst="rect">
            <a:avLst/>
          </a:prstGeom>
          <a:noFill/>
          <a:ln>
            <a:noFill/>
          </a:ln>
        </p:spPr>
      </p:pic>
      <p:grpSp>
        <p:nvGrpSpPr>
          <p:cNvPr id="80" name="Google Shape;80;p73"/>
          <p:cNvGrpSpPr/>
          <p:nvPr/>
        </p:nvGrpSpPr>
        <p:grpSpPr>
          <a:xfrm>
            <a:off x="1" y="6438899"/>
            <a:ext cx="3319088" cy="419100"/>
            <a:chOff x="0" y="6438899"/>
            <a:chExt cx="4425450" cy="419100"/>
          </a:xfrm>
        </p:grpSpPr>
        <p:sp>
          <p:nvSpPr>
            <p:cNvPr id="81" name="Google Shape;81;p73"/>
            <p:cNvSpPr/>
            <p:nvPr/>
          </p:nvSpPr>
          <p:spPr>
            <a:xfrm>
              <a:off x="0" y="6438900"/>
              <a:ext cx="4115884" cy="419099"/>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50">
                <a:solidFill>
                  <a:schemeClr val="lt1"/>
                </a:solidFill>
                <a:latin typeface="Calibri"/>
                <a:ea typeface="Calibri"/>
                <a:cs typeface="Calibri"/>
                <a:sym typeface="Calibri"/>
              </a:endParaRPr>
            </a:p>
          </p:txBody>
        </p:sp>
        <p:sp>
          <p:nvSpPr>
            <p:cNvPr id="82" name="Google Shape;82;p73"/>
            <p:cNvSpPr/>
            <p:nvPr/>
          </p:nvSpPr>
          <p:spPr>
            <a:xfrm>
              <a:off x="4115884" y="6438899"/>
              <a:ext cx="309566" cy="419100"/>
            </a:xfrm>
            <a:prstGeom prst="rtTriangle">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50">
                <a:solidFill>
                  <a:schemeClr val="lt1"/>
                </a:solidFill>
                <a:latin typeface="Calibri"/>
                <a:ea typeface="Calibri"/>
                <a:cs typeface="Calibri"/>
                <a:sym typeface="Calibri"/>
              </a:endParaRPr>
            </a:p>
          </p:txBody>
        </p:sp>
      </p:grpSp>
      <p:sp>
        <p:nvSpPr>
          <p:cNvPr id="83" name="Google Shape;83;p73"/>
          <p:cNvSpPr txBox="1"/>
          <p:nvPr>
            <p:ph type="title"/>
          </p:nvPr>
        </p:nvSpPr>
        <p:spPr>
          <a:xfrm>
            <a:off x="623888" y="1047753"/>
            <a:ext cx="7886700" cy="1500187"/>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3000"/>
              <a:buFont typeface="Calibri"/>
              <a:buNone/>
              <a:defRPr sz="30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73"/>
          <p:cNvSpPr txBox="1"/>
          <p:nvPr>
            <p:ph idx="1" type="body"/>
          </p:nvPr>
        </p:nvSpPr>
        <p:spPr>
          <a:xfrm>
            <a:off x="623888" y="2814638"/>
            <a:ext cx="7886700" cy="335756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85" name="Google Shape;85;p73"/>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73"/>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73"/>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pic>
        <p:nvPicPr>
          <p:cNvPr id="88" name="Google Shape;88;p73"/>
          <p:cNvPicPr preferRelativeResize="0"/>
          <p:nvPr/>
        </p:nvPicPr>
        <p:blipFill rotWithShape="1">
          <a:blip r:embed="rId3">
            <a:alphaModFix/>
          </a:blip>
          <a:srcRect b="0" l="0" r="0" t="0"/>
          <a:stretch/>
        </p:blipFill>
        <p:spPr>
          <a:xfrm>
            <a:off x="7859160" y="283593"/>
            <a:ext cx="1101125" cy="497461"/>
          </a:xfrm>
          <a:prstGeom prst="rect">
            <a:avLst/>
          </a:prstGeom>
          <a:noFill/>
          <a:ln>
            <a:noFill/>
          </a:ln>
        </p:spPr>
      </p:pic>
      <p:grpSp>
        <p:nvGrpSpPr>
          <p:cNvPr id="89" name="Google Shape;89;p73"/>
          <p:cNvGrpSpPr/>
          <p:nvPr/>
        </p:nvGrpSpPr>
        <p:grpSpPr>
          <a:xfrm>
            <a:off x="1" y="0"/>
            <a:ext cx="1601261" cy="390908"/>
            <a:chOff x="0" y="0"/>
            <a:chExt cx="2135014" cy="390908"/>
          </a:xfrm>
        </p:grpSpPr>
        <p:sp>
          <p:nvSpPr>
            <p:cNvPr id="90" name="Google Shape;90;p73"/>
            <p:cNvSpPr/>
            <p:nvPr/>
          </p:nvSpPr>
          <p:spPr>
            <a:xfrm>
              <a:off x="0" y="1"/>
              <a:ext cx="1921715" cy="390907"/>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50">
                <a:solidFill>
                  <a:schemeClr val="lt1"/>
                </a:solidFill>
                <a:latin typeface="Calibri"/>
                <a:ea typeface="Calibri"/>
                <a:cs typeface="Calibri"/>
                <a:sym typeface="Calibri"/>
              </a:endParaRPr>
            </a:p>
          </p:txBody>
        </p:sp>
        <p:sp>
          <p:nvSpPr>
            <p:cNvPr id="91" name="Google Shape;91;p73"/>
            <p:cNvSpPr/>
            <p:nvPr/>
          </p:nvSpPr>
          <p:spPr>
            <a:xfrm flipH="1" rot="10800000">
              <a:off x="1921715" y="0"/>
              <a:ext cx="213299" cy="390907"/>
            </a:xfrm>
            <a:prstGeom prst="rtTriangle">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50">
                <a:solidFill>
                  <a:schemeClr val="lt1"/>
                </a:solidFill>
                <a:latin typeface="Calibri"/>
                <a:ea typeface="Calibri"/>
                <a:cs typeface="Calibri"/>
                <a:sym typeface="Calibri"/>
              </a:endParaRPr>
            </a:p>
          </p:txBody>
        </p:sp>
      </p:grpSp>
      <p:grpSp>
        <p:nvGrpSpPr>
          <p:cNvPr id="92" name="Google Shape;92;p73"/>
          <p:cNvGrpSpPr/>
          <p:nvPr/>
        </p:nvGrpSpPr>
        <p:grpSpPr>
          <a:xfrm>
            <a:off x="8936251" y="4900068"/>
            <a:ext cx="219291" cy="1456285"/>
            <a:chOff x="-22867" y="4982614"/>
            <a:chExt cx="292388" cy="1456285"/>
          </a:xfrm>
        </p:grpSpPr>
        <p:sp>
          <p:nvSpPr>
            <p:cNvPr id="93" name="Google Shape;93;p73"/>
            <p:cNvSpPr/>
            <p:nvPr/>
          </p:nvSpPr>
          <p:spPr>
            <a:xfrm>
              <a:off x="-7479" y="4982614"/>
              <a:ext cx="261612" cy="1456285"/>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50">
                <a:solidFill>
                  <a:schemeClr val="lt1"/>
                </a:solidFill>
                <a:latin typeface="Calibri"/>
                <a:ea typeface="Calibri"/>
                <a:cs typeface="Calibri"/>
                <a:sym typeface="Calibri"/>
              </a:endParaRPr>
            </a:p>
          </p:txBody>
        </p:sp>
        <p:sp>
          <p:nvSpPr>
            <p:cNvPr id="94" name="Google Shape;94;p73"/>
            <p:cNvSpPr txBox="1"/>
            <p:nvPr/>
          </p:nvSpPr>
          <p:spPr>
            <a:xfrm rot="-5400000">
              <a:off x="-565324" y="5562781"/>
              <a:ext cx="1377301" cy="2923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25">
                  <a:solidFill>
                    <a:srgbClr val="F2F2F2"/>
                  </a:solidFill>
                  <a:latin typeface="Calibri"/>
                  <a:ea typeface="Calibri"/>
                  <a:cs typeface="Calibri"/>
                  <a:sym typeface="Calibri"/>
                </a:rPr>
                <a:t>www.utm.my</a:t>
              </a:r>
              <a:endParaRPr b="1" i="0" sz="825">
                <a:solidFill>
                  <a:schemeClr val="accent4"/>
                </a:solidFill>
                <a:latin typeface="Calibri"/>
                <a:ea typeface="Calibri"/>
                <a:cs typeface="Calibri"/>
                <a:sym typeface="Calibri"/>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5" name="Shape 95"/>
        <p:cNvGrpSpPr/>
        <p:nvPr/>
      </p:nvGrpSpPr>
      <p:grpSpPr>
        <a:xfrm>
          <a:off x="0" y="0"/>
          <a:ext cx="0" cy="0"/>
          <a:chOff x="0" y="0"/>
          <a:chExt cx="0" cy="0"/>
        </a:xfrm>
      </p:grpSpPr>
      <p:pic>
        <p:nvPicPr>
          <p:cNvPr id="96" name="Google Shape;96;p74"/>
          <p:cNvPicPr preferRelativeResize="0"/>
          <p:nvPr/>
        </p:nvPicPr>
        <p:blipFill rotWithShape="1">
          <a:blip r:embed="rId2">
            <a:alphaModFix amt="99000"/>
          </a:blip>
          <a:srcRect b="0" l="0" r="0" t="0"/>
          <a:stretch/>
        </p:blipFill>
        <p:spPr>
          <a:xfrm flipH="1">
            <a:off x="5073" y="1273"/>
            <a:ext cx="9055360" cy="3109189"/>
          </a:xfrm>
          <a:prstGeom prst="rect">
            <a:avLst/>
          </a:prstGeom>
          <a:noFill/>
          <a:ln>
            <a:noFill/>
          </a:ln>
        </p:spPr>
      </p:pic>
      <p:sp>
        <p:nvSpPr>
          <p:cNvPr id="97" name="Google Shape;97;p74"/>
          <p:cNvSpPr txBox="1"/>
          <p:nvPr>
            <p:ph type="ctrTitle"/>
          </p:nvPr>
        </p:nvSpPr>
        <p:spPr>
          <a:xfrm>
            <a:off x="1143000" y="1122363"/>
            <a:ext cx="6858000" cy="138112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3000"/>
              <a:buFont typeface="Calibri"/>
              <a:buNone/>
              <a:defRPr sz="30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74"/>
          <p:cNvSpPr txBox="1"/>
          <p:nvPr>
            <p:ph idx="1" type="subTitle"/>
          </p:nvPr>
        </p:nvSpPr>
        <p:spPr>
          <a:xfrm>
            <a:off x="1143000" y="2601121"/>
            <a:ext cx="6858000" cy="3461751"/>
          </a:xfrm>
          <a:prstGeom prst="rect">
            <a:avLst/>
          </a:prstGeom>
          <a:noFill/>
          <a:ln>
            <a:noFill/>
          </a:ln>
        </p:spPr>
        <p:txBody>
          <a:bodyPr anchorCtr="0" anchor="t" bIns="45700" lIns="91425" spcFirstLastPara="1" rIns="91425" wrap="square" tIns="45700">
            <a:normAutofit/>
          </a:bodyPr>
          <a:lstStyle>
            <a:lvl1pPr lvl="0" algn="l">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99" name="Google Shape;99;p74"/>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74"/>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74"/>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marR="0" algn="ctr">
              <a:spcBef>
                <a:spcPts val="0"/>
              </a:spcBef>
              <a:buNone/>
              <a:defRPr sz="900">
                <a:solidFill>
                  <a:srgbClr val="6C1D35"/>
                </a:solidFill>
                <a:latin typeface="Calibri"/>
                <a:ea typeface="Calibri"/>
                <a:cs typeface="Calibri"/>
                <a:sym typeface="Calibri"/>
              </a:defRPr>
            </a:lvl1pPr>
            <a:lvl2pPr indent="0" lvl="1" marL="0" marR="0" algn="ctr">
              <a:spcBef>
                <a:spcPts val="0"/>
              </a:spcBef>
              <a:buNone/>
              <a:defRPr sz="900">
                <a:solidFill>
                  <a:srgbClr val="6C1D35"/>
                </a:solidFill>
                <a:latin typeface="Calibri"/>
                <a:ea typeface="Calibri"/>
                <a:cs typeface="Calibri"/>
                <a:sym typeface="Calibri"/>
              </a:defRPr>
            </a:lvl2pPr>
            <a:lvl3pPr indent="0" lvl="2" marL="0" marR="0" algn="ctr">
              <a:spcBef>
                <a:spcPts val="0"/>
              </a:spcBef>
              <a:buNone/>
              <a:defRPr sz="900">
                <a:solidFill>
                  <a:srgbClr val="6C1D35"/>
                </a:solidFill>
                <a:latin typeface="Calibri"/>
                <a:ea typeface="Calibri"/>
                <a:cs typeface="Calibri"/>
                <a:sym typeface="Calibri"/>
              </a:defRPr>
            </a:lvl3pPr>
            <a:lvl4pPr indent="0" lvl="3" marL="0" marR="0" algn="ctr">
              <a:spcBef>
                <a:spcPts val="0"/>
              </a:spcBef>
              <a:buNone/>
              <a:defRPr sz="900">
                <a:solidFill>
                  <a:srgbClr val="6C1D35"/>
                </a:solidFill>
                <a:latin typeface="Calibri"/>
                <a:ea typeface="Calibri"/>
                <a:cs typeface="Calibri"/>
                <a:sym typeface="Calibri"/>
              </a:defRPr>
            </a:lvl4pPr>
            <a:lvl5pPr indent="0" lvl="4" marL="0" marR="0" algn="ctr">
              <a:spcBef>
                <a:spcPts val="0"/>
              </a:spcBef>
              <a:buNone/>
              <a:defRPr sz="900">
                <a:solidFill>
                  <a:srgbClr val="6C1D35"/>
                </a:solidFill>
                <a:latin typeface="Calibri"/>
                <a:ea typeface="Calibri"/>
                <a:cs typeface="Calibri"/>
                <a:sym typeface="Calibri"/>
              </a:defRPr>
            </a:lvl5pPr>
            <a:lvl6pPr indent="0" lvl="5" marL="0" marR="0" algn="ctr">
              <a:spcBef>
                <a:spcPts val="0"/>
              </a:spcBef>
              <a:buNone/>
              <a:defRPr sz="900">
                <a:solidFill>
                  <a:srgbClr val="6C1D35"/>
                </a:solidFill>
                <a:latin typeface="Calibri"/>
                <a:ea typeface="Calibri"/>
                <a:cs typeface="Calibri"/>
                <a:sym typeface="Calibri"/>
              </a:defRPr>
            </a:lvl6pPr>
            <a:lvl7pPr indent="0" lvl="6" marL="0" marR="0" algn="ctr">
              <a:spcBef>
                <a:spcPts val="0"/>
              </a:spcBef>
              <a:buNone/>
              <a:defRPr sz="900">
                <a:solidFill>
                  <a:srgbClr val="6C1D35"/>
                </a:solidFill>
                <a:latin typeface="Calibri"/>
                <a:ea typeface="Calibri"/>
                <a:cs typeface="Calibri"/>
                <a:sym typeface="Calibri"/>
              </a:defRPr>
            </a:lvl7pPr>
            <a:lvl8pPr indent="0" lvl="7" marL="0" marR="0" algn="ctr">
              <a:spcBef>
                <a:spcPts val="0"/>
              </a:spcBef>
              <a:buNone/>
              <a:defRPr sz="900">
                <a:solidFill>
                  <a:srgbClr val="6C1D35"/>
                </a:solidFill>
                <a:latin typeface="Calibri"/>
                <a:ea typeface="Calibri"/>
                <a:cs typeface="Calibri"/>
                <a:sym typeface="Calibri"/>
              </a:defRPr>
            </a:lvl8pPr>
            <a:lvl9pPr indent="0" lvl="8" marL="0" marR="0" algn="ctr">
              <a:spcBef>
                <a:spcPts val="0"/>
              </a:spcBef>
              <a:buNone/>
              <a:defRPr sz="900">
                <a:solidFill>
                  <a:srgbClr val="6C1D35"/>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pic>
        <p:nvPicPr>
          <p:cNvPr id="102" name="Google Shape;102;p74"/>
          <p:cNvPicPr preferRelativeResize="0"/>
          <p:nvPr/>
        </p:nvPicPr>
        <p:blipFill rotWithShape="1">
          <a:blip r:embed="rId3">
            <a:alphaModFix/>
          </a:blip>
          <a:srcRect b="0" l="0" r="0" t="0"/>
          <a:stretch/>
        </p:blipFill>
        <p:spPr>
          <a:xfrm>
            <a:off x="7859160" y="283593"/>
            <a:ext cx="1101125" cy="497461"/>
          </a:xfrm>
          <a:prstGeom prst="rect">
            <a:avLst/>
          </a:prstGeom>
          <a:noFill/>
          <a:ln>
            <a:noFill/>
          </a:ln>
        </p:spPr>
      </p:pic>
      <p:grpSp>
        <p:nvGrpSpPr>
          <p:cNvPr id="103" name="Google Shape;103;p74"/>
          <p:cNvGrpSpPr/>
          <p:nvPr/>
        </p:nvGrpSpPr>
        <p:grpSpPr>
          <a:xfrm>
            <a:off x="0" y="336866"/>
            <a:ext cx="628650" cy="390908"/>
            <a:chOff x="0" y="585597"/>
            <a:chExt cx="838200" cy="390908"/>
          </a:xfrm>
        </p:grpSpPr>
        <p:sp>
          <p:nvSpPr>
            <p:cNvPr id="104" name="Google Shape;104;p74"/>
            <p:cNvSpPr/>
            <p:nvPr/>
          </p:nvSpPr>
          <p:spPr>
            <a:xfrm>
              <a:off x="0" y="585598"/>
              <a:ext cx="624901" cy="390907"/>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50">
                <a:solidFill>
                  <a:schemeClr val="lt1"/>
                </a:solidFill>
                <a:latin typeface="Calibri"/>
                <a:ea typeface="Calibri"/>
                <a:cs typeface="Calibri"/>
                <a:sym typeface="Calibri"/>
              </a:endParaRPr>
            </a:p>
          </p:txBody>
        </p:sp>
        <p:sp>
          <p:nvSpPr>
            <p:cNvPr id="105" name="Google Shape;105;p74"/>
            <p:cNvSpPr/>
            <p:nvPr/>
          </p:nvSpPr>
          <p:spPr>
            <a:xfrm flipH="1" rot="10800000">
              <a:off x="624901" y="585597"/>
              <a:ext cx="213299" cy="390907"/>
            </a:xfrm>
            <a:prstGeom prst="rtTriangle">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50">
                <a:solidFill>
                  <a:schemeClr val="lt1"/>
                </a:solidFill>
                <a:latin typeface="Calibri"/>
                <a:ea typeface="Calibri"/>
                <a:cs typeface="Calibri"/>
                <a:sym typeface="Calibri"/>
              </a:endParaRPr>
            </a:p>
          </p:txBody>
        </p:sp>
      </p:grpSp>
      <p:grpSp>
        <p:nvGrpSpPr>
          <p:cNvPr id="106" name="Google Shape;106;p74"/>
          <p:cNvGrpSpPr/>
          <p:nvPr/>
        </p:nvGrpSpPr>
        <p:grpSpPr>
          <a:xfrm>
            <a:off x="8936251" y="4900068"/>
            <a:ext cx="219291" cy="1456285"/>
            <a:chOff x="-22867" y="4982614"/>
            <a:chExt cx="292388" cy="1456285"/>
          </a:xfrm>
        </p:grpSpPr>
        <p:sp>
          <p:nvSpPr>
            <p:cNvPr id="107" name="Google Shape;107;p74"/>
            <p:cNvSpPr/>
            <p:nvPr/>
          </p:nvSpPr>
          <p:spPr>
            <a:xfrm>
              <a:off x="-7479" y="4982614"/>
              <a:ext cx="261612" cy="1456285"/>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50">
                <a:solidFill>
                  <a:schemeClr val="lt1"/>
                </a:solidFill>
                <a:latin typeface="Calibri"/>
                <a:ea typeface="Calibri"/>
                <a:cs typeface="Calibri"/>
                <a:sym typeface="Calibri"/>
              </a:endParaRPr>
            </a:p>
          </p:txBody>
        </p:sp>
        <p:sp>
          <p:nvSpPr>
            <p:cNvPr id="108" name="Google Shape;108;p74"/>
            <p:cNvSpPr txBox="1"/>
            <p:nvPr/>
          </p:nvSpPr>
          <p:spPr>
            <a:xfrm rot="-5400000">
              <a:off x="-565324" y="5562781"/>
              <a:ext cx="1377301" cy="2923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25">
                  <a:solidFill>
                    <a:srgbClr val="F2F2F2"/>
                  </a:solidFill>
                  <a:latin typeface="Calibri"/>
                  <a:ea typeface="Calibri"/>
                  <a:cs typeface="Calibri"/>
                  <a:sym typeface="Calibri"/>
                </a:rPr>
                <a:t>www.utm.my</a:t>
              </a:r>
              <a:endParaRPr b="1" i="0" sz="825">
                <a:solidFill>
                  <a:schemeClr val="accent4"/>
                </a:solidFill>
                <a:latin typeface="Calibri"/>
                <a:ea typeface="Calibri"/>
                <a:cs typeface="Calibri"/>
                <a:sym typeface="Calibri"/>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9" name="Shape 109"/>
        <p:cNvGrpSpPr/>
        <p:nvPr/>
      </p:nvGrpSpPr>
      <p:grpSpPr>
        <a:xfrm>
          <a:off x="0" y="0"/>
          <a:ext cx="0" cy="0"/>
          <a:chOff x="0" y="0"/>
          <a:chExt cx="0" cy="0"/>
        </a:xfrm>
      </p:grpSpPr>
      <p:pic>
        <p:nvPicPr>
          <p:cNvPr id="110" name="Google Shape;110;p75"/>
          <p:cNvPicPr preferRelativeResize="0"/>
          <p:nvPr/>
        </p:nvPicPr>
        <p:blipFill rotWithShape="1">
          <a:blip r:embed="rId2">
            <a:alphaModFix/>
          </a:blip>
          <a:srcRect b="0" l="0" r="0" t="0"/>
          <a:stretch/>
        </p:blipFill>
        <p:spPr>
          <a:xfrm flipH="1">
            <a:off x="5075" y="1270"/>
            <a:ext cx="5334040" cy="1831461"/>
          </a:xfrm>
          <a:prstGeom prst="rect">
            <a:avLst/>
          </a:prstGeom>
          <a:noFill/>
          <a:ln>
            <a:noFill/>
          </a:ln>
        </p:spPr>
      </p:pic>
      <p:sp>
        <p:nvSpPr>
          <p:cNvPr id="111" name="Google Shape;111;p75"/>
          <p:cNvSpPr/>
          <p:nvPr/>
        </p:nvSpPr>
        <p:spPr>
          <a:xfrm>
            <a:off x="-28574" y="1690688"/>
            <a:ext cx="9172575" cy="5167312"/>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50">
              <a:solidFill>
                <a:schemeClr val="lt1"/>
              </a:solidFill>
              <a:latin typeface="Calibri"/>
              <a:ea typeface="Calibri"/>
              <a:cs typeface="Calibri"/>
              <a:sym typeface="Calibri"/>
            </a:endParaRPr>
          </a:p>
        </p:txBody>
      </p:sp>
      <p:sp>
        <p:nvSpPr>
          <p:cNvPr id="112" name="Google Shape;112;p75"/>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000"/>
              <a:buFont typeface="Calibri"/>
              <a:buNone/>
              <a:defRPr sz="30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3" name="Google Shape;113;p75"/>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14" name="Google Shape;114;p75"/>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15" name="Google Shape;115;p75"/>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75"/>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75"/>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pic>
        <p:nvPicPr>
          <p:cNvPr id="118" name="Google Shape;118;p75"/>
          <p:cNvPicPr preferRelativeResize="0"/>
          <p:nvPr/>
        </p:nvPicPr>
        <p:blipFill rotWithShape="1">
          <a:blip r:embed="rId3">
            <a:alphaModFix/>
          </a:blip>
          <a:srcRect b="0" l="0" r="0" t="0"/>
          <a:stretch/>
        </p:blipFill>
        <p:spPr>
          <a:xfrm>
            <a:off x="7859160" y="283593"/>
            <a:ext cx="1101125" cy="497461"/>
          </a:xfrm>
          <a:prstGeom prst="rect">
            <a:avLst/>
          </a:prstGeom>
          <a:noFill/>
          <a:ln>
            <a:noFill/>
          </a:ln>
        </p:spPr>
      </p:pic>
      <p:grpSp>
        <p:nvGrpSpPr>
          <p:cNvPr id="119" name="Google Shape;119;p75"/>
          <p:cNvGrpSpPr/>
          <p:nvPr/>
        </p:nvGrpSpPr>
        <p:grpSpPr>
          <a:xfrm>
            <a:off x="8936251" y="4900068"/>
            <a:ext cx="219291" cy="1456285"/>
            <a:chOff x="-22867" y="4982614"/>
            <a:chExt cx="292388" cy="1456285"/>
          </a:xfrm>
        </p:grpSpPr>
        <p:sp>
          <p:nvSpPr>
            <p:cNvPr id="120" name="Google Shape;120;p75"/>
            <p:cNvSpPr/>
            <p:nvPr/>
          </p:nvSpPr>
          <p:spPr>
            <a:xfrm>
              <a:off x="-7479" y="4982614"/>
              <a:ext cx="261612" cy="1456285"/>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50">
                <a:solidFill>
                  <a:schemeClr val="lt1"/>
                </a:solidFill>
                <a:latin typeface="Calibri"/>
                <a:ea typeface="Calibri"/>
                <a:cs typeface="Calibri"/>
                <a:sym typeface="Calibri"/>
              </a:endParaRPr>
            </a:p>
          </p:txBody>
        </p:sp>
        <p:sp>
          <p:nvSpPr>
            <p:cNvPr id="121" name="Google Shape;121;p75"/>
            <p:cNvSpPr txBox="1"/>
            <p:nvPr/>
          </p:nvSpPr>
          <p:spPr>
            <a:xfrm rot="-5400000">
              <a:off x="-565324" y="5562781"/>
              <a:ext cx="1377301" cy="2923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25">
                  <a:solidFill>
                    <a:srgbClr val="F2F2F2"/>
                  </a:solidFill>
                  <a:latin typeface="Calibri"/>
                  <a:ea typeface="Calibri"/>
                  <a:cs typeface="Calibri"/>
                  <a:sym typeface="Calibri"/>
                </a:rPr>
                <a:t>www.utm.my</a:t>
              </a:r>
              <a:endParaRPr b="1" i="0" sz="825">
                <a:solidFill>
                  <a:schemeClr val="accent4"/>
                </a:solidFill>
                <a:latin typeface="Calibri"/>
                <a:ea typeface="Calibri"/>
                <a:cs typeface="Calibri"/>
                <a:sym typeface="Calibri"/>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2" name="Shape 122"/>
        <p:cNvGrpSpPr/>
        <p:nvPr/>
      </p:nvGrpSpPr>
      <p:grpSpPr>
        <a:xfrm>
          <a:off x="0" y="0"/>
          <a:ext cx="0" cy="0"/>
          <a:chOff x="0" y="0"/>
          <a:chExt cx="0" cy="0"/>
        </a:xfrm>
      </p:grpSpPr>
      <p:pic>
        <p:nvPicPr>
          <p:cNvPr id="123" name="Google Shape;123;p76"/>
          <p:cNvPicPr preferRelativeResize="0"/>
          <p:nvPr/>
        </p:nvPicPr>
        <p:blipFill rotWithShape="1">
          <a:blip r:embed="rId2">
            <a:alphaModFix amt="99000"/>
          </a:blip>
          <a:srcRect b="0" l="0" r="0" t="0"/>
          <a:stretch/>
        </p:blipFill>
        <p:spPr>
          <a:xfrm flipH="1">
            <a:off x="5073" y="1273"/>
            <a:ext cx="9055360" cy="3109189"/>
          </a:xfrm>
          <a:prstGeom prst="rect">
            <a:avLst/>
          </a:prstGeom>
          <a:noFill/>
          <a:ln>
            <a:noFill/>
          </a:ln>
        </p:spPr>
      </p:pic>
      <p:grpSp>
        <p:nvGrpSpPr>
          <p:cNvPr id="124" name="Google Shape;124;p76"/>
          <p:cNvGrpSpPr/>
          <p:nvPr/>
        </p:nvGrpSpPr>
        <p:grpSpPr>
          <a:xfrm flipH="1">
            <a:off x="6672361" y="6438902"/>
            <a:ext cx="2471641" cy="419101"/>
            <a:chOff x="0" y="6438899"/>
            <a:chExt cx="4425450" cy="419100"/>
          </a:xfrm>
        </p:grpSpPr>
        <p:sp>
          <p:nvSpPr>
            <p:cNvPr id="125" name="Google Shape;125;p76"/>
            <p:cNvSpPr/>
            <p:nvPr/>
          </p:nvSpPr>
          <p:spPr>
            <a:xfrm>
              <a:off x="0" y="6438900"/>
              <a:ext cx="4115884" cy="419099"/>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50">
                <a:solidFill>
                  <a:schemeClr val="lt1"/>
                </a:solidFill>
                <a:latin typeface="Calibri"/>
                <a:ea typeface="Calibri"/>
                <a:cs typeface="Calibri"/>
                <a:sym typeface="Calibri"/>
              </a:endParaRPr>
            </a:p>
          </p:txBody>
        </p:sp>
        <p:sp>
          <p:nvSpPr>
            <p:cNvPr id="126" name="Google Shape;126;p76"/>
            <p:cNvSpPr/>
            <p:nvPr/>
          </p:nvSpPr>
          <p:spPr>
            <a:xfrm>
              <a:off x="4115884" y="6438899"/>
              <a:ext cx="309566" cy="419100"/>
            </a:xfrm>
            <a:prstGeom prst="rtTriangle">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50">
                <a:solidFill>
                  <a:schemeClr val="lt1"/>
                </a:solidFill>
                <a:latin typeface="Calibri"/>
                <a:ea typeface="Calibri"/>
                <a:cs typeface="Calibri"/>
                <a:sym typeface="Calibri"/>
              </a:endParaRPr>
            </a:p>
          </p:txBody>
        </p:sp>
      </p:grpSp>
      <p:sp>
        <p:nvSpPr>
          <p:cNvPr id="127" name="Google Shape;127;p76"/>
          <p:cNvSpPr txBox="1"/>
          <p:nvPr>
            <p:ph type="title"/>
          </p:nvPr>
        </p:nvSpPr>
        <p:spPr>
          <a:xfrm>
            <a:off x="1023731" y="2766221"/>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000"/>
              <a:buFont typeface="Calibri"/>
              <a:buNone/>
              <a:defRPr>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8" name="Google Shape;128;p76"/>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76"/>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76"/>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pic>
        <p:nvPicPr>
          <p:cNvPr id="131" name="Google Shape;131;p76"/>
          <p:cNvPicPr preferRelativeResize="0"/>
          <p:nvPr/>
        </p:nvPicPr>
        <p:blipFill rotWithShape="1">
          <a:blip r:embed="rId3">
            <a:alphaModFix/>
          </a:blip>
          <a:srcRect b="0" l="0" r="0" t="0"/>
          <a:stretch/>
        </p:blipFill>
        <p:spPr>
          <a:xfrm>
            <a:off x="7859160" y="283593"/>
            <a:ext cx="1101125" cy="497461"/>
          </a:xfrm>
          <a:prstGeom prst="rect">
            <a:avLst/>
          </a:prstGeom>
          <a:noFill/>
          <a:ln>
            <a:noFill/>
          </a:ln>
        </p:spPr>
      </p:pic>
      <p:grpSp>
        <p:nvGrpSpPr>
          <p:cNvPr id="132" name="Google Shape;132;p76"/>
          <p:cNvGrpSpPr/>
          <p:nvPr/>
        </p:nvGrpSpPr>
        <p:grpSpPr>
          <a:xfrm>
            <a:off x="8936251" y="4900068"/>
            <a:ext cx="219291" cy="1456285"/>
            <a:chOff x="-22867" y="4982614"/>
            <a:chExt cx="292388" cy="1456285"/>
          </a:xfrm>
        </p:grpSpPr>
        <p:sp>
          <p:nvSpPr>
            <p:cNvPr id="133" name="Google Shape;133;p76"/>
            <p:cNvSpPr/>
            <p:nvPr/>
          </p:nvSpPr>
          <p:spPr>
            <a:xfrm>
              <a:off x="-7479" y="4982614"/>
              <a:ext cx="261612" cy="1456285"/>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50">
                <a:solidFill>
                  <a:schemeClr val="lt1"/>
                </a:solidFill>
                <a:latin typeface="Calibri"/>
                <a:ea typeface="Calibri"/>
                <a:cs typeface="Calibri"/>
                <a:sym typeface="Calibri"/>
              </a:endParaRPr>
            </a:p>
          </p:txBody>
        </p:sp>
        <p:sp>
          <p:nvSpPr>
            <p:cNvPr id="134" name="Google Shape;134;p76"/>
            <p:cNvSpPr txBox="1"/>
            <p:nvPr/>
          </p:nvSpPr>
          <p:spPr>
            <a:xfrm rot="-5400000">
              <a:off x="-565324" y="5562781"/>
              <a:ext cx="1377301" cy="2923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25">
                  <a:solidFill>
                    <a:srgbClr val="F2F2F2"/>
                  </a:solidFill>
                  <a:latin typeface="Calibri"/>
                  <a:ea typeface="Calibri"/>
                  <a:cs typeface="Calibri"/>
                  <a:sym typeface="Calibri"/>
                </a:rPr>
                <a:t>www.utm.my</a:t>
              </a:r>
              <a:endParaRPr b="1" i="0" sz="825">
                <a:solidFill>
                  <a:schemeClr val="accent4"/>
                </a:solidFill>
                <a:latin typeface="Calibri"/>
                <a:ea typeface="Calibri"/>
                <a:cs typeface="Calibri"/>
                <a:sym typeface="Calibri"/>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5" name="Shape 135"/>
        <p:cNvGrpSpPr/>
        <p:nvPr/>
      </p:nvGrpSpPr>
      <p:grpSpPr>
        <a:xfrm>
          <a:off x="0" y="0"/>
          <a:ext cx="0" cy="0"/>
          <a:chOff x="0" y="0"/>
          <a:chExt cx="0" cy="0"/>
        </a:xfrm>
      </p:grpSpPr>
      <p:pic>
        <p:nvPicPr>
          <p:cNvPr id="136" name="Google Shape;136;p77"/>
          <p:cNvPicPr preferRelativeResize="0"/>
          <p:nvPr/>
        </p:nvPicPr>
        <p:blipFill rotWithShape="1">
          <a:blip r:embed="rId2">
            <a:alphaModFix/>
          </a:blip>
          <a:srcRect b="0" l="0" r="0" t="0"/>
          <a:stretch/>
        </p:blipFill>
        <p:spPr>
          <a:xfrm flipH="1">
            <a:off x="3534946" y="1270"/>
            <a:ext cx="5334040" cy="1831461"/>
          </a:xfrm>
          <a:prstGeom prst="rect">
            <a:avLst/>
          </a:prstGeom>
          <a:noFill/>
          <a:ln>
            <a:noFill/>
          </a:ln>
        </p:spPr>
      </p:pic>
      <p:sp>
        <p:nvSpPr>
          <p:cNvPr id="137" name="Google Shape;137;p77"/>
          <p:cNvSpPr/>
          <p:nvPr/>
        </p:nvSpPr>
        <p:spPr>
          <a:xfrm>
            <a:off x="-28574" y="0"/>
            <a:ext cx="3573066" cy="6858000"/>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50">
              <a:solidFill>
                <a:schemeClr val="lt1"/>
              </a:solidFill>
              <a:latin typeface="Calibri"/>
              <a:ea typeface="Calibri"/>
              <a:cs typeface="Calibri"/>
              <a:sym typeface="Calibri"/>
            </a:endParaRPr>
          </a:p>
        </p:txBody>
      </p:sp>
      <p:sp>
        <p:nvSpPr>
          <p:cNvPr id="138" name="Google Shape;138;p77"/>
          <p:cNvSpPr txBox="1"/>
          <p:nvPr>
            <p:ph type="title"/>
          </p:nvPr>
        </p:nvSpPr>
        <p:spPr>
          <a:xfrm>
            <a:off x="629842" y="457200"/>
            <a:ext cx="282897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100"/>
              <a:buFont typeface="Calibri"/>
              <a:buNone/>
              <a:defRPr sz="21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9" name="Google Shape;139;p77"/>
          <p:cNvSpPr txBox="1"/>
          <p:nvPr>
            <p:ph idx="1" type="body"/>
          </p:nvPr>
        </p:nvSpPr>
        <p:spPr>
          <a:xfrm>
            <a:off x="3887391" y="987428"/>
            <a:ext cx="4629150" cy="4873625"/>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140" name="Google Shape;140;p77"/>
          <p:cNvSpPr txBox="1"/>
          <p:nvPr>
            <p:ph idx="2" type="body"/>
          </p:nvPr>
        </p:nvSpPr>
        <p:spPr>
          <a:xfrm>
            <a:off x="629842" y="2057400"/>
            <a:ext cx="282897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141" name="Google Shape;141;p77"/>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77"/>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77"/>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pic>
        <p:nvPicPr>
          <p:cNvPr id="144" name="Google Shape;144;p77"/>
          <p:cNvPicPr preferRelativeResize="0"/>
          <p:nvPr/>
        </p:nvPicPr>
        <p:blipFill rotWithShape="1">
          <a:blip r:embed="rId3">
            <a:alphaModFix/>
          </a:blip>
          <a:srcRect b="0" l="0" r="0" t="0"/>
          <a:stretch/>
        </p:blipFill>
        <p:spPr>
          <a:xfrm>
            <a:off x="7859160" y="283593"/>
            <a:ext cx="1101125" cy="497461"/>
          </a:xfrm>
          <a:prstGeom prst="rect">
            <a:avLst/>
          </a:prstGeom>
          <a:noFill/>
          <a:ln>
            <a:noFill/>
          </a:ln>
        </p:spPr>
      </p:pic>
      <p:sp>
        <p:nvSpPr>
          <p:cNvPr id="145" name="Google Shape;145;p77"/>
          <p:cNvSpPr/>
          <p:nvPr/>
        </p:nvSpPr>
        <p:spPr>
          <a:xfrm rot="5400000">
            <a:off x="135965" y="3406640"/>
            <a:ext cx="6858000" cy="44726"/>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50">
              <a:solidFill>
                <a:schemeClr val="lt1"/>
              </a:solidFill>
              <a:latin typeface="Calibri"/>
              <a:ea typeface="Calibri"/>
              <a:cs typeface="Calibri"/>
              <a:sym typeface="Calibri"/>
            </a:endParaRPr>
          </a:p>
        </p:txBody>
      </p:sp>
      <p:grpSp>
        <p:nvGrpSpPr>
          <p:cNvPr id="146" name="Google Shape;146;p77"/>
          <p:cNvGrpSpPr/>
          <p:nvPr/>
        </p:nvGrpSpPr>
        <p:grpSpPr>
          <a:xfrm>
            <a:off x="8936251" y="4900068"/>
            <a:ext cx="219291" cy="1456285"/>
            <a:chOff x="-22867" y="4982614"/>
            <a:chExt cx="292388" cy="1456285"/>
          </a:xfrm>
        </p:grpSpPr>
        <p:sp>
          <p:nvSpPr>
            <p:cNvPr id="147" name="Google Shape;147;p77"/>
            <p:cNvSpPr/>
            <p:nvPr/>
          </p:nvSpPr>
          <p:spPr>
            <a:xfrm>
              <a:off x="-7479" y="4982614"/>
              <a:ext cx="261612" cy="1456285"/>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50">
                <a:solidFill>
                  <a:schemeClr val="lt1"/>
                </a:solidFill>
                <a:latin typeface="Calibri"/>
                <a:ea typeface="Calibri"/>
                <a:cs typeface="Calibri"/>
                <a:sym typeface="Calibri"/>
              </a:endParaRPr>
            </a:p>
          </p:txBody>
        </p:sp>
        <p:sp>
          <p:nvSpPr>
            <p:cNvPr id="148" name="Google Shape;148;p77"/>
            <p:cNvSpPr txBox="1"/>
            <p:nvPr/>
          </p:nvSpPr>
          <p:spPr>
            <a:xfrm rot="-5400000">
              <a:off x="-565324" y="5562781"/>
              <a:ext cx="1377301" cy="2923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25">
                  <a:solidFill>
                    <a:srgbClr val="F2F2F2"/>
                  </a:solidFill>
                  <a:latin typeface="Calibri"/>
                  <a:ea typeface="Calibri"/>
                  <a:cs typeface="Calibri"/>
                  <a:sym typeface="Calibri"/>
                </a:rPr>
                <a:t>www.utm.my</a:t>
              </a:r>
              <a:endParaRPr b="1" i="0" sz="825">
                <a:solidFill>
                  <a:schemeClr val="accent4"/>
                </a:solidFill>
                <a:latin typeface="Calibri"/>
                <a:ea typeface="Calibri"/>
                <a:cs typeface="Calibri"/>
                <a:sym typeface="Calibri"/>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9" name="Shape 149"/>
        <p:cNvGrpSpPr/>
        <p:nvPr/>
      </p:nvGrpSpPr>
      <p:grpSpPr>
        <a:xfrm>
          <a:off x="0" y="0"/>
          <a:ext cx="0" cy="0"/>
          <a:chOff x="0" y="0"/>
          <a:chExt cx="0" cy="0"/>
        </a:xfrm>
      </p:grpSpPr>
      <p:pic>
        <p:nvPicPr>
          <p:cNvPr id="150" name="Google Shape;150;p78"/>
          <p:cNvPicPr preferRelativeResize="0"/>
          <p:nvPr/>
        </p:nvPicPr>
        <p:blipFill rotWithShape="1">
          <a:blip r:embed="rId2">
            <a:alphaModFix/>
          </a:blip>
          <a:srcRect b="0" l="0" r="0" t="0"/>
          <a:stretch/>
        </p:blipFill>
        <p:spPr>
          <a:xfrm flipH="1">
            <a:off x="5075" y="1270"/>
            <a:ext cx="5334040" cy="1831461"/>
          </a:xfrm>
          <a:prstGeom prst="rect">
            <a:avLst/>
          </a:prstGeom>
          <a:noFill/>
          <a:ln>
            <a:noFill/>
          </a:ln>
        </p:spPr>
      </p:pic>
      <p:sp>
        <p:nvSpPr>
          <p:cNvPr id="151" name="Google Shape;151;p78"/>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 name="Google Shape;152;p78"/>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78"/>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pic>
        <p:nvPicPr>
          <p:cNvPr id="154" name="Google Shape;154;p78"/>
          <p:cNvPicPr preferRelativeResize="0"/>
          <p:nvPr/>
        </p:nvPicPr>
        <p:blipFill rotWithShape="1">
          <a:blip r:embed="rId3">
            <a:alphaModFix/>
          </a:blip>
          <a:srcRect b="0" l="0" r="0" t="0"/>
          <a:stretch/>
        </p:blipFill>
        <p:spPr>
          <a:xfrm>
            <a:off x="7859160" y="283593"/>
            <a:ext cx="1101125" cy="497461"/>
          </a:xfrm>
          <a:prstGeom prst="rect">
            <a:avLst/>
          </a:prstGeom>
          <a:noFill/>
          <a:ln>
            <a:noFill/>
          </a:ln>
        </p:spPr>
      </p:pic>
      <p:grpSp>
        <p:nvGrpSpPr>
          <p:cNvPr id="155" name="Google Shape;155;p78"/>
          <p:cNvGrpSpPr/>
          <p:nvPr/>
        </p:nvGrpSpPr>
        <p:grpSpPr>
          <a:xfrm>
            <a:off x="8936251" y="4900068"/>
            <a:ext cx="219291" cy="1456285"/>
            <a:chOff x="-22867" y="4982614"/>
            <a:chExt cx="292388" cy="1456285"/>
          </a:xfrm>
        </p:grpSpPr>
        <p:sp>
          <p:nvSpPr>
            <p:cNvPr id="156" name="Google Shape;156;p78"/>
            <p:cNvSpPr/>
            <p:nvPr/>
          </p:nvSpPr>
          <p:spPr>
            <a:xfrm>
              <a:off x="-7479" y="4982614"/>
              <a:ext cx="261612" cy="1456285"/>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50">
                <a:solidFill>
                  <a:schemeClr val="lt1"/>
                </a:solidFill>
                <a:latin typeface="Calibri"/>
                <a:ea typeface="Calibri"/>
                <a:cs typeface="Calibri"/>
                <a:sym typeface="Calibri"/>
              </a:endParaRPr>
            </a:p>
          </p:txBody>
        </p:sp>
        <p:sp>
          <p:nvSpPr>
            <p:cNvPr id="157" name="Google Shape;157;p78"/>
            <p:cNvSpPr txBox="1"/>
            <p:nvPr/>
          </p:nvSpPr>
          <p:spPr>
            <a:xfrm rot="-5400000">
              <a:off x="-565324" y="5562781"/>
              <a:ext cx="1377301" cy="2923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25">
                  <a:solidFill>
                    <a:srgbClr val="F2F2F2"/>
                  </a:solidFill>
                  <a:latin typeface="Calibri"/>
                  <a:ea typeface="Calibri"/>
                  <a:cs typeface="Calibri"/>
                  <a:sym typeface="Calibri"/>
                </a:rPr>
                <a:t>www.utm.my</a:t>
              </a:r>
              <a:endParaRPr b="1" i="0" sz="825">
                <a:solidFill>
                  <a:schemeClr val="accent4"/>
                </a:solidFill>
                <a:latin typeface="Calibri"/>
                <a:ea typeface="Calibri"/>
                <a:cs typeface="Calibri"/>
                <a:sym typeface="Calibri"/>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color">
  <p:cSld name="Blank-color">
    <p:spTree>
      <p:nvGrpSpPr>
        <p:cNvPr id="158" name="Shape 158"/>
        <p:cNvGrpSpPr/>
        <p:nvPr/>
      </p:nvGrpSpPr>
      <p:grpSpPr>
        <a:xfrm>
          <a:off x="0" y="0"/>
          <a:ext cx="0" cy="0"/>
          <a:chOff x="0" y="0"/>
          <a:chExt cx="0" cy="0"/>
        </a:xfrm>
      </p:grpSpPr>
      <p:sp>
        <p:nvSpPr>
          <p:cNvPr id="159" name="Google Shape;159;p79"/>
          <p:cNvSpPr/>
          <p:nvPr/>
        </p:nvSpPr>
        <p:spPr>
          <a:xfrm>
            <a:off x="-28574" y="0"/>
            <a:ext cx="9172575" cy="6858000"/>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50">
              <a:solidFill>
                <a:schemeClr val="lt1"/>
              </a:solidFill>
              <a:latin typeface="Calibri"/>
              <a:ea typeface="Calibri"/>
              <a:cs typeface="Calibri"/>
              <a:sym typeface="Calibri"/>
            </a:endParaRPr>
          </a:p>
        </p:txBody>
      </p:sp>
      <p:grpSp>
        <p:nvGrpSpPr>
          <p:cNvPr id="160" name="Google Shape;160;p79"/>
          <p:cNvGrpSpPr/>
          <p:nvPr/>
        </p:nvGrpSpPr>
        <p:grpSpPr>
          <a:xfrm>
            <a:off x="5385091" y="6473577"/>
            <a:ext cx="3758911" cy="390911"/>
            <a:chOff x="7180118" y="6489891"/>
            <a:chExt cx="5011881" cy="390911"/>
          </a:xfrm>
        </p:grpSpPr>
        <p:sp>
          <p:nvSpPr>
            <p:cNvPr id="161" name="Google Shape;161;p79"/>
            <p:cNvSpPr/>
            <p:nvPr/>
          </p:nvSpPr>
          <p:spPr>
            <a:xfrm rot="10800000">
              <a:off x="7393415" y="6489891"/>
              <a:ext cx="4798584" cy="39090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50">
                <a:solidFill>
                  <a:schemeClr val="lt1"/>
                </a:solidFill>
                <a:latin typeface="Calibri"/>
                <a:ea typeface="Calibri"/>
                <a:cs typeface="Calibri"/>
                <a:sym typeface="Calibri"/>
              </a:endParaRPr>
            </a:p>
          </p:txBody>
        </p:sp>
        <p:sp>
          <p:nvSpPr>
            <p:cNvPr id="162" name="Google Shape;162;p79"/>
            <p:cNvSpPr/>
            <p:nvPr/>
          </p:nvSpPr>
          <p:spPr>
            <a:xfrm flipH="1">
              <a:off x="7180118" y="6489895"/>
              <a:ext cx="213299" cy="390907"/>
            </a:xfrm>
            <a:prstGeom prst="rtTriangl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50">
                <a:solidFill>
                  <a:schemeClr val="lt1"/>
                </a:solidFill>
                <a:latin typeface="Calibri"/>
                <a:ea typeface="Calibri"/>
                <a:cs typeface="Calibri"/>
                <a:sym typeface="Calibri"/>
              </a:endParaRPr>
            </a:p>
          </p:txBody>
        </p:sp>
      </p:grpSp>
      <p:pic>
        <p:nvPicPr>
          <p:cNvPr id="163" name="Google Shape;163;p79"/>
          <p:cNvPicPr preferRelativeResize="0"/>
          <p:nvPr/>
        </p:nvPicPr>
        <p:blipFill rotWithShape="1">
          <a:blip r:embed="rId2">
            <a:alphaModFix/>
          </a:blip>
          <a:srcRect b="0" l="0" r="0" t="0"/>
          <a:stretch/>
        </p:blipFill>
        <p:spPr>
          <a:xfrm>
            <a:off x="7857166" y="283592"/>
            <a:ext cx="1103119" cy="497461"/>
          </a:xfrm>
          <a:prstGeom prst="rect">
            <a:avLst/>
          </a:prstGeom>
          <a:noFill/>
          <a:ln>
            <a:noFill/>
          </a:ln>
        </p:spPr>
      </p:pic>
      <p:sp>
        <p:nvSpPr>
          <p:cNvPr id="164" name="Google Shape;164;p79"/>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79"/>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6" name="Google Shape;166;p79"/>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grpSp>
        <p:nvGrpSpPr>
          <p:cNvPr id="167" name="Google Shape;167;p79"/>
          <p:cNvGrpSpPr/>
          <p:nvPr/>
        </p:nvGrpSpPr>
        <p:grpSpPr>
          <a:xfrm>
            <a:off x="-44162" y="0"/>
            <a:ext cx="1598115" cy="390908"/>
            <a:chOff x="-58882" y="0"/>
            <a:chExt cx="2130820" cy="390908"/>
          </a:xfrm>
        </p:grpSpPr>
        <p:sp>
          <p:nvSpPr>
            <p:cNvPr id="168" name="Google Shape;168;p79"/>
            <p:cNvSpPr/>
            <p:nvPr/>
          </p:nvSpPr>
          <p:spPr>
            <a:xfrm>
              <a:off x="-58882" y="1"/>
              <a:ext cx="1921715" cy="39090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50">
                <a:solidFill>
                  <a:schemeClr val="lt1"/>
                </a:solidFill>
                <a:latin typeface="Calibri"/>
                <a:ea typeface="Calibri"/>
                <a:cs typeface="Calibri"/>
                <a:sym typeface="Calibri"/>
              </a:endParaRPr>
            </a:p>
          </p:txBody>
        </p:sp>
        <p:sp>
          <p:nvSpPr>
            <p:cNvPr id="169" name="Google Shape;169;p79"/>
            <p:cNvSpPr/>
            <p:nvPr/>
          </p:nvSpPr>
          <p:spPr>
            <a:xfrm flipH="1" rot="10800000">
              <a:off x="1858639" y="0"/>
              <a:ext cx="213299" cy="390907"/>
            </a:xfrm>
            <a:prstGeom prst="rtTriangl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50">
                <a:solidFill>
                  <a:schemeClr val="lt1"/>
                </a:solidFill>
                <a:latin typeface="Calibri"/>
                <a:ea typeface="Calibri"/>
                <a:cs typeface="Calibri"/>
                <a:sym typeface="Calibri"/>
              </a:endParaRPr>
            </a:p>
          </p:txBody>
        </p:sp>
      </p:grpSp>
      <p:grpSp>
        <p:nvGrpSpPr>
          <p:cNvPr id="170" name="Google Shape;170;p79"/>
          <p:cNvGrpSpPr/>
          <p:nvPr/>
        </p:nvGrpSpPr>
        <p:grpSpPr>
          <a:xfrm>
            <a:off x="8936251" y="4900068"/>
            <a:ext cx="219291" cy="1456285"/>
            <a:chOff x="-22867" y="4982614"/>
            <a:chExt cx="292388" cy="1456285"/>
          </a:xfrm>
        </p:grpSpPr>
        <p:sp>
          <p:nvSpPr>
            <p:cNvPr id="171" name="Google Shape;171;p79"/>
            <p:cNvSpPr/>
            <p:nvPr/>
          </p:nvSpPr>
          <p:spPr>
            <a:xfrm>
              <a:off x="-7479" y="4982614"/>
              <a:ext cx="261612" cy="1456285"/>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50">
                <a:solidFill>
                  <a:schemeClr val="lt1"/>
                </a:solidFill>
                <a:latin typeface="Calibri"/>
                <a:ea typeface="Calibri"/>
                <a:cs typeface="Calibri"/>
                <a:sym typeface="Calibri"/>
              </a:endParaRPr>
            </a:p>
          </p:txBody>
        </p:sp>
        <p:sp>
          <p:nvSpPr>
            <p:cNvPr id="172" name="Google Shape;172;p79"/>
            <p:cNvSpPr txBox="1"/>
            <p:nvPr/>
          </p:nvSpPr>
          <p:spPr>
            <a:xfrm rot="-5400000">
              <a:off x="-565324" y="5562781"/>
              <a:ext cx="1377301" cy="2923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25">
                  <a:solidFill>
                    <a:srgbClr val="F2F2F2"/>
                  </a:solidFill>
                  <a:latin typeface="Calibri"/>
                  <a:ea typeface="Calibri"/>
                  <a:cs typeface="Calibri"/>
                  <a:sym typeface="Calibri"/>
                </a:rPr>
                <a:t>www.utm.my</a:t>
              </a:r>
              <a:endParaRPr b="1" i="0" sz="825">
                <a:solidFill>
                  <a:schemeClr val="accent4"/>
                </a:solidFill>
                <a:latin typeface="Calibri"/>
                <a:ea typeface="Calibri"/>
                <a:cs typeface="Calibri"/>
                <a:sym typeface="Calibri"/>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173" name="Shape 173"/>
        <p:cNvGrpSpPr/>
        <p:nvPr/>
      </p:nvGrpSpPr>
      <p:grpSpPr>
        <a:xfrm>
          <a:off x="0" y="0"/>
          <a:ext cx="0" cy="0"/>
          <a:chOff x="0" y="0"/>
          <a:chExt cx="0" cy="0"/>
        </a:xfrm>
      </p:grpSpPr>
      <p:pic>
        <p:nvPicPr>
          <p:cNvPr id="174" name="Google Shape;174;p80"/>
          <p:cNvPicPr preferRelativeResize="0"/>
          <p:nvPr/>
        </p:nvPicPr>
        <p:blipFill rotWithShape="1">
          <a:blip r:embed="rId2">
            <a:alphaModFix/>
          </a:blip>
          <a:srcRect b="0" l="0" r="0" t="0"/>
          <a:stretch/>
        </p:blipFill>
        <p:spPr>
          <a:xfrm flipH="1">
            <a:off x="5075" y="1270"/>
            <a:ext cx="5334040" cy="1831461"/>
          </a:xfrm>
          <a:prstGeom prst="rect">
            <a:avLst/>
          </a:prstGeom>
          <a:noFill/>
          <a:ln>
            <a:noFill/>
          </a:ln>
        </p:spPr>
      </p:pic>
      <p:sp>
        <p:nvSpPr>
          <p:cNvPr id="175" name="Google Shape;175;p80"/>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6" name="Google Shape;176;p80"/>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7" name="Google Shape;177;p80"/>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pic>
        <p:nvPicPr>
          <p:cNvPr id="178" name="Google Shape;178;p80"/>
          <p:cNvPicPr preferRelativeResize="0"/>
          <p:nvPr/>
        </p:nvPicPr>
        <p:blipFill rotWithShape="1">
          <a:blip r:embed="rId3">
            <a:alphaModFix/>
          </a:blip>
          <a:srcRect b="0" l="0" r="0" t="0"/>
          <a:stretch/>
        </p:blipFill>
        <p:spPr>
          <a:xfrm>
            <a:off x="7859160" y="283593"/>
            <a:ext cx="1101125" cy="497461"/>
          </a:xfrm>
          <a:prstGeom prst="rect">
            <a:avLst/>
          </a:prstGeom>
          <a:noFill/>
          <a:ln>
            <a:noFill/>
          </a:ln>
        </p:spPr>
      </p:pic>
      <p:grpSp>
        <p:nvGrpSpPr>
          <p:cNvPr id="179" name="Google Shape;179;p80"/>
          <p:cNvGrpSpPr/>
          <p:nvPr/>
        </p:nvGrpSpPr>
        <p:grpSpPr>
          <a:xfrm>
            <a:off x="8936251" y="4900068"/>
            <a:ext cx="219291" cy="1456285"/>
            <a:chOff x="-22867" y="4982614"/>
            <a:chExt cx="292388" cy="1456285"/>
          </a:xfrm>
        </p:grpSpPr>
        <p:sp>
          <p:nvSpPr>
            <p:cNvPr id="180" name="Google Shape;180;p80"/>
            <p:cNvSpPr/>
            <p:nvPr/>
          </p:nvSpPr>
          <p:spPr>
            <a:xfrm>
              <a:off x="-7479" y="4982614"/>
              <a:ext cx="261612" cy="1456285"/>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50">
                <a:solidFill>
                  <a:schemeClr val="lt1"/>
                </a:solidFill>
                <a:latin typeface="Calibri"/>
                <a:ea typeface="Calibri"/>
                <a:cs typeface="Calibri"/>
                <a:sym typeface="Calibri"/>
              </a:endParaRPr>
            </a:p>
          </p:txBody>
        </p:sp>
        <p:sp>
          <p:nvSpPr>
            <p:cNvPr id="181" name="Google Shape;181;p80"/>
            <p:cNvSpPr txBox="1"/>
            <p:nvPr/>
          </p:nvSpPr>
          <p:spPr>
            <a:xfrm rot="-5400000">
              <a:off x="-565324" y="5562781"/>
              <a:ext cx="1377301" cy="2923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25">
                  <a:solidFill>
                    <a:srgbClr val="F2F2F2"/>
                  </a:solidFill>
                  <a:latin typeface="Calibri"/>
                  <a:ea typeface="Calibri"/>
                  <a:cs typeface="Calibri"/>
                  <a:sym typeface="Calibri"/>
                </a:rPr>
                <a:t>www.utm.my</a:t>
              </a:r>
              <a:endParaRPr b="1" i="0" sz="825">
                <a:solidFill>
                  <a:schemeClr val="accent4"/>
                </a:solidFill>
                <a:latin typeface="Calibri"/>
                <a:ea typeface="Calibri"/>
                <a:cs typeface="Calibri"/>
                <a:sym typeface="Calibri"/>
              </a:endParaRPr>
            </a:p>
          </p:txBody>
        </p:sp>
      </p:grpSp>
      <p:sp>
        <p:nvSpPr>
          <p:cNvPr id="182" name="Google Shape;182;p80"/>
          <p:cNvSpPr/>
          <p:nvPr/>
        </p:nvSpPr>
        <p:spPr>
          <a:xfrm rot="5400000">
            <a:off x="4549141" y="2285174"/>
            <a:ext cx="45719" cy="9144000"/>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50">
              <a:solidFill>
                <a:schemeClr val="lt1"/>
              </a:solidFill>
              <a:latin typeface="Calibri"/>
              <a:ea typeface="Calibri"/>
              <a:cs typeface="Calibri"/>
              <a:sym typeface="Calibri"/>
            </a:endParaRPr>
          </a:p>
        </p:txBody>
      </p:sp>
      <p:sp>
        <p:nvSpPr>
          <p:cNvPr id="183" name="Google Shape;183;p80"/>
          <p:cNvSpPr txBox="1"/>
          <p:nvPr>
            <p:ph type="title"/>
          </p:nvPr>
        </p:nvSpPr>
        <p:spPr>
          <a:xfrm>
            <a:off x="628649" y="781054"/>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000"/>
              <a:buFont typeface="Calibri"/>
              <a:buNone/>
              <a:defRPr>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icture with Caption">
  <p:cSld name="1_Picture with Caption">
    <p:spTree>
      <p:nvGrpSpPr>
        <p:cNvPr id="184" name="Shape 184"/>
        <p:cNvGrpSpPr/>
        <p:nvPr/>
      </p:nvGrpSpPr>
      <p:grpSpPr>
        <a:xfrm>
          <a:off x="0" y="0"/>
          <a:ext cx="0" cy="0"/>
          <a:chOff x="0" y="0"/>
          <a:chExt cx="0" cy="0"/>
        </a:xfrm>
      </p:grpSpPr>
      <p:pic>
        <p:nvPicPr>
          <p:cNvPr id="185" name="Google Shape;185;p81"/>
          <p:cNvPicPr preferRelativeResize="0"/>
          <p:nvPr/>
        </p:nvPicPr>
        <p:blipFill rotWithShape="1">
          <a:blip r:embed="rId2">
            <a:alphaModFix/>
          </a:blip>
          <a:srcRect b="0" l="0" r="0" t="0"/>
          <a:stretch/>
        </p:blipFill>
        <p:spPr>
          <a:xfrm flipH="1">
            <a:off x="5075" y="1270"/>
            <a:ext cx="5334040" cy="1831461"/>
          </a:xfrm>
          <a:prstGeom prst="rect">
            <a:avLst/>
          </a:prstGeom>
          <a:noFill/>
          <a:ln>
            <a:noFill/>
          </a:ln>
        </p:spPr>
      </p:pic>
      <p:sp>
        <p:nvSpPr>
          <p:cNvPr id="186" name="Google Shape;186;p81"/>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81"/>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p81"/>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pic>
        <p:nvPicPr>
          <p:cNvPr id="189" name="Google Shape;189;p81"/>
          <p:cNvPicPr preferRelativeResize="0"/>
          <p:nvPr/>
        </p:nvPicPr>
        <p:blipFill rotWithShape="1">
          <a:blip r:embed="rId3">
            <a:alphaModFix/>
          </a:blip>
          <a:srcRect b="0" l="0" r="0" t="0"/>
          <a:stretch/>
        </p:blipFill>
        <p:spPr>
          <a:xfrm>
            <a:off x="7859160" y="283593"/>
            <a:ext cx="1101125" cy="497461"/>
          </a:xfrm>
          <a:prstGeom prst="rect">
            <a:avLst/>
          </a:prstGeom>
          <a:noFill/>
          <a:ln>
            <a:noFill/>
          </a:ln>
        </p:spPr>
      </p:pic>
      <p:grpSp>
        <p:nvGrpSpPr>
          <p:cNvPr id="190" name="Google Shape;190;p81"/>
          <p:cNvGrpSpPr/>
          <p:nvPr/>
        </p:nvGrpSpPr>
        <p:grpSpPr>
          <a:xfrm>
            <a:off x="8936251" y="4900068"/>
            <a:ext cx="219291" cy="1456285"/>
            <a:chOff x="-22867" y="4982614"/>
            <a:chExt cx="292388" cy="1456285"/>
          </a:xfrm>
        </p:grpSpPr>
        <p:sp>
          <p:nvSpPr>
            <p:cNvPr id="191" name="Google Shape;191;p81"/>
            <p:cNvSpPr/>
            <p:nvPr/>
          </p:nvSpPr>
          <p:spPr>
            <a:xfrm>
              <a:off x="-7479" y="4982614"/>
              <a:ext cx="261612" cy="1456285"/>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50">
                <a:solidFill>
                  <a:schemeClr val="lt1"/>
                </a:solidFill>
                <a:latin typeface="Calibri"/>
                <a:ea typeface="Calibri"/>
                <a:cs typeface="Calibri"/>
                <a:sym typeface="Calibri"/>
              </a:endParaRPr>
            </a:p>
          </p:txBody>
        </p:sp>
        <p:sp>
          <p:nvSpPr>
            <p:cNvPr id="192" name="Google Shape;192;p81"/>
            <p:cNvSpPr txBox="1"/>
            <p:nvPr/>
          </p:nvSpPr>
          <p:spPr>
            <a:xfrm rot="-5400000">
              <a:off x="-565324" y="5562781"/>
              <a:ext cx="1377301" cy="2923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25">
                  <a:solidFill>
                    <a:srgbClr val="F2F2F2"/>
                  </a:solidFill>
                  <a:latin typeface="Calibri"/>
                  <a:ea typeface="Calibri"/>
                  <a:cs typeface="Calibri"/>
                  <a:sym typeface="Calibri"/>
                </a:rPr>
                <a:t>www.utm.my</a:t>
              </a:r>
              <a:endParaRPr b="1" i="0" sz="825">
                <a:solidFill>
                  <a:schemeClr val="accent4"/>
                </a:solidFill>
                <a:latin typeface="Calibri"/>
                <a:ea typeface="Calibri"/>
                <a:cs typeface="Calibri"/>
                <a:sym typeface="Calibri"/>
              </a:endParaRPr>
            </a:p>
          </p:txBody>
        </p:sp>
      </p:grpSp>
      <p:sp>
        <p:nvSpPr>
          <p:cNvPr id="193" name="Google Shape;193;p81"/>
          <p:cNvSpPr/>
          <p:nvPr/>
        </p:nvSpPr>
        <p:spPr>
          <a:xfrm rot="5400000">
            <a:off x="4554216" y="-4562095"/>
            <a:ext cx="45719" cy="9144000"/>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50">
              <a:solidFill>
                <a:schemeClr val="lt1"/>
              </a:solidFill>
              <a:latin typeface="Calibri"/>
              <a:ea typeface="Calibri"/>
              <a:cs typeface="Calibri"/>
              <a:sym typeface="Calibri"/>
            </a:endParaRPr>
          </a:p>
        </p:txBody>
      </p:sp>
      <p:sp>
        <p:nvSpPr>
          <p:cNvPr id="194" name="Google Shape;194;p81"/>
          <p:cNvSpPr txBox="1"/>
          <p:nvPr>
            <p:ph type="title"/>
          </p:nvPr>
        </p:nvSpPr>
        <p:spPr>
          <a:xfrm>
            <a:off x="628649" y="781054"/>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000"/>
              <a:buFont typeface="Calibri"/>
              <a:buNone/>
              <a:defRPr>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5"/>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000"/>
              <a:buFont typeface="Calibri"/>
              <a:buNone/>
              <a:defRPr b="0" i="0" sz="3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65"/>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 name="Google Shape;12;p65"/>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65"/>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65"/>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marR="0" rtl="0" algn="ctr">
              <a:spcBef>
                <a:spcPts val="0"/>
              </a:spcBef>
              <a:buNone/>
              <a:defRPr b="0" i="0" sz="900" u="none" cap="none" strike="noStrike">
                <a:solidFill>
                  <a:srgbClr val="888888"/>
                </a:solidFill>
                <a:latin typeface="Calibri"/>
                <a:ea typeface="Calibri"/>
                <a:cs typeface="Calibri"/>
                <a:sym typeface="Calibri"/>
              </a:defRPr>
            </a:lvl1pPr>
            <a:lvl2pPr indent="0" lvl="1" marL="0" marR="0" rtl="0" algn="ctr">
              <a:spcBef>
                <a:spcPts val="0"/>
              </a:spcBef>
              <a:buNone/>
              <a:defRPr b="0" i="0" sz="900" u="none" cap="none" strike="noStrike">
                <a:solidFill>
                  <a:srgbClr val="888888"/>
                </a:solidFill>
                <a:latin typeface="Calibri"/>
                <a:ea typeface="Calibri"/>
                <a:cs typeface="Calibri"/>
                <a:sym typeface="Calibri"/>
              </a:defRPr>
            </a:lvl2pPr>
            <a:lvl3pPr indent="0" lvl="2" marL="0" marR="0" rtl="0" algn="ctr">
              <a:spcBef>
                <a:spcPts val="0"/>
              </a:spcBef>
              <a:buNone/>
              <a:defRPr b="0" i="0" sz="900" u="none" cap="none" strike="noStrike">
                <a:solidFill>
                  <a:srgbClr val="888888"/>
                </a:solidFill>
                <a:latin typeface="Calibri"/>
                <a:ea typeface="Calibri"/>
                <a:cs typeface="Calibri"/>
                <a:sym typeface="Calibri"/>
              </a:defRPr>
            </a:lvl3pPr>
            <a:lvl4pPr indent="0" lvl="3" marL="0" marR="0" rtl="0" algn="ctr">
              <a:spcBef>
                <a:spcPts val="0"/>
              </a:spcBef>
              <a:buNone/>
              <a:defRPr b="0" i="0" sz="900" u="none" cap="none" strike="noStrike">
                <a:solidFill>
                  <a:srgbClr val="888888"/>
                </a:solidFill>
                <a:latin typeface="Calibri"/>
                <a:ea typeface="Calibri"/>
                <a:cs typeface="Calibri"/>
                <a:sym typeface="Calibri"/>
              </a:defRPr>
            </a:lvl4pPr>
            <a:lvl5pPr indent="0" lvl="4" marL="0" marR="0" rtl="0" algn="ctr">
              <a:spcBef>
                <a:spcPts val="0"/>
              </a:spcBef>
              <a:buNone/>
              <a:defRPr b="0" i="0" sz="900" u="none" cap="none" strike="noStrike">
                <a:solidFill>
                  <a:srgbClr val="888888"/>
                </a:solidFill>
                <a:latin typeface="Calibri"/>
                <a:ea typeface="Calibri"/>
                <a:cs typeface="Calibri"/>
                <a:sym typeface="Calibri"/>
              </a:defRPr>
            </a:lvl5pPr>
            <a:lvl6pPr indent="0" lvl="5" marL="0" marR="0" rtl="0" algn="ctr">
              <a:spcBef>
                <a:spcPts val="0"/>
              </a:spcBef>
              <a:buNone/>
              <a:defRPr b="0" i="0" sz="900" u="none" cap="none" strike="noStrike">
                <a:solidFill>
                  <a:srgbClr val="888888"/>
                </a:solidFill>
                <a:latin typeface="Calibri"/>
                <a:ea typeface="Calibri"/>
                <a:cs typeface="Calibri"/>
                <a:sym typeface="Calibri"/>
              </a:defRPr>
            </a:lvl6pPr>
            <a:lvl7pPr indent="0" lvl="6" marL="0" marR="0" rtl="0" algn="ctr">
              <a:spcBef>
                <a:spcPts val="0"/>
              </a:spcBef>
              <a:buNone/>
              <a:defRPr b="0" i="0" sz="900" u="none" cap="none" strike="noStrike">
                <a:solidFill>
                  <a:srgbClr val="888888"/>
                </a:solidFill>
                <a:latin typeface="Calibri"/>
                <a:ea typeface="Calibri"/>
                <a:cs typeface="Calibri"/>
                <a:sym typeface="Calibri"/>
              </a:defRPr>
            </a:lvl7pPr>
            <a:lvl8pPr indent="0" lvl="7" marL="0" marR="0" rtl="0" algn="ctr">
              <a:spcBef>
                <a:spcPts val="0"/>
              </a:spcBef>
              <a:buNone/>
              <a:defRPr b="0" i="0" sz="900" u="none" cap="none" strike="noStrike">
                <a:solidFill>
                  <a:srgbClr val="888888"/>
                </a:solidFill>
                <a:latin typeface="Calibri"/>
                <a:ea typeface="Calibri"/>
                <a:cs typeface="Calibri"/>
                <a:sym typeface="Calibri"/>
              </a:defRPr>
            </a:lvl8pPr>
            <a:lvl9pPr indent="0" lvl="8" marL="0" marR="0" rtl="0" algn="ctr">
              <a:spcBef>
                <a:spcPts val="0"/>
              </a:spcBef>
              <a:buNone/>
              <a:defRPr b="0" i="0" sz="9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3.png"/><Relationship Id="rId4" Type="http://schemas.openxmlformats.org/officeDocument/2006/relationships/image" Target="../media/image2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mysqltutorial.org/stored-procedures-parameters.aspx" TargetMode="External"/><Relationship Id="rId4" Type="http://schemas.openxmlformats.org/officeDocument/2006/relationships/hyperlink" Target="https://www.mysqltutorial.org/mysql-stored-function/"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3.png"/><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1.pn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4.png"/><Relationship Id="rId4" Type="http://schemas.openxmlformats.org/officeDocument/2006/relationships/image" Target="../media/image3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6.png"/><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40.png"/><Relationship Id="rId4" Type="http://schemas.openxmlformats.org/officeDocument/2006/relationships/image" Target="../media/image39.png"/><Relationship Id="rId5"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46"/>
          <p:cNvSpPr txBox="1"/>
          <p:nvPr/>
        </p:nvSpPr>
        <p:spPr>
          <a:xfrm>
            <a:off x="492705" y="3310393"/>
            <a:ext cx="8326842" cy="9541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800" u="none" cap="none" strike="noStrike">
                <a:solidFill>
                  <a:srgbClr val="3F3F3F"/>
                </a:solidFill>
                <a:latin typeface="Calibri"/>
                <a:ea typeface="Calibri"/>
                <a:cs typeface="Calibri"/>
                <a:sym typeface="Calibri"/>
              </a:rPr>
              <a:t>TOPIC 7 </a:t>
            </a:r>
            <a:endParaRPr/>
          </a:p>
          <a:p>
            <a:pPr indent="0" lvl="0" marL="0" marR="0" rtl="0" algn="ctr">
              <a:spcBef>
                <a:spcPts val="0"/>
              </a:spcBef>
              <a:spcAft>
                <a:spcPts val="0"/>
              </a:spcAft>
              <a:buNone/>
            </a:pPr>
            <a:r>
              <a:rPr b="0" i="0" lang="en-US" sz="2800" u="none" cap="none" strike="noStrike">
                <a:solidFill>
                  <a:srgbClr val="3F3F3F"/>
                </a:solidFill>
                <a:latin typeface="Calibri"/>
                <a:ea typeface="Calibri"/>
                <a:cs typeface="Calibri"/>
                <a:sym typeface="Calibri"/>
              </a:rPr>
              <a:t>STORED PROCEDURES AND FUNCTIONS</a:t>
            </a:r>
            <a:endParaRPr b="0" i="0" sz="2800" u="none" cap="none" strike="noStrike">
              <a:solidFill>
                <a:srgbClr val="3F3F3F"/>
              </a:solidFill>
              <a:latin typeface="Calibri"/>
              <a:ea typeface="Calibri"/>
              <a:cs typeface="Calibri"/>
              <a:sym typeface="Calibri"/>
            </a:endParaRPr>
          </a:p>
        </p:txBody>
      </p:sp>
      <p:sp>
        <p:nvSpPr>
          <p:cNvPr id="200" name="Google Shape;200;p46"/>
          <p:cNvSpPr txBox="1"/>
          <p:nvPr/>
        </p:nvSpPr>
        <p:spPr>
          <a:xfrm>
            <a:off x="140677" y="2501091"/>
            <a:ext cx="8802356" cy="71558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050" u="none" cap="none" strike="noStrike">
                <a:solidFill>
                  <a:srgbClr val="6C1D35"/>
                </a:solidFill>
                <a:latin typeface="Calibri"/>
                <a:ea typeface="Calibri"/>
                <a:cs typeface="Calibri"/>
                <a:sym typeface="Calibri"/>
              </a:rPr>
              <a:t>SECP3623 DATABASE PROGRAMMING </a:t>
            </a:r>
            <a:endParaRPr/>
          </a:p>
        </p:txBody>
      </p:sp>
      <p:pic>
        <p:nvPicPr>
          <p:cNvPr id="201" name="Google Shape;201;p46"/>
          <p:cNvPicPr preferRelativeResize="0"/>
          <p:nvPr/>
        </p:nvPicPr>
        <p:blipFill rotWithShape="1">
          <a:blip r:embed="rId3">
            <a:alphaModFix/>
          </a:blip>
          <a:srcRect b="0" l="0" r="0" t="0"/>
          <a:stretch/>
        </p:blipFill>
        <p:spPr>
          <a:xfrm>
            <a:off x="3545364" y="1306889"/>
            <a:ext cx="1687055" cy="563921"/>
          </a:xfrm>
          <a:prstGeom prst="rect">
            <a:avLst/>
          </a:prstGeom>
          <a:noFill/>
          <a:ln>
            <a:noFill/>
          </a:ln>
        </p:spPr>
      </p:pic>
      <p:pic>
        <p:nvPicPr>
          <p:cNvPr id="202" name="Google Shape;202;p46"/>
          <p:cNvPicPr preferRelativeResize="0"/>
          <p:nvPr/>
        </p:nvPicPr>
        <p:blipFill rotWithShape="1">
          <a:blip r:embed="rId4">
            <a:alphaModFix/>
          </a:blip>
          <a:srcRect b="0" l="0" r="0" t="0"/>
          <a:stretch/>
        </p:blipFill>
        <p:spPr>
          <a:xfrm>
            <a:off x="3854837" y="6381375"/>
            <a:ext cx="1602578" cy="12060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47"/>
          <p:cNvSpPr txBox="1"/>
          <p:nvPr>
            <p:ph type="title"/>
          </p:nvPr>
        </p:nvSpPr>
        <p:spPr>
          <a:xfrm>
            <a:off x="629841" y="922374"/>
            <a:ext cx="7886700" cy="76831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511527"/>
              </a:buClr>
              <a:buSzPts val="4000"/>
              <a:buFont typeface="Calibri"/>
              <a:buNone/>
            </a:pPr>
            <a:r>
              <a:rPr b="1" lang="en-US" sz="4000">
                <a:solidFill>
                  <a:srgbClr val="511527"/>
                </a:solidFill>
              </a:rPr>
              <a:t>LECTURE LEARNING OUTCOME</a:t>
            </a:r>
            <a:endParaRPr/>
          </a:p>
        </p:txBody>
      </p:sp>
      <p:sp>
        <p:nvSpPr>
          <p:cNvPr id="208" name="Google Shape;208;p47"/>
          <p:cNvSpPr txBox="1"/>
          <p:nvPr/>
        </p:nvSpPr>
        <p:spPr>
          <a:xfrm>
            <a:off x="629841" y="1865130"/>
            <a:ext cx="8400482" cy="39703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dk1"/>
                </a:solidFill>
                <a:latin typeface="Calibri"/>
                <a:ea typeface="Calibri"/>
                <a:cs typeface="Calibri"/>
                <a:sym typeface="Calibri"/>
              </a:rPr>
              <a:t>By the end of this lecture, students should be able to:</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Understand what stored procedures and functions are in MySQL.</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Create and execute stored procedures with parameters.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Use variables, IF/CASE conditions, and loops within stored procedures.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Develop and run stored functions that return values.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Distinguish between procedures and functions and explain when to use each.</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09" name="Google Shape;209;p47"/>
          <p:cNvPicPr preferRelativeResize="0"/>
          <p:nvPr/>
        </p:nvPicPr>
        <p:blipFill rotWithShape="1">
          <a:blip r:embed="rId3">
            <a:alphaModFix/>
          </a:blip>
          <a:srcRect b="0" l="0" r="0" t="0"/>
          <a:stretch/>
        </p:blipFill>
        <p:spPr>
          <a:xfrm>
            <a:off x="3854837" y="6381375"/>
            <a:ext cx="1602578" cy="12060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48"/>
          <p:cNvSpPr txBox="1"/>
          <p:nvPr>
            <p:ph type="title"/>
          </p:nvPr>
        </p:nvSpPr>
        <p:spPr>
          <a:xfrm>
            <a:off x="628650" y="365128"/>
            <a:ext cx="7886700" cy="91101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742117"/>
              </a:buClr>
              <a:buSzPts val="4000"/>
              <a:buFont typeface="Calibri"/>
              <a:buNone/>
            </a:pPr>
            <a:r>
              <a:rPr b="1" lang="en-US" sz="4000">
                <a:solidFill>
                  <a:srgbClr val="742117"/>
                </a:solidFill>
              </a:rPr>
              <a:t>STORED PROCEDURES</a:t>
            </a:r>
            <a:endParaRPr b="1" sz="4000">
              <a:solidFill>
                <a:srgbClr val="742117"/>
              </a:solidFill>
            </a:endParaRPr>
          </a:p>
        </p:txBody>
      </p:sp>
      <p:sp>
        <p:nvSpPr>
          <p:cNvPr id="215" name="Google Shape;215;p48"/>
          <p:cNvSpPr txBox="1"/>
          <p:nvPr>
            <p:ph idx="1" type="body"/>
          </p:nvPr>
        </p:nvSpPr>
        <p:spPr>
          <a:xfrm>
            <a:off x="628650" y="1451999"/>
            <a:ext cx="7886700" cy="4351338"/>
          </a:xfrm>
          <a:prstGeom prst="rect">
            <a:avLst/>
          </a:prstGeom>
          <a:noFill/>
          <a:ln>
            <a:noFill/>
          </a:ln>
        </p:spPr>
        <p:txBody>
          <a:bodyPr anchorCtr="0" anchor="t" bIns="45700" lIns="91425" spcFirstLastPara="1" rIns="91425" wrap="square" tIns="45700">
            <a:normAutofit fontScale="92500"/>
          </a:bodyPr>
          <a:lstStyle/>
          <a:p>
            <a:pPr indent="-171450" lvl="0" marL="171450" rtl="0" algn="l">
              <a:lnSpc>
                <a:spcPct val="90000"/>
              </a:lnSpc>
              <a:spcBef>
                <a:spcPts val="0"/>
              </a:spcBef>
              <a:spcAft>
                <a:spcPts val="0"/>
              </a:spcAft>
              <a:buClr>
                <a:srgbClr val="000000"/>
              </a:buClr>
              <a:buSzPct val="100000"/>
              <a:buChar char="•"/>
            </a:pPr>
            <a:r>
              <a:rPr lang="en-US" sz="2400">
                <a:solidFill>
                  <a:srgbClr val="000000"/>
                </a:solidFill>
                <a:latin typeface="Arial"/>
                <a:ea typeface="Arial"/>
                <a:cs typeface="Arial"/>
                <a:sym typeface="Arial"/>
              </a:rPr>
              <a:t>If you want to save a query on the database server for execution later, one way to do it is to use a stored procedure.</a:t>
            </a:r>
            <a:endParaRPr/>
          </a:p>
          <a:p>
            <a:pPr indent="-171450" lvl="0" marL="171450" rtl="0" algn="l">
              <a:lnSpc>
                <a:spcPct val="90000"/>
              </a:lnSpc>
              <a:spcBef>
                <a:spcPts val="750"/>
              </a:spcBef>
              <a:spcAft>
                <a:spcPts val="0"/>
              </a:spcAft>
              <a:buClr>
                <a:srgbClr val="000000"/>
              </a:buClr>
              <a:buSzPct val="100000"/>
              <a:buChar char="•"/>
            </a:pPr>
            <a:r>
              <a:rPr lang="en-US" sz="2400">
                <a:solidFill>
                  <a:srgbClr val="000000"/>
                </a:solidFill>
                <a:latin typeface="Arial"/>
                <a:ea typeface="Arial"/>
                <a:cs typeface="Arial"/>
                <a:sym typeface="Arial"/>
              </a:rPr>
              <a:t>Once saved, can invoke the stored procedure using the CALL statement.</a:t>
            </a:r>
            <a:endParaRPr/>
          </a:p>
          <a:p>
            <a:pPr indent="-171450" lvl="0" marL="171450" rtl="0" algn="l">
              <a:lnSpc>
                <a:spcPct val="90000"/>
              </a:lnSpc>
              <a:spcBef>
                <a:spcPts val="750"/>
              </a:spcBef>
              <a:spcAft>
                <a:spcPts val="0"/>
              </a:spcAft>
              <a:buClr>
                <a:srgbClr val="000000"/>
              </a:buClr>
              <a:buSzPct val="100000"/>
              <a:buChar char="•"/>
            </a:pPr>
            <a:r>
              <a:rPr lang="en-US" sz="2400">
                <a:solidFill>
                  <a:srgbClr val="000000"/>
                </a:solidFill>
                <a:latin typeface="Arial"/>
                <a:ea typeface="Arial"/>
                <a:cs typeface="Arial"/>
                <a:sym typeface="Arial"/>
              </a:rPr>
              <a:t>A stored procedure can have </a:t>
            </a:r>
            <a:r>
              <a:rPr lang="en-US" sz="2400" u="sng">
                <a:solidFill>
                  <a:srgbClr val="000000"/>
                </a:solidFill>
                <a:latin typeface="Arial"/>
                <a:ea typeface="Arial"/>
                <a:cs typeface="Arial"/>
                <a:sym typeface="Arial"/>
                <a:hlinkClick r:id="rId3">
                  <a:extLst>
                    <a:ext uri="{A12FA001-AC4F-418D-AE19-62706E023703}">
                      <ahyp:hlinkClr val="tx"/>
                    </a:ext>
                  </a:extLst>
                </a:hlinkClick>
              </a:rPr>
              <a:t>parameters</a:t>
            </a:r>
            <a:r>
              <a:rPr lang="en-US" sz="2400">
                <a:solidFill>
                  <a:srgbClr val="000000"/>
                </a:solidFill>
                <a:latin typeface="Arial"/>
                <a:ea typeface="Arial"/>
                <a:cs typeface="Arial"/>
                <a:sym typeface="Arial"/>
              </a:rPr>
              <a:t> so you can pass values to it and get the result back. For example, you can have a stored procedure that returns customers by country and city. In this case, the country and city are parameters of the stored procedure.</a:t>
            </a:r>
            <a:endParaRPr/>
          </a:p>
          <a:p>
            <a:pPr indent="-171450" lvl="0" marL="171450" rtl="0" algn="l">
              <a:lnSpc>
                <a:spcPct val="90000"/>
              </a:lnSpc>
              <a:spcBef>
                <a:spcPts val="750"/>
              </a:spcBef>
              <a:spcAft>
                <a:spcPts val="0"/>
              </a:spcAft>
              <a:buClr>
                <a:schemeClr val="dk1"/>
              </a:buClr>
              <a:buSzPct val="100000"/>
              <a:buChar char="•"/>
            </a:pPr>
            <a:r>
              <a:rPr lang="en-US" sz="2400"/>
              <a:t>A stored procedure may contain control flow statements such as IF, CASE and loop</a:t>
            </a:r>
            <a:endParaRPr/>
          </a:p>
          <a:p>
            <a:pPr indent="-171450" lvl="0" marL="171450" rtl="0" algn="l">
              <a:lnSpc>
                <a:spcPct val="90000"/>
              </a:lnSpc>
              <a:spcBef>
                <a:spcPts val="750"/>
              </a:spcBef>
              <a:spcAft>
                <a:spcPts val="0"/>
              </a:spcAft>
              <a:buClr>
                <a:srgbClr val="000000"/>
              </a:buClr>
              <a:buSzPct val="100000"/>
              <a:buChar char="•"/>
            </a:pPr>
            <a:r>
              <a:rPr lang="en-US" sz="2400">
                <a:solidFill>
                  <a:srgbClr val="000000"/>
                </a:solidFill>
                <a:latin typeface="Arial"/>
                <a:ea typeface="Arial"/>
                <a:cs typeface="Arial"/>
                <a:sym typeface="Arial"/>
              </a:rPr>
              <a:t>A stored procedure can call other stored procedures or </a:t>
            </a:r>
            <a:r>
              <a:rPr lang="en-US" sz="2400" u="sng">
                <a:solidFill>
                  <a:schemeClr val="hlink"/>
                </a:solidFill>
                <a:latin typeface="Arial"/>
                <a:ea typeface="Arial"/>
                <a:cs typeface="Arial"/>
                <a:sym typeface="Arial"/>
                <a:hlinkClick r:id="rId4"/>
              </a:rPr>
              <a:t>stored functions</a:t>
            </a:r>
            <a:r>
              <a:rPr lang="en-US" sz="2400">
                <a:solidFill>
                  <a:srgbClr val="000000"/>
                </a:solidFill>
                <a:latin typeface="Arial"/>
                <a:ea typeface="Arial"/>
                <a:cs typeface="Arial"/>
                <a:sym typeface="Arial"/>
              </a:rPr>
              <a:t>, which allows you to modularize your code.</a:t>
            </a:r>
            <a:endParaRPr sz="2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49"/>
          <p:cNvSpPr txBox="1"/>
          <p:nvPr>
            <p:ph type="title"/>
          </p:nvPr>
        </p:nvSpPr>
        <p:spPr>
          <a:xfrm>
            <a:off x="630940" y="489607"/>
            <a:ext cx="7886700" cy="85151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742117"/>
              </a:buClr>
              <a:buSzPts val="4000"/>
              <a:buFont typeface="Calibri"/>
              <a:buNone/>
            </a:pPr>
            <a:r>
              <a:rPr b="1" lang="en-US" sz="4000">
                <a:solidFill>
                  <a:srgbClr val="742117"/>
                </a:solidFill>
              </a:rPr>
              <a:t>CREATE STORED PROCEDURE</a:t>
            </a:r>
            <a:endParaRPr b="1" sz="4000">
              <a:solidFill>
                <a:srgbClr val="742117"/>
              </a:solidFill>
              <a:latin typeface="Calibri"/>
              <a:ea typeface="Calibri"/>
              <a:cs typeface="Calibri"/>
              <a:sym typeface="Calibri"/>
            </a:endParaRPr>
          </a:p>
        </p:txBody>
      </p:sp>
      <p:sp>
        <p:nvSpPr>
          <p:cNvPr id="221" name="Google Shape;221;p49"/>
          <p:cNvSpPr txBox="1"/>
          <p:nvPr>
            <p:ph idx="1" type="body"/>
          </p:nvPr>
        </p:nvSpPr>
        <p:spPr>
          <a:xfrm>
            <a:off x="465394" y="1533995"/>
            <a:ext cx="8213212" cy="4074327"/>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100"/>
              <a:buChar char="•"/>
            </a:pPr>
            <a:r>
              <a:rPr lang="en-US"/>
              <a:t>Syntax:</a:t>
            </a:r>
            <a:endParaRPr/>
          </a:p>
          <a:p>
            <a:pPr indent="0" lvl="0" marL="0" rtl="0" algn="l">
              <a:lnSpc>
                <a:spcPct val="90000"/>
              </a:lnSpc>
              <a:spcBef>
                <a:spcPts val="750"/>
              </a:spcBef>
              <a:spcAft>
                <a:spcPts val="0"/>
              </a:spcAft>
              <a:buClr>
                <a:schemeClr val="dk1"/>
              </a:buClr>
              <a:buSzPts val="2100"/>
              <a:buNone/>
            </a:pPr>
            <a:r>
              <a:t/>
            </a:r>
            <a:endParaRPr b="1">
              <a:solidFill>
                <a:srgbClr val="333333"/>
              </a:solidFill>
              <a:latin typeface="Courier New"/>
              <a:ea typeface="Courier New"/>
              <a:cs typeface="Courier New"/>
              <a:sym typeface="Courier New"/>
            </a:endParaRPr>
          </a:p>
          <a:p>
            <a:pPr indent="0" lvl="0" marL="0" rtl="0" algn="l">
              <a:lnSpc>
                <a:spcPct val="90000"/>
              </a:lnSpc>
              <a:spcBef>
                <a:spcPts val="750"/>
              </a:spcBef>
              <a:spcAft>
                <a:spcPts val="0"/>
              </a:spcAft>
              <a:buClr>
                <a:srgbClr val="333333"/>
              </a:buClr>
              <a:buSzPts val="2100"/>
              <a:buNone/>
            </a:pPr>
            <a:r>
              <a:rPr b="1" i="0" lang="en-US">
                <a:solidFill>
                  <a:srgbClr val="333333"/>
                </a:solidFill>
                <a:latin typeface="Courier New"/>
                <a:ea typeface="Courier New"/>
                <a:cs typeface="Courier New"/>
                <a:sym typeface="Courier New"/>
              </a:rPr>
              <a:t>CREATE</a:t>
            </a:r>
            <a:r>
              <a:rPr b="0" i="0" lang="en-US">
                <a:solidFill>
                  <a:srgbClr val="333333"/>
                </a:solidFill>
                <a:latin typeface="Courier New"/>
                <a:ea typeface="Courier New"/>
                <a:cs typeface="Courier New"/>
                <a:sym typeface="Courier New"/>
              </a:rPr>
              <a:t> </a:t>
            </a:r>
            <a:r>
              <a:rPr b="1" i="0" lang="en-US">
                <a:solidFill>
                  <a:srgbClr val="333333"/>
                </a:solidFill>
                <a:latin typeface="Courier New"/>
                <a:ea typeface="Courier New"/>
                <a:cs typeface="Courier New"/>
                <a:sym typeface="Courier New"/>
              </a:rPr>
              <a:t>PROCEDURE</a:t>
            </a:r>
            <a:r>
              <a:rPr b="0" i="0" lang="en-US">
                <a:solidFill>
                  <a:srgbClr val="333333"/>
                </a:solidFill>
                <a:latin typeface="Courier New"/>
                <a:ea typeface="Courier New"/>
                <a:cs typeface="Courier New"/>
                <a:sym typeface="Courier New"/>
              </a:rPr>
              <a:t> procedure_name(parameter_list) </a:t>
            </a:r>
            <a:r>
              <a:rPr b="1" i="0" lang="en-US">
                <a:solidFill>
                  <a:srgbClr val="333333"/>
                </a:solidFill>
                <a:latin typeface="Courier New"/>
                <a:ea typeface="Courier New"/>
                <a:cs typeface="Courier New"/>
                <a:sym typeface="Courier New"/>
              </a:rPr>
              <a:t>BEGIN</a:t>
            </a:r>
            <a:r>
              <a:rPr b="0" i="0" lang="en-US">
                <a:solidFill>
                  <a:srgbClr val="333333"/>
                </a:solidFill>
                <a:latin typeface="Courier New"/>
                <a:ea typeface="Courier New"/>
                <a:cs typeface="Courier New"/>
                <a:sym typeface="Courier New"/>
              </a:rPr>
              <a:t> </a:t>
            </a:r>
            <a:endParaRPr/>
          </a:p>
          <a:p>
            <a:pPr indent="0" lvl="0" marL="0" rtl="0" algn="l">
              <a:lnSpc>
                <a:spcPct val="90000"/>
              </a:lnSpc>
              <a:spcBef>
                <a:spcPts val="750"/>
              </a:spcBef>
              <a:spcAft>
                <a:spcPts val="0"/>
              </a:spcAft>
              <a:buClr>
                <a:srgbClr val="333333"/>
              </a:buClr>
              <a:buSzPts val="2100"/>
              <a:buNone/>
            </a:pPr>
            <a:r>
              <a:rPr b="0" i="0" lang="en-US">
                <a:solidFill>
                  <a:srgbClr val="333333"/>
                </a:solidFill>
                <a:latin typeface="Courier New"/>
                <a:ea typeface="Courier New"/>
                <a:cs typeface="Courier New"/>
                <a:sym typeface="Courier New"/>
              </a:rPr>
              <a:t>statements; </a:t>
            </a:r>
            <a:endParaRPr/>
          </a:p>
          <a:p>
            <a:pPr indent="0" lvl="0" marL="0" rtl="0" algn="l">
              <a:lnSpc>
                <a:spcPct val="90000"/>
              </a:lnSpc>
              <a:spcBef>
                <a:spcPts val="750"/>
              </a:spcBef>
              <a:spcAft>
                <a:spcPts val="0"/>
              </a:spcAft>
              <a:buClr>
                <a:srgbClr val="333333"/>
              </a:buClr>
              <a:buSzPts val="2100"/>
              <a:buNone/>
            </a:pPr>
            <a:r>
              <a:rPr b="1" i="0" lang="en-US">
                <a:solidFill>
                  <a:srgbClr val="333333"/>
                </a:solidFill>
                <a:latin typeface="Courier New"/>
                <a:ea typeface="Courier New"/>
                <a:cs typeface="Courier New"/>
                <a:sym typeface="Courier New"/>
              </a:rPr>
              <a:t>END</a:t>
            </a:r>
            <a:r>
              <a:rPr b="0" i="0" lang="en-US">
                <a:solidFill>
                  <a:srgbClr val="333333"/>
                </a:solidFill>
                <a:latin typeface="Courier New"/>
                <a:ea typeface="Courier New"/>
                <a:cs typeface="Courier New"/>
                <a:sym typeface="Courier New"/>
              </a:rPr>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4"/>
          <p:cNvSpPr txBox="1"/>
          <p:nvPr>
            <p:ph type="title"/>
          </p:nvPr>
        </p:nvSpPr>
        <p:spPr>
          <a:xfrm>
            <a:off x="628650" y="109981"/>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742117"/>
              </a:buClr>
              <a:buSzPts val="4000"/>
              <a:buFont typeface="Calibri"/>
              <a:buNone/>
            </a:pPr>
            <a:r>
              <a:rPr b="1" lang="en-US" sz="4000">
                <a:solidFill>
                  <a:srgbClr val="742117"/>
                </a:solidFill>
              </a:rPr>
              <a:t>SAKILA DATABASE</a:t>
            </a:r>
            <a:endParaRPr b="1" sz="4000">
              <a:solidFill>
                <a:srgbClr val="742117"/>
              </a:solidFill>
            </a:endParaRPr>
          </a:p>
        </p:txBody>
      </p:sp>
      <p:pic>
        <p:nvPicPr>
          <p:cNvPr descr="The Sakila Database ERD" id="227" name="Google Shape;227;p4"/>
          <p:cNvPicPr preferRelativeResize="0"/>
          <p:nvPr/>
        </p:nvPicPr>
        <p:blipFill rotWithShape="1">
          <a:blip r:embed="rId3">
            <a:alphaModFix/>
          </a:blip>
          <a:srcRect b="0" l="0" r="0" t="0"/>
          <a:stretch/>
        </p:blipFill>
        <p:spPr>
          <a:xfrm>
            <a:off x="628652" y="1435542"/>
            <a:ext cx="7913365" cy="505733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5"/>
          <p:cNvSpPr txBox="1"/>
          <p:nvPr>
            <p:ph type="title"/>
          </p:nvPr>
        </p:nvSpPr>
        <p:spPr>
          <a:xfrm>
            <a:off x="1099966" y="51989"/>
            <a:ext cx="7204587" cy="9271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1"/>
              </a:buClr>
              <a:buSzPts val="3000"/>
              <a:buFont typeface="Calibri"/>
              <a:buNone/>
            </a:pPr>
            <a:r>
              <a:rPr b="1" lang="en-US">
                <a:solidFill>
                  <a:schemeClr val="accent1"/>
                </a:solidFill>
              </a:rPr>
              <a:t>Example 1</a:t>
            </a:r>
            <a:endParaRPr/>
          </a:p>
        </p:txBody>
      </p:sp>
      <p:sp>
        <p:nvSpPr>
          <p:cNvPr id="233" name="Google Shape;233;p5"/>
          <p:cNvSpPr txBox="1"/>
          <p:nvPr>
            <p:ph idx="1" type="body"/>
          </p:nvPr>
        </p:nvSpPr>
        <p:spPr>
          <a:xfrm>
            <a:off x="182235" y="810462"/>
            <a:ext cx="8779529" cy="722206"/>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100"/>
              <a:buChar char="•"/>
            </a:pPr>
            <a:r>
              <a:rPr lang="en-US"/>
              <a:t>Using Sakila DB, create a procedure to retrieve a list of customers whose store id is 2.</a:t>
            </a:r>
            <a:endParaRPr/>
          </a:p>
          <a:p>
            <a:pPr indent="-38100" lvl="0" marL="171450" rtl="0" algn="l">
              <a:lnSpc>
                <a:spcPct val="90000"/>
              </a:lnSpc>
              <a:spcBef>
                <a:spcPts val="750"/>
              </a:spcBef>
              <a:spcAft>
                <a:spcPts val="0"/>
              </a:spcAft>
              <a:buClr>
                <a:schemeClr val="dk1"/>
              </a:buClr>
              <a:buSzPts val="2100"/>
              <a:buNone/>
            </a:pPr>
            <a:r>
              <a:t/>
            </a:r>
            <a:endParaRPr/>
          </a:p>
          <a:p>
            <a:pPr indent="-38100" lvl="0" marL="171450" rtl="0" algn="l">
              <a:lnSpc>
                <a:spcPct val="90000"/>
              </a:lnSpc>
              <a:spcBef>
                <a:spcPts val="750"/>
              </a:spcBef>
              <a:spcAft>
                <a:spcPts val="0"/>
              </a:spcAft>
              <a:buClr>
                <a:schemeClr val="dk1"/>
              </a:buClr>
              <a:buSzPts val="2100"/>
              <a:buNone/>
            </a:pPr>
            <a:r>
              <a:t/>
            </a:r>
            <a:endParaRPr/>
          </a:p>
        </p:txBody>
      </p:sp>
      <p:pic>
        <p:nvPicPr>
          <p:cNvPr id="234" name="Google Shape;234;p5"/>
          <p:cNvPicPr preferRelativeResize="0"/>
          <p:nvPr/>
        </p:nvPicPr>
        <p:blipFill rotWithShape="1">
          <a:blip r:embed="rId3">
            <a:alphaModFix/>
          </a:blip>
          <a:srcRect b="56158" l="15344" r="59634" t="20670"/>
          <a:stretch/>
        </p:blipFill>
        <p:spPr>
          <a:xfrm>
            <a:off x="3215413" y="1806297"/>
            <a:ext cx="5516382" cy="2872355"/>
          </a:xfrm>
          <a:prstGeom prst="rect">
            <a:avLst/>
          </a:prstGeom>
          <a:noFill/>
          <a:ln>
            <a:noFill/>
          </a:ln>
        </p:spPr>
      </p:pic>
      <p:pic>
        <p:nvPicPr>
          <p:cNvPr id="235" name="Google Shape;235;p5"/>
          <p:cNvPicPr preferRelativeResize="0"/>
          <p:nvPr/>
        </p:nvPicPr>
        <p:blipFill rotWithShape="1">
          <a:blip r:embed="rId3">
            <a:alphaModFix/>
          </a:blip>
          <a:srcRect b="44040" l="0" r="85368" t="16660"/>
          <a:stretch/>
        </p:blipFill>
        <p:spPr>
          <a:xfrm>
            <a:off x="326974" y="1808159"/>
            <a:ext cx="2486493" cy="3755019"/>
          </a:xfrm>
          <a:prstGeom prst="rect">
            <a:avLst/>
          </a:prstGeom>
          <a:noFill/>
          <a:ln>
            <a:noFill/>
          </a:ln>
        </p:spPr>
      </p:pic>
      <p:cxnSp>
        <p:nvCxnSpPr>
          <p:cNvPr id="236" name="Google Shape;236;p5"/>
          <p:cNvCxnSpPr/>
          <p:nvPr/>
        </p:nvCxnSpPr>
        <p:spPr>
          <a:xfrm flipH="1">
            <a:off x="7644224" y="1445821"/>
            <a:ext cx="314793" cy="634066"/>
          </a:xfrm>
          <a:prstGeom prst="straightConnector1">
            <a:avLst/>
          </a:prstGeom>
          <a:noFill/>
          <a:ln cap="flat" cmpd="sng" w="12700">
            <a:solidFill>
              <a:schemeClr val="dk1"/>
            </a:solidFill>
            <a:prstDash val="solid"/>
            <a:miter lim="800000"/>
            <a:headEnd len="sm" w="sm" type="none"/>
            <a:tailEnd len="med" w="med" type="triangle"/>
          </a:ln>
        </p:spPr>
      </p:cxnSp>
      <p:cxnSp>
        <p:nvCxnSpPr>
          <p:cNvPr id="237" name="Google Shape;237;p5"/>
          <p:cNvCxnSpPr/>
          <p:nvPr/>
        </p:nvCxnSpPr>
        <p:spPr>
          <a:xfrm rot="10800000">
            <a:off x="7425930" y="3250721"/>
            <a:ext cx="896910" cy="0"/>
          </a:xfrm>
          <a:prstGeom prst="straightConnector1">
            <a:avLst/>
          </a:prstGeom>
          <a:noFill/>
          <a:ln cap="flat" cmpd="sng" w="12700">
            <a:solidFill>
              <a:schemeClr val="dk1"/>
            </a:solidFill>
            <a:prstDash val="solid"/>
            <a:miter lim="800000"/>
            <a:headEnd len="sm" w="sm" type="none"/>
            <a:tailEnd len="med" w="med" type="triangle"/>
          </a:ln>
        </p:spPr>
      </p:cxnSp>
      <p:sp>
        <p:nvSpPr>
          <p:cNvPr id="238" name="Google Shape;238;p5"/>
          <p:cNvSpPr/>
          <p:nvPr/>
        </p:nvSpPr>
        <p:spPr>
          <a:xfrm>
            <a:off x="6280119" y="2103214"/>
            <a:ext cx="1678898" cy="371954"/>
          </a:xfrm>
          <a:prstGeom prst="rect">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9" name="Google Shape;239;p5"/>
          <p:cNvSpPr/>
          <p:nvPr/>
        </p:nvSpPr>
        <p:spPr>
          <a:xfrm>
            <a:off x="4637760" y="2692526"/>
            <a:ext cx="2788170" cy="1053054"/>
          </a:xfrm>
          <a:prstGeom prst="rect">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0" name="Google Shape;240;p5"/>
          <p:cNvSpPr txBox="1"/>
          <p:nvPr/>
        </p:nvSpPr>
        <p:spPr>
          <a:xfrm>
            <a:off x="7407947" y="1136651"/>
            <a:ext cx="173605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Procedure name</a:t>
            </a:r>
            <a:endParaRPr/>
          </a:p>
        </p:txBody>
      </p:sp>
      <p:sp>
        <p:nvSpPr>
          <p:cNvPr id="241" name="Google Shape;241;p5"/>
          <p:cNvSpPr txBox="1"/>
          <p:nvPr/>
        </p:nvSpPr>
        <p:spPr>
          <a:xfrm>
            <a:off x="7508481" y="3313485"/>
            <a:ext cx="114076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statement</a:t>
            </a:r>
            <a:endParaRPr/>
          </a:p>
        </p:txBody>
      </p:sp>
      <p:cxnSp>
        <p:nvCxnSpPr>
          <p:cNvPr id="242" name="Google Shape;242;p5"/>
          <p:cNvCxnSpPr/>
          <p:nvPr/>
        </p:nvCxnSpPr>
        <p:spPr>
          <a:xfrm>
            <a:off x="5651535" y="1468545"/>
            <a:ext cx="0" cy="339359"/>
          </a:xfrm>
          <a:prstGeom prst="straightConnector1">
            <a:avLst/>
          </a:prstGeom>
          <a:noFill/>
          <a:ln cap="flat" cmpd="sng" w="12700">
            <a:solidFill>
              <a:schemeClr val="dk1"/>
            </a:solidFill>
            <a:prstDash val="solid"/>
            <a:miter lim="800000"/>
            <a:headEnd len="sm" w="sm" type="none"/>
            <a:tailEnd len="med" w="med" type="triangle"/>
          </a:ln>
        </p:spPr>
      </p:cxnSp>
      <p:sp>
        <p:nvSpPr>
          <p:cNvPr id="243" name="Google Shape;243;p5"/>
          <p:cNvSpPr txBox="1"/>
          <p:nvPr/>
        </p:nvSpPr>
        <p:spPr>
          <a:xfrm>
            <a:off x="5063939" y="1163754"/>
            <a:ext cx="226517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Redefine delimeter </a:t>
            </a:r>
            <a:r>
              <a:rPr lang="en-US" sz="1800">
                <a:solidFill>
                  <a:srgbClr val="FF0000"/>
                </a:solidFill>
                <a:latin typeface="Calibri"/>
                <a:ea typeface="Calibri"/>
                <a:cs typeface="Calibri"/>
                <a:sym typeface="Calibri"/>
              </a:rPr>
              <a:t>**</a:t>
            </a:r>
            <a:endParaRPr/>
          </a:p>
        </p:txBody>
      </p:sp>
      <p:sp>
        <p:nvSpPr>
          <p:cNvPr id="244" name="Google Shape;244;p5"/>
          <p:cNvSpPr txBox="1"/>
          <p:nvPr/>
        </p:nvSpPr>
        <p:spPr>
          <a:xfrm>
            <a:off x="563264" y="5704814"/>
            <a:ext cx="60935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rgbClr val="FF0000"/>
                </a:solidFill>
                <a:latin typeface="Arial"/>
                <a:ea typeface="Arial"/>
                <a:cs typeface="Arial"/>
                <a:sym typeface="Arial"/>
              </a:rPr>
              <a:t>**redefine the delimiter temporarily so that you can pass the whole stored procedure to the server as a single statement.</a:t>
            </a:r>
            <a:endParaRPr i="1" sz="1800">
              <a:solidFill>
                <a:srgbClr val="FF0000"/>
              </a:solidFill>
              <a:latin typeface="Calibri"/>
              <a:ea typeface="Calibri"/>
              <a:cs typeface="Calibri"/>
              <a:sym typeface="Calibri"/>
            </a:endParaRPr>
          </a:p>
        </p:txBody>
      </p:sp>
      <p:cxnSp>
        <p:nvCxnSpPr>
          <p:cNvPr id="245" name="Google Shape;245;p5"/>
          <p:cNvCxnSpPr/>
          <p:nvPr/>
        </p:nvCxnSpPr>
        <p:spPr>
          <a:xfrm rot="10800000">
            <a:off x="2358763" y="4877605"/>
            <a:ext cx="909407" cy="0"/>
          </a:xfrm>
          <a:prstGeom prst="straightConnector1">
            <a:avLst/>
          </a:prstGeom>
          <a:noFill/>
          <a:ln cap="flat" cmpd="sng" w="12700">
            <a:solidFill>
              <a:schemeClr val="dk1"/>
            </a:solidFill>
            <a:prstDash val="solid"/>
            <a:miter lim="800000"/>
            <a:headEnd len="sm" w="sm" type="none"/>
            <a:tailEnd len="med" w="med" type="triangle"/>
          </a:ln>
        </p:spPr>
      </p:cxnSp>
      <p:sp>
        <p:nvSpPr>
          <p:cNvPr id="246" name="Google Shape;246;p5"/>
          <p:cNvSpPr txBox="1"/>
          <p:nvPr/>
        </p:nvSpPr>
        <p:spPr>
          <a:xfrm>
            <a:off x="3319815" y="4692939"/>
            <a:ext cx="255602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Newly created procedure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pic>
        <p:nvPicPr>
          <p:cNvPr id="251" name="Google Shape;251;p50"/>
          <p:cNvPicPr preferRelativeResize="0"/>
          <p:nvPr>
            <p:ph idx="1" type="body"/>
          </p:nvPr>
        </p:nvPicPr>
        <p:blipFill rotWithShape="1">
          <a:blip r:embed="rId3">
            <a:alphaModFix/>
          </a:blip>
          <a:srcRect b="0" l="0" r="0" t="0"/>
          <a:stretch/>
        </p:blipFill>
        <p:spPr>
          <a:xfrm>
            <a:off x="838200" y="2436867"/>
            <a:ext cx="7518842" cy="2302281"/>
          </a:xfrm>
          <a:prstGeom prst="rect">
            <a:avLst/>
          </a:prstGeom>
          <a:noFill/>
          <a:ln>
            <a:noFill/>
          </a:ln>
        </p:spPr>
      </p:pic>
      <p:sp>
        <p:nvSpPr>
          <p:cNvPr id="252" name="Google Shape;252;p50"/>
          <p:cNvSpPr txBox="1"/>
          <p:nvPr/>
        </p:nvSpPr>
        <p:spPr>
          <a:xfrm>
            <a:off x="838200" y="1410813"/>
            <a:ext cx="7317037" cy="552340"/>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To execute the procedure GetCustomers(), use </a:t>
            </a:r>
            <a:r>
              <a:rPr lang="en-US" sz="2400">
                <a:solidFill>
                  <a:schemeClr val="dk1"/>
                </a:solidFill>
                <a:latin typeface="Courier New"/>
                <a:ea typeface="Courier New"/>
                <a:cs typeface="Courier New"/>
                <a:sym typeface="Courier New"/>
              </a:rPr>
              <a:t>CALL</a:t>
            </a:r>
            <a:r>
              <a:rPr lang="en-US" sz="2400">
                <a:solidFill>
                  <a:schemeClr val="dk1"/>
                </a:solidFill>
                <a:latin typeface="Calibri"/>
                <a:ea typeface="Calibri"/>
                <a:cs typeface="Calibri"/>
                <a:sym typeface="Calibri"/>
              </a:rPr>
              <a:t> statement. </a:t>
            </a:r>
            <a:endParaRPr/>
          </a:p>
          <a:p>
            <a:pPr indent="-76200" lvl="0" marL="228600" marR="0" rtl="0" algn="l">
              <a:lnSpc>
                <a:spcPct val="90000"/>
              </a:lnSpc>
              <a:spcBef>
                <a:spcPts val="100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76200" lvl="0" marL="228600" marR="0" rtl="0" algn="l">
              <a:lnSpc>
                <a:spcPct val="90000"/>
              </a:lnSpc>
              <a:spcBef>
                <a:spcPts val="100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p:txBody>
      </p:sp>
      <p:sp>
        <p:nvSpPr>
          <p:cNvPr id="253" name="Google Shape;253;p50"/>
          <p:cNvSpPr txBox="1"/>
          <p:nvPr>
            <p:ph type="title"/>
          </p:nvPr>
        </p:nvSpPr>
        <p:spPr>
          <a:xfrm>
            <a:off x="1152455" y="246856"/>
            <a:ext cx="7204587" cy="9271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1"/>
              </a:buClr>
              <a:buSzPts val="3000"/>
              <a:buFont typeface="Calibri"/>
              <a:buNone/>
            </a:pPr>
            <a:r>
              <a:rPr b="1" lang="en-US">
                <a:solidFill>
                  <a:schemeClr val="accent1"/>
                </a:solidFill>
              </a:rPr>
              <a:t>Example 1 </a:t>
            </a:r>
            <a:r>
              <a:rPr b="1" lang="en-US" sz="1600">
                <a:solidFill>
                  <a:schemeClr val="accent1"/>
                </a:solidFill>
              </a:rPr>
              <a:t>(continue)</a:t>
            </a:r>
            <a:endParaRPr b="1">
              <a:solidFill>
                <a:schemeClr val="accen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6"/>
          <p:cNvSpPr txBox="1"/>
          <p:nvPr>
            <p:ph type="title"/>
          </p:nvPr>
        </p:nvSpPr>
        <p:spPr>
          <a:xfrm>
            <a:off x="385003" y="395257"/>
            <a:ext cx="8547678" cy="1157327"/>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1"/>
              </a:buClr>
              <a:buSzPts val="3000"/>
              <a:buFont typeface="Calibri"/>
              <a:buNone/>
            </a:pPr>
            <a:r>
              <a:rPr b="1" lang="en-US">
                <a:solidFill>
                  <a:schemeClr val="accent1"/>
                </a:solidFill>
              </a:rPr>
              <a:t>Variables In Stored Procedure</a:t>
            </a:r>
            <a:endParaRPr/>
          </a:p>
        </p:txBody>
      </p:sp>
      <p:sp>
        <p:nvSpPr>
          <p:cNvPr id="259" name="Google Shape;259;p6"/>
          <p:cNvSpPr txBox="1"/>
          <p:nvPr>
            <p:ph idx="1" type="body"/>
          </p:nvPr>
        </p:nvSpPr>
        <p:spPr>
          <a:xfrm>
            <a:off x="298160" y="1757964"/>
            <a:ext cx="8547679" cy="3934913"/>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rgbClr val="000000"/>
              </a:buClr>
              <a:buSzPts val="2100"/>
              <a:buChar char="•"/>
            </a:pPr>
            <a:r>
              <a:rPr b="0" i="0" lang="en-US">
                <a:solidFill>
                  <a:srgbClr val="000000"/>
                </a:solidFill>
                <a:latin typeface="Arial"/>
                <a:ea typeface="Arial"/>
                <a:cs typeface="Arial"/>
                <a:sym typeface="Arial"/>
              </a:rPr>
              <a:t>A variable is a named data object whose value can change during the stored procedure execution. </a:t>
            </a:r>
            <a:endParaRPr/>
          </a:p>
          <a:p>
            <a:pPr indent="-171450" lvl="0" marL="171450" rtl="0" algn="l">
              <a:lnSpc>
                <a:spcPct val="90000"/>
              </a:lnSpc>
              <a:spcBef>
                <a:spcPts val="750"/>
              </a:spcBef>
              <a:spcAft>
                <a:spcPts val="0"/>
              </a:spcAft>
              <a:buClr>
                <a:srgbClr val="000000"/>
              </a:buClr>
              <a:buSzPts val="2100"/>
              <a:buChar char="•"/>
            </a:pPr>
            <a:r>
              <a:rPr b="0" i="0" lang="en-US">
                <a:solidFill>
                  <a:srgbClr val="000000"/>
                </a:solidFill>
                <a:latin typeface="Arial"/>
                <a:ea typeface="Arial"/>
                <a:cs typeface="Arial"/>
                <a:sym typeface="Arial"/>
              </a:rPr>
              <a:t>Use variables to hold immediate result inside stored procedures</a:t>
            </a:r>
            <a:endParaRPr/>
          </a:p>
          <a:p>
            <a:pPr indent="-171450" lvl="1" marL="514350" rtl="0" algn="l">
              <a:lnSpc>
                <a:spcPct val="90000"/>
              </a:lnSpc>
              <a:spcBef>
                <a:spcPts val="375"/>
              </a:spcBef>
              <a:spcAft>
                <a:spcPts val="0"/>
              </a:spcAft>
              <a:buClr>
                <a:srgbClr val="000000"/>
              </a:buClr>
              <a:buSzPts val="1800"/>
              <a:buChar char="•"/>
            </a:pPr>
            <a:r>
              <a:rPr b="0" i="0" lang="en-US">
                <a:solidFill>
                  <a:srgbClr val="000000"/>
                </a:solidFill>
                <a:latin typeface="Arial"/>
                <a:ea typeface="Arial"/>
                <a:cs typeface="Arial"/>
                <a:sym typeface="Arial"/>
              </a:rPr>
              <a:t>These variables are </a:t>
            </a:r>
            <a:r>
              <a:rPr b="0" i="0" lang="en-US">
                <a:solidFill>
                  <a:srgbClr val="FF0000"/>
                </a:solidFill>
                <a:latin typeface="Arial"/>
                <a:ea typeface="Arial"/>
                <a:cs typeface="Arial"/>
                <a:sym typeface="Arial"/>
              </a:rPr>
              <a:t>local to the stored procedure</a:t>
            </a:r>
            <a:r>
              <a:rPr b="0" i="0" lang="en-US">
                <a:solidFill>
                  <a:srgbClr val="000000"/>
                </a:solidFill>
                <a:latin typeface="Arial"/>
                <a:ea typeface="Arial"/>
                <a:cs typeface="Arial"/>
                <a:sym typeface="Arial"/>
              </a:rPr>
              <a:t>.</a:t>
            </a:r>
            <a:endParaRPr/>
          </a:p>
          <a:p>
            <a:pPr indent="-171450" lvl="0" marL="171450" rtl="0" algn="l">
              <a:lnSpc>
                <a:spcPct val="90000"/>
              </a:lnSpc>
              <a:spcBef>
                <a:spcPts val="750"/>
              </a:spcBef>
              <a:spcAft>
                <a:spcPts val="0"/>
              </a:spcAft>
              <a:buClr>
                <a:schemeClr val="dk1"/>
              </a:buClr>
              <a:buSzPts val="2100"/>
              <a:buChar char="•"/>
            </a:pPr>
            <a:r>
              <a:rPr lang="en-US"/>
              <a:t>Variable must be declared before used.</a:t>
            </a:r>
            <a:endParaRPr/>
          </a:p>
          <a:p>
            <a:pPr indent="0" lvl="1" marL="457200" rtl="0" algn="l">
              <a:lnSpc>
                <a:spcPct val="90000"/>
              </a:lnSpc>
              <a:spcBef>
                <a:spcPts val="375"/>
              </a:spcBef>
              <a:spcAft>
                <a:spcPts val="0"/>
              </a:spcAft>
              <a:buClr>
                <a:srgbClr val="0033CC"/>
              </a:buClr>
              <a:buSzPts val="1800"/>
              <a:buNone/>
            </a:pPr>
            <a:r>
              <a:rPr b="1" i="0" lang="en-US">
                <a:solidFill>
                  <a:srgbClr val="0033CC"/>
                </a:solidFill>
                <a:latin typeface="Courier New"/>
                <a:ea typeface="Courier New"/>
                <a:cs typeface="Courier New"/>
                <a:sym typeface="Courier New"/>
              </a:rPr>
              <a:t>DECLARE</a:t>
            </a:r>
            <a:r>
              <a:rPr b="0" i="0" lang="en-US">
                <a:solidFill>
                  <a:srgbClr val="0033CC"/>
                </a:solidFill>
                <a:latin typeface="Courier New"/>
                <a:ea typeface="Courier New"/>
                <a:cs typeface="Courier New"/>
                <a:sym typeface="Courier New"/>
              </a:rPr>
              <a:t> variable_name datatype(</a:t>
            </a:r>
            <a:r>
              <a:rPr b="1" i="0" lang="en-US">
                <a:solidFill>
                  <a:srgbClr val="0033CC"/>
                </a:solidFill>
                <a:latin typeface="Courier New"/>
                <a:ea typeface="Courier New"/>
                <a:cs typeface="Courier New"/>
                <a:sym typeface="Courier New"/>
              </a:rPr>
              <a:t>size</a:t>
            </a:r>
            <a:r>
              <a:rPr b="0" i="0" lang="en-US">
                <a:solidFill>
                  <a:srgbClr val="0033CC"/>
                </a:solidFill>
                <a:latin typeface="Courier New"/>
                <a:ea typeface="Courier New"/>
                <a:cs typeface="Courier New"/>
                <a:sym typeface="Courier New"/>
              </a:rPr>
              <a:t>) [</a:t>
            </a:r>
            <a:r>
              <a:rPr b="1" i="0" lang="en-US">
                <a:solidFill>
                  <a:srgbClr val="0033CC"/>
                </a:solidFill>
                <a:latin typeface="Courier New"/>
                <a:ea typeface="Courier New"/>
                <a:cs typeface="Courier New"/>
                <a:sym typeface="Courier New"/>
              </a:rPr>
              <a:t>DEFAULT</a:t>
            </a:r>
            <a:r>
              <a:rPr b="0" i="0" lang="en-US">
                <a:solidFill>
                  <a:srgbClr val="0033CC"/>
                </a:solidFill>
                <a:latin typeface="Courier New"/>
                <a:ea typeface="Courier New"/>
                <a:cs typeface="Courier New"/>
                <a:sym typeface="Courier New"/>
              </a:rPr>
              <a:t> default_value];</a:t>
            </a:r>
            <a:endParaRPr/>
          </a:p>
          <a:p>
            <a:pPr indent="-171450" lvl="0" marL="171450" rtl="0" algn="l">
              <a:lnSpc>
                <a:spcPct val="90000"/>
              </a:lnSpc>
              <a:spcBef>
                <a:spcPts val="750"/>
              </a:spcBef>
              <a:spcAft>
                <a:spcPts val="0"/>
              </a:spcAft>
              <a:buClr>
                <a:srgbClr val="000000"/>
              </a:buClr>
              <a:buSzPts val="2400"/>
              <a:buChar char="•"/>
            </a:pPr>
            <a:r>
              <a:rPr b="0" i="0" lang="en-US" sz="2400" u="none" cap="none" strike="noStrike">
                <a:solidFill>
                  <a:srgbClr val="000000"/>
                </a:solidFill>
                <a:latin typeface="Arial"/>
                <a:ea typeface="Arial"/>
                <a:cs typeface="Arial"/>
                <a:sym typeface="Arial"/>
              </a:rPr>
              <a:t>Can declare two or more variables that share the same data type using a single </a:t>
            </a:r>
            <a:r>
              <a:rPr b="1" i="0" lang="en-US" sz="1800" u="none" cap="none" strike="noStrike">
                <a:solidFill>
                  <a:srgbClr val="0033CC"/>
                </a:solidFill>
                <a:latin typeface="Courier New"/>
                <a:ea typeface="Courier New"/>
                <a:cs typeface="Courier New"/>
                <a:sym typeface="Courier New"/>
              </a:rPr>
              <a:t>DECLARE</a:t>
            </a:r>
            <a:r>
              <a:rPr b="0" i="0" lang="en-US" sz="1400" u="none" cap="none" strike="noStrike">
                <a:solidFill>
                  <a:srgbClr val="000000"/>
                </a:solidFill>
                <a:latin typeface="Arial"/>
                <a:ea typeface="Arial"/>
                <a:cs typeface="Arial"/>
                <a:sym typeface="Arial"/>
              </a:rPr>
              <a:t> </a:t>
            </a:r>
            <a:r>
              <a:rPr b="0" i="0" lang="en-US" sz="2400" u="none" cap="none" strike="noStrike">
                <a:solidFill>
                  <a:srgbClr val="000000"/>
                </a:solidFill>
                <a:latin typeface="Arial"/>
                <a:ea typeface="Arial"/>
                <a:cs typeface="Arial"/>
                <a:sym typeface="Arial"/>
              </a:rPr>
              <a:t>statement</a:t>
            </a:r>
            <a:endParaRPr/>
          </a:p>
          <a:p>
            <a:pPr indent="-171450" lvl="0" marL="171450" rtl="0" algn="l">
              <a:lnSpc>
                <a:spcPct val="90000"/>
              </a:lnSpc>
              <a:spcBef>
                <a:spcPts val="750"/>
              </a:spcBef>
              <a:spcAft>
                <a:spcPts val="0"/>
              </a:spcAft>
              <a:buClr>
                <a:srgbClr val="000000"/>
              </a:buClr>
              <a:buSzPts val="2100"/>
              <a:buChar char="•"/>
            </a:pPr>
            <a:r>
              <a:rPr lang="en-US">
                <a:solidFill>
                  <a:srgbClr val="000000"/>
                </a:solidFill>
                <a:latin typeface="Arial"/>
                <a:ea typeface="Arial"/>
                <a:cs typeface="Arial"/>
                <a:sym typeface="Arial"/>
              </a:rPr>
              <a:t>A user defined variable can hold a single value only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7"/>
          <p:cNvSpPr txBox="1"/>
          <p:nvPr/>
        </p:nvSpPr>
        <p:spPr>
          <a:xfrm>
            <a:off x="-597309" y="217487"/>
            <a:ext cx="10515600" cy="92710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accent1"/>
              </a:buClr>
              <a:buSzPts val="3000"/>
              <a:buFont typeface="Calibri"/>
              <a:buNone/>
            </a:pPr>
            <a:r>
              <a:rPr b="1" lang="en-US" sz="3000">
                <a:solidFill>
                  <a:schemeClr val="accent1"/>
                </a:solidFill>
                <a:latin typeface="Calibri"/>
                <a:ea typeface="Calibri"/>
                <a:cs typeface="Calibri"/>
                <a:sym typeface="Calibri"/>
              </a:rPr>
              <a:t>Parameters in Stored Procedure</a:t>
            </a:r>
            <a:endParaRPr/>
          </a:p>
        </p:txBody>
      </p:sp>
      <p:sp>
        <p:nvSpPr>
          <p:cNvPr id="265" name="Google Shape;265;p7"/>
          <p:cNvSpPr txBox="1"/>
          <p:nvPr/>
        </p:nvSpPr>
        <p:spPr>
          <a:xfrm>
            <a:off x="356418" y="1144586"/>
            <a:ext cx="8541775" cy="5039903"/>
          </a:xfrm>
          <a:prstGeom prst="rect">
            <a:avLst/>
          </a:prstGeom>
          <a:noFill/>
          <a:ln>
            <a:noFill/>
          </a:ln>
        </p:spPr>
        <p:txBody>
          <a:bodyPr anchorCtr="0" anchor="t" bIns="45700" lIns="91425" spcFirstLastPara="1" rIns="91425" wrap="square" tIns="45700">
            <a:normAutofit/>
          </a:bodyPr>
          <a:lstStyle/>
          <a:p>
            <a:pPr indent="-171450" lvl="0" marL="171450" marR="0" rtl="0" algn="l">
              <a:lnSpc>
                <a:spcPct val="90000"/>
              </a:lnSpc>
              <a:spcBef>
                <a:spcPts val="0"/>
              </a:spcBef>
              <a:spcAft>
                <a:spcPts val="0"/>
              </a:spcAft>
              <a:buClr>
                <a:schemeClr val="dk1"/>
              </a:buClr>
              <a:buSzPts val="2100"/>
              <a:buFont typeface="Arial"/>
              <a:buChar char="•"/>
            </a:pPr>
            <a:r>
              <a:rPr lang="en-US" sz="2100">
                <a:solidFill>
                  <a:schemeClr val="dk1"/>
                </a:solidFill>
                <a:latin typeface="Calibri"/>
                <a:ea typeface="Calibri"/>
                <a:cs typeface="Calibri"/>
                <a:sym typeface="Calibri"/>
              </a:rPr>
              <a:t>3 modes of parameters:  </a:t>
            </a:r>
            <a:r>
              <a:rPr lang="en-US" sz="2100">
                <a:solidFill>
                  <a:schemeClr val="dk1"/>
                </a:solidFill>
                <a:latin typeface="Courier New"/>
                <a:ea typeface="Courier New"/>
                <a:cs typeface="Courier New"/>
                <a:sym typeface="Courier New"/>
              </a:rPr>
              <a:t>IN  OUT  INOUT</a:t>
            </a:r>
            <a:endParaRPr/>
          </a:p>
          <a:p>
            <a:pPr indent="-171450" lvl="0" marL="171450" marR="0" rtl="0" algn="l">
              <a:lnSpc>
                <a:spcPct val="90000"/>
              </a:lnSpc>
              <a:spcBef>
                <a:spcPts val="750"/>
              </a:spcBef>
              <a:spcAft>
                <a:spcPts val="0"/>
              </a:spcAft>
              <a:buClr>
                <a:schemeClr val="dk1"/>
              </a:buClr>
              <a:buSzPts val="2100"/>
              <a:buFont typeface="Arial"/>
              <a:buChar char="•"/>
            </a:pPr>
            <a:r>
              <a:rPr b="1" lang="en-US" sz="2100">
                <a:solidFill>
                  <a:schemeClr val="dk1"/>
                </a:solidFill>
                <a:latin typeface="Courier New"/>
                <a:ea typeface="Courier New"/>
                <a:cs typeface="Courier New"/>
                <a:sym typeface="Courier New"/>
              </a:rPr>
              <a:t>IN</a:t>
            </a:r>
            <a:r>
              <a:rPr lang="en-US" sz="2100">
                <a:solidFill>
                  <a:schemeClr val="dk1"/>
                </a:solidFill>
                <a:latin typeface="Calibri"/>
                <a:ea typeface="Calibri"/>
                <a:cs typeface="Calibri"/>
                <a:sym typeface="Calibri"/>
              </a:rPr>
              <a:t> is the default mode</a:t>
            </a:r>
            <a:endParaRPr/>
          </a:p>
          <a:p>
            <a:pPr indent="-171450" lvl="1" marL="514350" marR="0" rtl="0" algn="l">
              <a:lnSpc>
                <a:spcPct val="90000"/>
              </a:lnSpc>
              <a:spcBef>
                <a:spcPts val="375"/>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When you define an </a:t>
            </a:r>
            <a:r>
              <a:rPr b="1" i="0" lang="en-US" sz="1800" u="none" cap="none" strike="noStrike">
                <a:solidFill>
                  <a:schemeClr val="dk1"/>
                </a:solidFill>
                <a:latin typeface="Courier New"/>
                <a:ea typeface="Courier New"/>
                <a:cs typeface="Courier New"/>
                <a:sym typeface="Courier New"/>
              </a:rPr>
              <a:t>IN</a:t>
            </a:r>
            <a:r>
              <a:rPr b="0" i="0" lang="en-US" sz="1800" u="none" cap="none" strike="noStrike">
                <a:solidFill>
                  <a:schemeClr val="dk1"/>
                </a:solidFill>
                <a:latin typeface="Calibri"/>
                <a:ea typeface="Calibri"/>
                <a:cs typeface="Calibri"/>
                <a:sym typeface="Calibri"/>
              </a:rPr>
              <a:t> parameter in a stored procedure, the calling program has to pass an argument to the stored procedure</a:t>
            </a:r>
            <a:endParaRPr/>
          </a:p>
          <a:p>
            <a:pPr indent="-171450" lvl="1" marL="514350" marR="0" rtl="0" algn="l">
              <a:lnSpc>
                <a:spcPct val="90000"/>
              </a:lnSpc>
              <a:spcBef>
                <a:spcPts val="375"/>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The value of an </a:t>
            </a:r>
            <a:r>
              <a:rPr b="1" i="0" lang="en-US" sz="1800" u="none" cap="none" strike="noStrike">
                <a:solidFill>
                  <a:schemeClr val="dk1"/>
                </a:solidFill>
                <a:latin typeface="Courier New"/>
                <a:ea typeface="Courier New"/>
                <a:cs typeface="Courier New"/>
                <a:sym typeface="Courier New"/>
              </a:rPr>
              <a:t>IN</a:t>
            </a:r>
            <a:r>
              <a:rPr b="0" i="0" lang="en-US" sz="1800" u="none" cap="none" strike="noStrike">
                <a:solidFill>
                  <a:schemeClr val="dk1"/>
                </a:solidFill>
                <a:latin typeface="Calibri"/>
                <a:ea typeface="Calibri"/>
                <a:cs typeface="Calibri"/>
                <a:sym typeface="Calibri"/>
              </a:rPr>
              <a:t> parameter is protected</a:t>
            </a:r>
            <a:endParaRPr/>
          </a:p>
          <a:p>
            <a:pPr indent="-171450" lvl="2" marL="857250" marR="0" rtl="0" algn="l">
              <a:lnSpc>
                <a:spcPct val="90000"/>
              </a:lnSpc>
              <a:spcBef>
                <a:spcPts val="375"/>
              </a:spcBef>
              <a:spcAft>
                <a:spcPts val="0"/>
              </a:spcAft>
              <a:buClr>
                <a:schemeClr val="dk1"/>
              </a:buClr>
              <a:buSzPts val="1500"/>
              <a:buFont typeface="Arial"/>
              <a:buChar char="•"/>
            </a:pPr>
            <a:r>
              <a:rPr b="0" i="0" lang="en-US" sz="1500" u="none" cap="none" strike="noStrike">
                <a:solidFill>
                  <a:schemeClr val="dk1"/>
                </a:solidFill>
                <a:latin typeface="Calibri"/>
                <a:ea typeface="Calibri"/>
                <a:cs typeface="Calibri"/>
                <a:sym typeface="Calibri"/>
              </a:rPr>
              <a:t>even the value of the IN parameter is changed inside the stored procedure, its original value is retained after the stored procedure ends. In other words, the stored procedure only works on the copy of the IN parameter.</a:t>
            </a:r>
            <a:endParaRPr/>
          </a:p>
          <a:p>
            <a:pPr indent="-171450" lvl="0" marL="171450" marR="0" rtl="0" algn="l">
              <a:lnSpc>
                <a:spcPct val="90000"/>
              </a:lnSpc>
              <a:spcBef>
                <a:spcPts val="750"/>
              </a:spcBef>
              <a:spcAft>
                <a:spcPts val="0"/>
              </a:spcAft>
              <a:buClr>
                <a:schemeClr val="dk1"/>
              </a:buClr>
              <a:buSzPts val="2100"/>
              <a:buFont typeface="Arial"/>
              <a:buChar char="•"/>
            </a:pPr>
            <a:r>
              <a:rPr lang="en-US" sz="2100">
                <a:solidFill>
                  <a:schemeClr val="dk1"/>
                </a:solidFill>
                <a:latin typeface="Calibri"/>
                <a:ea typeface="Calibri"/>
                <a:cs typeface="Calibri"/>
                <a:sym typeface="Calibri"/>
              </a:rPr>
              <a:t>The value of an </a:t>
            </a:r>
            <a:r>
              <a:rPr b="1" lang="en-US" sz="2100">
                <a:solidFill>
                  <a:schemeClr val="dk1"/>
                </a:solidFill>
                <a:latin typeface="Courier New"/>
                <a:ea typeface="Courier New"/>
                <a:cs typeface="Courier New"/>
                <a:sym typeface="Courier New"/>
              </a:rPr>
              <a:t>OUT</a:t>
            </a:r>
            <a:r>
              <a:rPr lang="en-US" sz="2100">
                <a:solidFill>
                  <a:schemeClr val="dk1"/>
                </a:solidFill>
                <a:latin typeface="Calibri"/>
                <a:ea typeface="Calibri"/>
                <a:cs typeface="Calibri"/>
                <a:sym typeface="Calibri"/>
              </a:rPr>
              <a:t> parameter can be changed inside the stored procedure, and its new value is passed back to the calling program. </a:t>
            </a:r>
            <a:endParaRPr/>
          </a:p>
          <a:p>
            <a:pPr indent="-171450" lvl="1" marL="514350" marR="0" rtl="0" algn="l">
              <a:lnSpc>
                <a:spcPct val="90000"/>
              </a:lnSpc>
              <a:spcBef>
                <a:spcPts val="375"/>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stored procedure cannot access the initial value of the </a:t>
            </a:r>
            <a:r>
              <a:rPr b="1" i="0" lang="en-US" sz="1800" u="none" cap="none" strike="noStrike">
                <a:solidFill>
                  <a:schemeClr val="dk1"/>
                </a:solidFill>
                <a:latin typeface="Calibri"/>
                <a:ea typeface="Calibri"/>
                <a:cs typeface="Calibri"/>
                <a:sym typeface="Calibri"/>
              </a:rPr>
              <a:t>OUT</a:t>
            </a:r>
            <a:r>
              <a:rPr b="0" i="0" lang="en-US" sz="1800" u="none" cap="none" strike="noStrike">
                <a:solidFill>
                  <a:schemeClr val="dk1"/>
                </a:solidFill>
                <a:latin typeface="Calibri"/>
                <a:ea typeface="Calibri"/>
                <a:cs typeface="Calibri"/>
                <a:sym typeface="Calibri"/>
              </a:rPr>
              <a:t> parameter when it starts.</a:t>
            </a:r>
            <a:endParaRPr/>
          </a:p>
          <a:p>
            <a:pPr indent="-171450" lvl="0" marL="171450" marR="0" rtl="0" algn="l">
              <a:lnSpc>
                <a:spcPct val="90000"/>
              </a:lnSpc>
              <a:spcBef>
                <a:spcPts val="750"/>
              </a:spcBef>
              <a:spcAft>
                <a:spcPts val="0"/>
              </a:spcAft>
              <a:buClr>
                <a:schemeClr val="dk1"/>
              </a:buClr>
              <a:buSzPts val="2100"/>
              <a:buFont typeface="Arial"/>
              <a:buChar char="•"/>
            </a:pPr>
            <a:r>
              <a:rPr lang="en-US" sz="2100">
                <a:solidFill>
                  <a:schemeClr val="dk1"/>
                </a:solidFill>
                <a:latin typeface="Calibri"/>
                <a:ea typeface="Calibri"/>
                <a:cs typeface="Calibri"/>
                <a:sym typeface="Calibri"/>
              </a:rPr>
              <a:t>An </a:t>
            </a:r>
            <a:r>
              <a:rPr b="1" lang="en-US" sz="2100">
                <a:solidFill>
                  <a:schemeClr val="dk1"/>
                </a:solidFill>
                <a:latin typeface="Courier New"/>
                <a:ea typeface="Courier New"/>
                <a:cs typeface="Courier New"/>
                <a:sym typeface="Courier New"/>
              </a:rPr>
              <a:t>INOUT</a:t>
            </a:r>
            <a:r>
              <a:rPr lang="en-US" sz="2100">
                <a:solidFill>
                  <a:schemeClr val="dk1"/>
                </a:solidFill>
                <a:latin typeface="Calibri"/>
                <a:ea typeface="Calibri"/>
                <a:cs typeface="Calibri"/>
                <a:sym typeface="Calibri"/>
              </a:rPr>
              <a:t>  parameter is a combination of </a:t>
            </a:r>
            <a:r>
              <a:rPr b="1" lang="en-US" sz="2100">
                <a:solidFill>
                  <a:schemeClr val="dk1"/>
                </a:solidFill>
                <a:latin typeface="Courier New"/>
                <a:ea typeface="Courier New"/>
                <a:cs typeface="Courier New"/>
                <a:sym typeface="Courier New"/>
              </a:rPr>
              <a:t>IN</a:t>
            </a:r>
            <a:r>
              <a:rPr lang="en-US" sz="2100">
                <a:solidFill>
                  <a:schemeClr val="dk1"/>
                </a:solidFill>
                <a:latin typeface="Calibri"/>
                <a:ea typeface="Calibri"/>
                <a:cs typeface="Calibri"/>
                <a:sym typeface="Calibri"/>
              </a:rPr>
              <a:t>  and </a:t>
            </a:r>
            <a:r>
              <a:rPr b="1" lang="en-US" sz="2100">
                <a:solidFill>
                  <a:schemeClr val="dk1"/>
                </a:solidFill>
                <a:latin typeface="Courier New"/>
                <a:ea typeface="Courier New"/>
                <a:cs typeface="Courier New"/>
                <a:sym typeface="Courier New"/>
              </a:rPr>
              <a:t>OUT</a:t>
            </a:r>
            <a:r>
              <a:rPr lang="en-US" sz="2100">
                <a:solidFill>
                  <a:schemeClr val="dk1"/>
                </a:solidFill>
                <a:latin typeface="Calibri"/>
                <a:ea typeface="Calibri"/>
                <a:cs typeface="Calibri"/>
                <a:sym typeface="Calibri"/>
              </a:rPr>
              <a:t>  parameters</a:t>
            </a:r>
            <a:endParaRPr/>
          </a:p>
          <a:p>
            <a:pPr indent="-171450" lvl="1" marL="514350" marR="0" rtl="0" algn="l">
              <a:lnSpc>
                <a:spcPct val="90000"/>
              </a:lnSpc>
              <a:spcBef>
                <a:spcPts val="375"/>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the calling program may pass the argument, and the stored procedure can modify the </a:t>
            </a:r>
            <a:r>
              <a:rPr b="1" i="0" lang="en-US" sz="1800" u="none" cap="none" strike="noStrike">
                <a:solidFill>
                  <a:schemeClr val="dk1"/>
                </a:solidFill>
                <a:latin typeface="Courier New"/>
                <a:ea typeface="Courier New"/>
                <a:cs typeface="Courier New"/>
                <a:sym typeface="Courier New"/>
              </a:rPr>
              <a:t>INOUT</a:t>
            </a:r>
            <a:r>
              <a:rPr b="0" i="0" lang="en-US" sz="1800" u="none" cap="none" strike="noStrike">
                <a:solidFill>
                  <a:schemeClr val="dk1"/>
                </a:solidFill>
                <a:latin typeface="Calibri"/>
                <a:ea typeface="Calibri"/>
                <a:cs typeface="Calibri"/>
                <a:sym typeface="Calibri"/>
              </a:rPr>
              <a:t> parameter, and pass the new value back to the calling program.</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51"/>
          <p:cNvSpPr txBox="1"/>
          <p:nvPr>
            <p:ph type="title"/>
          </p:nvPr>
        </p:nvSpPr>
        <p:spPr>
          <a:xfrm>
            <a:off x="510663" y="99229"/>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1"/>
              </a:buClr>
              <a:buSzPts val="3200"/>
              <a:buFont typeface="Calibri"/>
              <a:buNone/>
            </a:pPr>
            <a:r>
              <a:rPr b="1" lang="en-US" sz="3200">
                <a:solidFill>
                  <a:schemeClr val="accent1"/>
                </a:solidFill>
              </a:rPr>
              <a:t>Example 2: CREATE PROCEDURE with variables and parameter</a:t>
            </a:r>
            <a:endParaRPr b="1" sz="3200">
              <a:solidFill>
                <a:schemeClr val="accent1"/>
              </a:solidFill>
            </a:endParaRPr>
          </a:p>
        </p:txBody>
      </p:sp>
      <p:pic>
        <p:nvPicPr>
          <p:cNvPr id="271" name="Google Shape;271;p51"/>
          <p:cNvPicPr preferRelativeResize="0"/>
          <p:nvPr/>
        </p:nvPicPr>
        <p:blipFill rotWithShape="1">
          <a:blip r:embed="rId3">
            <a:alphaModFix/>
          </a:blip>
          <a:srcRect b="30482" l="18934" r="37909" t="20627"/>
          <a:stretch/>
        </p:blipFill>
        <p:spPr>
          <a:xfrm>
            <a:off x="310604" y="2094097"/>
            <a:ext cx="8323336" cy="4398775"/>
          </a:xfrm>
          <a:prstGeom prst="rect">
            <a:avLst/>
          </a:prstGeom>
          <a:noFill/>
          <a:ln>
            <a:noFill/>
          </a:ln>
        </p:spPr>
      </p:pic>
      <p:sp>
        <p:nvSpPr>
          <p:cNvPr id="272" name="Google Shape;272;p51"/>
          <p:cNvSpPr txBox="1"/>
          <p:nvPr/>
        </p:nvSpPr>
        <p:spPr>
          <a:xfrm>
            <a:off x="5234743" y="1403551"/>
            <a:ext cx="2478594" cy="3702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Parameter IN and OUT</a:t>
            </a:r>
            <a:endParaRPr/>
          </a:p>
        </p:txBody>
      </p:sp>
      <p:cxnSp>
        <p:nvCxnSpPr>
          <p:cNvPr id="273" name="Google Shape;273;p51"/>
          <p:cNvCxnSpPr/>
          <p:nvPr/>
        </p:nvCxnSpPr>
        <p:spPr>
          <a:xfrm>
            <a:off x="6943481" y="1814528"/>
            <a:ext cx="566567" cy="559138"/>
          </a:xfrm>
          <a:prstGeom prst="straightConnector1">
            <a:avLst/>
          </a:prstGeom>
          <a:noFill/>
          <a:ln cap="flat" cmpd="sng" w="9525">
            <a:solidFill>
              <a:srgbClr val="FF0000"/>
            </a:solidFill>
            <a:prstDash val="solid"/>
            <a:miter lim="800000"/>
            <a:headEnd len="sm" w="sm" type="none"/>
            <a:tailEnd len="med" w="med" type="triangle"/>
          </a:ln>
        </p:spPr>
      </p:cxnSp>
      <p:cxnSp>
        <p:nvCxnSpPr>
          <p:cNvPr id="274" name="Google Shape;274;p51"/>
          <p:cNvCxnSpPr/>
          <p:nvPr/>
        </p:nvCxnSpPr>
        <p:spPr>
          <a:xfrm flipH="1">
            <a:off x="5692987" y="1841129"/>
            <a:ext cx="504412" cy="559138"/>
          </a:xfrm>
          <a:prstGeom prst="straightConnector1">
            <a:avLst/>
          </a:prstGeom>
          <a:noFill/>
          <a:ln cap="flat" cmpd="sng" w="9525">
            <a:solidFill>
              <a:srgbClr val="FF0000"/>
            </a:solidFill>
            <a:prstDash val="solid"/>
            <a:miter lim="800000"/>
            <a:headEnd len="sm" w="sm" type="none"/>
            <a:tailEnd len="med" w="med" type="triangle"/>
          </a:ln>
        </p:spPr>
      </p:cxnSp>
      <p:cxnSp>
        <p:nvCxnSpPr>
          <p:cNvPr id="275" name="Google Shape;275;p51"/>
          <p:cNvCxnSpPr/>
          <p:nvPr/>
        </p:nvCxnSpPr>
        <p:spPr>
          <a:xfrm rot="10800000">
            <a:off x="4207774" y="3139981"/>
            <a:ext cx="1026969" cy="0"/>
          </a:xfrm>
          <a:prstGeom prst="straightConnector1">
            <a:avLst/>
          </a:prstGeom>
          <a:noFill/>
          <a:ln cap="flat" cmpd="sng" w="9525">
            <a:solidFill>
              <a:srgbClr val="FF0000"/>
            </a:solidFill>
            <a:prstDash val="solid"/>
            <a:miter lim="800000"/>
            <a:headEnd len="sm" w="sm" type="none"/>
            <a:tailEnd len="med" w="med" type="triangle"/>
          </a:ln>
        </p:spPr>
      </p:cxnSp>
      <p:sp>
        <p:nvSpPr>
          <p:cNvPr id="276" name="Google Shape;276;p51"/>
          <p:cNvSpPr txBox="1"/>
          <p:nvPr/>
        </p:nvSpPr>
        <p:spPr>
          <a:xfrm>
            <a:off x="5353506" y="2954876"/>
            <a:ext cx="3179948" cy="3702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Declare variable in procedure</a:t>
            </a:r>
            <a:endParaRPr/>
          </a:p>
        </p:txBody>
      </p:sp>
      <p:cxnSp>
        <p:nvCxnSpPr>
          <p:cNvPr id="277" name="Google Shape;277;p51"/>
          <p:cNvCxnSpPr/>
          <p:nvPr/>
        </p:nvCxnSpPr>
        <p:spPr>
          <a:xfrm rot="10800000">
            <a:off x="3705958" y="4642560"/>
            <a:ext cx="1419115" cy="0"/>
          </a:xfrm>
          <a:prstGeom prst="straightConnector1">
            <a:avLst/>
          </a:prstGeom>
          <a:noFill/>
          <a:ln cap="flat" cmpd="sng" w="9525">
            <a:solidFill>
              <a:srgbClr val="FF0000"/>
            </a:solidFill>
            <a:prstDash val="solid"/>
            <a:miter lim="800000"/>
            <a:headEnd len="sm" w="sm" type="none"/>
            <a:tailEnd len="med" w="med" type="triangle"/>
          </a:ln>
        </p:spPr>
      </p:cxnSp>
      <p:sp>
        <p:nvSpPr>
          <p:cNvPr id="278" name="Google Shape;278;p51"/>
          <p:cNvSpPr txBox="1"/>
          <p:nvPr/>
        </p:nvSpPr>
        <p:spPr>
          <a:xfrm>
            <a:off x="5232854" y="4377603"/>
            <a:ext cx="4120694" cy="64786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Assign a value from a SQL statement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to a variable </a:t>
            </a:r>
            <a:endParaRPr/>
          </a:p>
        </p:txBody>
      </p:sp>
      <p:cxnSp>
        <p:nvCxnSpPr>
          <p:cNvPr id="279" name="Google Shape;279;p51"/>
          <p:cNvCxnSpPr/>
          <p:nvPr/>
        </p:nvCxnSpPr>
        <p:spPr>
          <a:xfrm rot="10800000">
            <a:off x="4207774" y="5589185"/>
            <a:ext cx="1485213" cy="0"/>
          </a:xfrm>
          <a:prstGeom prst="straightConnector1">
            <a:avLst/>
          </a:prstGeom>
          <a:noFill/>
          <a:ln cap="flat" cmpd="sng" w="9525">
            <a:solidFill>
              <a:srgbClr val="FF0000"/>
            </a:solidFill>
            <a:prstDash val="solid"/>
            <a:miter lim="800000"/>
            <a:headEnd len="sm" w="sm" type="none"/>
            <a:tailEnd len="med" w="med" type="triangle"/>
          </a:ln>
        </p:spPr>
      </p:cxnSp>
      <p:sp>
        <p:nvSpPr>
          <p:cNvPr id="280" name="Google Shape;280;p51"/>
          <p:cNvSpPr txBox="1"/>
          <p:nvPr/>
        </p:nvSpPr>
        <p:spPr>
          <a:xfrm>
            <a:off x="5710625" y="5404081"/>
            <a:ext cx="3513004" cy="3702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Assign a value to OUT parameter</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8"/>
          <p:cNvSpPr txBox="1"/>
          <p:nvPr>
            <p:ph type="title"/>
          </p:nvPr>
        </p:nvSpPr>
        <p:spPr>
          <a:xfrm>
            <a:off x="-404454" y="228652"/>
            <a:ext cx="10515600" cy="9271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1"/>
              </a:buClr>
              <a:buSzPts val="3000"/>
              <a:buFont typeface="Calibri"/>
              <a:buNone/>
            </a:pPr>
            <a:r>
              <a:rPr b="1" lang="en-US">
                <a:solidFill>
                  <a:schemeClr val="accent1"/>
                </a:solidFill>
              </a:rPr>
              <a:t>Example: Calling a Procedure</a:t>
            </a:r>
            <a:endParaRPr/>
          </a:p>
        </p:txBody>
      </p:sp>
      <p:sp>
        <p:nvSpPr>
          <p:cNvPr id="286" name="Google Shape;286;p8"/>
          <p:cNvSpPr txBox="1"/>
          <p:nvPr>
            <p:ph idx="1" type="body"/>
          </p:nvPr>
        </p:nvSpPr>
        <p:spPr>
          <a:xfrm>
            <a:off x="172426" y="1256599"/>
            <a:ext cx="8755264" cy="632265"/>
          </a:xfrm>
          <a:prstGeom prst="rect">
            <a:avLst/>
          </a:prstGeom>
          <a:noFill/>
          <a:ln>
            <a:noFill/>
          </a:ln>
        </p:spPr>
        <p:txBody>
          <a:bodyPr anchorCtr="0" anchor="t" bIns="45700" lIns="91425" spcFirstLastPara="1" rIns="91425" wrap="square" tIns="45700">
            <a:normAutofit lnSpcReduction="10000"/>
          </a:bodyPr>
          <a:lstStyle/>
          <a:p>
            <a:pPr indent="-171450" lvl="0" marL="171450" rtl="0" algn="l">
              <a:lnSpc>
                <a:spcPct val="90000"/>
              </a:lnSpc>
              <a:spcBef>
                <a:spcPts val="0"/>
              </a:spcBef>
              <a:spcAft>
                <a:spcPts val="0"/>
              </a:spcAft>
              <a:buClr>
                <a:schemeClr val="dk1"/>
              </a:buClr>
              <a:buSzPts val="2100"/>
              <a:buChar char="•"/>
            </a:pPr>
            <a:r>
              <a:rPr lang="en-US"/>
              <a:t>Calling a procedure using </a:t>
            </a:r>
            <a:r>
              <a:rPr b="1" lang="en-US">
                <a:latin typeface="Courier New"/>
                <a:ea typeface="Courier New"/>
                <a:cs typeface="Courier New"/>
                <a:sym typeface="Courier New"/>
              </a:rPr>
              <a:t>CALL</a:t>
            </a:r>
            <a:r>
              <a:rPr lang="en-US"/>
              <a:t> statement. Include argument in the </a:t>
            </a:r>
            <a:r>
              <a:rPr b="1" lang="en-US">
                <a:latin typeface="Courier New"/>
                <a:ea typeface="Courier New"/>
                <a:cs typeface="Courier New"/>
                <a:sym typeface="Courier New"/>
              </a:rPr>
              <a:t>CALL</a:t>
            </a:r>
            <a:r>
              <a:rPr lang="en-US"/>
              <a:t> statement</a:t>
            </a:r>
            <a:endParaRPr/>
          </a:p>
        </p:txBody>
      </p:sp>
      <p:pic>
        <p:nvPicPr>
          <p:cNvPr id="287" name="Google Shape;287;p8"/>
          <p:cNvPicPr preferRelativeResize="0"/>
          <p:nvPr/>
        </p:nvPicPr>
        <p:blipFill rotWithShape="1">
          <a:blip r:embed="rId3">
            <a:alphaModFix/>
          </a:blip>
          <a:srcRect b="55569" l="22254" r="49999" t="35208"/>
          <a:stretch/>
        </p:blipFill>
        <p:spPr>
          <a:xfrm>
            <a:off x="588404" y="2981430"/>
            <a:ext cx="7967192" cy="1489124"/>
          </a:xfrm>
          <a:prstGeom prst="rect">
            <a:avLst/>
          </a:prstGeom>
          <a:noFill/>
          <a:ln>
            <a:noFill/>
          </a:ln>
        </p:spPr>
      </p:pic>
      <p:cxnSp>
        <p:nvCxnSpPr>
          <p:cNvPr id="288" name="Google Shape;288;p8"/>
          <p:cNvCxnSpPr/>
          <p:nvPr/>
        </p:nvCxnSpPr>
        <p:spPr>
          <a:xfrm flipH="1">
            <a:off x="4890580" y="2647779"/>
            <a:ext cx="239843" cy="629587"/>
          </a:xfrm>
          <a:prstGeom prst="straightConnector1">
            <a:avLst/>
          </a:prstGeom>
          <a:noFill/>
          <a:ln cap="flat" cmpd="sng" w="9525">
            <a:solidFill>
              <a:srgbClr val="FF0000"/>
            </a:solidFill>
            <a:prstDash val="solid"/>
            <a:miter lim="800000"/>
            <a:headEnd len="sm" w="sm" type="none"/>
            <a:tailEnd len="med" w="med" type="triangle"/>
          </a:ln>
        </p:spPr>
      </p:cxnSp>
      <p:cxnSp>
        <p:nvCxnSpPr>
          <p:cNvPr id="289" name="Google Shape;289;p8"/>
          <p:cNvCxnSpPr/>
          <p:nvPr/>
        </p:nvCxnSpPr>
        <p:spPr>
          <a:xfrm>
            <a:off x="5430226" y="2647779"/>
            <a:ext cx="389744" cy="629587"/>
          </a:xfrm>
          <a:prstGeom prst="straightConnector1">
            <a:avLst/>
          </a:prstGeom>
          <a:noFill/>
          <a:ln cap="flat" cmpd="sng" w="9525">
            <a:solidFill>
              <a:srgbClr val="FF0000"/>
            </a:solidFill>
            <a:prstDash val="solid"/>
            <a:miter lim="800000"/>
            <a:headEnd len="sm" w="sm" type="none"/>
            <a:tailEnd len="med" w="med" type="triangle"/>
          </a:ln>
        </p:spPr>
      </p:cxnSp>
      <p:sp>
        <p:nvSpPr>
          <p:cNvPr id="290" name="Google Shape;290;p8"/>
          <p:cNvSpPr txBox="1"/>
          <p:nvPr/>
        </p:nvSpPr>
        <p:spPr>
          <a:xfrm>
            <a:off x="4720438" y="2289810"/>
            <a:ext cx="10995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argument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52"/>
          <p:cNvSpPr txBox="1"/>
          <p:nvPr>
            <p:ph type="title"/>
          </p:nvPr>
        </p:nvSpPr>
        <p:spPr>
          <a:xfrm>
            <a:off x="479438" y="229695"/>
            <a:ext cx="7951839" cy="9271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1"/>
              </a:buClr>
              <a:buSzPts val="3000"/>
              <a:buFont typeface="Calibri"/>
              <a:buNone/>
            </a:pPr>
            <a:r>
              <a:rPr b="1" lang="en-US">
                <a:solidFill>
                  <a:schemeClr val="accent1"/>
                </a:solidFill>
              </a:rPr>
              <a:t>Conditional statement: IF Statement, CASE statement</a:t>
            </a:r>
            <a:endParaRPr/>
          </a:p>
        </p:txBody>
      </p:sp>
      <p:sp>
        <p:nvSpPr>
          <p:cNvPr id="296" name="Google Shape;296;p52"/>
          <p:cNvSpPr txBox="1"/>
          <p:nvPr>
            <p:ph idx="1" type="body"/>
          </p:nvPr>
        </p:nvSpPr>
        <p:spPr>
          <a:xfrm>
            <a:off x="182727" y="1371391"/>
            <a:ext cx="8778545" cy="847730"/>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100"/>
              <a:buChar char="•"/>
            </a:pPr>
            <a:r>
              <a:rPr b="1" lang="en-US">
                <a:latin typeface="Courier New"/>
                <a:ea typeface="Courier New"/>
                <a:cs typeface="Courier New"/>
                <a:sym typeface="Courier New"/>
              </a:rPr>
              <a:t>IF</a:t>
            </a:r>
            <a:r>
              <a:rPr lang="en-US"/>
              <a:t> statement has three forms: simple </a:t>
            </a:r>
            <a:r>
              <a:rPr b="1" lang="en-US">
                <a:latin typeface="Courier New"/>
                <a:ea typeface="Courier New"/>
                <a:cs typeface="Courier New"/>
                <a:sym typeface="Courier New"/>
              </a:rPr>
              <a:t>IF-THEN</a:t>
            </a:r>
            <a:r>
              <a:rPr lang="en-US"/>
              <a:t> statement, </a:t>
            </a:r>
            <a:r>
              <a:rPr b="1" lang="en-US">
                <a:latin typeface="Courier New"/>
                <a:ea typeface="Courier New"/>
                <a:cs typeface="Courier New"/>
                <a:sym typeface="Courier New"/>
              </a:rPr>
              <a:t>IF-THEN-ELSE</a:t>
            </a:r>
            <a:r>
              <a:rPr lang="en-US"/>
              <a:t> statement, and </a:t>
            </a:r>
            <a:r>
              <a:rPr b="1" lang="en-US">
                <a:latin typeface="Courier New"/>
                <a:ea typeface="Courier New"/>
                <a:cs typeface="Courier New"/>
                <a:sym typeface="Courier New"/>
              </a:rPr>
              <a:t>IF-THEN-ELSEIF- ELSE</a:t>
            </a:r>
            <a:r>
              <a:rPr lang="en-US"/>
              <a:t> statement.</a:t>
            </a:r>
            <a:endParaRPr/>
          </a:p>
          <a:p>
            <a:pPr indent="-38100" lvl="0" marL="171450" rtl="0" algn="l">
              <a:lnSpc>
                <a:spcPct val="90000"/>
              </a:lnSpc>
              <a:spcBef>
                <a:spcPts val="750"/>
              </a:spcBef>
              <a:spcAft>
                <a:spcPts val="0"/>
              </a:spcAft>
              <a:buClr>
                <a:schemeClr val="dk1"/>
              </a:buClr>
              <a:buSzPts val="2100"/>
              <a:buNone/>
            </a:pPr>
            <a:r>
              <a:t/>
            </a:r>
            <a:endParaRPr/>
          </a:p>
          <a:p>
            <a:pPr indent="0" lvl="0" marL="0" rtl="0" algn="l">
              <a:lnSpc>
                <a:spcPct val="90000"/>
              </a:lnSpc>
              <a:spcBef>
                <a:spcPts val="750"/>
              </a:spcBef>
              <a:spcAft>
                <a:spcPts val="0"/>
              </a:spcAft>
              <a:buClr>
                <a:schemeClr val="dk1"/>
              </a:buClr>
              <a:buSzPts val="2100"/>
              <a:buNone/>
            </a:pPr>
            <a:r>
              <a:t/>
            </a:r>
            <a:endParaRPr/>
          </a:p>
        </p:txBody>
      </p:sp>
      <p:pic>
        <p:nvPicPr>
          <p:cNvPr id="297" name="Google Shape;297;p52"/>
          <p:cNvPicPr preferRelativeResize="0"/>
          <p:nvPr/>
        </p:nvPicPr>
        <p:blipFill rotWithShape="1">
          <a:blip r:embed="rId3">
            <a:alphaModFix/>
          </a:blip>
          <a:srcRect b="0" l="0" r="0" t="0"/>
          <a:stretch/>
        </p:blipFill>
        <p:spPr>
          <a:xfrm>
            <a:off x="294171" y="2330474"/>
            <a:ext cx="3221101" cy="1892396"/>
          </a:xfrm>
          <a:prstGeom prst="rect">
            <a:avLst/>
          </a:prstGeom>
          <a:noFill/>
          <a:ln>
            <a:noFill/>
          </a:ln>
        </p:spPr>
      </p:pic>
      <p:pic>
        <p:nvPicPr>
          <p:cNvPr id="298" name="Google Shape;298;p52"/>
          <p:cNvPicPr preferRelativeResize="0"/>
          <p:nvPr/>
        </p:nvPicPr>
        <p:blipFill rotWithShape="1">
          <a:blip r:embed="rId4">
            <a:alphaModFix/>
          </a:blip>
          <a:srcRect b="0" l="0" r="0" t="0"/>
          <a:stretch/>
        </p:blipFill>
        <p:spPr>
          <a:xfrm>
            <a:off x="4786968" y="4061014"/>
            <a:ext cx="3292663" cy="2058698"/>
          </a:xfrm>
          <a:prstGeom prst="rect">
            <a:avLst/>
          </a:prstGeom>
          <a:noFill/>
          <a:ln>
            <a:noFill/>
          </a:ln>
        </p:spPr>
      </p:pic>
      <p:sp>
        <p:nvSpPr>
          <p:cNvPr id="299" name="Google Shape;299;p52"/>
          <p:cNvSpPr txBox="1"/>
          <p:nvPr/>
        </p:nvSpPr>
        <p:spPr>
          <a:xfrm>
            <a:off x="3738159" y="2982758"/>
            <a:ext cx="311360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Courier New"/>
                <a:ea typeface="Courier New"/>
                <a:cs typeface="Courier New"/>
                <a:sym typeface="Courier New"/>
              </a:rPr>
              <a:t>IF … THEN .. END IF</a:t>
            </a:r>
            <a:endParaRPr/>
          </a:p>
        </p:txBody>
      </p:sp>
      <p:sp>
        <p:nvSpPr>
          <p:cNvPr id="300" name="Google Shape;300;p52"/>
          <p:cNvSpPr txBox="1"/>
          <p:nvPr/>
        </p:nvSpPr>
        <p:spPr>
          <a:xfrm>
            <a:off x="205128" y="4890308"/>
            <a:ext cx="415190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Courier New"/>
                <a:ea typeface="Courier New"/>
                <a:cs typeface="Courier New"/>
                <a:sym typeface="Courier New"/>
              </a:rPr>
              <a:t>IF … THEN .. ELSE … END IF</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53"/>
          <p:cNvSpPr txBox="1"/>
          <p:nvPr>
            <p:ph type="title"/>
          </p:nvPr>
        </p:nvSpPr>
        <p:spPr>
          <a:xfrm>
            <a:off x="908392" y="250893"/>
            <a:ext cx="7183556" cy="9271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1"/>
              </a:buClr>
              <a:buSzPts val="2800"/>
              <a:buFont typeface="Calibri"/>
              <a:buNone/>
            </a:pPr>
            <a:r>
              <a:rPr b="1" lang="en-US" sz="2800">
                <a:solidFill>
                  <a:schemeClr val="accent1"/>
                </a:solidFill>
              </a:rPr>
              <a:t>Conditional statement: IF Statement, CASE statement</a:t>
            </a:r>
            <a:endParaRPr/>
          </a:p>
        </p:txBody>
      </p:sp>
      <p:sp>
        <p:nvSpPr>
          <p:cNvPr id="306" name="Google Shape;306;p53"/>
          <p:cNvSpPr txBox="1"/>
          <p:nvPr>
            <p:ph idx="1" type="body"/>
          </p:nvPr>
        </p:nvSpPr>
        <p:spPr>
          <a:xfrm>
            <a:off x="199103" y="1287256"/>
            <a:ext cx="10515600" cy="5359179"/>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rgbClr val="FF0000"/>
              </a:buClr>
              <a:buSzPts val="2100"/>
              <a:buChar char="•"/>
            </a:pPr>
            <a:r>
              <a:rPr lang="en-US">
                <a:solidFill>
                  <a:srgbClr val="FF0000"/>
                </a:solidFill>
              </a:rPr>
              <a:t>Simple</a:t>
            </a:r>
            <a:r>
              <a:rPr lang="en-US">
                <a:solidFill>
                  <a:srgbClr val="FF0000"/>
                </a:solidFill>
                <a:latin typeface="Courier New"/>
                <a:ea typeface="Courier New"/>
                <a:cs typeface="Courier New"/>
                <a:sym typeface="Courier New"/>
              </a:rPr>
              <a:t> </a:t>
            </a:r>
            <a:r>
              <a:rPr b="1" lang="en-US">
                <a:solidFill>
                  <a:srgbClr val="FF0000"/>
                </a:solidFill>
                <a:latin typeface="Courier New"/>
                <a:ea typeface="Courier New"/>
                <a:cs typeface="Courier New"/>
                <a:sym typeface="Courier New"/>
              </a:rPr>
              <a:t>CASE</a:t>
            </a:r>
            <a:r>
              <a:rPr lang="en-US">
                <a:solidFill>
                  <a:srgbClr val="FF0000"/>
                </a:solidFill>
              </a:rPr>
              <a:t> statement:</a:t>
            </a:r>
            <a:endParaRPr/>
          </a:p>
          <a:p>
            <a:pPr indent="0" lvl="0" marL="1035050" rtl="0" algn="l">
              <a:lnSpc>
                <a:spcPct val="90000"/>
              </a:lnSpc>
              <a:spcBef>
                <a:spcPts val="750"/>
              </a:spcBef>
              <a:spcAft>
                <a:spcPts val="0"/>
              </a:spcAft>
              <a:buClr>
                <a:srgbClr val="333333"/>
              </a:buClr>
              <a:buSzPts val="2000"/>
              <a:buNone/>
            </a:pPr>
            <a:r>
              <a:rPr b="1" i="0" lang="en-US" sz="2000">
                <a:solidFill>
                  <a:srgbClr val="333333"/>
                </a:solidFill>
                <a:latin typeface="Courier New"/>
                <a:ea typeface="Courier New"/>
                <a:cs typeface="Courier New"/>
                <a:sym typeface="Courier New"/>
              </a:rPr>
              <a:t>CASE</a:t>
            </a:r>
            <a:r>
              <a:rPr b="0" i="0" lang="en-US" sz="2000">
                <a:solidFill>
                  <a:srgbClr val="333333"/>
                </a:solidFill>
                <a:latin typeface="Courier New"/>
                <a:ea typeface="Courier New"/>
                <a:cs typeface="Courier New"/>
                <a:sym typeface="Courier New"/>
              </a:rPr>
              <a:t> case_value </a:t>
            </a:r>
            <a:endParaRPr/>
          </a:p>
          <a:p>
            <a:pPr indent="0" lvl="0" marL="1379538" rtl="0" algn="l">
              <a:lnSpc>
                <a:spcPct val="90000"/>
              </a:lnSpc>
              <a:spcBef>
                <a:spcPts val="750"/>
              </a:spcBef>
              <a:spcAft>
                <a:spcPts val="0"/>
              </a:spcAft>
              <a:buClr>
                <a:srgbClr val="333333"/>
              </a:buClr>
              <a:buSzPts val="2000"/>
              <a:buNone/>
            </a:pPr>
            <a:r>
              <a:rPr b="1" i="0" lang="en-US" sz="2000">
                <a:solidFill>
                  <a:srgbClr val="333333"/>
                </a:solidFill>
                <a:latin typeface="Courier New"/>
                <a:ea typeface="Courier New"/>
                <a:cs typeface="Courier New"/>
                <a:sym typeface="Courier New"/>
              </a:rPr>
              <a:t>	WHEN</a:t>
            </a:r>
            <a:r>
              <a:rPr b="0" i="0" lang="en-US" sz="2000">
                <a:solidFill>
                  <a:srgbClr val="333333"/>
                </a:solidFill>
                <a:latin typeface="Courier New"/>
                <a:ea typeface="Courier New"/>
                <a:cs typeface="Courier New"/>
                <a:sym typeface="Courier New"/>
              </a:rPr>
              <a:t> when_value1 </a:t>
            </a:r>
            <a:r>
              <a:rPr b="1" i="0" lang="en-US" sz="2000">
                <a:solidFill>
                  <a:srgbClr val="333333"/>
                </a:solidFill>
                <a:latin typeface="Courier New"/>
                <a:ea typeface="Courier New"/>
                <a:cs typeface="Courier New"/>
                <a:sym typeface="Courier New"/>
              </a:rPr>
              <a:t>THEN</a:t>
            </a:r>
            <a:r>
              <a:rPr b="0" i="0" lang="en-US" sz="2000">
                <a:solidFill>
                  <a:srgbClr val="333333"/>
                </a:solidFill>
                <a:latin typeface="Courier New"/>
                <a:ea typeface="Courier New"/>
                <a:cs typeface="Courier New"/>
                <a:sym typeface="Courier New"/>
              </a:rPr>
              <a:t> statements </a:t>
            </a:r>
            <a:endParaRPr/>
          </a:p>
          <a:p>
            <a:pPr indent="0" lvl="0" marL="1379538" rtl="0" algn="l">
              <a:lnSpc>
                <a:spcPct val="90000"/>
              </a:lnSpc>
              <a:spcBef>
                <a:spcPts val="750"/>
              </a:spcBef>
              <a:spcAft>
                <a:spcPts val="0"/>
              </a:spcAft>
              <a:buClr>
                <a:srgbClr val="333333"/>
              </a:buClr>
              <a:buSzPts val="2000"/>
              <a:buNone/>
            </a:pPr>
            <a:r>
              <a:rPr b="1" i="0" lang="en-US" sz="2000">
                <a:solidFill>
                  <a:srgbClr val="333333"/>
                </a:solidFill>
                <a:latin typeface="Courier New"/>
                <a:ea typeface="Courier New"/>
                <a:cs typeface="Courier New"/>
                <a:sym typeface="Courier New"/>
              </a:rPr>
              <a:t>	WHEN</a:t>
            </a:r>
            <a:r>
              <a:rPr b="0" i="0" lang="en-US" sz="2000">
                <a:solidFill>
                  <a:srgbClr val="333333"/>
                </a:solidFill>
                <a:latin typeface="Courier New"/>
                <a:ea typeface="Courier New"/>
                <a:cs typeface="Courier New"/>
                <a:sym typeface="Courier New"/>
              </a:rPr>
              <a:t> when_value2 </a:t>
            </a:r>
            <a:r>
              <a:rPr b="1" i="0" lang="en-US" sz="2000">
                <a:solidFill>
                  <a:srgbClr val="333333"/>
                </a:solidFill>
                <a:latin typeface="Courier New"/>
                <a:ea typeface="Courier New"/>
                <a:cs typeface="Courier New"/>
                <a:sym typeface="Courier New"/>
              </a:rPr>
              <a:t>THEN</a:t>
            </a:r>
            <a:r>
              <a:rPr b="0" i="0" lang="en-US" sz="2000">
                <a:solidFill>
                  <a:srgbClr val="333333"/>
                </a:solidFill>
                <a:latin typeface="Courier New"/>
                <a:ea typeface="Courier New"/>
                <a:cs typeface="Courier New"/>
                <a:sym typeface="Courier New"/>
              </a:rPr>
              <a:t> statements ... </a:t>
            </a:r>
            <a:endParaRPr/>
          </a:p>
          <a:p>
            <a:pPr indent="0" lvl="0" marL="1379538" rtl="0" algn="l">
              <a:lnSpc>
                <a:spcPct val="90000"/>
              </a:lnSpc>
              <a:spcBef>
                <a:spcPts val="750"/>
              </a:spcBef>
              <a:spcAft>
                <a:spcPts val="0"/>
              </a:spcAft>
              <a:buClr>
                <a:srgbClr val="333333"/>
              </a:buClr>
              <a:buSzPts val="2000"/>
              <a:buNone/>
            </a:pPr>
            <a:r>
              <a:rPr b="0" i="0" lang="en-US" sz="2000">
                <a:solidFill>
                  <a:srgbClr val="333333"/>
                </a:solidFill>
                <a:latin typeface="Courier New"/>
                <a:ea typeface="Courier New"/>
                <a:cs typeface="Courier New"/>
                <a:sym typeface="Courier New"/>
              </a:rPr>
              <a:t>	[</a:t>
            </a:r>
            <a:r>
              <a:rPr b="1" i="0" lang="en-US" sz="2000">
                <a:solidFill>
                  <a:srgbClr val="333333"/>
                </a:solidFill>
                <a:latin typeface="Courier New"/>
                <a:ea typeface="Courier New"/>
                <a:cs typeface="Courier New"/>
                <a:sym typeface="Courier New"/>
              </a:rPr>
              <a:t>ELSE</a:t>
            </a:r>
            <a:r>
              <a:rPr b="0" i="0" lang="en-US" sz="2000">
                <a:solidFill>
                  <a:srgbClr val="333333"/>
                </a:solidFill>
                <a:latin typeface="Courier New"/>
                <a:ea typeface="Courier New"/>
                <a:cs typeface="Courier New"/>
                <a:sym typeface="Courier New"/>
              </a:rPr>
              <a:t> else-statements] </a:t>
            </a:r>
            <a:endParaRPr/>
          </a:p>
          <a:p>
            <a:pPr indent="0" lvl="0" marL="1035050" rtl="0" algn="l">
              <a:lnSpc>
                <a:spcPct val="90000"/>
              </a:lnSpc>
              <a:spcBef>
                <a:spcPts val="750"/>
              </a:spcBef>
              <a:spcAft>
                <a:spcPts val="0"/>
              </a:spcAft>
              <a:buClr>
                <a:srgbClr val="333333"/>
              </a:buClr>
              <a:buSzPts val="2000"/>
              <a:buNone/>
            </a:pPr>
            <a:r>
              <a:rPr b="1" i="0" lang="en-US" sz="2000">
                <a:solidFill>
                  <a:srgbClr val="333333"/>
                </a:solidFill>
                <a:latin typeface="Courier New"/>
                <a:ea typeface="Courier New"/>
                <a:cs typeface="Courier New"/>
                <a:sym typeface="Courier New"/>
              </a:rPr>
              <a:t>END</a:t>
            </a:r>
            <a:r>
              <a:rPr b="0" i="0" lang="en-US" sz="2000">
                <a:solidFill>
                  <a:srgbClr val="333333"/>
                </a:solidFill>
                <a:latin typeface="Courier New"/>
                <a:ea typeface="Courier New"/>
                <a:cs typeface="Courier New"/>
                <a:sym typeface="Courier New"/>
              </a:rPr>
              <a:t> </a:t>
            </a:r>
            <a:r>
              <a:rPr b="1" i="0" lang="en-US" sz="2000">
                <a:solidFill>
                  <a:srgbClr val="333333"/>
                </a:solidFill>
                <a:latin typeface="Courier New"/>
                <a:ea typeface="Courier New"/>
                <a:cs typeface="Courier New"/>
                <a:sym typeface="Courier New"/>
              </a:rPr>
              <a:t>CASE</a:t>
            </a:r>
            <a:r>
              <a:rPr b="0" i="0" lang="en-US" sz="2000">
                <a:solidFill>
                  <a:srgbClr val="333333"/>
                </a:solidFill>
                <a:latin typeface="Courier New"/>
                <a:ea typeface="Courier New"/>
                <a:cs typeface="Courier New"/>
                <a:sym typeface="Courier New"/>
              </a:rPr>
              <a:t>;</a:t>
            </a:r>
            <a:endParaRPr b="0" i="0" sz="2000">
              <a:solidFill>
                <a:srgbClr val="333333"/>
              </a:solidFill>
            </a:endParaRPr>
          </a:p>
          <a:p>
            <a:pPr indent="-171450" lvl="0" marL="171450" rtl="0" algn="l">
              <a:lnSpc>
                <a:spcPct val="90000"/>
              </a:lnSpc>
              <a:spcBef>
                <a:spcPts val="750"/>
              </a:spcBef>
              <a:spcAft>
                <a:spcPts val="0"/>
              </a:spcAft>
              <a:buClr>
                <a:srgbClr val="FF0000"/>
              </a:buClr>
              <a:buSzPts val="2100"/>
              <a:buChar char="•"/>
            </a:pPr>
            <a:r>
              <a:rPr b="0" i="0" lang="en-US">
                <a:solidFill>
                  <a:srgbClr val="FF0000"/>
                </a:solidFill>
              </a:rPr>
              <a:t>Search</a:t>
            </a:r>
            <a:r>
              <a:rPr b="0" i="0" lang="en-US" sz="2400">
                <a:solidFill>
                  <a:srgbClr val="FF0000"/>
                </a:solidFill>
                <a:latin typeface="Courier New"/>
                <a:ea typeface="Courier New"/>
                <a:cs typeface="Courier New"/>
                <a:sym typeface="Courier New"/>
              </a:rPr>
              <a:t> </a:t>
            </a:r>
            <a:r>
              <a:rPr b="1" i="0" lang="en-US">
                <a:solidFill>
                  <a:srgbClr val="FF0000"/>
                </a:solidFill>
                <a:latin typeface="Courier New"/>
                <a:ea typeface="Courier New"/>
                <a:cs typeface="Courier New"/>
                <a:sym typeface="Courier New"/>
              </a:rPr>
              <a:t>CASE</a:t>
            </a:r>
            <a:r>
              <a:rPr b="0" i="0" lang="en-US" sz="2400">
                <a:solidFill>
                  <a:srgbClr val="FF0000"/>
                </a:solidFill>
                <a:latin typeface="Courier New"/>
                <a:ea typeface="Courier New"/>
                <a:cs typeface="Courier New"/>
                <a:sym typeface="Courier New"/>
              </a:rPr>
              <a:t> </a:t>
            </a:r>
            <a:r>
              <a:rPr b="0" i="0" lang="en-US" sz="2400">
                <a:solidFill>
                  <a:srgbClr val="FF0000"/>
                </a:solidFill>
              </a:rPr>
              <a:t>statement:</a:t>
            </a:r>
            <a:endParaRPr b="0" i="0">
              <a:solidFill>
                <a:srgbClr val="FF0000"/>
              </a:solidFill>
              <a:latin typeface="Courier New"/>
              <a:ea typeface="Courier New"/>
              <a:cs typeface="Courier New"/>
              <a:sym typeface="Courier New"/>
            </a:endParaRPr>
          </a:p>
          <a:p>
            <a:pPr indent="0" lvl="0" marL="465138" rtl="0" algn="l">
              <a:lnSpc>
                <a:spcPct val="90000"/>
              </a:lnSpc>
              <a:spcBef>
                <a:spcPts val="750"/>
              </a:spcBef>
              <a:spcAft>
                <a:spcPts val="0"/>
              </a:spcAft>
              <a:buClr>
                <a:srgbClr val="333333"/>
              </a:buClr>
              <a:buSzPts val="2000"/>
              <a:buNone/>
            </a:pPr>
            <a:r>
              <a:rPr b="1" i="0" lang="en-US" sz="2000">
                <a:solidFill>
                  <a:srgbClr val="333333"/>
                </a:solidFill>
                <a:latin typeface="Courier New"/>
                <a:ea typeface="Courier New"/>
                <a:cs typeface="Courier New"/>
                <a:sym typeface="Courier New"/>
              </a:rPr>
              <a:t>	CASE</a:t>
            </a:r>
            <a:r>
              <a:rPr b="0" i="0" lang="en-US" sz="2000">
                <a:solidFill>
                  <a:srgbClr val="333333"/>
                </a:solidFill>
                <a:latin typeface="Courier New"/>
                <a:ea typeface="Courier New"/>
                <a:cs typeface="Courier New"/>
                <a:sym typeface="Courier New"/>
              </a:rPr>
              <a:t> </a:t>
            </a:r>
            <a:endParaRPr/>
          </a:p>
          <a:p>
            <a:pPr indent="0" lvl="0" marL="465138" rtl="0" algn="l">
              <a:lnSpc>
                <a:spcPct val="90000"/>
              </a:lnSpc>
              <a:spcBef>
                <a:spcPts val="750"/>
              </a:spcBef>
              <a:spcAft>
                <a:spcPts val="0"/>
              </a:spcAft>
              <a:buClr>
                <a:srgbClr val="333333"/>
              </a:buClr>
              <a:buSzPts val="2000"/>
              <a:buNone/>
            </a:pPr>
            <a:r>
              <a:rPr b="0" i="0" lang="en-US" sz="2000">
                <a:solidFill>
                  <a:srgbClr val="333333"/>
                </a:solidFill>
                <a:latin typeface="Courier New"/>
                <a:ea typeface="Courier New"/>
                <a:cs typeface="Courier New"/>
                <a:sym typeface="Courier New"/>
              </a:rPr>
              <a:t>		</a:t>
            </a:r>
            <a:r>
              <a:rPr b="1" i="0" lang="en-US" sz="2000">
                <a:solidFill>
                  <a:srgbClr val="333333"/>
                </a:solidFill>
                <a:latin typeface="Courier New"/>
                <a:ea typeface="Courier New"/>
                <a:cs typeface="Courier New"/>
                <a:sym typeface="Courier New"/>
              </a:rPr>
              <a:t>WHEN</a:t>
            </a:r>
            <a:r>
              <a:rPr b="0" i="0" lang="en-US" sz="2000">
                <a:solidFill>
                  <a:srgbClr val="333333"/>
                </a:solidFill>
                <a:latin typeface="Courier New"/>
                <a:ea typeface="Courier New"/>
                <a:cs typeface="Courier New"/>
                <a:sym typeface="Courier New"/>
              </a:rPr>
              <a:t> search_condition1 </a:t>
            </a:r>
            <a:r>
              <a:rPr b="1" i="0" lang="en-US" sz="2000">
                <a:solidFill>
                  <a:srgbClr val="333333"/>
                </a:solidFill>
                <a:latin typeface="Courier New"/>
                <a:ea typeface="Courier New"/>
                <a:cs typeface="Courier New"/>
                <a:sym typeface="Courier New"/>
              </a:rPr>
              <a:t>THEN</a:t>
            </a:r>
            <a:r>
              <a:rPr b="0" i="0" lang="en-US" sz="2000">
                <a:solidFill>
                  <a:srgbClr val="333333"/>
                </a:solidFill>
                <a:latin typeface="Courier New"/>
                <a:ea typeface="Courier New"/>
                <a:cs typeface="Courier New"/>
                <a:sym typeface="Courier New"/>
              </a:rPr>
              <a:t> statements </a:t>
            </a:r>
            <a:endParaRPr/>
          </a:p>
          <a:p>
            <a:pPr indent="0" lvl="0" marL="465138" rtl="0" algn="l">
              <a:lnSpc>
                <a:spcPct val="90000"/>
              </a:lnSpc>
              <a:spcBef>
                <a:spcPts val="750"/>
              </a:spcBef>
              <a:spcAft>
                <a:spcPts val="0"/>
              </a:spcAft>
              <a:buClr>
                <a:srgbClr val="333333"/>
              </a:buClr>
              <a:buSzPts val="2000"/>
              <a:buNone/>
            </a:pPr>
            <a:r>
              <a:rPr b="0" i="0" lang="en-US" sz="2000">
                <a:solidFill>
                  <a:srgbClr val="333333"/>
                </a:solidFill>
                <a:latin typeface="Courier New"/>
                <a:ea typeface="Courier New"/>
                <a:cs typeface="Courier New"/>
                <a:sym typeface="Courier New"/>
              </a:rPr>
              <a:t>		</a:t>
            </a:r>
            <a:r>
              <a:rPr b="1" i="0" lang="en-US" sz="2000">
                <a:solidFill>
                  <a:srgbClr val="333333"/>
                </a:solidFill>
                <a:latin typeface="Courier New"/>
                <a:ea typeface="Courier New"/>
                <a:cs typeface="Courier New"/>
                <a:sym typeface="Courier New"/>
              </a:rPr>
              <a:t>WHEN</a:t>
            </a:r>
            <a:r>
              <a:rPr b="0" i="0" lang="en-US" sz="2000">
                <a:solidFill>
                  <a:srgbClr val="333333"/>
                </a:solidFill>
                <a:latin typeface="Courier New"/>
                <a:ea typeface="Courier New"/>
                <a:cs typeface="Courier New"/>
                <a:sym typeface="Courier New"/>
              </a:rPr>
              <a:t> search_condition1 </a:t>
            </a:r>
            <a:r>
              <a:rPr b="1" i="0" lang="en-US" sz="2000">
                <a:solidFill>
                  <a:srgbClr val="333333"/>
                </a:solidFill>
                <a:latin typeface="Courier New"/>
                <a:ea typeface="Courier New"/>
                <a:cs typeface="Courier New"/>
                <a:sym typeface="Courier New"/>
              </a:rPr>
              <a:t>THEN</a:t>
            </a:r>
            <a:r>
              <a:rPr b="0" i="0" lang="en-US" sz="2000">
                <a:solidFill>
                  <a:srgbClr val="333333"/>
                </a:solidFill>
                <a:latin typeface="Courier New"/>
                <a:ea typeface="Courier New"/>
                <a:cs typeface="Courier New"/>
                <a:sym typeface="Courier New"/>
              </a:rPr>
              <a:t> statements ... </a:t>
            </a:r>
            <a:endParaRPr/>
          </a:p>
          <a:p>
            <a:pPr indent="0" lvl="0" marL="465138" rtl="0" algn="l">
              <a:lnSpc>
                <a:spcPct val="90000"/>
              </a:lnSpc>
              <a:spcBef>
                <a:spcPts val="750"/>
              </a:spcBef>
              <a:spcAft>
                <a:spcPts val="0"/>
              </a:spcAft>
              <a:buClr>
                <a:srgbClr val="333333"/>
              </a:buClr>
              <a:buSzPts val="2000"/>
              <a:buNone/>
            </a:pPr>
            <a:r>
              <a:rPr b="0" i="0" lang="en-US" sz="2000">
                <a:solidFill>
                  <a:srgbClr val="333333"/>
                </a:solidFill>
                <a:latin typeface="Courier New"/>
                <a:ea typeface="Courier New"/>
                <a:cs typeface="Courier New"/>
                <a:sym typeface="Courier New"/>
              </a:rPr>
              <a:t>		[</a:t>
            </a:r>
            <a:r>
              <a:rPr b="1" i="0" lang="en-US" sz="2000">
                <a:solidFill>
                  <a:srgbClr val="333333"/>
                </a:solidFill>
                <a:latin typeface="Courier New"/>
                <a:ea typeface="Courier New"/>
                <a:cs typeface="Courier New"/>
                <a:sym typeface="Courier New"/>
              </a:rPr>
              <a:t>ELSE</a:t>
            </a:r>
            <a:r>
              <a:rPr b="0" i="0" lang="en-US" sz="2000">
                <a:solidFill>
                  <a:srgbClr val="333333"/>
                </a:solidFill>
                <a:latin typeface="Courier New"/>
                <a:ea typeface="Courier New"/>
                <a:cs typeface="Courier New"/>
                <a:sym typeface="Courier New"/>
              </a:rPr>
              <a:t> else-statements] </a:t>
            </a:r>
            <a:endParaRPr/>
          </a:p>
          <a:p>
            <a:pPr indent="0" lvl="0" marL="465138" rtl="0" algn="l">
              <a:lnSpc>
                <a:spcPct val="90000"/>
              </a:lnSpc>
              <a:spcBef>
                <a:spcPts val="750"/>
              </a:spcBef>
              <a:spcAft>
                <a:spcPts val="0"/>
              </a:spcAft>
              <a:buClr>
                <a:srgbClr val="333333"/>
              </a:buClr>
              <a:buSzPts val="2000"/>
              <a:buNone/>
            </a:pPr>
            <a:r>
              <a:rPr b="1" i="0" lang="en-US" sz="2000">
                <a:solidFill>
                  <a:srgbClr val="333333"/>
                </a:solidFill>
                <a:latin typeface="Courier New"/>
                <a:ea typeface="Courier New"/>
                <a:cs typeface="Courier New"/>
                <a:sym typeface="Courier New"/>
              </a:rPr>
              <a:t>	END</a:t>
            </a:r>
            <a:r>
              <a:rPr b="0" i="0" lang="en-US" sz="2000">
                <a:solidFill>
                  <a:srgbClr val="333333"/>
                </a:solidFill>
                <a:latin typeface="Courier New"/>
                <a:ea typeface="Courier New"/>
                <a:cs typeface="Courier New"/>
                <a:sym typeface="Courier New"/>
              </a:rPr>
              <a:t> </a:t>
            </a:r>
            <a:r>
              <a:rPr b="1" i="0" lang="en-US" sz="2000">
                <a:solidFill>
                  <a:srgbClr val="333333"/>
                </a:solidFill>
                <a:latin typeface="Courier New"/>
                <a:ea typeface="Courier New"/>
                <a:cs typeface="Courier New"/>
                <a:sym typeface="Courier New"/>
              </a:rPr>
              <a:t>CASE</a:t>
            </a:r>
            <a:r>
              <a:rPr b="0" i="0" lang="en-US" sz="2000">
                <a:solidFill>
                  <a:srgbClr val="333333"/>
                </a:solidFill>
                <a:latin typeface="Courier New"/>
                <a:ea typeface="Courier New"/>
                <a:cs typeface="Courier New"/>
                <a:sym typeface="Courier New"/>
              </a:rPr>
              <a:t>;</a:t>
            </a:r>
            <a:endParaRPr sz="2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13"/>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312" name="Google Shape;312;p13"/>
          <p:cNvSpPr txBox="1"/>
          <p:nvPr>
            <p:ph type="title"/>
          </p:nvPr>
        </p:nvSpPr>
        <p:spPr>
          <a:xfrm>
            <a:off x="1804609" y="278328"/>
            <a:ext cx="5534781" cy="75151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1"/>
              </a:buClr>
              <a:buSzPts val="3000"/>
              <a:buFont typeface="Calibri"/>
              <a:buNone/>
            </a:pPr>
            <a:r>
              <a:rPr b="1" lang="en-US">
                <a:solidFill>
                  <a:schemeClr val="accent1"/>
                </a:solidFill>
              </a:rPr>
              <a:t>Example 3. IF statement </a:t>
            </a:r>
            <a:endParaRPr/>
          </a:p>
        </p:txBody>
      </p:sp>
      <p:pic>
        <p:nvPicPr>
          <p:cNvPr id="313" name="Google Shape;313;p13"/>
          <p:cNvPicPr preferRelativeResize="0"/>
          <p:nvPr/>
        </p:nvPicPr>
        <p:blipFill rotWithShape="1">
          <a:blip r:embed="rId3">
            <a:alphaModFix/>
          </a:blip>
          <a:srcRect b="34200" l="21640" r="42582" t="20313"/>
          <a:stretch/>
        </p:blipFill>
        <p:spPr>
          <a:xfrm>
            <a:off x="87027" y="1231449"/>
            <a:ext cx="7015396" cy="5014441"/>
          </a:xfrm>
          <a:prstGeom prst="rect">
            <a:avLst/>
          </a:prstGeom>
          <a:noFill/>
          <a:ln>
            <a:noFill/>
          </a:ln>
        </p:spPr>
      </p:pic>
      <p:pic>
        <p:nvPicPr>
          <p:cNvPr id="314" name="Google Shape;314;p13"/>
          <p:cNvPicPr preferRelativeResize="0"/>
          <p:nvPr/>
        </p:nvPicPr>
        <p:blipFill rotWithShape="1">
          <a:blip r:embed="rId4">
            <a:alphaModFix/>
          </a:blip>
          <a:srcRect b="20872" l="19549" r="56844" t="46556"/>
          <a:stretch/>
        </p:blipFill>
        <p:spPr>
          <a:xfrm>
            <a:off x="6347732" y="1949075"/>
            <a:ext cx="2619431" cy="2455777"/>
          </a:xfrm>
          <a:prstGeom prst="rect">
            <a:avLst/>
          </a:prstGeom>
          <a:noFill/>
          <a:ln>
            <a:noFill/>
          </a:ln>
        </p:spPr>
      </p:pic>
      <p:sp>
        <p:nvSpPr>
          <p:cNvPr id="315" name="Google Shape;315;p13"/>
          <p:cNvSpPr/>
          <p:nvPr/>
        </p:nvSpPr>
        <p:spPr>
          <a:xfrm>
            <a:off x="4236673" y="3738462"/>
            <a:ext cx="409904" cy="1958284"/>
          </a:xfrm>
          <a:prstGeom prst="rightBrace">
            <a:avLst>
              <a:gd fmla="val 8333" name="adj1"/>
              <a:gd fmla="val 50000" name="adj2"/>
            </a:avLst>
          </a:prstGeom>
          <a:noFill/>
          <a:ln cap="flat" cmpd="sng" w="95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16" name="Google Shape;316;p13"/>
          <p:cNvSpPr txBox="1"/>
          <p:nvPr/>
        </p:nvSpPr>
        <p:spPr>
          <a:xfrm>
            <a:off x="4797757" y="4532938"/>
            <a:ext cx="142539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IF-ELSEIF</a:t>
            </a:r>
            <a:endParaRPr/>
          </a:p>
        </p:txBody>
      </p:sp>
      <p:sp>
        <p:nvSpPr>
          <p:cNvPr id="317" name="Google Shape;317;p13"/>
          <p:cNvSpPr txBox="1"/>
          <p:nvPr/>
        </p:nvSpPr>
        <p:spPr>
          <a:xfrm>
            <a:off x="6625100" y="1579743"/>
            <a:ext cx="17231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Calling program:</a:t>
            </a:r>
            <a:endParaRPr/>
          </a:p>
        </p:txBody>
      </p:sp>
    </p:spTree>
  </p:cSld>
  <p:clrMapOvr>
    <a:masterClrMapping/>
  </p:clrMapOvr>
  <p:transition spd="slow">
    <p:push/>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16"/>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323" name="Google Shape;323;p16"/>
          <p:cNvSpPr txBox="1"/>
          <p:nvPr>
            <p:ph type="title"/>
          </p:nvPr>
        </p:nvSpPr>
        <p:spPr>
          <a:xfrm>
            <a:off x="1082777" y="322299"/>
            <a:ext cx="6978445" cy="73951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1"/>
              </a:buClr>
              <a:buSzPts val="3000"/>
              <a:buFont typeface="Calibri"/>
              <a:buNone/>
            </a:pPr>
            <a:r>
              <a:rPr b="1" lang="en-US">
                <a:solidFill>
                  <a:schemeClr val="accent1"/>
                </a:solidFill>
              </a:rPr>
              <a:t>Practice</a:t>
            </a:r>
            <a:endParaRPr/>
          </a:p>
        </p:txBody>
      </p:sp>
      <p:sp>
        <p:nvSpPr>
          <p:cNvPr id="324" name="Google Shape;324;p16"/>
          <p:cNvSpPr txBox="1"/>
          <p:nvPr>
            <p:ph idx="1" type="body"/>
          </p:nvPr>
        </p:nvSpPr>
        <p:spPr>
          <a:xfrm>
            <a:off x="228600" y="1621990"/>
            <a:ext cx="8630265" cy="3614019"/>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100"/>
              <a:buChar char="•"/>
            </a:pPr>
            <a:r>
              <a:rPr lang="en-US"/>
              <a:t>Rewrite the procedure </a:t>
            </a:r>
            <a:r>
              <a:rPr b="1" lang="en-US">
                <a:latin typeface="Courier New"/>
                <a:ea typeface="Courier New"/>
                <a:cs typeface="Courier New"/>
                <a:sym typeface="Courier New"/>
              </a:rPr>
              <a:t>STAR</a:t>
            </a:r>
            <a:r>
              <a:rPr lang="en-US"/>
              <a:t> using CASE conditional statement. </a:t>
            </a:r>
            <a:endParaRPr/>
          </a:p>
        </p:txBody>
      </p:sp>
    </p:spTree>
  </p:cSld>
  <p:clrMapOvr>
    <a:masterClrMapping/>
  </p:clrMapOvr>
  <p:transition spd="slow">
    <p:push/>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56"/>
          <p:cNvSpPr txBox="1"/>
          <p:nvPr>
            <p:ph type="title"/>
          </p:nvPr>
        </p:nvSpPr>
        <p:spPr>
          <a:xfrm>
            <a:off x="-512164" y="287645"/>
            <a:ext cx="10515600" cy="9271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1"/>
              </a:buClr>
              <a:buSzPts val="3000"/>
              <a:buFont typeface="Calibri"/>
              <a:buNone/>
            </a:pPr>
            <a:r>
              <a:rPr b="1" lang="en-US">
                <a:solidFill>
                  <a:schemeClr val="accent1"/>
                </a:solidFill>
              </a:rPr>
              <a:t>Loop in MySQL</a:t>
            </a:r>
            <a:endParaRPr/>
          </a:p>
        </p:txBody>
      </p:sp>
      <p:sp>
        <p:nvSpPr>
          <p:cNvPr id="330" name="Google Shape;330;p56"/>
          <p:cNvSpPr txBox="1"/>
          <p:nvPr>
            <p:ph idx="1" type="body"/>
          </p:nvPr>
        </p:nvSpPr>
        <p:spPr>
          <a:xfrm>
            <a:off x="228600" y="1744662"/>
            <a:ext cx="9774836" cy="4530725"/>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100"/>
              <a:buChar char="•"/>
            </a:pPr>
            <a:r>
              <a:rPr b="1" lang="en-US">
                <a:latin typeface="Courier New"/>
                <a:ea typeface="Courier New"/>
                <a:cs typeface="Courier New"/>
                <a:sym typeface="Courier New"/>
              </a:rPr>
              <a:t>LOOP</a:t>
            </a:r>
            <a:r>
              <a:rPr lang="en-US"/>
              <a:t> statement </a:t>
            </a:r>
            <a:r>
              <a:rPr b="0" i="0" lang="en-US">
                <a:solidFill>
                  <a:srgbClr val="000000"/>
                </a:solidFill>
                <a:latin typeface="Arial"/>
                <a:ea typeface="Arial"/>
                <a:cs typeface="Arial"/>
                <a:sym typeface="Arial"/>
              </a:rPr>
              <a:t>allows you to execute one or more statements repeatedly.</a:t>
            </a:r>
            <a:endParaRPr/>
          </a:p>
          <a:p>
            <a:pPr indent="-171450" lvl="0" marL="171450" rtl="0" algn="l">
              <a:lnSpc>
                <a:spcPct val="90000"/>
              </a:lnSpc>
              <a:spcBef>
                <a:spcPts val="750"/>
              </a:spcBef>
              <a:spcAft>
                <a:spcPts val="0"/>
              </a:spcAft>
              <a:buClr>
                <a:srgbClr val="000000"/>
              </a:buClr>
              <a:buSzPts val="2100"/>
              <a:buChar char="•"/>
            </a:pPr>
            <a:r>
              <a:rPr lang="en-US">
                <a:solidFill>
                  <a:srgbClr val="000000"/>
                </a:solidFill>
                <a:latin typeface="Arial"/>
                <a:ea typeface="Arial"/>
                <a:cs typeface="Arial"/>
                <a:sym typeface="Arial"/>
              </a:rPr>
              <a:t>Syntax:</a:t>
            </a:r>
            <a:endParaRPr b="0" i="0">
              <a:solidFill>
                <a:srgbClr val="000000"/>
              </a:solidFill>
              <a:latin typeface="Arial"/>
              <a:ea typeface="Arial"/>
              <a:cs typeface="Arial"/>
              <a:sym typeface="Arial"/>
            </a:endParaRPr>
          </a:p>
          <a:p>
            <a:pPr indent="0" lvl="0" marL="914400" rtl="0" algn="l">
              <a:lnSpc>
                <a:spcPct val="90000"/>
              </a:lnSpc>
              <a:spcBef>
                <a:spcPts val="750"/>
              </a:spcBef>
              <a:spcAft>
                <a:spcPts val="0"/>
              </a:spcAft>
              <a:buClr>
                <a:srgbClr val="333333"/>
              </a:buClr>
              <a:buSzPts val="2100"/>
              <a:buNone/>
            </a:pPr>
            <a:r>
              <a:rPr b="0" i="0" lang="en-US">
                <a:solidFill>
                  <a:srgbClr val="333333"/>
                </a:solidFill>
                <a:latin typeface="Courier New"/>
                <a:ea typeface="Courier New"/>
                <a:cs typeface="Courier New"/>
                <a:sym typeface="Courier New"/>
              </a:rPr>
              <a:t>[begin-label:] </a:t>
            </a:r>
            <a:r>
              <a:rPr b="1" i="0" lang="en-US">
                <a:solidFill>
                  <a:srgbClr val="333333"/>
                </a:solidFill>
                <a:latin typeface="Courier New"/>
                <a:ea typeface="Courier New"/>
                <a:cs typeface="Courier New"/>
                <a:sym typeface="Courier New"/>
              </a:rPr>
              <a:t>LOOP</a:t>
            </a:r>
            <a:r>
              <a:rPr b="0" i="0" lang="en-US">
                <a:solidFill>
                  <a:srgbClr val="333333"/>
                </a:solidFill>
                <a:latin typeface="Courier New"/>
                <a:ea typeface="Courier New"/>
                <a:cs typeface="Courier New"/>
                <a:sym typeface="Courier New"/>
              </a:rPr>
              <a:t> </a:t>
            </a:r>
            <a:endParaRPr/>
          </a:p>
          <a:p>
            <a:pPr indent="0" lvl="0" marL="1139825" rtl="0" algn="l">
              <a:lnSpc>
                <a:spcPct val="90000"/>
              </a:lnSpc>
              <a:spcBef>
                <a:spcPts val="750"/>
              </a:spcBef>
              <a:spcAft>
                <a:spcPts val="0"/>
              </a:spcAft>
              <a:buClr>
                <a:srgbClr val="333333"/>
              </a:buClr>
              <a:buSzPts val="2100"/>
              <a:buNone/>
            </a:pPr>
            <a:r>
              <a:rPr b="0" i="0" lang="en-US">
                <a:solidFill>
                  <a:srgbClr val="333333"/>
                </a:solidFill>
                <a:latin typeface="Courier New"/>
                <a:ea typeface="Courier New"/>
                <a:cs typeface="Courier New"/>
                <a:sym typeface="Courier New"/>
              </a:rPr>
              <a:t>... </a:t>
            </a:r>
            <a:endParaRPr/>
          </a:p>
          <a:p>
            <a:pPr indent="0" lvl="0" marL="1198563" rtl="0" algn="l">
              <a:lnSpc>
                <a:spcPct val="90000"/>
              </a:lnSpc>
              <a:spcBef>
                <a:spcPts val="750"/>
              </a:spcBef>
              <a:spcAft>
                <a:spcPts val="0"/>
              </a:spcAft>
              <a:buClr>
                <a:srgbClr val="999988"/>
              </a:buClr>
              <a:buSzPts val="2100"/>
              <a:buNone/>
            </a:pPr>
            <a:r>
              <a:rPr b="0" i="1" lang="en-US">
                <a:solidFill>
                  <a:srgbClr val="999988"/>
                </a:solidFill>
                <a:latin typeface="Courier New"/>
                <a:ea typeface="Courier New"/>
                <a:cs typeface="Courier New"/>
                <a:sym typeface="Courier New"/>
              </a:rPr>
              <a:t>-- terminate the loop</a:t>
            </a:r>
            <a:r>
              <a:rPr b="0" i="0" lang="en-US">
                <a:solidFill>
                  <a:srgbClr val="333333"/>
                </a:solidFill>
                <a:latin typeface="Courier New"/>
                <a:ea typeface="Courier New"/>
                <a:cs typeface="Courier New"/>
                <a:sym typeface="Courier New"/>
              </a:rPr>
              <a:t> </a:t>
            </a:r>
            <a:endParaRPr/>
          </a:p>
          <a:p>
            <a:pPr indent="0" lvl="0" marL="1198563" rtl="0" algn="l">
              <a:lnSpc>
                <a:spcPct val="90000"/>
              </a:lnSpc>
              <a:spcBef>
                <a:spcPts val="750"/>
              </a:spcBef>
              <a:spcAft>
                <a:spcPts val="0"/>
              </a:spcAft>
              <a:buClr>
                <a:srgbClr val="333333"/>
              </a:buClr>
              <a:buSzPts val="2100"/>
              <a:buNone/>
            </a:pPr>
            <a:r>
              <a:rPr b="1" i="0" lang="en-US">
                <a:solidFill>
                  <a:srgbClr val="333333"/>
                </a:solidFill>
                <a:latin typeface="Courier New"/>
                <a:ea typeface="Courier New"/>
                <a:cs typeface="Courier New"/>
                <a:sym typeface="Courier New"/>
              </a:rPr>
              <a:t>IF</a:t>
            </a:r>
            <a:r>
              <a:rPr b="0" i="0" lang="en-US">
                <a:solidFill>
                  <a:srgbClr val="333333"/>
                </a:solidFill>
                <a:latin typeface="Courier New"/>
                <a:ea typeface="Courier New"/>
                <a:cs typeface="Courier New"/>
                <a:sym typeface="Courier New"/>
              </a:rPr>
              <a:t> condition </a:t>
            </a:r>
            <a:r>
              <a:rPr b="1" i="0" lang="en-US">
                <a:solidFill>
                  <a:srgbClr val="333333"/>
                </a:solidFill>
                <a:latin typeface="Courier New"/>
                <a:ea typeface="Courier New"/>
                <a:cs typeface="Courier New"/>
                <a:sym typeface="Courier New"/>
              </a:rPr>
              <a:t>THEN</a:t>
            </a:r>
            <a:r>
              <a:rPr b="0" i="0" lang="en-US">
                <a:solidFill>
                  <a:srgbClr val="333333"/>
                </a:solidFill>
                <a:latin typeface="Courier New"/>
                <a:ea typeface="Courier New"/>
                <a:cs typeface="Courier New"/>
                <a:sym typeface="Courier New"/>
              </a:rPr>
              <a:t> </a:t>
            </a:r>
            <a:endParaRPr/>
          </a:p>
          <a:p>
            <a:pPr indent="0" lvl="0" marL="1484313" rtl="0" algn="l">
              <a:lnSpc>
                <a:spcPct val="90000"/>
              </a:lnSpc>
              <a:spcBef>
                <a:spcPts val="750"/>
              </a:spcBef>
              <a:spcAft>
                <a:spcPts val="0"/>
              </a:spcAft>
              <a:buClr>
                <a:srgbClr val="333333"/>
              </a:buClr>
              <a:buSzPts val="2100"/>
              <a:buNone/>
            </a:pPr>
            <a:r>
              <a:rPr b="1" i="0" lang="en-US">
                <a:solidFill>
                  <a:srgbClr val="333333"/>
                </a:solidFill>
                <a:latin typeface="Courier New"/>
                <a:ea typeface="Courier New"/>
                <a:cs typeface="Courier New"/>
                <a:sym typeface="Courier New"/>
              </a:rPr>
              <a:t>LEAVE</a:t>
            </a:r>
            <a:r>
              <a:rPr b="0" i="0" lang="en-US">
                <a:solidFill>
                  <a:srgbClr val="333333"/>
                </a:solidFill>
                <a:latin typeface="Courier New"/>
                <a:ea typeface="Courier New"/>
                <a:cs typeface="Courier New"/>
                <a:sym typeface="Courier New"/>
              </a:rPr>
              <a:t> [label]; </a:t>
            </a:r>
            <a:endParaRPr/>
          </a:p>
          <a:p>
            <a:pPr indent="0" lvl="0" marL="1198563" rtl="0" algn="l">
              <a:lnSpc>
                <a:spcPct val="90000"/>
              </a:lnSpc>
              <a:spcBef>
                <a:spcPts val="750"/>
              </a:spcBef>
              <a:spcAft>
                <a:spcPts val="0"/>
              </a:spcAft>
              <a:buClr>
                <a:srgbClr val="333333"/>
              </a:buClr>
              <a:buSzPts val="2100"/>
              <a:buNone/>
            </a:pPr>
            <a:r>
              <a:rPr b="1" i="0" lang="en-US">
                <a:solidFill>
                  <a:srgbClr val="333333"/>
                </a:solidFill>
                <a:latin typeface="Courier New"/>
                <a:ea typeface="Courier New"/>
                <a:cs typeface="Courier New"/>
                <a:sym typeface="Courier New"/>
              </a:rPr>
              <a:t>END</a:t>
            </a:r>
            <a:r>
              <a:rPr b="0" i="0" lang="en-US">
                <a:solidFill>
                  <a:srgbClr val="333333"/>
                </a:solidFill>
                <a:latin typeface="Courier New"/>
                <a:ea typeface="Courier New"/>
                <a:cs typeface="Courier New"/>
                <a:sym typeface="Courier New"/>
              </a:rPr>
              <a:t> </a:t>
            </a:r>
            <a:r>
              <a:rPr b="1" i="0" lang="en-US">
                <a:solidFill>
                  <a:srgbClr val="333333"/>
                </a:solidFill>
                <a:latin typeface="Courier New"/>
                <a:ea typeface="Courier New"/>
                <a:cs typeface="Courier New"/>
                <a:sym typeface="Courier New"/>
              </a:rPr>
              <a:t>IF</a:t>
            </a:r>
            <a:r>
              <a:rPr b="0" i="0" lang="en-US">
                <a:solidFill>
                  <a:srgbClr val="333333"/>
                </a:solidFill>
                <a:latin typeface="Courier New"/>
                <a:ea typeface="Courier New"/>
                <a:cs typeface="Courier New"/>
                <a:sym typeface="Courier New"/>
              </a:rPr>
              <a:t>; </a:t>
            </a:r>
            <a:endParaRPr/>
          </a:p>
          <a:p>
            <a:pPr indent="0" lvl="0" marL="1198563" rtl="0" algn="l">
              <a:lnSpc>
                <a:spcPct val="90000"/>
              </a:lnSpc>
              <a:spcBef>
                <a:spcPts val="750"/>
              </a:spcBef>
              <a:spcAft>
                <a:spcPts val="0"/>
              </a:spcAft>
              <a:buClr>
                <a:srgbClr val="333333"/>
              </a:buClr>
              <a:buSzPts val="2100"/>
              <a:buNone/>
            </a:pPr>
            <a:r>
              <a:rPr b="0" i="0" lang="en-US">
                <a:solidFill>
                  <a:srgbClr val="333333"/>
                </a:solidFill>
                <a:latin typeface="Courier New"/>
                <a:ea typeface="Courier New"/>
                <a:cs typeface="Courier New"/>
                <a:sym typeface="Courier New"/>
              </a:rPr>
              <a:t>... </a:t>
            </a:r>
            <a:endParaRPr/>
          </a:p>
          <a:p>
            <a:pPr indent="0" lvl="0" marL="914400" rtl="0" algn="l">
              <a:lnSpc>
                <a:spcPct val="90000"/>
              </a:lnSpc>
              <a:spcBef>
                <a:spcPts val="750"/>
              </a:spcBef>
              <a:spcAft>
                <a:spcPts val="0"/>
              </a:spcAft>
              <a:buClr>
                <a:srgbClr val="333333"/>
              </a:buClr>
              <a:buSzPts val="2100"/>
              <a:buNone/>
            </a:pPr>
            <a:r>
              <a:rPr b="1" i="0" lang="en-US">
                <a:solidFill>
                  <a:srgbClr val="333333"/>
                </a:solidFill>
                <a:latin typeface="Courier New"/>
                <a:ea typeface="Courier New"/>
                <a:cs typeface="Courier New"/>
                <a:sym typeface="Courier New"/>
              </a:rPr>
              <a:t>END</a:t>
            </a:r>
            <a:r>
              <a:rPr b="0" i="0" lang="en-US">
                <a:solidFill>
                  <a:srgbClr val="333333"/>
                </a:solidFill>
                <a:latin typeface="Courier New"/>
                <a:ea typeface="Courier New"/>
                <a:cs typeface="Courier New"/>
                <a:sym typeface="Courier New"/>
              </a:rPr>
              <a:t> </a:t>
            </a:r>
            <a:r>
              <a:rPr b="1" i="0" lang="en-US">
                <a:solidFill>
                  <a:srgbClr val="333333"/>
                </a:solidFill>
                <a:latin typeface="Courier New"/>
                <a:ea typeface="Courier New"/>
                <a:cs typeface="Courier New"/>
                <a:sym typeface="Courier New"/>
              </a:rPr>
              <a:t>LOOP </a:t>
            </a:r>
            <a:r>
              <a:rPr i="0" lang="en-US">
                <a:solidFill>
                  <a:srgbClr val="333333"/>
                </a:solidFill>
                <a:latin typeface="Courier New"/>
                <a:ea typeface="Courier New"/>
                <a:cs typeface="Courier New"/>
                <a:sym typeface="Courier New"/>
              </a:rPr>
              <a:t>[end-label];</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pic>
        <p:nvPicPr>
          <p:cNvPr id="335" name="Google Shape;335;p57"/>
          <p:cNvPicPr preferRelativeResize="0"/>
          <p:nvPr/>
        </p:nvPicPr>
        <p:blipFill>
          <a:blip r:embed="rId3">
            <a:alphaModFix/>
          </a:blip>
          <a:stretch>
            <a:fillRect/>
          </a:stretch>
        </p:blipFill>
        <p:spPr>
          <a:xfrm>
            <a:off x="-4642" y="0"/>
            <a:ext cx="9144000" cy="6858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g3af35b24543_0_30"/>
          <p:cNvSpPr txBox="1"/>
          <p:nvPr>
            <p:ph idx="12" type="sldNum"/>
          </p:nvPr>
        </p:nvSpPr>
        <p:spPr>
          <a:xfrm>
            <a:off x="6457950" y="6356353"/>
            <a:ext cx="2057400" cy="365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pic>
        <p:nvPicPr>
          <p:cNvPr id="342" name="Google Shape;342;g3af35b24543_0_30"/>
          <p:cNvPicPr preferRelativeResize="0"/>
          <p:nvPr/>
        </p:nvPicPr>
        <p:blipFill>
          <a:blip r:embed="rId3">
            <a:alphaModFix/>
          </a:blip>
          <a:stretch>
            <a:fillRect/>
          </a:stretch>
        </p:blipFill>
        <p:spPr>
          <a:xfrm>
            <a:off x="0" y="-15125"/>
            <a:ext cx="9218724" cy="69149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8"/>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348" name="Google Shape;348;p58"/>
          <p:cNvSpPr txBox="1"/>
          <p:nvPr>
            <p:ph type="title"/>
          </p:nvPr>
        </p:nvSpPr>
        <p:spPr>
          <a:xfrm>
            <a:off x="-469491" y="209043"/>
            <a:ext cx="10515600" cy="9271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1"/>
              </a:buClr>
              <a:buSzPts val="3000"/>
              <a:buFont typeface="Calibri"/>
              <a:buNone/>
            </a:pPr>
            <a:r>
              <a:rPr b="1" lang="en-US">
                <a:solidFill>
                  <a:schemeClr val="accent1"/>
                </a:solidFill>
              </a:rPr>
              <a:t>WHILE loop in MYSQL</a:t>
            </a:r>
            <a:endParaRPr/>
          </a:p>
        </p:txBody>
      </p:sp>
      <p:sp>
        <p:nvSpPr>
          <p:cNvPr id="349" name="Google Shape;349;p58"/>
          <p:cNvSpPr txBox="1"/>
          <p:nvPr>
            <p:ph idx="1" type="body"/>
          </p:nvPr>
        </p:nvSpPr>
        <p:spPr>
          <a:xfrm>
            <a:off x="169606" y="1616742"/>
            <a:ext cx="8512278" cy="4183061"/>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100"/>
              <a:buChar char="•"/>
            </a:pPr>
            <a:r>
              <a:rPr lang="en-US"/>
              <a:t>The </a:t>
            </a:r>
            <a:r>
              <a:rPr b="1" lang="en-US"/>
              <a:t>WHILE</a:t>
            </a:r>
            <a:r>
              <a:rPr lang="en-US"/>
              <a:t> loop is a loop statement that executes a block of code repeatedly as long as a condition is true. </a:t>
            </a:r>
            <a:endParaRPr/>
          </a:p>
        </p:txBody>
      </p:sp>
      <p:pic>
        <p:nvPicPr>
          <p:cNvPr id="350" name="Google Shape;350;p58"/>
          <p:cNvPicPr preferRelativeResize="0"/>
          <p:nvPr/>
        </p:nvPicPr>
        <p:blipFill rotWithShape="1">
          <a:blip r:embed="rId3">
            <a:alphaModFix/>
          </a:blip>
          <a:srcRect b="0" l="0" r="13554" t="0"/>
          <a:stretch/>
        </p:blipFill>
        <p:spPr>
          <a:xfrm>
            <a:off x="1025836" y="2577940"/>
            <a:ext cx="5416664" cy="164312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9"/>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356" name="Google Shape;356;p59"/>
          <p:cNvSpPr txBox="1"/>
          <p:nvPr>
            <p:ph type="title"/>
          </p:nvPr>
        </p:nvSpPr>
        <p:spPr>
          <a:xfrm>
            <a:off x="-823452" y="136522"/>
            <a:ext cx="10515600" cy="9271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1"/>
              </a:buClr>
              <a:buSzPts val="3000"/>
              <a:buFont typeface="Calibri"/>
              <a:buNone/>
            </a:pPr>
            <a:r>
              <a:rPr b="1" lang="en-US">
                <a:solidFill>
                  <a:schemeClr val="accent1"/>
                </a:solidFill>
              </a:rPr>
              <a:t>Example WHILE loop</a:t>
            </a:r>
            <a:endParaRPr/>
          </a:p>
        </p:txBody>
      </p:sp>
      <p:pic>
        <p:nvPicPr>
          <p:cNvPr id="357" name="Google Shape;357;p59"/>
          <p:cNvPicPr preferRelativeResize="0"/>
          <p:nvPr>
            <p:ph idx="1" type="body"/>
          </p:nvPr>
        </p:nvPicPr>
        <p:blipFill rotWithShape="1">
          <a:blip r:embed="rId3">
            <a:alphaModFix/>
          </a:blip>
          <a:srcRect b="0" l="0" r="0" t="0"/>
          <a:stretch/>
        </p:blipFill>
        <p:spPr>
          <a:xfrm>
            <a:off x="394633" y="1958749"/>
            <a:ext cx="4379555" cy="3192916"/>
          </a:xfrm>
          <a:prstGeom prst="rect">
            <a:avLst/>
          </a:prstGeom>
          <a:noFill/>
          <a:ln cap="flat" cmpd="sng" w="12700">
            <a:solidFill>
              <a:srgbClr val="C00000"/>
            </a:solidFill>
            <a:prstDash val="solid"/>
            <a:round/>
            <a:headEnd len="sm" w="sm" type="none"/>
            <a:tailEnd len="sm" w="sm" type="none"/>
          </a:ln>
        </p:spPr>
      </p:pic>
      <p:pic>
        <p:nvPicPr>
          <p:cNvPr id="358" name="Google Shape;358;p59"/>
          <p:cNvPicPr preferRelativeResize="0"/>
          <p:nvPr/>
        </p:nvPicPr>
        <p:blipFill rotWithShape="1">
          <a:blip r:embed="rId4">
            <a:alphaModFix/>
          </a:blip>
          <a:srcRect b="0" l="0" r="0" t="0"/>
          <a:stretch/>
        </p:blipFill>
        <p:spPr>
          <a:xfrm>
            <a:off x="4968511" y="1414379"/>
            <a:ext cx="3780856" cy="4029242"/>
          </a:xfrm>
          <a:prstGeom prst="rect">
            <a:avLst/>
          </a:prstGeom>
          <a:noFill/>
          <a:ln cap="flat" cmpd="sng" w="12700">
            <a:solidFill>
              <a:srgbClr val="C00000"/>
            </a:solidFill>
            <a:prstDash val="solid"/>
            <a:round/>
            <a:headEnd len="sm" w="sm" type="none"/>
            <a:tailEnd len="sm" w="sm" type="none"/>
          </a:ln>
        </p:spPr>
      </p:pic>
      <p:sp>
        <p:nvSpPr>
          <p:cNvPr id="359" name="Google Shape;359;p59"/>
          <p:cNvSpPr txBox="1"/>
          <p:nvPr/>
        </p:nvSpPr>
        <p:spPr>
          <a:xfrm flipH="1">
            <a:off x="868162" y="1509713"/>
            <a:ext cx="324721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00"/>
                </a:solidFill>
                <a:latin typeface="Calibri"/>
                <a:ea typeface="Calibri"/>
                <a:cs typeface="Calibri"/>
                <a:sym typeface="Calibri"/>
              </a:rPr>
              <a:t>1.  Create table Calendars.</a:t>
            </a:r>
            <a:endParaRPr/>
          </a:p>
        </p:txBody>
      </p:sp>
      <p:sp>
        <p:nvSpPr>
          <p:cNvPr id="360" name="Google Shape;360;p59"/>
          <p:cNvSpPr txBox="1"/>
          <p:nvPr/>
        </p:nvSpPr>
        <p:spPr>
          <a:xfrm flipH="1">
            <a:off x="960804" y="5412613"/>
            <a:ext cx="3813383"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00"/>
                </a:solidFill>
                <a:latin typeface="Calibri"/>
                <a:ea typeface="Calibri"/>
                <a:cs typeface="Calibri"/>
                <a:sym typeface="Calibri"/>
              </a:rPr>
              <a:t>2.  Create procedure that will insert values in table Calendars.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60"/>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366" name="Google Shape;366;p60"/>
          <p:cNvPicPr preferRelativeResize="0"/>
          <p:nvPr>
            <p:ph idx="1" type="body"/>
          </p:nvPr>
        </p:nvPicPr>
        <p:blipFill rotWithShape="1">
          <a:blip r:embed="rId3">
            <a:alphaModFix/>
          </a:blip>
          <a:srcRect b="0" l="0" r="0" t="0"/>
          <a:stretch/>
        </p:blipFill>
        <p:spPr>
          <a:xfrm>
            <a:off x="121621" y="1499859"/>
            <a:ext cx="4445457" cy="4691063"/>
          </a:xfrm>
          <a:prstGeom prst="rect">
            <a:avLst/>
          </a:prstGeom>
          <a:noFill/>
          <a:ln cap="flat" cmpd="sng" w="19050">
            <a:solidFill>
              <a:srgbClr val="C00000"/>
            </a:solidFill>
            <a:prstDash val="solid"/>
            <a:round/>
            <a:headEnd len="sm" w="sm" type="none"/>
            <a:tailEnd len="sm" w="sm" type="none"/>
          </a:ln>
        </p:spPr>
      </p:pic>
      <p:pic>
        <p:nvPicPr>
          <p:cNvPr id="367" name="Google Shape;367;p60"/>
          <p:cNvPicPr preferRelativeResize="0"/>
          <p:nvPr/>
        </p:nvPicPr>
        <p:blipFill rotWithShape="1">
          <a:blip r:embed="rId4">
            <a:alphaModFix/>
          </a:blip>
          <a:srcRect b="0" l="0" r="0" t="0"/>
          <a:stretch/>
        </p:blipFill>
        <p:spPr>
          <a:xfrm>
            <a:off x="4781758" y="1998087"/>
            <a:ext cx="4226666" cy="3492871"/>
          </a:xfrm>
          <a:prstGeom prst="rect">
            <a:avLst/>
          </a:prstGeom>
          <a:noFill/>
          <a:ln cap="flat" cmpd="sng" w="19050">
            <a:solidFill>
              <a:srgbClr val="C00000"/>
            </a:solidFill>
            <a:prstDash val="solid"/>
            <a:round/>
            <a:headEnd len="sm" w="sm" type="none"/>
            <a:tailEnd len="sm" w="sm" type="none"/>
          </a:ln>
        </p:spPr>
      </p:pic>
      <p:sp>
        <p:nvSpPr>
          <p:cNvPr id="368" name="Google Shape;368;p60"/>
          <p:cNvSpPr txBox="1"/>
          <p:nvPr/>
        </p:nvSpPr>
        <p:spPr>
          <a:xfrm>
            <a:off x="5380180" y="1128955"/>
            <a:ext cx="2702380" cy="646331"/>
          </a:xfrm>
          <a:prstGeom prst="rect">
            <a:avLst/>
          </a:prstGeom>
          <a:noFill/>
          <a:ln cap="flat" cmpd="sng" w="12700">
            <a:solidFill>
              <a:srgbClr val="C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B0F0"/>
                </a:solidFill>
                <a:latin typeface="Courier New"/>
                <a:ea typeface="Courier New"/>
                <a:cs typeface="Courier New"/>
                <a:sym typeface="Courier New"/>
              </a:rPr>
              <a:t>SELECT * </a:t>
            </a:r>
            <a:endParaRPr/>
          </a:p>
          <a:p>
            <a:pPr indent="0" lvl="0" marL="0" marR="0" rtl="0" algn="l">
              <a:spcBef>
                <a:spcPts val="0"/>
              </a:spcBef>
              <a:spcAft>
                <a:spcPts val="0"/>
              </a:spcAft>
              <a:buNone/>
            </a:pPr>
            <a:r>
              <a:rPr lang="en-US" sz="1800">
                <a:solidFill>
                  <a:srgbClr val="00B0F0"/>
                </a:solidFill>
                <a:latin typeface="Courier New"/>
                <a:ea typeface="Courier New"/>
                <a:cs typeface="Courier New"/>
                <a:sym typeface="Courier New"/>
              </a:rPr>
              <a:t>FROM calendars;</a:t>
            </a:r>
            <a:endParaRPr/>
          </a:p>
        </p:txBody>
      </p:sp>
      <p:sp>
        <p:nvSpPr>
          <p:cNvPr id="369" name="Google Shape;369;p60"/>
          <p:cNvSpPr/>
          <p:nvPr/>
        </p:nvSpPr>
        <p:spPr>
          <a:xfrm>
            <a:off x="653083" y="3986285"/>
            <a:ext cx="3575957" cy="1277309"/>
          </a:xfrm>
          <a:prstGeom prst="rect">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0" name="Google Shape;370;p60"/>
          <p:cNvSpPr txBox="1"/>
          <p:nvPr/>
        </p:nvSpPr>
        <p:spPr>
          <a:xfrm flipH="1">
            <a:off x="0" y="528791"/>
            <a:ext cx="4302518"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00"/>
                </a:solidFill>
                <a:latin typeface="Calibri"/>
                <a:ea typeface="Calibri"/>
                <a:cs typeface="Calibri"/>
                <a:sym typeface="Calibri"/>
              </a:rPr>
              <a:t>3.  Create procedure LoadCalendars that will call procedure InsertCalendar to insert data into table Calendars</a:t>
            </a:r>
            <a:endParaRPr/>
          </a:p>
        </p:txBody>
      </p:sp>
      <p:sp>
        <p:nvSpPr>
          <p:cNvPr id="371" name="Google Shape;371;p60"/>
          <p:cNvSpPr txBox="1"/>
          <p:nvPr/>
        </p:nvSpPr>
        <p:spPr>
          <a:xfrm flipH="1">
            <a:off x="4567078" y="540559"/>
            <a:ext cx="41692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00"/>
                </a:solidFill>
                <a:latin typeface="Calibri"/>
                <a:ea typeface="Calibri"/>
                <a:cs typeface="Calibri"/>
                <a:sym typeface="Calibri"/>
              </a:rPr>
              <a:t>4.  Display content table Calendars.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61"/>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377" name="Google Shape;377;p61"/>
          <p:cNvSpPr txBox="1"/>
          <p:nvPr>
            <p:ph type="title"/>
          </p:nvPr>
        </p:nvSpPr>
        <p:spPr>
          <a:xfrm>
            <a:off x="-823452" y="136522"/>
            <a:ext cx="10515600" cy="9271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1"/>
              </a:buClr>
              <a:buSzPts val="3000"/>
              <a:buFont typeface="Calibri"/>
              <a:buNone/>
            </a:pPr>
            <a:r>
              <a:rPr b="1" lang="en-US">
                <a:solidFill>
                  <a:schemeClr val="accent1"/>
                </a:solidFill>
              </a:rPr>
              <a:t>Advantages of STORED PROCEDURES</a:t>
            </a:r>
            <a:endParaRPr/>
          </a:p>
        </p:txBody>
      </p:sp>
      <p:sp>
        <p:nvSpPr>
          <p:cNvPr id="378" name="Google Shape;378;p61"/>
          <p:cNvSpPr txBox="1"/>
          <p:nvPr/>
        </p:nvSpPr>
        <p:spPr>
          <a:xfrm>
            <a:off x="255639" y="1063622"/>
            <a:ext cx="8632722" cy="5308505"/>
          </a:xfrm>
          <a:prstGeom prst="rect">
            <a:avLst/>
          </a:prstGeom>
          <a:noFill/>
          <a:ln>
            <a:noFill/>
          </a:ln>
        </p:spPr>
        <p:txBody>
          <a:bodyPr anchorCtr="0" anchor="t" bIns="45700" lIns="91425" spcFirstLastPara="1" rIns="91425" wrap="square" tIns="45700">
            <a:spAutoFit/>
          </a:bodyPr>
          <a:lstStyle/>
          <a:p>
            <a:pPr indent="-285750" lvl="0" marL="285750" marR="0" rtl="0" algn="l">
              <a:lnSpc>
                <a:spcPct val="133333"/>
              </a:lnSpc>
              <a:spcBef>
                <a:spcPts val="0"/>
              </a:spcBef>
              <a:spcAft>
                <a:spcPts val="0"/>
              </a:spcAft>
              <a:buClr>
                <a:srgbClr val="242424"/>
              </a:buClr>
              <a:buSzPts val="1800"/>
              <a:buFont typeface="Arial"/>
              <a:buChar char="•"/>
            </a:pPr>
            <a:r>
              <a:rPr b="1" i="0" lang="en-US" sz="1800">
                <a:solidFill>
                  <a:srgbClr val="242424"/>
                </a:solidFill>
                <a:latin typeface="Arial"/>
                <a:ea typeface="Arial"/>
                <a:cs typeface="Arial"/>
                <a:sym typeface="Arial"/>
              </a:rPr>
              <a:t>Reusability: </a:t>
            </a:r>
            <a:r>
              <a:rPr b="0" i="0" lang="en-US" sz="1800">
                <a:solidFill>
                  <a:srgbClr val="242424"/>
                </a:solidFill>
                <a:latin typeface="Arial"/>
                <a:ea typeface="Arial"/>
                <a:cs typeface="Arial"/>
                <a:sym typeface="Arial"/>
              </a:rPr>
              <a:t>Execute the same logic repeatedly by simply calling the stored procedure, reducing code duplication and promoting efficiency.</a:t>
            </a:r>
            <a:endParaRPr/>
          </a:p>
          <a:p>
            <a:pPr indent="0" lvl="0" marL="0" marR="0" rtl="0" algn="l">
              <a:lnSpc>
                <a:spcPct val="133333"/>
              </a:lnSpc>
              <a:spcBef>
                <a:spcPts val="0"/>
              </a:spcBef>
              <a:spcAft>
                <a:spcPts val="0"/>
              </a:spcAft>
              <a:buNone/>
            </a:pPr>
            <a:r>
              <a:t/>
            </a:r>
            <a:endParaRPr b="0" i="0" sz="1800">
              <a:solidFill>
                <a:srgbClr val="242424"/>
              </a:solidFill>
              <a:latin typeface="Arial"/>
              <a:ea typeface="Arial"/>
              <a:cs typeface="Arial"/>
              <a:sym typeface="Arial"/>
            </a:endParaRPr>
          </a:p>
          <a:p>
            <a:pPr indent="-285750" lvl="0" marL="285750" marR="0" rtl="0" algn="l">
              <a:lnSpc>
                <a:spcPct val="133333"/>
              </a:lnSpc>
              <a:spcBef>
                <a:spcPts val="0"/>
              </a:spcBef>
              <a:spcAft>
                <a:spcPts val="0"/>
              </a:spcAft>
              <a:buClr>
                <a:srgbClr val="242424"/>
              </a:buClr>
              <a:buSzPts val="1800"/>
              <a:buFont typeface="Arial"/>
              <a:buChar char="•"/>
            </a:pPr>
            <a:r>
              <a:rPr b="1" i="0" lang="en-US" sz="1800">
                <a:solidFill>
                  <a:srgbClr val="242424"/>
                </a:solidFill>
                <a:latin typeface="Arial"/>
                <a:ea typeface="Arial"/>
                <a:cs typeface="Arial"/>
                <a:sym typeface="Arial"/>
              </a:rPr>
              <a:t>Modularization: </a:t>
            </a:r>
            <a:r>
              <a:rPr b="0" i="0" lang="en-US" sz="1800">
                <a:solidFill>
                  <a:srgbClr val="242424"/>
                </a:solidFill>
                <a:latin typeface="Arial"/>
                <a:ea typeface="Arial"/>
                <a:cs typeface="Arial"/>
                <a:sym typeface="Arial"/>
              </a:rPr>
              <a:t>Break down complex tasks into manageable units, making code easier to read, maintain, and understand.</a:t>
            </a:r>
            <a:endParaRPr/>
          </a:p>
          <a:p>
            <a:pPr indent="0" lvl="0" marL="0" marR="0" rtl="0" algn="l">
              <a:lnSpc>
                <a:spcPct val="133333"/>
              </a:lnSpc>
              <a:spcBef>
                <a:spcPts val="0"/>
              </a:spcBef>
              <a:spcAft>
                <a:spcPts val="0"/>
              </a:spcAft>
              <a:buNone/>
            </a:pPr>
            <a:r>
              <a:t/>
            </a:r>
            <a:endParaRPr b="0" i="0" sz="1800">
              <a:solidFill>
                <a:srgbClr val="242424"/>
              </a:solidFill>
              <a:latin typeface="Arial"/>
              <a:ea typeface="Arial"/>
              <a:cs typeface="Arial"/>
              <a:sym typeface="Arial"/>
            </a:endParaRPr>
          </a:p>
          <a:p>
            <a:pPr indent="-285750" lvl="0" marL="285750" marR="0" rtl="0" algn="l">
              <a:lnSpc>
                <a:spcPct val="133333"/>
              </a:lnSpc>
              <a:spcBef>
                <a:spcPts val="0"/>
              </a:spcBef>
              <a:spcAft>
                <a:spcPts val="0"/>
              </a:spcAft>
              <a:buClr>
                <a:srgbClr val="242424"/>
              </a:buClr>
              <a:buSzPts val="1800"/>
              <a:buFont typeface="Arial"/>
              <a:buChar char="•"/>
            </a:pPr>
            <a:r>
              <a:rPr b="1" i="0" lang="en-US" sz="1800">
                <a:solidFill>
                  <a:srgbClr val="242424"/>
                </a:solidFill>
                <a:latin typeface="Arial"/>
                <a:ea typeface="Arial"/>
                <a:cs typeface="Arial"/>
                <a:sym typeface="Arial"/>
              </a:rPr>
              <a:t>Security: </a:t>
            </a:r>
            <a:r>
              <a:rPr b="0" i="0" lang="en-US" sz="1800">
                <a:solidFill>
                  <a:srgbClr val="242424"/>
                </a:solidFill>
                <a:latin typeface="Arial"/>
                <a:ea typeface="Arial"/>
                <a:cs typeface="Arial"/>
                <a:sym typeface="Arial"/>
              </a:rPr>
              <a:t>Control access to sensitive data by granting permissions to specific procedures instead of exposing underlying SQL statements.</a:t>
            </a:r>
            <a:endParaRPr/>
          </a:p>
          <a:p>
            <a:pPr indent="0" lvl="0" marL="0" marR="0" rtl="0" algn="l">
              <a:lnSpc>
                <a:spcPct val="133333"/>
              </a:lnSpc>
              <a:spcBef>
                <a:spcPts val="0"/>
              </a:spcBef>
              <a:spcAft>
                <a:spcPts val="0"/>
              </a:spcAft>
              <a:buNone/>
            </a:pPr>
            <a:r>
              <a:t/>
            </a:r>
            <a:endParaRPr b="0" i="0" sz="1800">
              <a:solidFill>
                <a:srgbClr val="242424"/>
              </a:solidFill>
              <a:latin typeface="Arial"/>
              <a:ea typeface="Arial"/>
              <a:cs typeface="Arial"/>
              <a:sym typeface="Arial"/>
            </a:endParaRPr>
          </a:p>
          <a:p>
            <a:pPr indent="-285750" lvl="0" marL="285750" marR="0" rtl="0" algn="l">
              <a:lnSpc>
                <a:spcPct val="133333"/>
              </a:lnSpc>
              <a:spcBef>
                <a:spcPts val="0"/>
              </a:spcBef>
              <a:spcAft>
                <a:spcPts val="0"/>
              </a:spcAft>
              <a:buClr>
                <a:srgbClr val="242424"/>
              </a:buClr>
              <a:buSzPts val="1800"/>
              <a:buFont typeface="Arial"/>
              <a:buChar char="•"/>
            </a:pPr>
            <a:r>
              <a:rPr b="1" i="0" lang="en-US" sz="1800">
                <a:solidFill>
                  <a:srgbClr val="242424"/>
                </a:solidFill>
                <a:latin typeface="Arial"/>
                <a:ea typeface="Arial"/>
                <a:cs typeface="Arial"/>
                <a:sym typeface="Arial"/>
              </a:rPr>
              <a:t>Performance Benefits: </a:t>
            </a:r>
            <a:r>
              <a:rPr b="0" i="0" lang="en-US" sz="1800">
                <a:solidFill>
                  <a:srgbClr val="242424"/>
                </a:solidFill>
                <a:latin typeface="Arial"/>
                <a:ea typeface="Arial"/>
                <a:cs typeface="Arial"/>
                <a:sym typeface="Arial"/>
              </a:rPr>
              <a:t>Pre-compilation can lead to faster execution in some cases, especially for complex operations.</a:t>
            </a:r>
            <a:endParaRPr/>
          </a:p>
          <a:p>
            <a:pPr indent="0" lvl="0" marL="0" marR="0" rtl="0" algn="l">
              <a:lnSpc>
                <a:spcPct val="133333"/>
              </a:lnSpc>
              <a:spcBef>
                <a:spcPts val="0"/>
              </a:spcBef>
              <a:spcAft>
                <a:spcPts val="0"/>
              </a:spcAft>
              <a:buNone/>
            </a:pPr>
            <a:r>
              <a:t/>
            </a:r>
            <a:endParaRPr b="0" i="0" sz="1800">
              <a:solidFill>
                <a:srgbClr val="242424"/>
              </a:solidFill>
              <a:latin typeface="Arial"/>
              <a:ea typeface="Arial"/>
              <a:cs typeface="Arial"/>
              <a:sym typeface="Arial"/>
            </a:endParaRPr>
          </a:p>
          <a:p>
            <a:pPr indent="-285750" lvl="0" marL="285750" marR="0" rtl="0" algn="l">
              <a:lnSpc>
                <a:spcPct val="133333"/>
              </a:lnSpc>
              <a:spcBef>
                <a:spcPts val="0"/>
              </a:spcBef>
              <a:spcAft>
                <a:spcPts val="0"/>
              </a:spcAft>
              <a:buClr>
                <a:srgbClr val="242424"/>
              </a:buClr>
              <a:buSzPts val="1800"/>
              <a:buFont typeface="Arial"/>
              <a:buChar char="•"/>
            </a:pPr>
            <a:r>
              <a:rPr b="1" i="0" lang="en-US" sz="1800">
                <a:solidFill>
                  <a:srgbClr val="242424"/>
                </a:solidFill>
                <a:latin typeface="Arial"/>
                <a:ea typeface="Arial"/>
                <a:cs typeface="Arial"/>
                <a:sym typeface="Arial"/>
              </a:rPr>
              <a:t>Reduced Network Traffic: </a:t>
            </a:r>
            <a:r>
              <a:rPr b="0" i="0" lang="en-US" sz="1800">
                <a:solidFill>
                  <a:srgbClr val="242424"/>
                </a:solidFill>
                <a:latin typeface="Arial"/>
                <a:ea typeface="Arial"/>
                <a:cs typeface="Arial"/>
                <a:sym typeface="Arial"/>
              </a:rPr>
              <a:t>Send only the procedure name and parameters to the database, reducing network overhead if multiple statements are involved.</a:t>
            </a:r>
            <a:endParaRPr/>
          </a:p>
          <a:p>
            <a:pPr indent="0" lvl="0" marL="0" marR="0" rtl="0" algn="l">
              <a:lnSpc>
                <a:spcPct val="133333"/>
              </a:lnSpc>
              <a:spcBef>
                <a:spcPts val="0"/>
              </a:spcBef>
              <a:spcAft>
                <a:spcPts val="0"/>
              </a:spcAft>
              <a:buNone/>
            </a:pPr>
            <a:r>
              <a:t/>
            </a:r>
            <a:endParaRPr b="0" i="0" sz="1800">
              <a:solidFill>
                <a:srgbClr val="242424"/>
              </a:solidFill>
              <a:latin typeface="Arial"/>
              <a:ea typeface="Arial"/>
              <a:cs typeface="Arial"/>
              <a:sym typeface="Arial"/>
            </a:endParaRPr>
          </a:p>
          <a:p>
            <a:pPr indent="-285750" lvl="0" marL="285750" marR="0" rtl="0" algn="l">
              <a:lnSpc>
                <a:spcPct val="133333"/>
              </a:lnSpc>
              <a:spcBef>
                <a:spcPts val="0"/>
              </a:spcBef>
              <a:spcAft>
                <a:spcPts val="0"/>
              </a:spcAft>
              <a:buClr>
                <a:srgbClr val="242424"/>
              </a:buClr>
              <a:buSzPts val="1800"/>
              <a:buFont typeface="Arial"/>
              <a:buChar char="•"/>
            </a:pPr>
            <a:r>
              <a:rPr b="1" i="0" lang="en-US" sz="1800">
                <a:solidFill>
                  <a:srgbClr val="242424"/>
                </a:solidFill>
                <a:latin typeface="Arial"/>
                <a:ea typeface="Arial"/>
                <a:cs typeface="Arial"/>
                <a:sym typeface="Arial"/>
              </a:rPr>
              <a:t>Error Handling: </a:t>
            </a:r>
            <a:r>
              <a:rPr b="0" i="0" lang="en-US" sz="1800">
                <a:solidFill>
                  <a:srgbClr val="242424"/>
                </a:solidFill>
                <a:latin typeface="Arial"/>
                <a:ea typeface="Arial"/>
                <a:cs typeface="Arial"/>
                <a:sym typeface="Arial"/>
              </a:rPr>
              <a:t>Implement robust error handling within procedures, improving data integrity and application resilience.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2"/>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384" name="Google Shape;384;p62"/>
          <p:cNvSpPr txBox="1"/>
          <p:nvPr>
            <p:ph type="title"/>
          </p:nvPr>
        </p:nvSpPr>
        <p:spPr>
          <a:xfrm>
            <a:off x="-882446" y="136522"/>
            <a:ext cx="10515600" cy="9271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1"/>
              </a:buClr>
              <a:buSzPts val="3000"/>
              <a:buFont typeface="Calibri"/>
              <a:buNone/>
            </a:pPr>
            <a:r>
              <a:rPr b="1" lang="en-US">
                <a:solidFill>
                  <a:schemeClr val="accent1"/>
                </a:solidFill>
              </a:rPr>
              <a:t>Disadvantages of STORED PROCEDURES</a:t>
            </a:r>
            <a:endParaRPr/>
          </a:p>
        </p:txBody>
      </p:sp>
      <p:sp>
        <p:nvSpPr>
          <p:cNvPr id="385" name="Google Shape;385;p62"/>
          <p:cNvSpPr txBox="1"/>
          <p:nvPr/>
        </p:nvSpPr>
        <p:spPr>
          <a:xfrm>
            <a:off x="334297" y="1565067"/>
            <a:ext cx="8632722" cy="3139321"/>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Calibri"/>
                <a:ea typeface="Calibri"/>
                <a:cs typeface="Calibri"/>
                <a:sym typeface="Calibri"/>
              </a:rPr>
              <a:t>Increased Complexity: </a:t>
            </a:r>
            <a:r>
              <a:rPr lang="en-US" sz="1800">
                <a:solidFill>
                  <a:schemeClr val="dk1"/>
                </a:solidFill>
                <a:latin typeface="Calibri"/>
                <a:ea typeface="Calibri"/>
                <a:cs typeface="Calibri"/>
                <a:sym typeface="Calibri"/>
              </a:rPr>
              <a:t>Debugging and maintaining procedures can be more challenging compared to simple SQL statements.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Calibri"/>
                <a:ea typeface="Calibri"/>
                <a:cs typeface="Calibri"/>
                <a:sym typeface="Calibri"/>
              </a:rPr>
              <a:t>Overuse Potential: </a:t>
            </a:r>
            <a:r>
              <a:rPr lang="en-US" sz="1800">
                <a:solidFill>
                  <a:schemeClr val="dk1"/>
                </a:solidFill>
                <a:latin typeface="Calibri"/>
                <a:ea typeface="Calibri"/>
                <a:cs typeface="Calibri"/>
                <a:sym typeface="Calibri"/>
              </a:rPr>
              <a:t>Avoid using procedures for basic tasks, as they might add unnecessary complexity.</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Calibri"/>
                <a:ea typeface="Calibri"/>
                <a:cs typeface="Calibri"/>
                <a:sym typeface="Calibri"/>
              </a:rPr>
              <a:t>Portability Issues: </a:t>
            </a:r>
            <a:r>
              <a:rPr lang="en-US" sz="1800">
                <a:solidFill>
                  <a:schemeClr val="dk1"/>
                </a:solidFill>
                <a:latin typeface="Calibri"/>
                <a:ea typeface="Calibri"/>
                <a:cs typeface="Calibri"/>
                <a:sym typeface="Calibri"/>
              </a:rPr>
              <a:t>Procedures might require adjustments when migrating between database systems due to vendor-specific syntax or features.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Calibri"/>
                <a:ea typeface="Calibri"/>
                <a:cs typeface="Calibri"/>
                <a:sym typeface="Calibri"/>
              </a:rPr>
              <a:t>Security Considerations: </a:t>
            </a:r>
            <a:r>
              <a:rPr lang="en-US" sz="1800">
                <a:solidFill>
                  <a:schemeClr val="dk1"/>
                </a:solidFill>
                <a:latin typeface="Calibri"/>
                <a:ea typeface="Calibri"/>
                <a:cs typeface="Calibri"/>
                <a:sym typeface="Calibri"/>
              </a:rPr>
              <a:t>Improperly implemented procedures can introduce security vulnerabilities, so careful access control is crucial.</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63"/>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391" name="Google Shape;391;p63"/>
          <p:cNvSpPr txBox="1"/>
          <p:nvPr/>
        </p:nvSpPr>
        <p:spPr>
          <a:xfrm>
            <a:off x="344129" y="1435619"/>
            <a:ext cx="8455742" cy="42473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Using the </a:t>
            </a:r>
            <a:r>
              <a:rPr b="1" lang="en-US" sz="1800">
                <a:solidFill>
                  <a:schemeClr val="dk1"/>
                </a:solidFill>
                <a:latin typeface="Calibri"/>
                <a:ea typeface="Calibri"/>
                <a:cs typeface="Calibri"/>
                <a:sym typeface="Calibri"/>
              </a:rPr>
              <a:t>Sakila</a:t>
            </a:r>
            <a:r>
              <a:rPr lang="en-US" sz="1800">
                <a:solidFill>
                  <a:schemeClr val="dk1"/>
                </a:solidFill>
                <a:latin typeface="Calibri"/>
                <a:ea typeface="Calibri"/>
                <a:cs typeface="Calibri"/>
                <a:sym typeface="Calibri"/>
              </a:rPr>
              <a:t> database, create a stored procedure named:</a:t>
            </a:r>
            <a:endParaRPr/>
          </a:p>
          <a:p>
            <a:pPr indent="0" lvl="0" marL="0" marR="0" rtl="0" algn="l">
              <a:spcBef>
                <a:spcPts val="0"/>
              </a:spcBef>
              <a:spcAft>
                <a:spcPts val="0"/>
              </a:spcAft>
              <a:buClr>
                <a:schemeClr val="dk1"/>
              </a:buClr>
              <a:buSzPts val="1800"/>
              <a:buFont typeface="Calibri"/>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r>
              <a:rPr b="1" lang="en-US" sz="1800">
                <a:solidFill>
                  <a:schemeClr val="dk1"/>
                </a:solidFill>
                <a:latin typeface="Calibri"/>
                <a:ea typeface="Calibri"/>
                <a:cs typeface="Calibri"/>
                <a:sym typeface="Calibri"/>
              </a:rPr>
              <a:t>Procedure with INOUT Parameter and DECLARE variables. </a:t>
            </a:r>
            <a:r>
              <a:rPr lang="en-US" sz="1800">
                <a:solidFill>
                  <a:schemeClr val="dk1"/>
                </a:solidFill>
                <a:latin typeface="Calibri"/>
                <a:ea typeface="Calibri"/>
                <a:cs typeface="Calibri"/>
                <a:sym typeface="Calibri"/>
              </a:rPr>
              <a:t>Create a stored procedure named:</a:t>
            </a:r>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r>
              <a:rPr b="1" lang="en-US" sz="1800">
                <a:solidFill>
                  <a:schemeClr val="dk1"/>
                </a:solidFill>
                <a:latin typeface="Calibri"/>
                <a:ea typeface="Calibri"/>
                <a:cs typeface="Calibri"/>
                <a:sym typeface="Calibri"/>
              </a:rPr>
              <a:t>CountCustomersByStore(IN storeID INT, INOUT customerCount INT)</a:t>
            </a:r>
            <a:endParaRPr/>
          </a:p>
          <a:p>
            <a:pPr indent="0" lvl="0" marL="0" marR="0" rtl="0" algn="l">
              <a:spcBef>
                <a:spcPts val="0"/>
              </a:spcBef>
              <a:spcAft>
                <a:spcPts val="0"/>
              </a:spcAft>
              <a:buClr>
                <a:schemeClr val="dk1"/>
              </a:buClr>
              <a:buSzPts val="1800"/>
              <a:buFont typeface="Calibri"/>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r>
              <a:rPr lang="en-US" sz="1800">
                <a:solidFill>
                  <a:schemeClr val="dk1"/>
                </a:solidFill>
                <a:latin typeface="Calibri"/>
                <a:ea typeface="Calibri"/>
                <a:cs typeface="Calibri"/>
                <a:sym typeface="Calibri"/>
              </a:rPr>
              <a:t>The procedure must:</a:t>
            </a:r>
            <a:endParaRPr/>
          </a:p>
          <a:p>
            <a:pPr indent="-114300" lvl="0" marL="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 Declare a variable </a:t>
            </a:r>
            <a:r>
              <a:rPr lang="en-US" sz="1800">
                <a:solidFill>
                  <a:schemeClr val="dk1"/>
                </a:solidFill>
                <a:latin typeface="Courier New"/>
                <a:ea typeface="Courier New"/>
                <a:cs typeface="Courier New"/>
                <a:sym typeface="Courier New"/>
              </a:rPr>
              <a:t>totalCust</a:t>
            </a:r>
            <a:endParaRPr sz="1800">
              <a:solidFill>
                <a:schemeClr val="dk1"/>
              </a:solidFill>
              <a:latin typeface="Calibri"/>
              <a:ea typeface="Calibri"/>
              <a:cs typeface="Calibri"/>
              <a:sym typeface="Calibri"/>
            </a:endParaRPr>
          </a:p>
          <a:p>
            <a:pPr indent="-114300" lvl="0" marL="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 Calculate number of customers for the given store ID (Sakila table: </a:t>
            </a:r>
            <a:r>
              <a:rPr lang="en-US" sz="1800">
                <a:solidFill>
                  <a:schemeClr val="dk1"/>
                </a:solidFill>
                <a:latin typeface="Courier New"/>
                <a:ea typeface="Courier New"/>
                <a:cs typeface="Courier New"/>
                <a:sym typeface="Courier New"/>
              </a:rPr>
              <a:t>customer</a:t>
            </a:r>
            <a:r>
              <a:rPr lang="en-US" sz="1800">
                <a:solidFill>
                  <a:schemeClr val="dk1"/>
                </a:solidFill>
                <a:latin typeface="Calibri"/>
                <a:ea typeface="Calibri"/>
                <a:cs typeface="Calibri"/>
                <a:sym typeface="Calibri"/>
              </a:rPr>
              <a:t>)</a:t>
            </a:r>
            <a:endParaRPr/>
          </a:p>
          <a:p>
            <a:pPr indent="-114300" lvl="0" marL="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 Assign the result into </a:t>
            </a:r>
            <a:r>
              <a:rPr lang="en-US" sz="1800">
                <a:solidFill>
                  <a:schemeClr val="dk1"/>
                </a:solidFill>
                <a:latin typeface="Courier New"/>
                <a:ea typeface="Courier New"/>
                <a:cs typeface="Courier New"/>
                <a:sym typeface="Courier New"/>
              </a:rPr>
              <a:t>totalCust</a:t>
            </a:r>
            <a:endParaRPr sz="1800">
              <a:solidFill>
                <a:schemeClr val="dk1"/>
              </a:solidFill>
              <a:latin typeface="Calibri"/>
              <a:ea typeface="Calibri"/>
              <a:cs typeface="Calibri"/>
              <a:sym typeface="Calibri"/>
            </a:endParaRPr>
          </a:p>
          <a:p>
            <a:pPr indent="-114300" lvl="0" marL="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 Set the INOUT parameter </a:t>
            </a:r>
            <a:r>
              <a:rPr lang="en-US" sz="1800">
                <a:solidFill>
                  <a:schemeClr val="dk1"/>
                </a:solidFill>
                <a:latin typeface="Courier New"/>
                <a:ea typeface="Courier New"/>
                <a:cs typeface="Courier New"/>
                <a:sym typeface="Courier New"/>
              </a:rPr>
              <a:t>customerCount = totalCust</a:t>
            </a:r>
            <a:endParaRPr sz="1800">
              <a:solidFill>
                <a:schemeClr val="dk1"/>
              </a:solidFill>
              <a:latin typeface="Courier New"/>
              <a:ea typeface="Courier New"/>
              <a:cs typeface="Courier New"/>
              <a:sym typeface="Courier New"/>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r>
              <a:rPr b="1" lang="en-US" sz="1800">
                <a:solidFill>
                  <a:schemeClr val="dk1"/>
                </a:solidFill>
                <a:latin typeface="Calibri"/>
                <a:ea typeface="Calibri"/>
                <a:cs typeface="Calibri"/>
                <a:sym typeface="Calibri"/>
              </a:rPr>
              <a:t>Task:</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Write the full procedure </a:t>
            </a:r>
            <a:r>
              <a:rPr b="1" lang="en-US" sz="1800">
                <a:solidFill>
                  <a:schemeClr val="dk1"/>
                </a:solidFill>
                <a:latin typeface="Calibri"/>
                <a:ea typeface="Calibri"/>
                <a:cs typeface="Calibri"/>
                <a:sym typeface="Calibri"/>
              </a:rPr>
              <a:t>and</a:t>
            </a:r>
            <a:r>
              <a:rPr lang="en-US" sz="1800">
                <a:solidFill>
                  <a:schemeClr val="dk1"/>
                </a:solidFill>
                <a:latin typeface="Calibri"/>
                <a:ea typeface="Calibri"/>
                <a:cs typeface="Calibri"/>
                <a:sym typeface="Calibri"/>
              </a:rPr>
              <a:t> show how to call it using the </a:t>
            </a:r>
            <a:r>
              <a:rPr lang="en-US" sz="1800">
                <a:solidFill>
                  <a:schemeClr val="dk1"/>
                </a:solidFill>
                <a:latin typeface="Courier New"/>
                <a:ea typeface="Courier New"/>
                <a:cs typeface="Courier New"/>
                <a:sym typeface="Courier New"/>
              </a:rPr>
              <a:t>CALL</a:t>
            </a:r>
            <a:r>
              <a:rPr lang="en-US" sz="1800">
                <a:solidFill>
                  <a:schemeClr val="dk1"/>
                </a:solidFill>
                <a:latin typeface="Calibri"/>
                <a:ea typeface="Calibri"/>
                <a:cs typeface="Calibri"/>
                <a:sym typeface="Calibri"/>
              </a:rPr>
              <a:t> statement.</a:t>
            </a:r>
            <a:endParaRPr/>
          </a:p>
        </p:txBody>
      </p:sp>
      <p:sp>
        <p:nvSpPr>
          <p:cNvPr id="392" name="Google Shape;392;p63"/>
          <p:cNvSpPr txBox="1"/>
          <p:nvPr>
            <p:ph type="title"/>
          </p:nvPr>
        </p:nvSpPr>
        <p:spPr>
          <a:xfrm>
            <a:off x="-685800" y="208204"/>
            <a:ext cx="10515600" cy="9271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1"/>
              </a:buClr>
              <a:buSzPts val="3000"/>
              <a:buFont typeface="Calibri"/>
              <a:buNone/>
            </a:pPr>
            <a:r>
              <a:rPr b="1" lang="en-US">
                <a:solidFill>
                  <a:schemeClr val="accent1"/>
                </a:solidFill>
              </a:rPr>
              <a:t>EXERCISE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g3af35b24543_0_21"/>
          <p:cNvSpPr txBox="1"/>
          <p:nvPr>
            <p:ph type="title"/>
          </p:nvPr>
        </p:nvSpPr>
        <p:spPr>
          <a:xfrm>
            <a:off x="555350" y="89031"/>
            <a:ext cx="78867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742117"/>
              </a:buClr>
              <a:buSzPts val="4000"/>
              <a:buFont typeface="Calibri"/>
              <a:buNone/>
            </a:pPr>
            <a:r>
              <a:rPr b="1" lang="en-US" sz="4000">
                <a:solidFill>
                  <a:srgbClr val="742117"/>
                </a:solidFill>
              </a:rPr>
              <a:t>CLASSICMODELS</a:t>
            </a:r>
            <a:r>
              <a:rPr b="1" lang="en-US" sz="4000">
                <a:solidFill>
                  <a:srgbClr val="742117"/>
                </a:solidFill>
              </a:rPr>
              <a:t> DATABASE</a:t>
            </a:r>
            <a:endParaRPr b="1" sz="4000">
              <a:solidFill>
                <a:srgbClr val="742117"/>
              </a:solidFill>
            </a:endParaRPr>
          </a:p>
        </p:txBody>
      </p:sp>
      <p:pic>
        <p:nvPicPr>
          <p:cNvPr id="398" name="Google Shape;398;g3af35b24543_0_21"/>
          <p:cNvPicPr preferRelativeResize="0"/>
          <p:nvPr/>
        </p:nvPicPr>
        <p:blipFill>
          <a:blip r:embed="rId3">
            <a:alphaModFix/>
          </a:blip>
          <a:stretch>
            <a:fillRect/>
          </a:stretch>
        </p:blipFill>
        <p:spPr>
          <a:xfrm>
            <a:off x="1754350" y="1336806"/>
            <a:ext cx="5778003" cy="500234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g3af35b24543_0_0"/>
          <p:cNvSpPr txBox="1"/>
          <p:nvPr>
            <p:ph idx="12" type="sldNum"/>
          </p:nvPr>
        </p:nvSpPr>
        <p:spPr>
          <a:xfrm>
            <a:off x="6457950" y="6356353"/>
            <a:ext cx="20574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404" name="Google Shape;404;g3af35b24543_0_0"/>
          <p:cNvSpPr txBox="1"/>
          <p:nvPr>
            <p:ph type="title"/>
          </p:nvPr>
        </p:nvSpPr>
        <p:spPr>
          <a:xfrm>
            <a:off x="306029" y="146241"/>
            <a:ext cx="8532000" cy="759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1"/>
              </a:buClr>
              <a:buSzPts val="3000"/>
              <a:buFont typeface="Calibri"/>
              <a:buNone/>
            </a:pPr>
            <a:r>
              <a:rPr b="1" lang="en-US">
                <a:solidFill>
                  <a:schemeClr val="accent1"/>
                </a:solidFill>
              </a:rPr>
              <a:t>Stored Function</a:t>
            </a:r>
            <a:endParaRPr b="1">
              <a:solidFill>
                <a:schemeClr val="accent1"/>
              </a:solidFill>
            </a:endParaRPr>
          </a:p>
        </p:txBody>
      </p:sp>
      <p:sp>
        <p:nvSpPr>
          <p:cNvPr id="405" name="Google Shape;405;g3af35b24543_0_0"/>
          <p:cNvSpPr txBox="1"/>
          <p:nvPr>
            <p:ph idx="1" type="body"/>
          </p:nvPr>
        </p:nvSpPr>
        <p:spPr>
          <a:xfrm>
            <a:off x="208935" y="1429930"/>
            <a:ext cx="8532000" cy="978900"/>
          </a:xfrm>
          <a:prstGeom prst="rect">
            <a:avLst/>
          </a:prstGeom>
          <a:noFill/>
          <a:ln>
            <a:noFill/>
          </a:ln>
        </p:spPr>
        <p:txBody>
          <a:bodyPr anchorCtr="0" anchor="t" bIns="45700" lIns="91425" spcFirstLastPara="1" rIns="91425" wrap="square" tIns="45700">
            <a:noAutofit/>
          </a:bodyPr>
          <a:lstStyle/>
          <a:p>
            <a:pPr indent="-171450" lvl="0" marL="171450" rtl="0" algn="l">
              <a:lnSpc>
                <a:spcPct val="90000"/>
              </a:lnSpc>
              <a:spcBef>
                <a:spcPts val="0"/>
              </a:spcBef>
              <a:spcAft>
                <a:spcPts val="0"/>
              </a:spcAft>
              <a:buClr>
                <a:srgbClr val="000000"/>
              </a:buClr>
              <a:buSzPts val="2000"/>
              <a:buChar char="•"/>
            </a:pPr>
            <a:r>
              <a:rPr b="0" i="0" lang="en-US" sz="2000">
                <a:solidFill>
                  <a:srgbClr val="000000"/>
                </a:solidFill>
              </a:rPr>
              <a:t>A stored function is a special kind stored program that returns a single value. </a:t>
            </a:r>
            <a:endParaRPr/>
          </a:p>
          <a:p>
            <a:pPr indent="-171450" lvl="0" marL="171450" rtl="0" algn="l">
              <a:lnSpc>
                <a:spcPct val="90000"/>
              </a:lnSpc>
              <a:spcBef>
                <a:spcPts val="750"/>
              </a:spcBef>
              <a:spcAft>
                <a:spcPts val="0"/>
              </a:spcAft>
              <a:buClr>
                <a:srgbClr val="000000"/>
              </a:buClr>
              <a:buSzPts val="2000"/>
              <a:buChar char="•"/>
            </a:pPr>
            <a:r>
              <a:rPr lang="en-US" sz="2000">
                <a:solidFill>
                  <a:srgbClr val="000000"/>
                </a:solidFill>
              </a:rPr>
              <a:t>Can </a:t>
            </a:r>
            <a:r>
              <a:rPr b="0" i="0" lang="en-US" sz="2000">
                <a:solidFill>
                  <a:srgbClr val="000000"/>
                </a:solidFill>
              </a:rPr>
              <a:t>use stored functions to encapsulate common formulas or business rules that are reusable among SQL statements or stored programs.</a:t>
            </a:r>
            <a:endParaRPr/>
          </a:p>
          <a:p>
            <a:pPr indent="0" lvl="0" marL="0" rtl="0" algn="l">
              <a:lnSpc>
                <a:spcPct val="90000"/>
              </a:lnSpc>
              <a:spcBef>
                <a:spcPts val="750"/>
              </a:spcBef>
              <a:spcAft>
                <a:spcPts val="0"/>
              </a:spcAft>
              <a:buClr>
                <a:schemeClr val="dk1"/>
              </a:buClr>
              <a:buSzPts val="2000"/>
              <a:buNone/>
            </a:pPr>
            <a:r>
              <a:t/>
            </a:r>
            <a:endParaRPr b="0" i="0" sz="2000">
              <a:solidFill>
                <a:srgbClr val="000000"/>
              </a:solidFill>
            </a:endParaRPr>
          </a:p>
          <a:p>
            <a:pPr indent="-171450" lvl="0" marL="171450" rtl="0" algn="l">
              <a:lnSpc>
                <a:spcPct val="90000"/>
              </a:lnSpc>
              <a:spcBef>
                <a:spcPts val="750"/>
              </a:spcBef>
              <a:spcAft>
                <a:spcPts val="0"/>
              </a:spcAft>
              <a:buClr>
                <a:schemeClr val="dk1"/>
              </a:buClr>
              <a:buSzPts val="2000"/>
              <a:buChar char="•"/>
            </a:pPr>
            <a:r>
              <a:rPr lang="en-US" sz="2000"/>
              <a:t>Stored Function Syntax:</a:t>
            </a:r>
            <a:endParaRPr/>
          </a:p>
        </p:txBody>
      </p:sp>
      <p:pic>
        <p:nvPicPr>
          <p:cNvPr id="406" name="Google Shape;406;g3af35b24543_0_0"/>
          <p:cNvPicPr preferRelativeResize="0"/>
          <p:nvPr/>
        </p:nvPicPr>
        <p:blipFill rotWithShape="1">
          <a:blip r:embed="rId3">
            <a:alphaModFix/>
          </a:blip>
          <a:srcRect b="0" l="0" r="0" t="0"/>
          <a:stretch/>
        </p:blipFill>
        <p:spPr>
          <a:xfrm>
            <a:off x="3637935" y="2625861"/>
            <a:ext cx="3486393" cy="3753955"/>
          </a:xfrm>
          <a:prstGeom prst="rect">
            <a:avLst/>
          </a:prstGeom>
          <a:noFill/>
          <a:ln>
            <a:noFill/>
          </a:ln>
        </p:spPr>
      </p:pic>
    </p:spTree>
  </p:cSld>
  <p:clrMapOvr>
    <a:masterClrMapping/>
  </p:clrMapOvr>
  <p:transition spd="slow">
    <p:push/>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g3af35b24543_0_7"/>
          <p:cNvSpPr txBox="1"/>
          <p:nvPr>
            <p:ph type="title"/>
          </p:nvPr>
        </p:nvSpPr>
        <p:spPr>
          <a:xfrm>
            <a:off x="-469490" y="169658"/>
            <a:ext cx="10515600" cy="927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1"/>
              </a:buClr>
              <a:buSzPts val="3000"/>
              <a:buFont typeface="Calibri"/>
              <a:buNone/>
            </a:pPr>
            <a:r>
              <a:rPr b="1" lang="en-US">
                <a:solidFill>
                  <a:schemeClr val="accent1"/>
                </a:solidFill>
              </a:rPr>
              <a:t>Example Stored Function </a:t>
            </a:r>
            <a:endParaRPr b="1">
              <a:solidFill>
                <a:schemeClr val="accent1"/>
              </a:solidFill>
            </a:endParaRPr>
          </a:p>
        </p:txBody>
      </p:sp>
      <p:pic>
        <p:nvPicPr>
          <p:cNvPr id="412" name="Google Shape;412;g3af35b24543_0_7"/>
          <p:cNvPicPr preferRelativeResize="0"/>
          <p:nvPr>
            <p:ph idx="1" type="body"/>
          </p:nvPr>
        </p:nvPicPr>
        <p:blipFill rotWithShape="1">
          <a:blip r:embed="rId3">
            <a:alphaModFix/>
          </a:blip>
          <a:srcRect b="0" l="0" r="0" t="0"/>
          <a:stretch/>
        </p:blipFill>
        <p:spPr>
          <a:xfrm>
            <a:off x="150838" y="982654"/>
            <a:ext cx="2581500" cy="3791400"/>
          </a:xfrm>
          <a:prstGeom prst="rect">
            <a:avLst/>
          </a:prstGeom>
          <a:noFill/>
          <a:ln>
            <a:noFill/>
          </a:ln>
        </p:spPr>
      </p:pic>
      <p:pic>
        <p:nvPicPr>
          <p:cNvPr id="413" name="Google Shape;413;g3af35b24543_0_7"/>
          <p:cNvPicPr preferRelativeResize="0"/>
          <p:nvPr/>
        </p:nvPicPr>
        <p:blipFill rotWithShape="1">
          <a:blip r:embed="rId4">
            <a:alphaModFix/>
          </a:blip>
          <a:srcRect b="0" l="0" r="0" t="0"/>
          <a:stretch/>
        </p:blipFill>
        <p:spPr>
          <a:xfrm>
            <a:off x="4006294" y="1690644"/>
            <a:ext cx="3590885" cy="4674450"/>
          </a:xfrm>
          <a:prstGeom prst="rect">
            <a:avLst/>
          </a:prstGeom>
          <a:noFill/>
          <a:ln>
            <a:noFill/>
          </a:ln>
        </p:spPr>
      </p:pic>
      <p:sp>
        <p:nvSpPr>
          <p:cNvPr id="414" name="Google Shape;414;g3af35b24543_0_7"/>
          <p:cNvSpPr txBox="1"/>
          <p:nvPr/>
        </p:nvSpPr>
        <p:spPr>
          <a:xfrm>
            <a:off x="2732473" y="982654"/>
            <a:ext cx="6243300" cy="708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000000"/>
                </a:solidFill>
                <a:latin typeface="Arial"/>
                <a:ea typeface="Arial"/>
                <a:cs typeface="Arial"/>
                <a:sym typeface="Arial"/>
              </a:rPr>
              <a:t>C</a:t>
            </a:r>
            <a:r>
              <a:rPr b="0" i="0" lang="en-US" sz="2000">
                <a:solidFill>
                  <a:srgbClr val="000000"/>
                </a:solidFill>
                <a:latin typeface="Arial"/>
                <a:ea typeface="Arial"/>
                <a:cs typeface="Arial"/>
                <a:sym typeface="Arial"/>
              </a:rPr>
              <a:t>reates a function that returns the customer level based on credit:</a:t>
            </a:r>
            <a:endParaRPr sz="20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pic>
        <p:nvPicPr>
          <p:cNvPr id="419" name="Google Shape;419;g3af35b24543_0_14"/>
          <p:cNvPicPr preferRelativeResize="0"/>
          <p:nvPr>
            <p:ph idx="1" type="body"/>
          </p:nvPr>
        </p:nvPicPr>
        <p:blipFill rotWithShape="1">
          <a:blip r:embed="rId3">
            <a:alphaModFix/>
          </a:blip>
          <a:srcRect b="0" l="0" r="0" t="0"/>
          <a:stretch/>
        </p:blipFill>
        <p:spPr>
          <a:xfrm>
            <a:off x="262393" y="3395417"/>
            <a:ext cx="3888300" cy="2332800"/>
          </a:xfrm>
          <a:prstGeom prst="rect">
            <a:avLst/>
          </a:prstGeom>
          <a:noFill/>
          <a:ln>
            <a:noFill/>
          </a:ln>
        </p:spPr>
      </p:pic>
      <p:sp>
        <p:nvSpPr>
          <p:cNvPr id="420" name="Google Shape;420;g3af35b24543_0_14"/>
          <p:cNvSpPr txBox="1"/>
          <p:nvPr/>
        </p:nvSpPr>
        <p:spPr>
          <a:xfrm>
            <a:off x="262393" y="1962196"/>
            <a:ext cx="2186700" cy="1323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000000"/>
                </a:solidFill>
                <a:latin typeface="Arial"/>
                <a:ea typeface="Arial"/>
                <a:cs typeface="Arial"/>
                <a:sym typeface="Arial"/>
              </a:rPr>
              <a:t>A SQL statement that uses </a:t>
            </a:r>
            <a:r>
              <a:rPr b="0" i="0" lang="en-US" sz="2000">
                <a:solidFill>
                  <a:srgbClr val="000000"/>
                </a:solidFill>
                <a:latin typeface="Arial"/>
                <a:ea typeface="Arial"/>
                <a:cs typeface="Arial"/>
                <a:sym typeface="Arial"/>
              </a:rPr>
              <a:t>the CustomerLevel function:</a:t>
            </a:r>
            <a:endParaRPr sz="2000">
              <a:solidFill>
                <a:schemeClr val="dk1"/>
              </a:solidFill>
              <a:latin typeface="Calibri"/>
              <a:ea typeface="Calibri"/>
              <a:cs typeface="Calibri"/>
              <a:sym typeface="Calibri"/>
            </a:endParaRPr>
          </a:p>
        </p:txBody>
      </p:sp>
      <p:pic>
        <p:nvPicPr>
          <p:cNvPr id="421" name="Google Shape;421;g3af35b24543_0_14"/>
          <p:cNvPicPr preferRelativeResize="0"/>
          <p:nvPr/>
        </p:nvPicPr>
        <p:blipFill rotWithShape="1">
          <a:blip r:embed="rId4">
            <a:alphaModFix/>
          </a:blip>
          <a:srcRect b="0" l="0" r="0" t="0"/>
          <a:stretch/>
        </p:blipFill>
        <p:spPr>
          <a:xfrm>
            <a:off x="4572000" y="1892579"/>
            <a:ext cx="3820058" cy="3219899"/>
          </a:xfrm>
          <a:prstGeom prst="rect">
            <a:avLst/>
          </a:prstGeom>
          <a:noFill/>
          <a:ln>
            <a:noFill/>
          </a:ln>
        </p:spPr>
      </p:pic>
      <p:sp>
        <p:nvSpPr>
          <p:cNvPr id="422" name="Google Shape;422;g3af35b24543_0_14"/>
          <p:cNvSpPr txBox="1"/>
          <p:nvPr/>
        </p:nvSpPr>
        <p:spPr>
          <a:xfrm>
            <a:off x="-764458" y="91000"/>
            <a:ext cx="10515600" cy="92700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accent1"/>
              </a:buClr>
              <a:buSzPts val="3000"/>
              <a:buFont typeface="Calibri"/>
              <a:buNone/>
            </a:pPr>
            <a:r>
              <a:rPr b="1" lang="en-US" sz="3000">
                <a:solidFill>
                  <a:schemeClr val="accent1"/>
                </a:solidFill>
                <a:latin typeface="Calibri"/>
                <a:ea typeface="Calibri"/>
                <a:cs typeface="Calibri"/>
                <a:sym typeface="Calibri"/>
              </a:rPr>
              <a:t>Example Stored Function </a:t>
            </a:r>
            <a:endParaRPr b="1" sz="3000">
              <a:solidFill>
                <a:schemeClr val="accent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g3af35b24543_0_39"/>
          <p:cNvSpPr txBox="1"/>
          <p:nvPr>
            <p:ph type="title"/>
          </p:nvPr>
        </p:nvSpPr>
        <p:spPr>
          <a:xfrm>
            <a:off x="628650" y="365128"/>
            <a:ext cx="7886700" cy="1325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429" name="Google Shape;429;g3af35b24543_0_39"/>
          <p:cNvSpPr txBox="1"/>
          <p:nvPr>
            <p:ph idx="1" type="body"/>
          </p:nvPr>
        </p:nvSpPr>
        <p:spPr>
          <a:xfrm>
            <a:off x="628650" y="1825625"/>
            <a:ext cx="7886700" cy="4351200"/>
          </a:xfrm>
          <a:prstGeom prst="rect">
            <a:avLst/>
          </a:prstGeom>
        </p:spPr>
        <p:txBody>
          <a:bodyPr anchorCtr="0" anchor="t" bIns="45700" lIns="91425" spcFirstLastPara="1" rIns="91425" wrap="square" tIns="45700">
            <a:normAutofit/>
          </a:bodyPr>
          <a:lstStyle/>
          <a:p>
            <a:pPr indent="0" lvl="0" marL="0" rtl="0" algn="l">
              <a:spcBef>
                <a:spcPts val="750"/>
              </a:spcBef>
              <a:spcAft>
                <a:spcPts val="0"/>
              </a:spcAft>
              <a:buNone/>
            </a:pPr>
            <a:r>
              <a:t/>
            </a:r>
            <a:endParaRPr/>
          </a:p>
        </p:txBody>
      </p:sp>
      <p:sp>
        <p:nvSpPr>
          <p:cNvPr id="430" name="Google Shape;430;g3af35b24543_0_39"/>
          <p:cNvSpPr txBox="1"/>
          <p:nvPr>
            <p:ph idx="12" type="sldNum"/>
          </p:nvPr>
        </p:nvSpPr>
        <p:spPr>
          <a:xfrm>
            <a:off x="6457950" y="6356353"/>
            <a:ext cx="2057400" cy="365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pic>
        <p:nvPicPr>
          <p:cNvPr id="431" name="Google Shape;431;g3af35b24543_0_39"/>
          <p:cNvPicPr preferRelativeResize="0"/>
          <p:nvPr/>
        </p:nvPicPr>
        <p:blipFill>
          <a:blip r:embed="rId3">
            <a:alphaModFix/>
          </a:blip>
          <a:stretch>
            <a:fillRect/>
          </a:stretch>
        </p:blipFill>
        <p:spPr>
          <a:xfrm>
            <a:off x="0" y="-52351"/>
            <a:ext cx="9144000" cy="700457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64"/>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Calibri"/>
              <a:buNone/>
            </a:pPr>
            <a:r>
              <a:t/>
            </a:r>
            <a:endParaRPr/>
          </a:p>
        </p:txBody>
      </p:sp>
      <p:sp>
        <p:nvSpPr>
          <p:cNvPr id="437" name="Google Shape;437;p64"/>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438" name="Google Shape;438;p64"/>
          <p:cNvPicPr preferRelativeResize="0"/>
          <p:nvPr/>
        </p:nvPicPr>
        <p:blipFill rotWithShape="1">
          <a:blip r:embed="rId3">
            <a:alphaModFix/>
          </a:blip>
          <a:srcRect b="0" l="0" r="0" t="0"/>
          <a:stretch/>
        </p:blipFill>
        <p:spPr>
          <a:xfrm>
            <a:off x="4031392" y="3429002"/>
            <a:ext cx="3995252" cy="300669"/>
          </a:xfrm>
          <a:prstGeom prst="rect">
            <a:avLst/>
          </a:prstGeom>
          <a:noFill/>
          <a:ln>
            <a:noFill/>
          </a:ln>
        </p:spPr>
      </p:pic>
      <p:pic>
        <p:nvPicPr>
          <p:cNvPr id="439" name="Google Shape;439;p64"/>
          <p:cNvPicPr preferRelativeResize="0"/>
          <p:nvPr/>
        </p:nvPicPr>
        <p:blipFill rotWithShape="1">
          <a:blip r:embed="rId4">
            <a:alphaModFix/>
          </a:blip>
          <a:srcRect b="0" l="0" r="0" t="0"/>
          <a:stretch/>
        </p:blipFill>
        <p:spPr>
          <a:xfrm>
            <a:off x="3618817" y="3028053"/>
            <a:ext cx="3995252" cy="300669"/>
          </a:xfrm>
          <a:prstGeom prst="rect">
            <a:avLst/>
          </a:prstGeom>
          <a:noFill/>
          <a:ln>
            <a:noFill/>
          </a:ln>
        </p:spPr>
      </p:pic>
      <p:pic>
        <p:nvPicPr>
          <p:cNvPr id="440" name="Google Shape;440;p64"/>
          <p:cNvPicPr preferRelativeResize="0"/>
          <p:nvPr/>
        </p:nvPicPr>
        <p:blipFill rotWithShape="1">
          <a:blip r:embed="rId5">
            <a:alphaModFix/>
          </a:blip>
          <a:srcRect b="0" l="0" r="0" t="0"/>
          <a:stretch/>
        </p:blipFill>
        <p:spPr>
          <a:xfrm>
            <a:off x="979173" y="2870567"/>
            <a:ext cx="2709212" cy="91630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Lecture Slide Template DB">
  <a:themeElements>
    <a:clrScheme name="Custom 2">
      <a:dk1>
        <a:srgbClr val="000000"/>
      </a:dk1>
      <a:lt1>
        <a:srgbClr val="FFFFFF"/>
      </a:lt1>
      <a:dk2>
        <a:srgbClr val="696464"/>
      </a:dk2>
      <a:lt2>
        <a:srgbClr val="E9E5DC"/>
      </a:lt2>
      <a:accent1>
        <a:srgbClr val="6C1D35"/>
      </a:accent1>
      <a:accent2>
        <a:srgbClr val="9B2D1F"/>
      </a:accent2>
      <a:accent3>
        <a:srgbClr val="A28E6A"/>
      </a:accent3>
      <a:accent4>
        <a:srgbClr val="956251"/>
      </a:accent4>
      <a:accent5>
        <a:srgbClr val="918485"/>
      </a:accent5>
      <a:accent6>
        <a:srgbClr val="6C3636"/>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2019-01-07T08:53:00Z</dcterms:created>
  <dc:creator>acidfed</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1033-11.2.0.9684</vt:lpwstr>
  </property>
</Properties>
</file>