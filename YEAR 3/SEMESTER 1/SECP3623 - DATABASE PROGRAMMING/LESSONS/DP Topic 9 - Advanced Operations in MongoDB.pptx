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473" r:id="rId2"/>
    <p:sldId id="275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9" r:id="rId12"/>
    <p:sldId id="540" r:id="rId13"/>
    <p:sldId id="541" r:id="rId14"/>
    <p:sldId id="550" r:id="rId15"/>
    <p:sldId id="542" r:id="rId16"/>
    <p:sldId id="543" r:id="rId17"/>
    <p:sldId id="551" r:id="rId18"/>
    <p:sldId id="544" r:id="rId19"/>
    <p:sldId id="545" r:id="rId20"/>
    <p:sldId id="546" r:id="rId21"/>
    <p:sldId id="547" r:id="rId22"/>
    <p:sldId id="548" r:id="rId23"/>
    <p:sldId id="552" r:id="rId24"/>
    <p:sldId id="31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1D35"/>
    <a:srgbClr val="F5E6E3"/>
    <a:srgbClr val="0F2F4D"/>
    <a:srgbClr val="5591AA"/>
    <a:srgbClr val="FEF5D5"/>
    <a:srgbClr val="4E8F00"/>
    <a:srgbClr val="956251"/>
    <a:srgbClr val="9B2D1F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99" autoAdjust="0"/>
    <p:restoredTop sz="93969" autoAdjust="0"/>
  </p:normalViewPr>
  <p:slideViewPr>
    <p:cSldViewPr snapToGrid="0">
      <p:cViewPr varScale="1">
        <p:scale>
          <a:sx n="82" d="100"/>
          <a:sy n="82" d="100"/>
        </p:scale>
        <p:origin x="446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09BF-53EE-4D84-844F-BEC1430829B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B6879-5321-45FF-A6AE-E6B1BB62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10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060AB-20CD-AD40-F656-387C317C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AEBE3-46D3-2AE8-96F5-48C3CA07C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358D3-9603-FC8B-D225-5B2609DD9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86AEB-EC28-D2A9-2BE9-08B561F95A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6326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 err="1"/>
              <a:t>db.orders.aggregate</a:t>
            </a:r>
            <a:r>
              <a:rPr lang="en-MY" dirty="0"/>
              <a:t>([</a:t>
            </a:r>
          </a:p>
          <a:p>
            <a:r>
              <a:rPr lang="en-MY" dirty="0"/>
              <a:t>  { $group: { _id: "$customer", </a:t>
            </a:r>
            <a:r>
              <a:rPr lang="en-MY" dirty="0" err="1"/>
              <a:t>totalSpent</a:t>
            </a:r>
            <a:r>
              <a:rPr lang="en-MY" dirty="0"/>
              <a:t>: { $sum: "$amount" } } },</a:t>
            </a:r>
          </a:p>
          <a:p>
            <a:r>
              <a:rPr lang="en-MY" dirty="0"/>
              <a:t>  { $sort: { </a:t>
            </a:r>
            <a:r>
              <a:rPr lang="en-MY" dirty="0" err="1"/>
              <a:t>totalSpent</a:t>
            </a:r>
            <a:r>
              <a:rPr lang="en-MY" dirty="0"/>
              <a:t>: -1 } }</a:t>
            </a:r>
          </a:p>
          <a:p>
            <a:r>
              <a:rPr lang="en-MY" dirty="0"/>
              <a:t>])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15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28041" y="-1428041"/>
            <a:ext cx="6880030" cy="9736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59093" y="0"/>
            <a:ext cx="12073813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 userDrawn="1"/>
        </p:nvSpPr>
        <p:spPr>
          <a:xfrm rot="5400000">
            <a:off x="5953544" y="641578"/>
            <a:ext cx="28490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 userDrawn="1"/>
        </p:nvSpPr>
        <p:spPr>
          <a:xfrm>
            <a:off x="5479363" y="6595121"/>
            <a:ext cx="137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1100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64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 userDrawn="1"/>
        </p:nvGrpSpPr>
        <p:grpSpPr>
          <a:xfrm>
            <a:off x="0" y="0"/>
            <a:ext cx="4323456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26331" y="-1062392"/>
            <a:ext cx="240508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602281" y="2616106"/>
            <a:ext cx="7046892" cy="181468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83211" y="3743462"/>
            <a:ext cx="2080701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830037" y="6046777"/>
            <a:ext cx="4191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7112000" y="-35081"/>
            <a:ext cx="491744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11268262" y="349094"/>
            <a:ext cx="2010036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8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 userDrawn="1"/>
        </p:nvSpPr>
        <p:spPr>
          <a:xfrm>
            <a:off x="0" y="-2"/>
            <a:ext cx="12230100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2686050" y="-2686050"/>
            <a:ext cx="6858000" cy="122301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 userDrawn="1"/>
        </p:nvGrpSpPr>
        <p:grpSpPr>
          <a:xfrm>
            <a:off x="0" y="6438899"/>
            <a:ext cx="4425450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47751"/>
            <a:ext cx="10515600" cy="1500187"/>
          </a:xfrm>
        </p:spPr>
        <p:txBody>
          <a:bodyPr anchor="t"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4638"/>
            <a:ext cx="10515600" cy="33575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 userDrawn="1"/>
        </p:nvGrpSpPr>
        <p:grpSpPr>
          <a:xfrm>
            <a:off x="0" y="0"/>
            <a:ext cx="2135014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2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81125"/>
          </a:xfrm>
        </p:spPr>
        <p:txBody>
          <a:bodyPr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8"/>
            <a:ext cx="9144000" cy="346175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fld id="{B5912E74-8957-4046-8937-1199D066517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 userDrawn="1"/>
        </p:nvGrpSpPr>
        <p:grpSpPr>
          <a:xfrm>
            <a:off x="0" y="336866"/>
            <a:ext cx="83820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598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 userDrawn="1"/>
        </p:nvSpPr>
        <p:spPr>
          <a:xfrm>
            <a:off x="3894421" y="21431"/>
            <a:ext cx="4460168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806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 userDrawn="1"/>
        </p:nvSpPr>
        <p:spPr>
          <a:xfrm>
            <a:off x="-38100" y="1690688"/>
            <a:ext cx="12230100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53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 userDrawn="1"/>
        </p:nvSpPr>
        <p:spPr>
          <a:xfrm>
            <a:off x="6764" y="342265"/>
            <a:ext cx="1026963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019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 userDrawn="1"/>
        </p:nvGrpSpPr>
        <p:grpSpPr>
          <a:xfrm flipH="1">
            <a:off x="8896479" y="6438899"/>
            <a:ext cx="329552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2766218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66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4713261" y="1270"/>
            <a:ext cx="7112053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 userDrawn="1"/>
        </p:nvSpPr>
        <p:spPr>
          <a:xfrm>
            <a:off x="-38099" y="0"/>
            <a:ext cx="4764088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771969" cy="1600200"/>
          </a:xfrm>
        </p:spPr>
        <p:txBody>
          <a:bodyPr anchor="b">
            <a:normAutofit/>
          </a:bodyPr>
          <a:lstStyle>
            <a:lvl1pPr>
              <a:defRPr sz="28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77196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 userDrawn="1"/>
        </p:nvSpPr>
        <p:spPr>
          <a:xfrm rot="5400000">
            <a:off x="1324286" y="3399184"/>
            <a:ext cx="6858000" cy="596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109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9613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 userDrawn="1"/>
        </p:nvSpPr>
        <p:spPr>
          <a:xfrm>
            <a:off x="-38100" y="0"/>
            <a:ext cx="12230100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 userDrawn="1"/>
        </p:nvGrpSpPr>
        <p:grpSpPr>
          <a:xfrm>
            <a:off x="7180119" y="6473574"/>
            <a:ext cx="501188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20" y="283589"/>
            <a:ext cx="1470825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 userDrawn="1"/>
        </p:nvGrpSpPr>
        <p:grpSpPr>
          <a:xfrm>
            <a:off x="-58882" y="0"/>
            <a:ext cx="2130820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2828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 userDrawn="1"/>
        </p:nvSpPr>
        <p:spPr>
          <a:xfrm rot="5400000">
            <a:off x="6073139" y="761174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3350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 userDrawn="1"/>
        </p:nvSpPr>
        <p:spPr>
          <a:xfrm rot="5400000">
            <a:off x="6079906" y="-6086095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661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781150-1FB5-914F-8F90-3BA38EB3A9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 userDrawn="1"/>
        </p:nvCxnSpPr>
        <p:spPr>
          <a:xfrm>
            <a:off x="-12700" y="10160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373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959E7-45DE-4A2D-ACFD-0D8C8BBAB79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5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6" r:id="rId3"/>
    <p:sldLayoutId id="2147483662" r:id="rId4"/>
    <p:sldLayoutId id="2147483651" r:id="rId5"/>
    <p:sldLayoutId id="2147483649" r:id="rId6"/>
    <p:sldLayoutId id="2147483650" r:id="rId7"/>
    <p:sldLayoutId id="2147483652" r:id="rId8"/>
    <p:sldLayoutId id="2147483653" r:id="rId9"/>
    <p:sldLayoutId id="2147483654" r:id="rId10"/>
    <p:sldLayoutId id="2147483656" r:id="rId11"/>
    <p:sldLayoutId id="2147483655" r:id="rId12"/>
    <p:sldLayoutId id="2147483660" r:id="rId13"/>
    <p:sldLayoutId id="2147483657" r:id="rId14"/>
    <p:sldLayoutId id="2147483663" r:id="rId15"/>
    <p:sldLayoutId id="214748366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1263306" y="3379720"/>
            <a:ext cx="9299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b="1" spc="2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TOPIC 09 – </a:t>
            </a:r>
            <a:r>
              <a:rPr lang="en-MY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Advanced Operations in MongoDB</a:t>
            </a:r>
            <a:endParaRPr lang="en-MY" sz="2800" b="1" spc="225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1664677" y="2501090"/>
            <a:ext cx="880235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50" b="1" kern="0" dirty="0">
                <a:solidFill>
                  <a:srgbClr val="6C1D35"/>
                </a:solidFill>
              </a:rPr>
              <a:t>SECP3623 DATABASE PROGRAMMING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363" y="1306888"/>
            <a:ext cx="1687055" cy="5639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837" y="6381374"/>
            <a:ext cx="1602578" cy="12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57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6133-417D-9582-AD5C-C9B40323D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26795"/>
          </a:xfrm>
        </p:spPr>
        <p:txBody>
          <a:bodyPr/>
          <a:lstStyle/>
          <a:p>
            <a:r>
              <a:rPr lang="en-US" b="1" dirty="0">
                <a:solidFill>
                  <a:srgbClr val="6C1D35"/>
                </a:solidFill>
              </a:rPr>
              <a:t>LECTURE LEARNING OUTCOME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58F1EA-447C-486C-DE06-EF8199F79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18" y="6594272"/>
            <a:ext cx="1951264" cy="146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CF5489-1A93-67FA-16A5-04A76546BEFF}"/>
              </a:ext>
            </a:extLst>
          </p:cNvPr>
          <p:cNvSpPr txBox="1"/>
          <p:nvPr/>
        </p:nvSpPr>
        <p:spPr>
          <a:xfrm>
            <a:off x="735526" y="1538145"/>
            <a:ext cx="8753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MY" sz="2800" b="1" dirty="0"/>
              <a:t>By the end of this lecture, students should be able to:</a:t>
            </a:r>
            <a:endParaRPr lang="en-MY"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FDFB2D2-9A26-8994-C615-C966D773DF53}"/>
              </a:ext>
            </a:extLst>
          </p:cNvPr>
          <p:cNvSpPr txBox="1"/>
          <p:nvPr/>
        </p:nvSpPr>
        <p:spPr>
          <a:xfrm>
            <a:off x="735526" y="2104090"/>
            <a:ext cx="9999386" cy="2611612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Apply indexing techniques in MongoDB to </a:t>
            </a:r>
            <a:r>
              <a:rPr lang="en-US" sz="2800" dirty="0" err="1"/>
              <a:t>optimise</a:t>
            </a:r>
            <a:r>
              <a:rPr lang="en-US" sz="2800" dirty="0"/>
              <a:t> query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Perform sorting operations on MongoDB query results.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 aggregation pipelines for data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Execute advanced queries using MongoDB operators.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9320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255F9-FCA1-42D2-6F1E-ED650827A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F3AE8D-F6E1-5130-23F1-D34565782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478" y="255794"/>
            <a:ext cx="10515600" cy="671195"/>
          </a:xfrm>
        </p:spPr>
        <p:txBody>
          <a:bodyPr/>
          <a:lstStyle/>
          <a:p>
            <a:r>
              <a:rPr lang="en-US" b="1" dirty="0">
                <a:solidFill>
                  <a:srgbClr val="6C1D35"/>
                </a:solidFill>
              </a:rPr>
              <a:t>Create Database &amp; Collection</a:t>
            </a:r>
            <a:endParaRPr lang="en-MY" b="1" dirty="0">
              <a:solidFill>
                <a:srgbClr val="6C1D35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DF6D6C-58E7-7FA9-E6CA-CADCBA642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564" y="1054526"/>
            <a:ext cx="7168114" cy="51626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22BFD07-5B5A-4CBC-8E88-459AFCB8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17" y="1859596"/>
            <a:ext cx="553940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Database created: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shopdb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Collection created: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can now proceed with: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Insert documents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Sorting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Indexing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Aggregation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Advanced queries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55976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6EFA3C-EE09-D8C7-F89F-F7923104F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808" y="1185318"/>
            <a:ext cx="8680384" cy="52105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E4845683-A944-CC6D-CF65-80D2355A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765" y="372631"/>
            <a:ext cx="10515600" cy="671195"/>
          </a:xfrm>
        </p:spPr>
        <p:txBody>
          <a:bodyPr/>
          <a:lstStyle/>
          <a:p>
            <a:r>
              <a:rPr lang="en-US" b="1" dirty="0">
                <a:solidFill>
                  <a:srgbClr val="6C1D35"/>
                </a:solidFill>
              </a:rPr>
              <a:t>Create Database &amp; Collection</a:t>
            </a:r>
            <a:endParaRPr lang="en-MY" b="1" dirty="0">
              <a:solidFill>
                <a:srgbClr val="6C1D35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E0E775-CE48-BDF6-385D-B01193B6921F}"/>
              </a:ext>
            </a:extLst>
          </p:cNvPr>
          <p:cNvSpPr/>
          <p:nvPr/>
        </p:nvSpPr>
        <p:spPr>
          <a:xfrm>
            <a:off x="8816009" y="944217"/>
            <a:ext cx="1878495" cy="82494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5A7B6CD-F27B-5CEB-50CD-A51F67FDB58A}"/>
              </a:ext>
            </a:extLst>
          </p:cNvPr>
          <p:cNvSpPr/>
          <p:nvPr/>
        </p:nvSpPr>
        <p:spPr>
          <a:xfrm rot="13663394">
            <a:off x="10535585" y="1658122"/>
            <a:ext cx="858078" cy="4472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18999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4B97A0A-2EDC-DDB5-EEA5-A2A7946DF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713" y="332875"/>
            <a:ext cx="10515600" cy="67119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Insert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907B02-D633-DE77-50DF-F4239B498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43" y="1109658"/>
            <a:ext cx="11132896" cy="482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78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FEA29033-CECA-7A19-99BD-6ECB9DB7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4496" y="297184"/>
            <a:ext cx="3515139" cy="67119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Verify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026DBD-49AA-F488-B67F-958549CBA9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092"/>
          <a:stretch>
            <a:fillRect/>
          </a:stretch>
        </p:blipFill>
        <p:spPr>
          <a:xfrm>
            <a:off x="457200" y="1106099"/>
            <a:ext cx="3399183" cy="54190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CA69808-DEEB-25A7-AE39-FA51A528B8E4}"/>
              </a:ext>
            </a:extLst>
          </p:cNvPr>
          <p:cNvSpPr/>
          <p:nvPr/>
        </p:nvSpPr>
        <p:spPr>
          <a:xfrm>
            <a:off x="149087" y="1341783"/>
            <a:ext cx="3498574" cy="42738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1C3B7-2F95-FBFA-A6C5-0987DC29645A}"/>
              </a:ext>
            </a:extLst>
          </p:cNvPr>
          <p:cNvSpPr txBox="1"/>
          <p:nvPr/>
        </p:nvSpPr>
        <p:spPr>
          <a:xfrm>
            <a:off x="4164496" y="1230582"/>
            <a:ext cx="61225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</a:rPr>
              <a:t>db</a:t>
            </a:r>
            <a:br>
              <a:rPr lang="en-US" dirty="0"/>
            </a:br>
            <a:r>
              <a:rPr lang="en-US" dirty="0"/>
              <a:t>Refers to the </a:t>
            </a:r>
            <a:r>
              <a:rPr lang="en-US" b="1" dirty="0"/>
              <a:t>current database</a:t>
            </a:r>
            <a:r>
              <a:rPr lang="en-US" dirty="0"/>
              <a:t> in use (</a:t>
            </a:r>
            <a:r>
              <a:rPr lang="en-US" dirty="0" err="1">
                <a:latin typeface="Courier New" panose="02070309020205020404" pitchFamily="49" charset="0"/>
              </a:rPr>
              <a:t>shopdb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b="1" dirty="0">
                <a:latin typeface="Courier New" panose="02070309020205020404" pitchFamily="49" charset="0"/>
              </a:rPr>
              <a:t>orders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collection name</a:t>
            </a:r>
            <a:r>
              <a:rPr lang="en-US" dirty="0"/>
              <a:t> where order records are stored.</a:t>
            </a:r>
          </a:p>
          <a:p>
            <a:endParaRPr lang="en-US" b="1" dirty="0">
              <a:latin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</a:rPr>
              <a:t>find()</a:t>
            </a:r>
            <a:br>
              <a:rPr lang="en-US" dirty="0"/>
            </a:br>
            <a:r>
              <a:rPr lang="en-US" dirty="0"/>
              <a:t>A MongoDB method used to </a:t>
            </a:r>
            <a:r>
              <a:rPr lang="en-US" b="1" dirty="0"/>
              <a:t>query documents</a:t>
            </a:r>
            <a:r>
              <a:rPr lang="en-US" dirty="0"/>
              <a:t> from a collection.</a:t>
            </a:r>
          </a:p>
        </p:txBody>
      </p:sp>
    </p:spTree>
    <p:extLst>
      <p:ext uri="{BB962C8B-B14F-4D97-AF65-F5344CB8AC3E}">
        <p14:creationId xmlns:p14="http://schemas.microsoft.com/office/powerpoint/2010/main" val="1128919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594C7082-25C5-B12C-5D2A-D7A51DF3D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435" y="247488"/>
            <a:ext cx="7653130" cy="6711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Sorting in MongoDB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941ED7-846A-5631-B5BD-4F26C98A939F}"/>
              </a:ext>
            </a:extLst>
          </p:cNvPr>
          <p:cNvSpPr txBox="1"/>
          <p:nvPr/>
        </p:nvSpPr>
        <p:spPr>
          <a:xfrm>
            <a:off x="205919" y="1008135"/>
            <a:ext cx="11072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Sorting allows query results to be arranged in </a:t>
            </a:r>
            <a:r>
              <a:rPr lang="en-US" b="1" dirty="0"/>
              <a:t>ascending (1)</a:t>
            </a:r>
            <a:r>
              <a:rPr lang="en-US" dirty="0"/>
              <a:t> or </a:t>
            </a:r>
            <a:r>
              <a:rPr lang="en-US" b="1" dirty="0"/>
              <a:t>descending (-1)</a:t>
            </a:r>
            <a:r>
              <a:rPr lang="en-US" dirty="0"/>
              <a:t> order. </a:t>
            </a:r>
            <a:endParaRPr lang="en-MY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0F79E9-BDCC-2ABB-4E0D-2EFC5AB14E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724"/>
          <a:stretch>
            <a:fillRect/>
          </a:stretch>
        </p:blipFill>
        <p:spPr>
          <a:xfrm>
            <a:off x="212545" y="2055496"/>
            <a:ext cx="4866351" cy="44655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E8077F-022F-CD5D-95F2-583149E82C5B}"/>
              </a:ext>
            </a:extLst>
          </p:cNvPr>
          <p:cNvSpPr txBox="1"/>
          <p:nvPr/>
        </p:nvSpPr>
        <p:spPr>
          <a:xfrm>
            <a:off x="2049372" y="1596712"/>
            <a:ext cx="1192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Ascending</a:t>
            </a:r>
            <a:endParaRPr lang="en-MY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5B475-7047-B3B7-F3FA-CCC03E167591}"/>
              </a:ext>
            </a:extLst>
          </p:cNvPr>
          <p:cNvSpPr txBox="1"/>
          <p:nvPr/>
        </p:nvSpPr>
        <p:spPr>
          <a:xfrm>
            <a:off x="7479450" y="1596712"/>
            <a:ext cx="1396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Descending</a:t>
            </a:r>
            <a:endParaRPr lang="en-MY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39F613-C4B9-C6BB-B4A6-9799CDD60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120" y="2055496"/>
            <a:ext cx="5020570" cy="44655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31E920-E80B-CA85-6809-DDDDE952796C}"/>
              </a:ext>
            </a:extLst>
          </p:cNvPr>
          <p:cNvSpPr txBox="1"/>
          <p:nvPr/>
        </p:nvSpPr>
        <p:spPr>
          <a:xfrm>
            <a:off x="2269435" y="2810950"/>
            <a:ext cx="24715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It </a:t>
            </a:r>
            <a:r>
              <a:rPr lang="en-US" b="1" dirty="0">
                <a:solidFill>
                  <a:schemeClr val="bg1"/>
                </a:solidFill>
              </a:rPr>
              <a:t>displays only the order ID and amount for all orders</a:t>
            </a:r>
            <a:r>
              <a:rPr lang="en-US" dirty="0">
                <a:solidFill>
                  <a:schemeClr val="bg1"/>
                </a:solidFill>
              </a:rPr>
              <a:t>, sorted by </a:t>
            </a:r>
            <a:r>
              <a:rPr lang="en-US" b="1" dirty="0">
                <a:solidFill>
                  <a:schemeClr val="bg1"/>
                </a:solidFill>
              </a:rPr>
              <a:t>amount from lowest to highest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01982A-8CA2-AC57-C3DC-4642A2E369FE}"/>
              </a:ext>
            </a:extLst>
          </p:cNvPr>
          <p:cNvSpPr txBox="1"/>
          <p:nvPr/>
        </p:nvSpPr>
        <p:spPr>
          <a:xfrm>
            <a:off x="7046844" y="2810950"/>
            <a:ext cx="32600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It </a:t>
            </a:r>
            <a:r>
              <a:rPr lang="en-US" b="1" dirty="0">
                <a:solidFill>
                  <a:schemeClr val="bg1"/>
                </a:solidFill>
              </a:rPr>
              <a:t>displays order ID and amount</a:t>
            </a:r>
            <a:r>
              <a:rPr lang="en-US" dirty="0">
                <a:solidFill>
                  <a:schemeClr val="bg1"/>
                </a:solidFill>
              </a:rPr>
              <a:t>, sorted by </a:t>
            </a:r>
            <a:r>
              <a:rPr lang="en-US" b="1" dirty="0">
                <a:solidFill>
                  <a:schemeClr val="bg1"/>
                </a:solidFill>
              </a:rPr>
              <a:t>amount from highest to lowest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496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B2EC35A4-F3F1-771F-1297-B4803AA1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435" y="247488"/>
            <a:ext cx="7653130" cy="6711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Sorting in MongoDB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16C20B-A799-7F57-0C56-B43109C47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" y="967611"/>
            <a:ext cx="6155310" cy="5642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F60687-0920-828B-A785-85026CC41AB0}"/>
              </a:ext>
            </a:extLst>
          </p:cNvPr>
          <p:cNvSpPr txBox="1"/>
          <p:nvPr/>
        </p:nvSpPr>
        <p:spPr>
          <a:xfrm>
            <a:off x="6861313" y="967611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Sort by city then amount</a:t>
            </a:r>
            <a:endParaRPr lang="en-M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54172-8BE7-5E47-94AD-7F027BE77F17}"/>
              </a:ext>
            </a:extLst>
          </p:cNvPr>
          <p:cNvSpPr txBox="1"/>
          <p:nvPr/>
        </p:nvSpPr>
        <p:spPr>
          <a:xfrm>
            <a:off x="6861313" y="1456587"/>
            <a:ext cx="43997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It </a:t>
            </a:r>
            <a:r>
              <a:rPr lang="en-US" b="1" dirty="0"/>
              <a:t>shows the order ID, city, and amount for all orders</a:t>
            </a:r>
            <a:r>
              <a:rPr lang="en-US" dirty="0"/>
              <a:t>,</a:t>
            </a:r>
            <a:br>
              <a:rPr lang="en-US" dirty="0"/>
            </a:br>
            <a:r>
              <a:rPr lang="en-US" b="1" dirty="0"/>
              <a:t>grouped by city in alphabetical order</a:t>
            </a:r>
            <a:r>
              <a:rPr lang="en-US" dirty="0"/>
              <a:t>, and</a:t>
            </a:r>
            <a:br>
              <a:rPr lang="en-US" dirty="0"/>
            </a:br>
            <a:r>
              <a:rPr lang="en-US" b="1" dirty="0"/>
              <a:t>within each city, sorted by amount from highest to lowest</a:t>
            </a:r>
            <a:r>
              <a:rPr lang="en-US" dirty="0"/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71C0EB-FE74-9AC8-2C28-97E31934F74B}"/>
              </a:ext>
            </a:extLst>
          </p:cNvPr>
          <p:cNvSpPr/>
          <p:nvPr/>
        </p:nvSpPr>
        <p:spPr>
          <a:xfrm>
            <a:off x="149087" y="1341783"/>
            <a:ext cx="6712226" cy="42738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25606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B93B85FD-E248-6FFA-D757-DD193B84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6365" y="515845"/>
            <a:ext cx="7739269" cy="67119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Advanced Query Operators: 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  <a:highlight>
                  <a:srgbClr val="FFFF00"/>
                </a:highlight>
              </a:rPr>
              <a:t>conditions</a:t>
            </a:r>
            <a:r>
              <a:rPr lang="en-US" b="1" dirty="0">
                <a:solidFill>
                  <a:schemeClr val="accent1"/>
                </a:solidFill>
              </a:rPr>
              <a:t>, ranges, patterns, and arrays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6A2D9-B779-73F0-8380-C6CB77A0136A}"/>
              </a:ext>
            </a:extLst>
          </p:cNvPr>
          <p:cNvSpPr txBox="1"/>
          <p:nvPr/>
        </p:nvSpPr>
        <p:spPr>
          <a:xfrm>
            <a:off x="457200" y="1385717"/>
            <a:ext cx="95813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/>
              <a:t>1. Conditions : </a:t>
            </a:r>
            <a:r>
              <a:rPr lang="en-US" dirty="0"/>
              <a:t>Condition operators filter documents based on </a:t>
            </a:r>
            <a:r>
              <a:rPr lang="en-US" b="1" dirty="0"/>
              <a:t>logical or comparison rules</a:t>
            </a:r>
            <a:r>
              <a:rPr lang="en-US" dirty="0"/>
              <a:t>.</a:t>
            </a:r>
          </a:p>
          <a:p>
            <a:pPr>
              <a:buNone/>
            </a:pPr>
            <a:endParaRPr lang="en-MY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AD60D-D5A2-1854-C344-520047FC854C}"/>
              </a:ext>
            </a:extLst>
          </p:cNvPr>
          <p:cNvSpPr txBox="1"/>
          <p:nvPr/>
        </p:nvSpPr>
        <p:spPr>
          <a:xfrm>
            <a:off x="457200" y="1755049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 orders with status PAID</a:t>
            </a:r>
            <a:endParaRPr lang="en-MY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B35626-CDD0-5E4A-AD47-4B0E3BA46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201392"/>
            <a:ext cx="3349487" cy="41481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3E38DE-FBF1-4977-E7D7-465C40EEDD07}"/>
              </a:ext>
            </a:extLst>
          </p:cNvPr>
          <p:cNvSpPr txBox="1"/>
          <p:nvPr/>
        </p:nvSpPr>
        <p:spPr>
          <a:xfrm>
            <a:off x="4154556" y="1740933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Combine conditions (AND)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565E8F-293B-7D4A-73AA-EF6F2CB28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216" y="2201392"/>
            <a:ext cx="3349487" cy="41922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8162DE-4D89-3517-4B90-72D40830AA55}"/>
              </a:ext>
            </a:extLst>
          </p:cNvPr>
          <p:cNvSpPr txBox="1"/>
          <p:nvPr/>
        </p:nvSpPr>
        <p:spPr>
          <a:xfrm>
            <a:off x="7792277" y="1756634"/>
            <a:ext cx="1292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Logical OR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F68241B-6AD9-9518-7D05-E4345A8E1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624" y="2201392"/>
            <a:ext cx="3250208" cy="419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2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79382-47A5-7744-E8B2-695F9D650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3358D487-42D0-D513-C7AD-09D227755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6365" y="515845"/>
            <a:ext cx="7739269" cy="67119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Advanced Query Operators: 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conditions,</a:t>
            </a:r>
            <a:r>
              <a:rPr lang="en-US" b="1" dirty="0">
                <a:solidFill>
                  <a:schemeClr val="accent1"/>
                </a:solidFill>
                <a:highlight>
                  <a:srgbClr val="FFFF00"/>
                </a:highlight>
              </a:rPr>
              <a:t> ranges</a:t>
            </a:r>
            <a:r>
              <a:rPr lang="en-US" b="1" dirty="0">
                <a:solidFill>
                  <a:schemeClr val="accent1"/>
                </a:solidFill>
              </a:rPr>
              <a:t>, patterns, and arrays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3FDEC8-6128-0C07-504F-33563EA7CC58}"/>
              </a:ext>
            </a:extLst>
          </p:cNvPr>
          <p:cNvSpPr txBox="1"/>
          <p:nvPr/>
        </p:nvSpPr>
        <p:spPr>
          <a:xfrm>
            <a:off x="457200" y="1385717"/>
            <a:ext cx="8627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/>
              <a:t>2. Ranges : </a:t>
            </a:r>
            <a:r>
              <a:rPr lang="en-US" dirty="0"/>
              <a:t>Range operators retrieve data where values fall </a:t>
            </a:r>
            <a:r>
              <a:rPr lang="en-US" b="1" dirty="0"/>
              <a:t>within a specified range</a:t>
            </a:r>
            <a:r>
              <a:rPr lang="en-US" dirty="0"/>
              <a:t>.</a:t>
            </a:r>
          </a:p>
          <a:p>
            <a:pPr>
              <a:buNone/>
            </a:pPr>
            <a:endParaRPr lang="en-MY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14EC4-7FEB-92EC-D615-A2AE0CA04BED}"/>
              </a:ext>
            </a:extLst>
          </p:cNvPr>
          <p:cNvSpPr txBox="1"/>
          <p:nvPr/>
        </p:nvSpPr>
        <p:spPr>
          <a:xfrm>
            <a:off x="457200" y="1847382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Amount greater than 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2EC2D-6B80-A6FD-DA26-016868D4465D}"/>
              </a:ext>
            </a:extLst>
          </p:cNvPr>
          <p:cNvSpPr txBox="1"/>
          <p:nvPr/>
        </p:nvSpPr>
        <p:spPr>
          <a:xfrm>
            <a:off x="5923721" y="1847382"/>
            <a:ext cx="3597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Amount between 100 and 250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04994B-9F3F-2AD9-0D46-81C7439CB6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105"/>
          <a:stretch>
            <a:fillRect/>
          </a:stretch>
        </p:blipFill>
        <p:spPr>
          <a:xfrm>
            <a:off x="457200" y="2230725"/>
            <a:ext cx="4740965" cy="4349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08A9C3-9BC7-8E26-9AC5-24B70B9AE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842" y="2230725"/>
            <a:ext cx="4549534" cy="43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46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F27A3-0130-8F42-1F40-1BC3344E5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DD360E26-E476-D501-B630-4CAF6D74F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6365" y="515845"/>
            <a:ext cx="7739269" cy="67119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Advanced Query Operators: 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conditions,</a:t>
            </a:r>
            <a:r>
              <a:rPr lang="en-US" b="1" dirty="0">
                <a:solidFill>
                  <a:schemeClr val="accent1"/>
                </a:solidFill>
                <a:highlight>
                  <a:srgbClr val="FFFF00"/>
                </a:highlight>
              </a:rPr>
              <a:t> ranges</a:t>
            </a:r>
            <a:r>
              <a:rPr lang="en-US" b="1" dirty="0">
                <a:solidFill>
                  <a:schemeClr val="accent1"/>
                </a:solidFill>
              </a:rPr>
              <a:t>, patterns, and arrays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15335-6428-0DDE-7FB1-086F70080E37}"/>
              </a:ext>
            </a:extLst>
          </p:cNvPr>
          <p:cNvSpPr txBox="1"/>
          <p:nvPr/>
        </p:nvSpPr>
        <p:spPr>
          <a:xfrm>
            <a:off x="457200" y="1755444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Count total number of orders</a:t>
            </a:r>
            <a:endParaRPr lang="en-MY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D34F82-F3A8-3970-8BD5-57E193EDA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93" y="2265570"/>
            <a:ext cx="2644369" cy="13564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428DB2-377E-04C8-92C4-DD6FE36AC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962" y="2265570"/>
            <a:ext cx="4587638" cy="34521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1F555CD-F27E-DD38-61F1-D34E84DE5126}"/>
              </a:ext>
            </a:extLst>
          </p:cNvPr>
          <p:cNvSpPr txBox="1"/>
          <p:nvPr/>
        </p:nvSpPr>
        <p:spPr>
          <a:xfrm>
            <a:off x="4022962" y="1641175"/>
            <a:ext cx="6123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Count Documents by Group (GROUP COUNT)</a:t>
            </a:r>
            <a:endParaRPr lang="en-MY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9A43A474-A0B8-B694-3AA7-E4DF0A12C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6671" y="2265570"/>
            <a:ext cx="31967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$group groups documents by 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$sum: 1 adds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1 for each document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Result = count per city</a:t>
            </a:r>
          </a:p>
        </p:txBody>
      </p:sp>
    </p:spTree>
    <p:extLst>
      <p:ext uri="{BB962C8B-B14F-4D97-AF65-F5344CB8AC3E}">
        <p14:creationId xmlns:p14="http://schemas.microsoft.com/office/powerpoint/2010/main" val="2480259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B1AB-1798-F02C-655A-2AC0CBEB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B2616933-071A-86BB-2F2E-969DF790F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6365" y="515845"/>
            <a:ext cx="7739269" cy="67119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Advanced Query Operators: 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conditions, ranges,</a:t>
            </a:r>
            <a:r>
              <a:rPr lang="en-US" b="1" dirty="0">
                <a:solidFill>
                  <a:schemeClr val="accent1"/>
                </a:solidFill>
                <a:highlight>
                  <a:srgbClr val="FFFF00"/>
                </a:highlight>
              </a:rPr>
              <a:t> patterns</a:t>
            </a:r>
            <a:r>
              <a:rPr lang="en-US" b="1" dirty="0">
                <a:solidFill>
                  <a:schemeClr val="accent1"/>
                </a:solidFill>
              </a:rPr>
              <a:t>, and arrays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242EB1-7D16-1D56-4776-59EC7D2D80CB}"/>
              </a:ext>
            </a:extLst>
          </p:cNvPr>
          <p:cNvSpPr txBox="1"/>
          <p:nvPr/>
        </p:nvSpPr>
        <p:spPr>
          <a:xfrm>
            <a:off x="457200" y="1385717"/>
            <a:ext cx="86271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/>
              <a:t>3. Patterns : </a:t>
            </a:r>
            <a:r>
              <a:rPr lang="en-US" dirty="0"/>
              <a:t>Pattern matching allows searching </a:t>
            </a:r>
            <a:r>
              <a:rPr lang="en-US" b="1" dirty="0"/>
              <a:t>text values</a:t>
            </a:r>
            <a:r>
              <a:rPr lang="en-US" dirty="0"/>
              <a:t> using regular expressions.</a:t>
            </a:r>
          </a:p>
          <a:p>
            <a:endParaRPr lang="en-US" dirty="0"/>
          </a:p>
          <a:p>
            <a:pPr>
              <a:buNone/>
            </a:pPr>
            <a:endParaRPr lang="en-MY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A1ADB-17D7-259F-3FF6-A64C56BA4E54}"/>
              </a:ext>
            </a:extLst>
          </p:cNvPr>
          <p:cNvSpPr txBox="1"/>
          <p:nvPr/>
        </p:nvSpPr>
        <p:spPr>
          <a:xfrm>
            <a:off x="457200" y="1755444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Customer name starts with “A”</a:t>
            </a:r>
            <a:endParaRPr lang="en-MY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3C6463-374F-FFFA-E0F1-52127853FD5A}"/>
              </a:ext>
            </a:extLst>
          </p:cNvPr>
          <p:cNvSpPr txBox="1"/>
          <p:nvPr/>
        </p:nvSpPr>
        <p:spPr>
          <a:xfrm>
            <a:off x="5774634" y="1778330"/>
            <a:ext cx="3597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Case-insensitive 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7473DA-4E3D-E043-1AE5-E44BF6864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70548"/>
            <a:ext cx="4077053" cy="37417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3A8244-4706-B3F0-8E9D-1251E2603894}"/>
              </a:ext>
            </a:extLst>
          </p:cNvPr>
          <p:cNvSpPr txBox="1"/>
          <p:nvPr/>
        </p:nvSpPr>
        <p:spPr>
          <a:xfrm>
            <a:off x="294863" y="5926656"/>
            <a:ext cx="54168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ourier New" panose="02070309020205020404" pitchFamily="49" charset="0"/>
              </a:rPr>
              <a:t>$regex</a:t>
            </a: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MongoDB operator for </a:t>
            </a:r>
            <a:r>
              <a:rPr lang="en-US" sz="1600" b="1" dirty="0"/>
              <a:t>pattern matching</a:t>
            </a:r>
            <a:r>
              <a:rPr lang="en-US" sz="1600" dirty="0"/>
              <a:t> using regular expressions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04CB54-9C56-8CB3-75AA-A4D2D350B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634" y="2170548"/>
            <a:ext cx="4410067" cy="35966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864C27-31AF-5383-A91D-897E4BBD0CBF}"/>
              </a:ext>
            </a:extLst>
          </p:cNvPr>
          <p:cNvSpPr txBox="1"/>
          <p:nvPr/>
        </p:nvSpPr>
        <p:spPr>
          <a:xfrm>
            <a:off x="5711688" y="5869541"/>
            <a:ext cx="612250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ourier New" panose="02070309020205020404" pitchFamily="49" charset="0"/>
              </a:rPr>
              <a:t>$options: "</a:t>
            </a:r>
            <a:r>
              <a:rPr lang="en-US" sz="1600" b="1" dirty="0" err="1">
                <a:latin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</a:rPr>
              <a:t>"</a:t>
            </a: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</a:rPr>
              <a:t>"</a:t>
            </a:r>
            <a:r>
              <a:rPr lang="en-US" sz="1600" dirty="0" err="1">
                <a:latin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</a:rPr>
              <a:t>"</a:t>
            </a:r>
            <a:r>
              <a:rPr lang="en-US" sz="1600" dirty="0"/>
              <a:t> means </a:t>
            </a:r>
            <a:r>
              <a:rPr lang="en-US" sz="1600" b="1" dirty="0"/>
              <a:t>case-insensitive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Uppercase and lowercase letters are treated the same</a:t>
            </a:r>
          </a:p>
        </p:txBody>
      </p:sp>
    </p:spTree>
    <p:extLst>
      <p:ext uri="{BB962C8B-B14F-4D97-AF65-F5344CB8AC3E}">
        <p14:creationId xmlns:p14="http://schemas.microsoft.com/office/powerpoint/2010/main" val="3514841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3C874-75CF-C708-68BE-28D73D45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10301301-981D-3657-39A0-9EC76401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6365" y="515845"/>
            <a:ext cx="7739269" cy="67119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Advanced Query Operators: 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conditions, ranges, patterns, and </a:t>
            </a:r>
            <a:r>
              <a:rPr lang="en-US" b="1" dirty="0">
                <a:solidFill>
                  <a:schemeClr val="accent1"/>
                </a:solidFill>
                <a:highlight>
                  <a:srgbClr val="FFFF00"/>
                </a:highlight>
              </a:rPr>
              <a:t>arrays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FE96A-69A2-3A84-6C96-59568CC13DCE}"/>
              </a:ext>
            </a:extLst>
          </p:cNvPr>
          <p:cNvSpPr txBox="1"/>
          <p:nvPr/>
        </p:nvSpPr>
        <p:spPr>
          <a:xfrm>
            <a:off x="457200" y="1385717"/>
            <a:ext cx="86271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/>
              <a:t>4. Arrays : </a:t>
            </a:r>
            <a:r>
              <a:rPr lang="en-US" dirty="0"/>
              <a:t>Array operators query </a:t>
            </a:r>
            <a:r>
              <a:rPr lang="en-US" b="1" dirty="0"/>
              <a:t>nested or array-based data</a:t>
            </a:r>
            <a:r>
              <a:rPr lang="en-US" dirty="0"/>
              <a:t> within documents.</a:t>
            </a:r>
          </a:p>
          <a:p>
            <a:pPr>
              <a:buNone/>
            </a:pPr>
            <a:endParaRPr lang="en-MY" b="1" dirty="0"/>
          </a:p>
          <a:p>
            <a:pPr>
              <a:buNone/>
            </a:pPr>
            <a:endParaRPr lang="en-MY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4280A-37B2-732C-4600-1CC6226FC124}"/>
              </a:ext>
            </a:extLst>
          </p:cNvPr>
          <p:cNvSpPr txBox="1"/>
          <p:nvPr/>
        </p:nvSpPr>
        <p:spPr>
          <a:xfrm>
            <a:off x="377687" y="1847382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 orders containing SKU A1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072D39-2D85-0AC7-881F-69BF354985B2}"/>
              </a:ext>
            </a:extLst>
          </p:cNvPr>
          <p:cNvSpPr txBox="1"/>
          <p:nvPr/>
        </p:nvSpPr>
        <p:spPr>
          <a:xfrm>
            <a:off x="5921309" y="1847382"/>
            <a:ext cx="4892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Match multiple conditions in an array element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282CF-AC67-00D4-D6CA-E3ED3EB4A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16715"/>
            <a:ext cx="4323522" cy="3414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CE063C-8D64-1793-EE5E-3F6A5C296F42}"/>
              </a:ext>
            </a:extLst>
          </p:cNvPr>
          <p:cNvSpPr txBox="1"/>
          <p:nvPr/>
        </p:nvSpPr>
        <p:spPr>
          <a:xfrm>
            <a:off x="457200" y="5631085"/>
            <a:ext cx="61225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latin typeface="Courier New" panose="02070309020205020404" pitchFamily="49" charset="0"/>
              </a:rPr>
              <a:t>items.sku</a:t>
            </a:r>
            <a:r>
              <a:rPr lang="en-US" sz="1400" b="1" dirty="0">
                <a:latin typeface="Courier New" panose="02070309020205020404" pitchFamily="49" charset="0"/>
              </a:rPr>
              <a:t>"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Uses </a:t>
            </a:r>
            <a:r>
              <a:rPr lang="en-US" sz="1400" b="1" dirty="0"/>
              <a:t>dot notation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items is an </a:t>
            </a:r>
            <a:r>
              <a:rPr lang="en-US" sz="1400" b="1" dirty="0"/>
              <a:t>array field</a:t>
            </a:r>
            <a:r>
              <a:rPr lang="en-US" sz="1400" dirty="0"/>
              <a:t> inside each order document.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Tells MongoDB to </a:t>
            </a:r>
            <a:r>
              <a:rPr lang="en-US" sz="1400" b="1" dirty="0"/>
              <a:t>look inside each object in the items array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E45C9C-3734-4EDF-ED62-27698DC0F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589" y="2216714"/>
            <a:ext cx="3025596" cy="31835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A013DEA-196C-401B-22F7-C362179DF7C3}"/>
              </a:ext>
            </a:extLst>
          </p:cNvPr>
          <p:cNvSpPr txBox="1"/>
          <p:nvPr/>
        </p:nvSpPr>
        <p:spPr>
          <a:xfrm>
            <a:off x="5921309" y="5400253"/>
            <a:ext cx="6122504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b="1" dirty="0"/>
              <a:t>$</a:t>
            </a:r>
            <a:r>
              <a:rPr lang="en-US" sz="1050" b="1" dirty="0" err="1"/>
              <a:t>elemMatch</a:t>
            </a:r>
            <a:endParaRPr lang="en-US" sz="105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Ensures </a:t>
            </a:r>
            <a:r>
              <a:rPr lang="en-US" sz="1050" b="1" dirty="0"/>
              <a:t>all conditions apply to the same array element</a:t>
            </a:r>
            <a:endParaRPr lang="en-US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Without $</a:t>
            </a:r>
            <a:r>
              <a:rPr lang="en-US" sz="1050" dirty="0" err="1"/>
              <a:t>elemMatch</a:t>
            </a:r>
            <a:r>
              <a:rPr lang="en-US" sz="1050" dirty="0"/>
              <a:t>, MongoDB may match conditions across </a:t>
            </a:r>
            <a:r>
              <a:rPr lang="en-US" sz="1050" b="1" dirty="0"/>
              <a:t>different elements</a:t>
            </a:r>
            <a:r>
              <a:rPr lang="en-US" sz="1050" dirty="0"/>
              <a:t>, which can give incorrect results</a:t>
            </a:r>
          </a:p>
          <a:p>
            <a:r>
              <a:rPr lang="en-US" sz="1050" dirty="0"/>
              <a:t>Conditions applied to </a:t>
            </a:r>
            <a:r>
              <a:rPr lang="en-US" sz="1050" b="1" dirty="0"/>
              <a:t>one item object</a:t>
            </a:r>
            <a:r>
              <a:rPr lang="en-US" sz="1050" dirty="0"/>
              <a:t>:</a:t>
            </a:r>
          </a:p>
          <a:p>
            <a:r>
              <a:rPr lang="en-US" sz="1050" dirty="0" err="1"/>
              <a:t>sku</a:t>
            </a:r>
            <a:r>
              <a:rPr lang="en-US" sz="1050" dirty="0"/>
              <a:t>: "A1" → item SKU must be A1</a:t>
            </a:r>
          </a:p>
          <a:p>
            <a:r>
              <a:rPr lang="en-US" sz="1050" dirty="0"/>
              <a:t>qty: { $</a:t>
            </a:r>
            <a:r>
              <a:rPr lang="en-US" sz="1050" dirty="0" err="1"/>
              <a:t>gte</a:t>
            </a:r>
            <a:r>
              <a:rPr lang="en-US" sz="1050" dirty="0"/>
              <a:t>: 2 } → quantity must be </a:t>
            </a:r>
            <a:r>
              <a:rPr lang="en-US" sz="1050" b="1" dirty="0"/>
              <a:t>2 or more</a:t>
            </a:r>
            <a:endParaRPr lang="en-US" sz="1050" dirty="0"/>
          </a:p>
          <a:p>
            <a:r>
              <a:rPr lang="en-US" sz="1050" dirty="0"/>
              <a:t>Both conditions must be true </a:t>
            </a:r>
            <a:r>
              <a:rPr lang="en-US" sz="1050" b="1" dirty="0"/>
              <a:t>in the same item</a:t>
            </a:r>
            <a:r>
              <a:rPr lang="en-US" sz="105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84435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31E5003-0C15-BA27-4077-64B3BF454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048" y="1414170"/>
            <a:ext cx="1176590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data retrieval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Indexes allow MongoDB to locate required data quickly without scanning every document in a collection.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query performance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Queries that filter data using conditions (such as equality or range conditions) run much faster when relevant indexes are available.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sorting of results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Indexes help MongoDB return sorted data directly, reducing the need for additional processing and memory usage.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scalability for large datasets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the size of the database grows, indexed queries continue to perform efficiently, while non-indexed queries become slower.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system resource usage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examining fewer documents, indexing reduces CPU and memory consumption on the database server.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Optimised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aggregation operations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Indexes improve the performance of aggregation stages that involve filtering and sorting of data.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Enhanced support for read-heavy applications</a:t>
            </a:r>
            <a:br>
              <a:rPr lang="en-US" altLang="en-US" sz="1600" dirty="0">
                <a:latin typeface="Arial" panose="020B0604020202020204" pitchFamily="34" charset="0"/>
              </a:rPr>
            </a:br>
            <a:r>
              <a:rPr lang="en-US" altLang="en-US" sz="1600" dirty="0">
                <a:latin typeface="Arial" panose="020B0604020202020204" pitchFamily="34" charset="0"/>
              </a:rPr>
              <a:t>Indexing is especially beneficial for applications that perform frequent searches, reporting, or monitoring.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Improved overall database efficiency</a:t>
            </a:r>
            <a:br>
              <a:rPr lang="en-US" altLang="en-US" sz="1600" dirty="0">
                <a:latin typeface="Arial" panose="020B0604020202020204" pitchFamily="34" charset="0"/>
              </a:rPr>
            </a:br>
            <a:r>
              <a:rPr lang="en-US" altLang="en-US" sz="1600" dirty="0">
                <a:latin typeface="Arial" panose="020B0604020202020204" pitchFamily="34" charset="0"/>
              </a:rPr>
              <a:t>Indexes help the query planner choose the most efficient execution path, leading to better overall system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B12D5D-9FCC-9EA8-E8AD-3695E8BF8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6365" y="267367"/>
            <a:ext cx="7739269" cy="6711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Benefits of Indexing in MongoDB</a:t>
            </a:r>
            <a:endParaRPr lang="en-US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98049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29C396E2-E4B8-F6A5-450B-067458688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6365" y="267367"/>
            <a:ext cx="7739269" cy="6711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Indexing in MongoDB</a:t>
            </a:r>
            <a:endParaRPr lang="en-US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26BA9-13C6-A778-17B6-47F76F256252}"/>
              </a:ext>
            </a:extLst>
          </p:cNvPr>
          <p:cNvSpPr txBox="1"/>
          <p:nvPr/>
        </p:nvSpPr>
        <p:spPr>
          <a:xfrm>
            <a:off x="407503" y="1028014"/>
            <a:ext cx="11211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Indexes improve query performance by allowing MongoDB to locate data faster, especially when working with large datasets.</a:t>
            </a:r>
            <a:endParaRPr lang="en-MY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321948-1E97-8081-5D76-EB3B7E08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03" y="2427446"/>
            <a:ext cx="4023931" cy="646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DF15BC-16A5-2485-3E50-729842361946}"/>
              </a:ext>
            </a:extLst>
          </p:cNvPr>
          <p:cNvSpPr txBox="1"/>
          <p:nvPr/>
        </p:nvSpPr>
        <p:spPr>
          <a:xfrm>
            <a:off x="407503" y="1866229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Index on city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BADC5B-C0BA-98DE-A6E5-45C1B6C0C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03" y="3649920"/>
            <a:ext cx="5471634" cy="13869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4F99AD-283C-461E-B1F2-EEBD35E50F55}"/>
              </a:ext>
            </a:extLst>
          </p:cNvPr>
          <p:cNvSpPr txBox="1"/>
          <p:nvPr/>
        </p:nvSpPr>
        <p:spPr>
          <a:xfrm>
            <a:off x="407503" y="3251271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View on all index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D109EF-5D9E-598C-1D28-256AB9C4128F}"/>
              </a:ext>
            </a:extLst>
          </p:cNvPr>
          <p:cNvSpPr txBox="1"/>
          <p:nvPr/>
        </p:nvSpPr>
        <p:spPr>
          <a:xfrm>
            <a:off x="6361043" y="1866229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Index for Filter + Sort Together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71E691-28CB-D95A-AAED-81F15FBF1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495" y="2427445"/>
            <a:ext cx="4549534" cy="29491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02E3088-2454-A3ED-1A17-565DAA47A82D}"/>
              </a:ext>
            </a:extLst>
          </p:cNvPr>
          <p:cNvSpPr txBox="1"/>
          <p:nvPr/>
        </p:nvSpPr>
        <p:spPr>
          <a:xfrm>
            <a:off x="6450495" y="5568525"/>
            <a:ext cx="6241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index helps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Filters by </a:t>
            </a:r>
            <a:r>
              <a:rPr lang="en-US" dirty="0">
                <a:latin typeface="Courier New" panose="02070309020205020404" pitchFamily="49" charset="0"/>
              </a:rPr>
              <a:t>city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Returns data </a:t>
            </a:r>
            <a:r>
              <a:rPr lang="en-US" b="1" dirty="0"/>
              <a:t>already sorted by amount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77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CCC0-1E14-9189-60A8-04D6184E5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Using Index for Range Queries in MongoDB</a:t>
            </a:r>
            <a:endParaRPr lang="en-MY" b="1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92932-1D62-805A-E2B6-0E2E292A4363}"/>
              </a:ext>
            </a:extLst>
          </p:cNvPr>
          <p:cNvSpPr txBox="1"/>
          <p:nvPr/>
        </p:nvSpPr>
        <p:spPr>
          <a:xfrm>
            <a:off x="437322" y="1405594"/>
            <a:ext cx="93030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Create an index on the </a:t>
            </a:r>
            <a:r>
              <a:rPr lang="en-US" sz="2000" dirty="0">
                <a:latin typeface="Courier New" panose="02070309020205020404" pitchFamily="49" charset="0"/>
              </a:rPr>
              <a:t>amount</a:t>
            </a:r>
            <a:r>
              <a:rPr lang="en-US" sz="2000" dirty="0"/>
              <a:t> field in the </a:t>
            </a:r>
            <a:r>
              <a:rPr lang="en-US" sz="2000" dirty="0">
                <a:latin typeface="Courier New" panose="02070309020205020404" pitchFamily="49" charset="0"/>
              </a:rPr>
              <a:t>orders</a:t>
            </a:r>
            <a:r>
              <a:rPr lang="en-US" sz="2000" dirty="0"/>
              <a:t> collection.</a:t>
            </a:r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Retrieve all orders where the </a:t>
            </a:r>
            <a:r>
              <a:rPr lang="en-US" dirty="0"/>
              <a:t>amount</a:t>
            </a:r>
            <a:r>
              <a:rPr lang="en-US" sz="2000" dirty="0"/>
              <a:t> is </a:t>
            </a:r>
            <a:r>
              <a:rPr lang="en-US" sz="2000" b="1" dirty="0"/>
              <a:t>between 100 and 250 (inclusive)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80A8C0-49FD-6FD3-F035-988714EBF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2" y="2458758"/>
            <a:ext cx="5197290" cy="42066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06923-8018-5376-A898-EA0FF8080260}"/>
              </a:ext>
            </a:extLst>
          </p:cNvPr>
          <p:cNvSpPr txBox="1"/>
          <p:nvPr/>
        </p:nvSpPr>
        <p:spPr>
          <a:xfrm>
            <a:off x="5933660" y="2690336"/>
            <a:ext cx="61225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$</a:t>
            </a:r>
            <a:r>
              <a:rPr lang="en-US" b="1" dirty="0" err="1">
                <a:latin typeface="Courier New" panose="02070309020205020404" pitchFamily="49" charset="0"/>
              </a:rPr>
              <a:t>gte</a:t>
            </a:r>
            <a:r>
              <a:rPr lang="en-US" b="1" dirty="0">
                <a:latin typeface="Courier New" panose="02070309020205020404" pitchFamily="49" charset="0"/>
              </a:rPr>
              <a:t>: 100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Means </a:t>
            </a:r>
            <a:r>
              <a:rPr lang="en-US" b="1" dirty="0"/>
              <a:t>greater than or equal to 100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Includes 100</a:t>
            </a:r>
          </a:p>
          <a:p>
            <a:pPr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$</a:t>
            </a:r>
            <a:r>
              <a:rPr lang="en-US" b="1" dirty="0" err="1">
                <a:latin typeface="Courier New" panose="02070309020205020404" pitchFamily="49" charset="0"/>
              </a:rPr>
              <a:t>lte</a:t>
            </a:r>
            <a:r>
              <a:rPr lang="en-US" b="1" dirty="0">
                <a:latin typeface="Courier New" panose="02070309020205020404" pitchFamily="49" charset="0"/>
              </a:rPr>
              <a:t>: 250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Means </a:t>
            </a:r>
            <a:r>
              <a:rPr lang="en-US" b="1" dirty="0"/>
              <a:t>less than or equal to 250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7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FAC587-9CF1-82CC-4BB9-6C4C74CB4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Compound Index</a:t>
            </a:r>
            <a:endParaRPr lang="en-MY" b="1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9D11A-0C83-B06F-C1FA-2ABFBBDC80C2}"/>
              </a:ext>
            </a:extLst>
          </p:cNvPr>
          <p:cNvSpPr txBox="1"/>
          <p:nvPr/>
        </p:nvSpPr>
        <p:spPr>
          <a:xfrm>
            <a:off x="384888" y="1023730"/>
            <a:ext cx="61255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Create a Compound Index</a:t>
            </a:r>
          </a:p>
          <a:p>
            <a:pPr>
              <a:buNone/>
            </a:pPr>
            <a:r>
              <a:rPr lang="en-US" dirty="0"/>
              <a:t>Create a compound index on </a:t>
            </a:r>
            <a:r>
              <a:rPr lang="en-US" b="1" dirty="0"/>
              <a:t>city</a:t>
            </a:r>
            <a:r>
              <a:rPr lang="en-US" dirty="0"/>
              <a:t> and </a:t>
            </a:r>
            <a:r>
              <a:rPr lang="en-US" b="1" dirty="0"/>
              <a:t>status</a:t>
            </a:r>
            <a:r>
              <a:rPr lang="en-US" dirty="0"/>
              <a:t>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Query that Uses the Compound Index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4DAFA3-1753-5479-1E19-171715E9B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396" y="1110655"/>
            <a:ext cx="4366638" cy="4724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101FCE-41E4-54D9-1344-858805CCC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74" y="2570316"/>
            <a:ext cx="4359018" cy="25757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66E4D5-712F-7BA2-1A5C-55DA31DA6816}"/>
              </a:ext>
            </a:extLst>
          </p:cNvPr>
          <p:cNvSpPr txBox="1"/>
          <p:nvPr/>
        </p:nvSpPr>
        <p:spPr>
          <a:xfrm>
            <a:off x="4994210" y="2131726"/>
            <a:ext cx="6125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Query Using Only the First Field (Try !)</a:t>
            </a:r>
            <a:endParaRPr lang="en-MY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705A7C-15A2-7FBA-312E-21E455F75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210" y="2570316"/>
            <a:ext cx="3947502" cy="25681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54AEEC2-87E6-B2CB-BBB3-8CA77E4049F0}"/>
              </a:ext>
            </a:extLst>
          </p:cNvPr>
          <p:cNvSpPr txBox="1"/>
          <p:nvPr/>
        </p:nvSpPr>
        <p:spPr>
          <a:xfrm>
            <a:off x="9179530" y="2131726"/>
            <a:ext cx="27634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 Using Only the Second </a:t>
            </a:r>
          </a:p>
          <a:p>
            <a:r>
              <a:rPr lang="en-US" dirty="0"/>
              <a:t>Field (Try !)</a:t>
            </a:r>
          </a:p>
          <a:p>
            <a:endParaRPr lang="en-US" dirty="0"/>
          </a:p>
          <a:p>
            <a:r>
              <a:rPr lang="en-US" dirty="0"/>
              <a:t>Will get output however, </a:t>
            </a:r>
          </a:p>
          <a:p>
            <a:r>
              <a:rPr lang="en-US" dirty="0"/>
              <a:t>this query does </a:t>
            </a:r>
            <a:r>
              <a:rPr lang="en-US" b="1" dirty="0"/>
              <a:t>not efficiently use</a:t>
            </a:r>
            <a:r>
              <a:rPr lang="en-US" dirty="0"/>
              <a:t> the compound index because it skips the first field.</a:t>
            </a:r>
          </a:p>
          <a:p>
            <a:endParaRPr lang="en-MY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CBBE4-E4E0-333B-6CAE-C72A86563B09}"/>
              </a:ext>
            </a:extLst>
          </p:cNvPr>
          <p:cNvSpPr txBox="1"/>
          <p:nvPr/>
        </p:nvSpPr>
        <p:spPr>
          <a:xfrm>
            <a:off x="384888" y="5378013"/>
            <a:ext cx="6125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Compound Index with Sorting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906265-6651-29C3-D4EA-60F2AAA9E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557" y="5291326"/>
            <a:ext cx="3673158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7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70EB5B-7E32-35D1-FD53-D9BBF8781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Aggregation</a:t>
            </a:r>
            <a:endParaRPr lang="en-MY" b="1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44704-872C-512A-01F4-135B84BDC821}"/>
              </a:ext>
            </a:extLst>
          </p:cNvPr>
          <p:cNvSpPr txBox="1"/>
          <p:nvPr/>
        </p:nvSpPr>
        <p:spPr>
          <a:xfrm>
            <a:off x="347868" y="1138535"/>
            <a:ext cx="11131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Aggregation pipelines process data in stages to perform </a:t>
            </a:r>
            <a:r>
              <a:rPr lang="en-US" b="1" dirty="0"/>
              <a:t>grouping, calculations, and transformations</a:t>
            </a:r>
            <a:r>
              <a:rPr lang="en-US" dirty="0"/>
              <a:t>, similar to SQL </a:t>
            </a:r>
            <a:r>
              <a:rPr lang="en-US" dirty="0">
                <a:latin typeface="Courier New" panose="02070309020205020404" pitchFamily="49" charset="0"/>
              </a:rPr>
              <a:t>GROUP BY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E34AE9-7045-9DC0-ABDF-B24BCA57A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68" y="2383808"/>
            <a:ext cx="5303980" cy="2766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1C9CED-141F-73DF-73FD-75C08B9AADC0}"/>
              </a:ext>
            </a:extLst>
          </p:cNvPr>
          <p:cNvSpPr txBox="1"/>
          <p:nvPr/>
        </p:nvSpPr>
        <p:spPr>
          <a:xfrm>
            <a:off x="347868" y="1899671"/>
            <a:ext cx="6123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Total sales by city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04210E-B580-4848-91B2-220E706E7AC3}"/>
              </a:ext>
            </a:extLst>
          </p:cNvPr>
          <p:cNvSpPr txBox="1"/>
          <p:nvPr/>
        </p:nvSpPr>
        <p:spPr>
          <a:xfrm>
            <a:off x="5721628" y="1951672"/>
            <a:ext cx="6122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ourier New" panose="02070309020205020404" pitchFamily="49" charset="0"/>
              </a:rPr>
              <a:t>aggregate([ ... ])</a:t>
            </a: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</a:rPr>
              <a:t>aggregate()</a:t>
            </a:r>
            <a:r>
              <a:rPr lang="en-US" sz="1600" dirty="0"/>
              <a:t> is used to perform </a:t>
            </a:r>
            <a:r>
              <a:rPr lang="en-US" sz="1600" b="1" dirty="0"/>
              <a:t>data processing and analysis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It works using a </a:t>
            </a:r>
            <a:r>
              <a:rPr lang="en-US" sz="1600" b="1" dirty="0"/>
              <a:t>pipeline</a:t>
            </a:r>
            <a:r>
              <a:rPr lang="en-US" sz="1600" dirty="0"/>
              <a:t>, where each stage processes the output of the previous stage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7F0455-3B91-765E-49CB-0A4992837935}"/>
              </a:ext>
            </a:extLst>
          </p:cNvPr>
          <p:cNvSpPr txBox="1"/>
          <p:nvPr/>
        </p:nvSpPr>
        <p:spPr>
          <a:xfrm>
            <a:off x="5791408" y="3028890"/>
            <a:ext cx="612250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Stage 1: </a:t>
            </a:r>
            <a:r>
              <a:rPr lang="en-US" sz="1600" b="1" dirty="0">
                <a:latin typeface="Courier New" panose="02070309020205020404" pitchFamily="49" charset="0"/>
              </a:rPr>
              <a:t>$match</a:t>
            </a:r>
            <a:endParaRPr lang="en-US" sz="1600" b="1" dirty="0"/>
          </a:p>
          <a:p>
            <a:pPr rtl="0">
              <a:buNone/>
            </a:pPr>
            <a:r>
              <a:rPr lang="en-US" sz="1600" dirty="0">
                <a:latin typeface="Courier New" panose="02070309020205020404" pitchFamily="49" charset="0"/>
              </a:rPr>
              <a:t>{ $match: { status: "PAID" } }</a:t>
            </a:r>
          </a:p>
          <a:p>
            <a:pPr>
              <a:buNone/>
            </a:pPr>
            <a:r>
              <a:rPr lang="en-US" sz="1600" b="1" dirty="0"/>
              <a:t>What it does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Filters documents to include </a:t>
            </a:r>
            <a:r>
              <a:rPr lang="en-US" sz="1600" b="1" dirty="0"/>
              <a:t>only PAID orders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Similar to a </a:t>
            </a:r>
            <a:r>
              <a:rPr lang="en-US" sz="1600" dirty="0">
                <a:latin typeface="Courier New" panose="02070309020205020404" pitchFamily="49" charset="0"/>
              </a:rPr>
              <a:t>WHERE</a:t>
            </a:r>
            <a:r>
              <a:rPr lang="en-US" sz="1600" dirty="0"/>
              <a:t> clause in SQL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A72EB6-0349-F6EF-02A5-CD34325C806F}"/>
              </a:ext>
            </a:extLst>
          </p:cNvPr>
          <p:cNvSpPr txBox="1"/>
          <p:nvPr/>
        </p:nvSpPr>
        <p:spPr>
          <a:xfrm>
            <a:off x="5791408" y="4383107"/>
            <a:ext cx="61225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Stage 2: </a:t>
            </a:r>
            <a:r>
              <a:rPr lang="en-US" sz="1400" b="1" dirty="0">
                <a:latin typeface="Courier New" panose="02070309020205020404" pitchFamily="49" charset="0"/>
              </a:rPr>
              <a:t>$group</a:t>
            </a:r>
            <a:endParaRPr lang="en-US" sz="1400" b="1" dirty="0"/>
          </a:p>
          <a:p>
            <a:pPr rtl="0">
              <a:buNone/>
            </a:pPr>
            <a:r>
              <a:rPr lang="en-US" sz="1400" dirty="0">
                <a:latin typeface="Courier New" panose="02070309020205020404" pitchFamily="49" charset="0"/>
              </a:rPr>
              <a:t>{ $group: { _id: "$city", </a:t>
            </a:r>
            <a:r>
              <a:rPr lang="en-US" sz="1400" dirty="0" err="1">
                <a:latin typeface="Courier New" panose="02070309020205020404" pitchFamily="49" charset="0"/>
              </a:rPr>
              <a:t>totalSales</a:t>
            </a:r>
            <a:r>
              <a:rPr lang="en-US" sz="1400" dirty="0">
                <a:latin typeface="Courier New" panose="02070309020205020404" pitchFamily="49" charset="0"/>
              </a:rPr>
              <a:t>: { $sum: "$amount" } } }</a:t>
            </a:r>
          </a:p>
          <a:p>
            <a:pPr>
              <a:buNone/>
            </a:pPr>
            <a:r>
              <a:rPr lang="en-US" sz="1400" b="1" dirty="0"/>
              <a:t>a) </a:t>
            </a:r>
            <a:r>
              <a:rPr lang="en-US" sz="1400" b="1" dirty="0">
                <a:latin typeface="Courier New" panose="02070309020205020404" pitchFamily="49" charset="0"/>
              </a:rPr>
              <a:t>_id: "$city"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Groups documents </a:t>
            </a:r>
            <a:r>
              <a:rPr lang="en-US" sz="1400" b="1" dirty="0"/>
              <a:t>by city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Each unique city becomes one output document</a:t>
            </a:r>
          </a:p>
          <a:p>
            <a:pPr>
              <a:buNone/>
            </a:pPr>
            <a:r>
              <a:rPr lang="en-US" sz="1400" b="1" dirty="0"/>
              <a:t>b) </a:t>
            </a:r>
            <a:r>
              <a:rPr lang="en-US" sz="1400" b="1" dirty="0" err="1">
                <a:latin typeface="Courier New" panose="02070309020205020404" pitchFamily="49" charset="0"/>
              </a:rPr>
              <a:t>totalSales</a:t>
            </a:r>
            <a:r>
              <a:rPr lang="en-US" sz="1400" b="1" dirty="0">
                <a:latin typeface="Courier New" panose="02070309020205020404" pitchFamily="49" charset="0"/>
              </a:rPr>
              <a:t>: { $sum: "$amount" }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Adds up (</a:t>
            </a:r>
            <a:r>
              <a:rPr lang="en-US" sz="1400" dirty="0">
                <a:latin typeface="Courier New" panose="02070309020205020404" pitchFamily="49" charset="0"/>
              </a:rPr>
              <a:t>$sum</a:t>
            </a:r>
            <a:r>
              <a:rPr lang="en-US" sz="1400" dirty="0"/>
              <a:t>) the </a:t>
            </a:r>
            <a:r>
              <a:rPr lang="en-US" sz="1400" dirty="0">
                <a:latin typeface="Courier New" panose="02070309020205020404" pitchFamily="49" charset="0"/>
              </a:rPr>
              <a:t>amount</a:t>
            </a:r>
            <a:r>
              <a:rPr lang="en-US" sz="1400" dirty="0"/>
              <a:t>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Computes </a:t>
            </a:r>
            <a:r>
              <a:rPr lang="en-US" sz="1400" b="1" dirty="0"/>
              <a:t>total sales per city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794B1E-5470-9C0E-D06F-C831BE1002E1}"/>
              </a:ext>
            </a:extLst>
          </p:cNvPr>
          <p:cNvSpPr txBox="1"/>
          <p:nvPr/>
        </p:nvSpPr>
        <p:spPr>
          <a:xfrm>
            <a:off x="348578" y="5309830"/>
            <a:ext cx="61225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SELECT city, SUM(amount) AS </a:t>
            </a:r>
            <a:r>
              <a:rPr lang="en-MY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totalSales</a:t>
            </a:r>
            <a:endParaRPr lang="en-MY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FROM orders</a:t>
            </a:r>
          </a:p>
          <a:p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WHERE status = 'PAID'</a:t>
            </a:r>
          </a:p>
          <a:p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GROUP BY city;</a:t>
            </a:r>
          </a:p>
        </p:txBody>
      </p:sp>
    </p:spTree>
    <p:extLst>
      <p:ext uri="{BB962C8B-B14F-4D97-AF65-F5344CB8AC3E}">
        <p14:creationId xmlns:p14="http://schemas.microsoft.com/office/powerpoint/2010/main" val="1602783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6163D7-3481-ED88-F52A-30BFD666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596" y="521997"/>
            <a:ext cx="10515600" cy="65860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Aggregation – Practice !</a:t>
            </a:r>
            <a:endParaRPr lang="en-MY" b="1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6B481-F6B4-9120-1E0F-350FF0736A1B}"/>
              </a:ext>
            </a:extLst>
          </p:cNvPr>
          <p:cNvSpPr txBox="1"/>
          <p:nvPr/>
        </p:nvSpPr>
        <p:spPr>
          <a:xfrm>
            <a:off x="477078" y="1239223"/>
            <a:ext cx="103764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200" b="1" dirty="0"/>
              <a:t>Total spending per customer and </a:t>
            </a:r>
            <a:r>
              <a:rPr lang="en-MY" sz="3200" b="1" dirty="0" err="1"/>
              <a:t>totalSpent</a:t>
            </a:r>
            <a:r>
              <a:rPr lang="en-MY" sz="3200" b="1" dirty="0"/>
              <a:t> in descending order using MongoDB.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BD6F73-5F4C-F991-77AF-5E53E2E3FE4E}"/>
              </a:ext>
            </a:extLst>
          </p:cNvPr>
          <p:cNvSpPr txBox="1"/>
          <p:nvPr/>
        </p:nvSpPr>
        <p:spPr>
          <a:xfrm>
            <a:off x="477078" y="2685535"/>
            <a:ext cx="612250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customer, SUM(amount) AS </a:t>
            </a:r>
            <a:r>
              <a:rPr lang="en-MY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totalSpent</a:t>
            </a:r>
            <a:endParaRPr lang="en-MY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FROM orders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GROUP BY customer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en-MY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totalSpent</a:t>
            </a:r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DESC;</a:t>
            </a:r>
          </a:p>
        </p:txBody>
      </p:sp>
    </p:spTree>
    <p:extLst>
      <p:ext uri="{BB962C8B-B14F-4D97-AF65-F5344CB8AC3E}">
        <p14:creationId xmlns:p14="http://schemas.microsoft.com/office/powerpoint/2010/main" val="990948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0863E94-3628-5D59-CEDA-588F36E72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302"/>
            <a:ext cx="10515600" cy="65860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Update in MongoDB</a:t>
            </a:r>
            <a:endParaRPr lang="en-MY" b="1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D07C7-DE7E-6300-E962-16DD07AD308E}"/>
              </a:ext>
            </a:extLst>
          </p:cNvPr>
          <p:cNvSpPr txBox="1"/>
          <p:nvPr/>
        </p:nvSpPr>
        <p:spPr>
          <a:xfrm>
            <a:off x="177282" y="954417"/>
            <a:ext cx="61255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1) Update ONE document (</a:t>
            </a:r>
            <a:r>
              <a:rPr lang="en-US" dirty="0" err="1">
                <a:latin typeface="Courier New" panose="02070309020205020404" pitchFamily="49" charset="0"/>
              </a:rPr>
              <a:t>updateOne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Use when you want to change only the first matching document.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93F3A-4E23-CC11-531B-9CD91A73E45A}"/>
              </a:ext>
            </a:extLst>
          </p:cNvPr>
          <p:cNvSpPr txBox="1"/>
          <p:nvPr/>
        </p:nvSpPr>
        <p:spPr>
          <a:xfrm>
            <a:off x="5610031" y="954417"/>
            <a:ext cx="61255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2) Update MANY documents (</a:t>
            </a:r>
            <a:r>
              <a:rPr lang="en-US" dirty="0" err="1">
                <a:latin typeface="Courier New" panose="02070309020205020404" pitchFamily="49" charset="0"/>
              </a:rPr>
              <a:t>updateMany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Use when you want to change all documents that match the filter.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950398-F953-A87D-17E0-93F58333DBC0}"/>
              </a:ext>
            </a:extLst>
          </p:cNvPr>
          <p:cNvSpPr txBox="1"/>
          <p:nvPr/>
        </p:nvSpPr>
        <p:spPr>
          <a:xfrm>
            <a:off x="177282" y="1777482"/>
            <a:ext cx="6125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Update status for </a:t>
            </a:r>
            <a:r>
              <a:rPr lang="en-MY" dirty="0" err="1"/>
              <a:t>orderId</a:t>
            </a:r>
            <a:r>
              <a:rPr lang="en-MY" dirty="0"/>
              <a:t> 1002 to PAID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1D64A4-D7DB-2526-753F-4AD023F89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78" y="2239147"/>
            <a:ext cx="2692232" cy="41913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AF75B4-1999-5780-AF97-F4E3EA25AA8E}"/>
              </a:ext>
            </a:extLst>
          </p:cNvPr>
          <p:cNvSpPr txBox="1"/>
          <p:nvPr/>
        </p:nvSpPr>
        <p:spPr>
          <a:xfrm>
            <a:off x="6179198" y="1500483"/>
            <a:ext cx="6125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Use when you want to change all documents that match the filter. Set status = "REVIEW" for all FAILED orders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130B9B-943D-623D-DAF6-41D8BE0D2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05" y="2207463"/>
            <a:ext cx="2775866" cy="449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46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8CFCBC-F307-21F9-4209-483ED505C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302"/>
            <a:ext cx="10515600" cy="65860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Retrieve in MongoDB</a:t>
            </a:r>
            <a:endParaRPr lang="en-MY" b="1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01F6E-4A76-DEC7-9A80-972DBABD583F}"/>
              </a:ext>
            </a:extLst>
          </p:cNvPr>
          <p:cNvSpPr txBox="1"/>
          <p:nvPr/>
        </p:nvSpPr>
        <p:spPr>
          <a:xfrm>
            <a:off x="506186" y="1032979"/>
            <a:ext cx="6125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Retrieve Active Login Sessions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A4A4FF-8340-9334-DCA2-3190320D62E3}"/>
              </a:ext>
            </a:extLst>
          </p:cNvPr>
          <p:cNvSpPr txBox="1"/>
          <p:nvPr/>
        </p:nvSpPr>
        <p:spPr>
          <a:xfrm>
            <a:off x="506186" y="1516383"/>
            <a:ext cx="6951890" cy="375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Create a collection called </a:t>
            </a:r>
            <a:r>
              <a:rPr lang="en-US" dirty="0" err="1">
                <a:latin typeface="Courier New" panose="02070309020205020404" pitchFamily="49" charset="0"/>
              </a:rPr>
              <a:t>loginSessions</a:t>
            </a:r>
            <a:r>
              <a:rPr lang="en-US" dirty="0"/>
              <a:t> that stores user login activity.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fr-FR" dirty="0"/>
              <a:t>Insert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sample</a:t>
            </a:r>
            <a:r>
              <a:rPr lang="fr-FR" dirty="0"/>
              <a:t> login session records</a:t>
            </a:r>
          </a:p>
          <a:p>
            <a:pPr>
              <a:lnSpc>
                <a:spcPct val="150000"/>
              </a:lnSpc>
            </a:pPr>
            <a:r>
              <a:rPr lang="fr-FR" dirty="0"/>
              <a:t>Example : 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"U001",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ipAddress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"10.10.1.5",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"ACTIVE",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loginTime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ISODate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("2026-01-07T08:30:00Z")</a:t>
            </a:r>
          </a:p>
          <a:p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dirty="0">
                <a:cs typeface="Courier New" panose="02070309020205020404" pitchFamily="49" charset="0"/>
              </a:rPr>
              <a:t>3. </a:t>
            </a:r>
            <a:r>
              <a:rPr lang="fr-FR" dirty="0" err="1">
                <a:cs typeface="Courier New" panose="02070309020205020404" pitchFamily="49" charset="0"/>
              </a:rPr>
              <a:t>Verify</a:t>
            </a:r>
            <a:r>
              <a:rPr lang="fr-FR" dirty="0">
                <a:cs typeface="Courier New" panose="02070309020205020404" pitchFamily="49" charset="0"/>
              </a:rPr>
              <a:t> data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5D3298-1F36-016C-0436-7E5930E40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443" y="4431574"/>
            <a:ext cx="2969501" cy="22738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49F2D2-0A2B-8066-F0E2-660558B6E287}"/>
              </a:ext>
            </a:extLst>
          </p:cNvPr>
          <p:cNvSpPr txBox="1"/>
          <p:nvPr/>
        </p:nvSpPr>
        <p:spPr>
          <a:xfrm>
            <a:off x="7357189" y="1090015"/>
            <a:ext cx="6125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4. Retrieve all ACTIVE sessions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D2E01A-A98B-C6E7-EFD4-EB12179B5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189" y="1573419"/>
            <a:ext cx="4397121" cy="25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34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31BAEB-0297-42B2-4C84-ECED37E2C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302"/>
            <a:ext cx="10515600" cy="65860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Delete in MongoDB</a:t>
            </a:r>
            <a:endParaRPr lang="en-MY" b="1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147D53-D8D9-98F1-AA77-2E01B1F8AE8A}"/>
              </a:ext>
            </a:extLst>
          </p:cNvPr>
          <p:cNvSpPr txBox="1"/>
          <p:nvPr/>
        </p:nvSpPr>
        <p:spPr>
          <a:xfrm>
            <a:off x="506186" y="1032979"/>
            <a:ext cx="6125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>
                <a:solidFill>
                  <a:schemeClr val="accent1"/>
                </a:solidFill>
              </a:rPr>
              <a:t>Attempt this query 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869529-CCF8-41D9-E0D5-85B8B6EB5AD0}"/>
              </a:ext>
            </a:extLst>
          </p:cNvPr>
          <p:cNvSpPr txBox="1"/>
          <p:nvPr/>
        </p:nvSpPr>
        <p:spPr>
          <a:xfrm>
            <a:off x="506186" y="1516383"/>
            <a:ext cx="108476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b="1" dirty="0"/>
              <a:t>Delete one ACTIVE session for user </a:t>
            </a:r>
            <a:r>
              <a:rPr lang="en-MY" b="1" dirty="0" err="1"/>
              <a:t>ali</a:t>
            </a:r>
            <a:endParaRPr lang="en-MY" b="1" dirty="0"/>
          </a:p>
          <a:p>
            <a:pPr>
              <a:buNone/>
            </a:pPr>
            <a:endParaRPr lang="en-MY" b="1" dirty="0"/>
          </a:p>
          <a:p>
            <a:pPr rtl="0">
              <a:buNone/>
            </a:pPr>
            <a:r>
              <a:rPr lang="en-MY" dirty="0" err="1">
                <a:latin typeface="Courier New" panose="02070309020205020404" pitchFamily="49" charset="0"/>
              </a:rPr>
              <a:t>db.loginSessions.deleteOne</a:t>
            </a:r>
            <a:r>
              <a:rPr lang="en-MY" dirty="0">
                <a:latin typeface="Courier New" panose="02070309020205020404" pitchFamily="49" charset="0"/>
              </a:rPr>
              <a:t>({ username: "</a:t>
            </a:r>
            <a:r>
              <a:rPr lang="en-MY" dirty="0" err="1">
                <a:latin typeface="Courier New" panose="02070309020205020404" pitchFamily="49" charset="0"/>
              </a:rPr>
              <a:t>ali</a:t>
            </a:r>
            <a:r>
              <a:rPr lang="en-MY" dirty="0">
                <a:latin typeface="Courier New" panose="02070309020205020404" pitchFamily="49" charset="0"/>
              </a:rPr>
              <a:t>", status: "ACTIVE" })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8F56D1-4D7D-B4B6-7963-69C1C9F6C7C4}"/>
              </a:ext>
            </a:extLst>
          </p:cNvPr>
          <p:cNvSpPr txBox="1"/>
          <p:nvPr/>
        </p:nvSpPr>
        <p:spPr>
          <a:xfrm>
            <a:off x="506186" y="2505670"/>
            <a:ext cx="11287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b="1" dirty="0"/>
              <a:t>Delete ALL inactive sessions</a:t>
            </a:r>
          </a:p>
          <a:p>
            <a:pPr>
              <a:buNone/>
            </a:pPr>
            <a:endParaRPr lang="en-MY" b="1" dirty="0"/>
          </a:p>
          <a:p>
            <a:pPr rtl="0">
              <a:buNone/>
            </a:pPr>
            <a:r>
              <a:rPr lang="en-MY" dirty="0" err="1">
                <a:latin typeface="Courier New" panose="02070309020205020404" pitchFamily="49" charset="0"/>
              </a:rPr>
              <a:t>db.loginSessions.deleteMany</a:t>
            </a:r>
            <a:r>
              <a:rPr lang="en-MY" dirty="0">
                <a:latin typeface="Courier New" panose="02070309020205020404" pitchFamily="49" charset="0"/>
              </a:rPr>
              <a:t>({ status: "INACTIVE" })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DAE64B-EC21-2D3F-2193-734E81666942}"/>
              </a:ext>
            </a:extLst>
          </p:cNvPr>
          <p:cNvSpPr txBox="1"/>
          <p:nvPr/>
        </p:nvSpPr>
        <p:spPr>
          <a:xfrm>
            <a:off x="599492" y="3703310"/>
            <a:ext cx="61255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Delete ALL documents in a collection (use with care)</a:t>
            </a:r>
          </a:p>
          <a:p>
            <a:pPr>
              <a:buNone/>
            </a:pPr>
            <a:endParaRPr lang="en-US" b="1" dirty="0"/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db.loginSessions.deleteMany</a:t>
            </a:r>
            <a:r>
              <a:rPr lang="en-US" dirty="0">
                <a:latin typeface="Courier New" panose="02070309020205020404" pitchFamily="49" charset="0"/>
              </a:rPr>
              <a:t>({})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88D723-1242-93E8-B8B3-77F912150212}"/>
              </a:ext>
            </a:extLst>
          </p:cNvPr>
          <p:cNvSpPr txBox="1"/>
          <p:nvPr/>
        </p:nvSpPr>
        <p:spPr>
          <a:xfrm>
            <a:off x="6328488" y="3779098"/>
            <a:ext cx="5465406" cy="923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</a:rPr>
              <a:t>deleteOne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removes a single record, </a:t>
            </a:r>
            <a:r>
              <a:rPr lang="en-US" dirty="0" err="1">
                <a:latin typeface="Courier New" panose="02070309020205020404" pitchFamily="49" charset="0"/>
              </a:rPr>
              <a:t>deleteMany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removes multiple records, and </a:t>
            </a:r>
            <a:r>
              <a:rPr lang="en-US" dirty="0">
                <a:latin typeface="Courier New" panose="02070309020205020404" pitchFamily="49" charset="0"/>
              </a:rPr>
              <a:t>drop()</a:t>
            </a:r>
            <a:r>
              <a:rPr lang="en-US" dirty="0"/>
              <a:t> removes the entire collection.</a:t>
            </a:r>
            <a:endParaRPr lang="en-MY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29F634-BE64-E7CB-0E86-777B69BE0832}"/>
              </a:ext>
            </a:extLst>
          </p:cNvPr>
          <p:cNvSpPr txBox="1"/>
          <p:nvPr/>
        </p:nvSpPr>
        <p:spPr>
          <a:xfrm>
            <a:off x="664806" y="4778216"/>
            <a:ext cx="61255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b="1" dirty="0"/>
              <a:t>Drop the entire collection (It’s destructive)</a:t>
            </a:r>
          </a:p>
          <a:p>
            <a:pPr rtl="0">
              <a:buNone/>
            </a:pPr>
            <a:r>
              <a:rPr lang="en-MY" dirty="0" err="1">
                <a:latin typeface="Courier New" panose="02070309020205020404" pitchFamily="49" charset="0"/>
              </a:rPr>
              <a:t>db.loginSessions.drop</a:t>
            </a:r>
            <a:r>
              <a:rPr lang="en-MY" dirty="0"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MY" dirty="0"/>
              <a:t>Deletes: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Collection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All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All indexes</a:t>
            </a:r>
          </a:p>
        </p:txBody>
      </p:sp>
    </p:spTree>
    <p:extLst>
      <p:ext uri="{BB962C8B-B14F-4D97-AF65-F5344CB8AC3E}">
        <p14:creationId xmlns:p14="http://schemas.microsoft.com/office/powerpoint/2010/main" val="1625561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9515595-82AD-BF30-E5E8-01FDD9475EDA}"/>
              </a:ext>
            </a:extLst>
          </p:cNvPr>
          <p:cNvSpPr txBox="1"/>
          <p:nvPr/>
        </p:nvSpPr>
        <p:spPr>
          <a:xfrm>
            <a:off x="255036" y="918907"/>
            <a:ext cx="11681927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Database:</a:t>
            </a:r>
            <a:r>
              <a:rPr lang="en-US" sz="1400" dirty="0"/>
              <a:t> </a:t>
            </a:r>
            <a:r>
              <a:rPr lang="en-US" sz="1400" dirty="0" err="1">
                <a:latin typeface="Courier New" panose="02070309020205020404" pitchFamily="49" charset="0"/>
              </a:rPr>
              <a:t>shopdb</a:t>
            </a:r>
            <a:br>
              <a:rPr lang="en-US" sz="1400" dirty="0"/>
            </a:br>
            <a:r>
              <a:rPr lang="en-US" sz="1400" b="1" dirty="0"/>
              <a:t>Collection:</a:t>
            </a:r>
            <a:r>
              <a:rPr lang="en-US" sz="1400" dirty="0"/>
              <a:t> </a:t>
            </a:r>
            <a:r>
              <a:rPr lang="en-US" sz="1400" dirty="0">
                <a:latin typeface="Courier New" panose="02070309020205020404" pitchFamily="49" charset="0"/>
              </a:rPr>
              <a:t>orders</a:t>
            </a:r>
            <a:endParaRPr lang="en-US" sz="1400" dirty="0"/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  <a:p>
            <a:pPr>
              <a:buNone/>
            </a:pPr>
            <a:r>
              <a:rPr lang="en-US" sz="1400" b="1" dirty="0"/>
              <a:t>Question 1 – Advanced Query (Condition + OR)</a:t>
            </a:r>
          </a:p>
          <a:p>
            <a:pPr>
              <a:buNone/>
            </a:pPr>
            <a:r>
              <a:rPr lang="en-US" sz="1400" dirty="0"/>
              <a:t>Retrieve all orders where the status is either </a:t>
            </a:r>
            <a:r>
              <a:rPr lang="en-US" sz="1400" dirty="0">
                <a:latin typeface="Courier New" panose="02070309020205020404" pitchFamily="49" charset="0"/>
              </a:rPr>
              <a:t>PAID</a:t>
            </a:r>
            <a:r>
              <a:rPr lang="en-US" sz="1400" dirty="0"/>
              <a:t> or </a:t>
            </a:r>
            <a:r>
              <a:rPr lang="en-US" sz="1400" dirty="0">
                <a:latin typeface="Courier New" panose="02070309020205020404" pitchFamily="49" charset="0"/>
              </a:rPr>
              <a:t>PENDING</a:t>
            </a:r>
            <a:r>
              <a:rPr lang="en-US" sz="1400" dirty="0"/>
              <a:t>, but city is NOT </a:t>
            </a:r>
            <a:r>
              <a:rPr lang="en-US" sz="1400" dirty="0">
                <a:latin typeface="Courier New" panose="02070309020205020404" pitchFamily="49" charset="0"/>
              </a:rPr>
              <a:t>KL</a:t>
            </a:r>
            <a:r>
              <a:rPr lang="en-US" sz="1400" dirty="0"/>
              <a:t>.</a:t>
            </a:r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  <a:p>
            <a:pPr>
              <a:buNone/>
            </a:pPr>
            <a:r>
              <a:rPr lang="en-US" sz="1400" b="1" dirty="0"/>
              <a:t>Question 2 – Sorting (Multi-field)</a:t>
            </a:r>
          </a:p>
          <a:p>
            <a:pPr>
              <a:buNone/>
            </a:pPr>
            <a:r>
              <a:rPr lang="en-US" sz="1400" dirty="0"/>
              <a:t>Display only </a:t>
            </a:r>
            <a:r>
              <a:rPr lang="en-US" sz="1400" dirty="0" err="1">
                <a:latin typeface="Courier New" panose="02070309020205020404" pitchFamily="49" charset="0"/>
              </a:rPr>
              <a:t>orderId</a:t>
            </a:r>
            <a:r>
              <a:rPr lang="en-US" sz="1400" dirty="0"/>
              <a:t>, </a:t>
            </a:r>
            <a:r>
              <a:rPr lang="en-US" sz="1400" dirty="0">
                <a:latin typeface="Courier New" panose="02070309020205020404" pitchFamily="49" charset="0"/>
              </a:rPr>
              <a:t>city</a:t>
            </a:r>
            <a:r>
              <a:rPr lang="en-US" sz="1400" dirty="0"/>
              <a:t>, and </a:t>
            </a:r>
            <a:r>
              <a:rPr lang="en-US" sz="1400" dirty="0">
                <a:latin typeface="Courier New" panose="02070309020205020404" pitchFamily="49" charset="0"/>
              </a:rPr>
              <a:t>amount</a:t>
            </a:r>
            <a:r>
              <a:rPr lang="en-US" sz="1400" dirty="0"/>
              <a:t>, sorted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city in descending order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amount in ascending order</a:t>
            </a:r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  <a:p>
            <a:pPr>
              <a:buNone/>
            </a:pPr>
            <a:r>
              <a:rPr lang="en-US" sz="1400" b="1" dirty="0"/>
              <a:t>Question 3 – Aggregation (Count under Condition)</a:t>
            </a:r>
          </a:p>
          <a:p>
            <a:pPr>
              <a:buNone/>
            </a:pPr>
            <a:r>
              <a:rPr lang="en-US" sz="1400" dirty="0"/>
              <a:t>Calculate the number of orders per city where the amount is greater than 100.</a:t>
            </a:r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  <a:p>
            <a:pPr>
              <a:buNone/>
            </a:pPr>
            <a:r>
              <a:rPr lang="en-US" sz="1400" b="1" dirty="0"/>
              <a:t>Question 4 – Indexing (Compound Index Usage)</a:t>
            </a:r>
          </a:p>
          <a:p>
            <a:pPr>
              <a:buNone/>
            </a:pPr>
            <a:r>
              <a:rPr lang="en-US" sz="1400" dirty="0"/>
              <a:t>Create a compound index that </a:t>
            </a:r>
            <a:r>
              <a:rPr lang="en-US" sz="1400" dirty="0" err="1"/>
              <a:t>optimises</a:t>
            </a:r>
            <a:r>
              <a:rPr lang="en-US" sz="1400" dirty="0"/>
              <a:t> queries filtering by customer and status, then write one query that benefits from this index.</a:t>
            </a:r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  <a:p>
            <a:pPr>
              <a:buNone/>
            </a:pPr>
            <a:r>
              <a:rPr lang="en-US" sz="1400" b="1" dirty="0"/>
              <a:t>Question 5 – Data Modification (Update + Delete)</a:t>
            </a:r>
          </a:p>
          <a:p>
            <a:pPr>
              <a:buNone/>
            </a:pPr>
            <a:r>
              <a:rPr lang="en-US" sz="1400" dirty="0"/>
              <a:t>a) Update all orders with status </a:t>
            </a:r>
            <a:r>
              <a:rPr lang="en-US" sz="1400" dirty="0">
                <a:latin typeface="Courier New" panose="02070309020205020404" pitchFamily="49" charset="0"/>
              </a:rPr>
              <a:t>"FAILED"</a:t>
            </a:r>
            <a:r>
              <a:rPr lang="en-US" sz="1400" dirty="0"/>
              <a:t> to </a:t>
            </a:r>
            <a:r>
              <a:rPr lang="en-US" sz="1400" dirty="0">
                <a:latin typeface="Courier New" panose="02070309020205020404" pitchFamily="49" charset="0"/>
              </a:rPr>
              <a:t>"CLOSED"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b) Delete all orders where the amount is less than 70.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4F99F9-0880-0126-C0BA-D7E426FC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302"/>
            <a:ext cx="10515600" cy="65860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EXERCISE</a:t>
            </a:r>
            <a:endParaRPr lang="en-MY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360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832A7B-17DE-A49A-0D98-B1726445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BE87F-5B1E-B127-DCFD-1E4D48217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24</a:t>
            </a:fld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EC0F348-2D30-7AC1-3CE0-4197AE98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188" y="3429000"/>
            <a:ext cx="5327003" cy="40089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51558A9-F831-677E-BB04-1C0F9AD97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089" y="2894401"/>
            <a:ext cx="5327003" cy="40089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CCD5C17-9FCF-9090-0510-5284D0FCF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63" y="2684422"/>
            <a:ext cx="3612283" cy="122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406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18241</TotalTime>
  <Words>1588</Words>
  <Application>Microsoft Office PowerPoint</Application>
  <PresentationFormat>Widescreen</PresentationFormat>
  <Paragraphs>208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Montserrat Semi</vt:lpstr>
      <vt:lpstr>Office Theme</vt:lpstr>
      <vt:lpstr>PowerPoint Presentation</vt:lpstr>
      <vt:lpstr>LECTURE LEARNING OUTCOME</vt:lpstr>
      <vt:lpstr>Create Database &amp; Collection</vt:lpstr>
      <vt:lpstr>Create Database &amp; Collection</vt:lpstr>
      <vt:lpstr>Insert Data</vt:lpstr>
      <vt:lpstr>Verify Data</vt:lpstr>
      <vt:lpstr>Sorting in MongoDB</vt:lpstr>
      <vt:lpstr>Sorting in MongoDB</vt:lpstr>
      <vt:lpstr>Advanced Query Operators:  conditions, ranges, patterns, and arrays</vt:lpstr>
      <vt:lpstr>Advanced Query Operators:  conditions, ranges, patterns, and arrays</vt:lpstr>
      <vt:lpstr>Advanced Query Operators:  conditions, ranges, patterns, and arrays</vt:lpstr>
      <vt:lpstr>Advanced Query Operators:  conditions, ranges, patterns, and arrays</vt:lpstr>
      <vt:lpstr>Advanced Query Operators:  conditions, ranges, patterns, and arrays</vt:lpstr>
      <vt:lpstr>Benefits of Indexing in MongoDB</vt:lpstr>
      <vt:lpstr>Indexing in MongoDB</vt:lpstr>
      <vt:lpstr>Using Index for Range Queries in MongoDB</vt:lpstr>
      <vt:lpstr>Compound Index</vt:lpstr>
      <vt:lpstr>Aggregation</vt:lpstr>
      <vt:lpstr>Aggregation – Practice !</vt:lpstr>
      <vt:lpstr>Update in MongoDB</vt:lpstr>
      <vt:lpstr>Retrieve in MongoDB</vt:lpstr>
      <vt:lpstr>Delete in MongoDB</vt:lpstr>
      <vt:lpstr>EXERCISE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AMALINA BINTI HAMIDI</dc:creator>
  <cp:lastModifiedBy>SHAMINI A/P RAJA KUMARAN</cp:lastModifiedBy>
  <cp:revision>205</cp:revision>
  <dcterms:created xsi:type="dcterms:W3CDTF">2023-12-31T03:09:43Z</dcterms:created>
  <dcterms:modified xsi:type="dcterms:W3CDTF">2026-01-06T20:34:26Z</dcterms:modified>
</cp:coreProperties>
</file>