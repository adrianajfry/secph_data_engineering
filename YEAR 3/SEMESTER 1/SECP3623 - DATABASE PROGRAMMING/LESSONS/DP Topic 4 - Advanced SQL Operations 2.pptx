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</p:sldIdLst>
  <p:sldSz cy="6858000" cx="9144000"/>
  <p:notesSz cx="6858000" cy="9144000"/>
  <p:embeddedFontLst>
    <p:embeddedFont>
      <p:font typeface="Roboto"/>
      <p:regular r:id="rId52"/>
      <p:bold r:id="rId53"/>
      <p:italic r:id="rId54"/>
      <p:boldItalic r:id="rId55"/>
    </p:embeddedFont>
    <p:embeddedFont>
      <p:font typeface="Cascadia Code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0" roundtripDataSignature="AMtx7miXkIZ/ycuposBY/gwjKraS32S/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customschemas.google.com/relationships/presentationmetadata" Target="meta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font" Target="fonts/Roboto-bold.fntdata"/><Relationship Id="rId52" Type="http://schemas.openxmlformats.org/officeDocument/2006/relationships/font" Target="fonts/Roboto-regular.fntdata"/><Relationship Id="rId11" Type="http://schemas.openxmlformats.org/officeDocument/2006/relationships/slide" Target="slides/slide7.xml"/><Relationship Id="rId55" Type="http://schemas.openxmlformats.org/officeDocument/2006/relationships/font" Target="fonts/Roboto-boldItalic.fntdata"/><Relationship Id="rId10" Type="http://schemas.openxmlformats.org/officeDocument/2006/relationships/slide" Target="slides/slide6.xml"/><Relationship Id="rId54" Type="http://schemas.openxmlformats.org/officeDocument/2006/relationships/font" Target="fonts/Roboto-italic.fntdata"/><Relationship Id="rId13" Type="http://schemas.openxmlformats.org/officeDocument/2006/relationships/slide" Target="slides/slide9.xml"/><Relationship Id="rId57" Type="http://schemas.openxmlformats.org/officeDocument/2006/relationships/font" Target="fonts/CascadiaCode-bold.fntdata"/><Relationship Id="rId12" Type="http://schemas.openxmlformats.org/officeDocument/2006/relationships/slide" Target="slides/slide8.xml"/><Relationship Id="rId56" Type="http://schemas.openxmlformats.org/officeDocument/2006/relationships/font" Target="fonts/CascadiaCode-regular.fntdata"/><Relationship Id="rId15" Type="http://schemas.openxmlformats.org/officeDocument/2006/relationships/slide" Target="slides/slide11.xml"/><Relationship Id="rId59" Type="http://schemas.openxmlformats.org/officeDocument/2006/relationships/font" Target="fonts/CascadiaCode-boldItalic.fntdata"/><Relationship Id="rId14" Type="http://schemas.openxmlformats.org/officeDocument/2006/relationships/slide" Target="slides/slide10.xml"/><Relationship Id="rId58" Type="http://schemas.openxmlformats.org/officeDocument/2006/relationships/font" Target="fonts/CascadiaCode-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4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4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4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5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5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5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5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5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5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5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5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5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6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6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6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6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6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6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6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6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6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6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7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7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7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7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7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7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7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7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7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7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8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8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8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8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8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8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8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8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8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">
  <p:cSld name="cover pag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90"/>
          <p:cNvPicPr preferRelativeResize="0"/>
          <p:nvPr/>
        </p:nvPicPr>
        <p:blipFill rotWithShape="1">
          <a:blip r:embed="rId2">
            <a:alphaModFix amt="34000"/>
          </a:blip>
          <a:srcRect b="0" l="0" r="0" t="0"/>
          <a:stretch/>
        </p:blipFill>
        <p:spPr>
          <a:xfrm rot="-5400000">
            <a:off x="211027" y="-211028"/>
            <a:ext cx="6880030" cy="7302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90"/>
          <p:cNvPicPr preferRelativeResize="0"/>
          <p:nvPr/>
        </p:nvPicPr>
        <p:blipFill rotWithShape="1">
          <a:blip r:embed="rId3">
            <a:alphaModFix amt="99000"/>
          </a:blip>
          <a:srcRect b="0" l="0" r="0" t="0"/>
          <a:stretch/>
        </p:blipFill>
        <p:spPr>
          <a:xfrm flipH="1">
            <a:off x="44320" y="1"/>
            <a:ext cx="9055360" cy="3109189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90"/>
          <p:cNvSpPr/>
          <p:nvPr/>
        </p:nvSpPr>
        <p:spPr>
          <a:xfrm rot="5400000">
            <a:off x="4429545" y="2165578"/>
            <a:ext cx="28490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90"/>
          <p:cNvSpPr txBox="1"/>
          <p:nvPr/>
        </p:nvSpPr>
        <p:spPr>
          <a:xfrm>
            <a:off x="4109523" y="6595122"/>
            <a:ext cx="1032976" cy="21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www.utm.my</a:t>
            </a:r>
            <a:endParaRPr b="1" i="0" sz="825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91"/>
          <p:cNvPicPr preferRelativeResize="0"/>
          <p:nvPr/>
        </p:nvPicPr>
        <p:blipFill rotWithShape="1">
          <a:blip r:embed="rId2">
            <a:alphaModFix amt="99000"/>
          </a:blip>
          <a:srcRect b="0" l="0" r="0" t="0"/>
          <a:stretch/>
        </p:blipFill>
        <p:spPr>
          <a:xfrm flipH="1">
            <a:off x="5073" y="1271"/>
            <a:ext cx="9055360" cy="310918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91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1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4" name="Google Shape;24;p91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91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6" name="Google Shape;26;p91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9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" name="Google Shape;30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159" y="283591"/>
            <a:ext cx="1101125" cy="49746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91"/>
          <p:cNvSpPr/>
          <p:nvPr/>
        </p:nvSpPr>
        <p:spPr>
          <a:xfrm>
            <a:off x="5074" y="342266"/>
            <a:ext cx="7702229" cy="45719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" name="Google Shape;32;p91"/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33" name="Google Shape;33;p91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91"/>
            <p:cNvSpPr txBox="1"/>
            <p:nvPr/>
          </p:nvSpPr>
          <p:spPr>
            <a:xfrm rot="-5400000">
              <a:off x="-565324" y="5562781"/>
              <a:ext cx="1377301" cy="292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25" u="none" cap="none" strike="noStrike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25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5074" y="1270"/>
            <a:ext cx="5334040" cy="183146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9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2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9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9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92"/>
          <p:cNvSpPr/>
          <p:nvPr/>
        </p:nvSpPr>
        <p:spPr>
          <a:xfrm>
            <a:off x="2920816" y="21432"/>
            <a:ext cx="3345126" cy="256507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" name="Google Shape;43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159" y="283591"/>
            <a:ext cx="1101125" cy="49746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92"/>
          <p:cNvSpPr/>
          <p:nvPr/>
        </p:nvSpPr>
        <p:spPr>
          <a:xfrm>
            <a:off x="-1" y="6808663"/>
            <a:ext cx="9186760" cy="10897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" name="Google Shape;45;p92"/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46" name="Google Shape;46;p92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92"/>
            <p:cNvSpPr txBox="1"/>
            <p:nvPr/>
          </p:nvSpPr>
          <p:spPr>
            <a:xfrm rot="-5400000">
              <a:off x="-565324" y="5562781"/>
              <a:ext cx="1377301" cy="292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25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25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0">
  <p:cSld name="Layout20">
    <p:bg>
      <p:bgPr>
        <a:solidFill>
          <a:srgbClr val="4B473E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9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1" name="Google Shape;51;p93"/>
          <p:cNvCxnSpPr/>
          <p:nvPr/>
        </p:nvCxnSpPr>
        <p:spPr>
          <a:xfrm>
            <a:off x="-9525" y="1016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6" name="Google Shape;56;p94"/>
          <p:cNvGrpSpPr/>
          <p:nvPr/>
        </p:nvGrpSpPr>
        <p:grpSpPr>
          <a:xfrm>
            <a:off x="0" y="0"/>
            <a:ext cx="3552108" cy="7783867"/>
            <a:chOff x="0" y="0"/>
            <a:chExt cx="4736144" cy="7783867"/>
          </a:xfrm>
        </p:grpSpPr>
        <p:pic>
          <p:nvPicPr>
            <p:cNvPr id="57" name="Google Shape;57;p9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3118649" cy="44635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94"/>
            <p:cNvSpPr/>
            <p:nvPr/>
          </p:nvSpPr>
          <p:spPr>
            <a:xfrm rot="8446488">
              <a:off x="1155879" y="3069975"/>
              <a:ext cx="2214654" cy="3120244"/>
            </a:xfrm>
            <a:prstGeom prst="parallelogram">
              <a:avLst>
                <a:gd fmla="val 25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94"/>
            <p:cNvSpPr/>
            <p:nvPr/>
          </p:nvSpPr>
          <p:spPr>
            <a:xfrm rot="8446488">
              <a:off x="2539020" y="5497285"/>
              <a:ext cx="1784436" cy="1941063"/>
            </a:xfrm>
            <a:custGeom>
              <a:rect b="b" l="l" r="r" t="t"/>
              <a:pathLst>
                <a:path extrusionOk="0" h="1941063" w="1784436">
                  <a:moveTo>
                    <a:pt x="0" y="1941063"/>
                  </a:moveTo>
                  <a:lnTo>
                    <a:pt x="341522" y="0"/>
                  </a:lnTo>
                  <a:lnTo>
                    <a:pt x="1784436" y="1205605"/>
                  </a:lnTo>
                  <a:lnTo>
                    <a:pt x="1660991" y="1941063"/>
                  </a:lnTo>
                  <a:lnTo>
                    <a:pt x="0" y="1941063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0" name="Google Shape;60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594748" y="-1062392"/>
            <a:ext cx="1803810" cy="3385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94"/>
          <p:cNvPicPr preferRelativeResize="0"/>
          <p:nvPr/>
        </p:nvPicPr>
        <p:blipFill rotWithShape="1">
          <a:blip r:embed="rId4">
            <a:alphaModFix amt="99000"/>
          </a:blip>
          <a:srcRect b="0" l="0" r="0" t="0"/>
          <a:stretch/>
        </p:blipFill>
        <p:spPr>
          <a:xfrm flipH="1" rot="-5400000">
            <a:off x="-2832572" y="2842942"/>
            <a:ext cx="7046892" cy="1361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212409" y="3743463"/>
            <a:ext cx="1560526" cy="2978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9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1320140" y="6145600"/>
            <a:ext cx="419100" cy="592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95"/>
          <p:cNvPicPr preferRelativeResize="0"/>
          <p:nvPr/>
        </p:nvPicPr>
        <p:blipFill rotWithShape="1">
          <a:blip r:embed="rId2">
            <a:alphaModFix/>
          </a:blip>
          <a:srcRect b="7973" l="0" r="0" t="26333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95"/>
          <p:cNvSpPr/>
          <p:nvPr/>
        </p:nvSpPr>
        <p:spPr>
          <a:xfrm>
            <a:off x="0" y="1"/>
            <a:ext cx="9144000" cy="6858000"/>
          </a:xfrm>
          <a:prstGeom prst="rect">
            <a:avLst/>
          </a:prstGeom>
          <a:gradFill>
            <a:gsLst>
              <a:gs pos="0">
                <a:srgbClr val="6C1D35">
                  <a:alpha val="67843"/>
                </a:srgbClr>
              </a:gs>
              <a:gs pos="12000">
                <a:srgbClr val="6C1D35">
                  <a:alpha val="67843"/>
                </a:srgbClr>
              </a:gs>
              <a:gs pos="77000">
                <a:srgbClr val="511527"/>
              </a:gs>
              <a:gs pos="100000">
                <a:srgbClr val="511527"/>
              </a:gs>
            </a:gsLst>
            <a:lin ang="13500000" scaled="0"/>
          </a:gradFill>
          <a:ln cap="flat" cmpd="sng" w="12700">
            <a:solidFill>
              <a:srgbClr val="2D0C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9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0" name="Google Shape;70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5334000" y="-35081"/>
            <a:ext cx="3688080" cy="6921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8451197" y="349094"/>
            <a:ext cx="1507527" cy="2829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page">
  <p:cSld name="end pag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6"/>
          <p:cNvSpPr/>
          <p:nvPr/>
        </p:nvSpPr>
        <p:spPr>
          <a:xfrm>
            <a:off x="0" y="-2"/>
            <a:ext cx="9172575" cy="6858001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96"/>
          <p:cNvPicPr preferRelativeResize="0"/>
          <p:nvPr/>
        </p:nvPicPr>
        <p:blipFill rotWithShape="1">
          <a:blip r:embed="rId2">
            <a:alphaModFix amt="32000"/>
          </a:blip>
          <a:srcRect b="0" l="20647" r="0" t="0"/>
          <a:stretch/>
        </p:blipFill>
        <p:spPr>
          <a:xfrm rot="-5400000">
            <a:off x="1157288" y="-1157288"/>
            <a:ext cx="6858000" cy="91725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97"/>
          <p:cNvPicPr preferRelativeResize="0"/>
          <p:nvPr/>
        </p:nvPicPr>
        <p:blipFill rotWithShape="1">
          <a:blip r:embed="rId2">
            <a:alphaModFix amt="99000"/>
          </a:blip>
          <a:srcRect b="0" l="0" r="0" t="0"/>
          <a:stretch/>
        </p:blipFill>
        <p:spPr>
          <a:xfrm flipH="1">
            <a:off x="5073" y="1271"/>
            <a:ext cx="9055360" cy="31091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" name="Google Shape;80;p97"/>
          <p:cNvGrpSpPr/>
          <p:nvPr/>
        </p:nvGrpSpPr>
        <p:grpSpPr>
          <a:xfrm>
            <a:off x="0" y="6438899"/>
            <a:ext cx="3319088" cy="419100"/>
            <a:chOff x="0" y="6438899"/>
            <a:chExt cx="4425450" cy="419100"/>
          </a:xfrm>
        </p:grpSpPr>
        <p:sp>
          <p:nvSpPr>
            <p:cNvPr id="81" name="Google Shape;81;p97"/>
            <p:cNvSpPr/>
            <p:nvPr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97"/>
            <p:cNvSpPr/>
            <p:nvPr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Google Shape;83;p97"/>
          <p:cNvSpPr txBox="1"/>
          <p:nvPr>
            <p:ph type="title"/>
          </p:nvPr>
        </p:nvSpPr>
        <p:spPr>
          <a:xfrm>
            <a:off x="623888" y="1047752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97"/>
          <p:cNvSpPr txBox="1"/>
          <p:nvPr>
            <p:ph idx="1" type="body"/>
          </p:nvPr>
        </p:nvSpPr>
        <p:spPr>
          <a:xfrm>
            <a:off x="623888" y="2814638"/>
            <a:ext cx="7886700" cy="3357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5" name="Google Shape;85;p9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9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9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8" name="Google Shape;88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159" y="283591"/>
            <a:ext cx="1101125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97"/>
          <p:cNvGrpSpPr/>
          <p:nvPr/>
        </p:nvGrpSpPr>
        <p:grpSpPr>
          <a:xfrm>
            <a:off x="0" y="0"/>
            <a:ext cx="1601261" cy="390908"/>
            <a:chOff x="0" y="0"/>
            <a:chExt cx="2135014" cy="390908"/>
          </a:xfrm>
        </p:grpSpPr>
        <p:sp>
          <p:nvSpPr>
            <p:cNvPr id="90" name="Google Shape;90;p97"/>
            <p:cNvSpPr/>
            <p:nvPr/>
          </p:nvSpPr>
          <p:spPr>
            <a:xfrm>
              <a:off x="0" y="1"/>
              <a:ext cx="1921715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97"/>
            <p:cNvSpPr/>
            <p:nvPr/>
          </p:nvSpPr>
          <p:spPr>
            <a:xfrm flipH="1" rot="10800000">
              <a:off x="1921715" y="0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97"/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93" name="Google Shape;93;p97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97"/>
            <p:cNvSpPr txBox="1"/>
            <p:nvPr/>
          </p:nvSpPr>
          <p:spPr>
            <a:xfrm rot="-5400000">
              <a:off x="-565324" y="5562781"/>
              <a:ext cx="1377301" cy="292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25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25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98"/>
          <p:cNvPicPr preferRelativeResize="0"/>
          <p:nvPr/>
        </p:nvPicPr>
        <p:blipFill rotWithShape="1">
          <a:blip r:embed="rId2">
            <a:alphaModFix amt="99000"/>
          </a:blip>
          <a:srcRect b="0" l="0" r="0" t="0"/>
          <a:stretch/>
        </p:blipFill>
        <p:spPr>
          <a:xfrm flipH="1">
            <a:off x="5073" y="1271"/>
            <a:ext cx="9055360" cy="310918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98"/>
          <p:cNvSpPr txBox="1"/>
          <p:nvPr>
            <p:ph type="ctrTitle"/>
          </p:nvPr>
        </p:nvSpPr>
        <p:spPr>
          <a:xfrm>
            <a:off x="1143000" y="1122363"/>
            <a:ext cx="685800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98"/>
          <p:cNvSpPr txBox="1"/>
          <p:nvPr>
            <p:ph idx="1" type="subTitle"/>
          </p:nvPr>
        </p:nvSpPr>
        <p:spPr>
          <a:xfrm>
            <a:off x="1143000" y="2601119"/>
            <a:ext cx="6858000" cy="3461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9" name="Google Shape;99;p9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9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9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Clr>
                <a:srgbClr val="6C1D35"/>
              </a:buClr>
              <a:buSzPts val="900"/>
              <a:buFont typeface="Calibri"/>
              <a:buNone/>
              <a:defRPr sz="9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Clr>
                <a:srgbClr val="6C1D35"/>
              </a:buClr>
              <a:buSzPts val="900"/>
              <a:buFont typeface="Calibri"/>
              <a:buNone/>
              <a:defRPr sz="9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Clr>
                <a:srgbClr val="6C1D35"/>
              </a:buClr>
              <a:buSzPts val="900"/>
              <a:buFont typeface="Calibri"/>
              <a:buNone/>
              <a:defRPr sz="9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Clr>
                <a:srgbClr val="6C1D35"/>
              </a:buClr>
              <a:buSzPts val="900"/>
              <a:buFont typeface="Calibri"/>
              <a:buNone/>
              <a:defRPr sz="9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Clr>
                <a:srgbClr val="6C1D35"/>
              </a:buClr>
              <a:buSzPts val="900"/>
              <a:buFont typeface="Calibri"/>
              <a:buNone/>
              <a:defRPr sz="9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Clr>
                <a:srgbClr val="6C1D35"/>
              </a:buClr>
              <a:buSzPts val="900"/>
              <a:buFont typeface="Calibri"/>
              <a:buNone/>
              <a:defRPr sz="9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Clr>
                <a:srgbClr val="6C1D35"/>
              </a:buClr>
              <a:buSzPts val="900"/>
              <a:buFont typeface="Calibri"/>
              <a:buNone/>
              <a:defRPr sz="9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Clr>
                <a:srgbClr val="6C1D35"/>
              </a:buClr>
              <a:buSzPts val="900"/>
              <a:buFont typeface="Calibri"/>
              <a:buNone/>
              <a:defRPr sz="9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Clr>
                <a:srgbClr val="6C1D35"/>
              </a:buClr>
              <a:buSzPts val="900"/>
              <a:buFont typeface="Calibri"/>
              <a:buNone/>
              <a:defRPr sz="9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" name="Google Shape;102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159" y="283591"/>
            <a:ext cx="1101125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" name="Google Shape;103;p98"/>
          <p:cNvGrpSpPr/>
          <p:nvPr/>
        </p:nvGrpSpPr>
        <p:grpSpPr>
          <a:xfrm>
            <a:off x="0" y="336866"/>
            <a:ext cx="628650" cy="390908"/>
            <a:chOff x="0" y="585597"/>
            <a:chExt cx="838200" cy="390908"/>
          </a:xfrm>
        </p:grpSpPr>
        <p:sp>
          <p:nvSpPr>
            <p:cNvPr id="104" name="Google Shape;104;p98"/>
            <p:cNvSpPr/>
            <p:nvPr/>
          </p:nvSpPr>
          <p:spPr>
            <a:xfrm>
              <a:off x="0" y="585598"/>
              <a:ext cx="624901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98"/>
            <p:cNvSpPr/>
            <p:nvPr/>
          </p:nvSpPr>
          <p:spPr>
            <a:xfrm flipH="1" rot="10800000">
              <a:off x="624901" y="585597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98"/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07" name="Google Shape;107;p98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98"/>
            <p:cNvSpPr txBox="1"/>
            <p:nvPr/>
          </p:nvSpPr>
          <p:spPr>
            <a:xfrm rot="-5400000">
              <a:off x="-565324" y="5562781"/>
              <a:ext cx="1377301" cy="292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25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25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5074" y="1270"/>
            <a:ext cx="5334040" cy="183146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99"/>
          <p:cNvSpPr/>
          <p:nvPr/>
        </p:nvSpPr>
        <p:spPr>
          <a:xfrm>
            <a:off x="-28575" y="1690688"/>
            <a:ext cx="9172575" cy="5167312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99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99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9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9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9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8" name="Google Shape;118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159" y="283591"/>
            <a:ext cx="1101125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" name="Google Shape;119;p99"/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20" name="Google Shape;120;p99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99"/>
            <p:cNvSpPr txBox="1"/>
            <p:nvPr/>
          </p:nvSpPr>
          <p:spPr>
            <a:xfrm rot="-5400000">
              <a:off x="-565324" y="5562781"/>
              <a:ext cx="1377301" cy="292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25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25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00"/>
          <p:cNvPicPr preferRelativeResize="0"/>
          <p:nvPr/>
        </p:nvPicPr>
        <p:blipFill rotWithShape="1">
          <a:blip r:embed="rId2">
            <a:alphaModFix amt="99000"/>
          </a:blip>
          <a:srcRect b="0" l="0" r="0" t="0"/>
          <a:stretch/>
        </p:blipFill>
        <p:spPr>
          <a:xfrm flipH="1">
            <a:off x="5073" y="1271"/>
            <a:ext cx="9055360" cy="31091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p100"/>
          <p:cNvGrpSpPr/>
          <p:nvPr/>
        </p:nvGrpSpPr>
        <p:grpSpPr>
          <a:xfrm flipH="1">
            <a:off x="6672360" y="6438900"/>
            <a:ext cx="2471641" cy="419101"/>
            <a:chOff x="0" y="6438899"/>
            <a:chExt cx="4425450" cy="419100"/>
          </a:xfrm>
        </p:grpSpPr>
        <p:sp>
          <p:nvSpPr>
            <p:cNvPr id="125" name="Google Shape;125;p100"/>
            <p:cNvSpPr/>
            <p:nvPr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00"/>
            <p:cNvSpPr/>
            <p:nvPr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100"/>
          <p:cNvSpPr txBox="1"/>
          <p:nvPr>
            <p:ph type="title"/>
          </p:nvPr>
        </p:nvSpPr>
        <p:spPr>
          <a:xfrm>
            <a:off x="1023731" y="2766219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0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0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0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1" name="Google Shape;131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159" y="283591"/>
            <a:ext cx="1101125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" name="Google Shape;132;p100"/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33" name="Google Shape;133;p100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00"/>
            <p:cNvSpPr txBox="1"/>
            <p:nvPr/>
          </p:nvSpPr>
          <p:spPr>
            <a:xfrm rot="-5400000">
              <a:off x="-565324" y="5562781"/>
              <a:ext cx="1377301" cy="292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25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25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3534946" y="1270"/>
            <a:ext cx="5334040" cy="183146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01"/>
          <p:cNvSpPr/>
          <p:nvPr/>
        </p:nvSpPr>
        <p:spPr>
          <a:xfrm>
            <a:off x="-28574" y="0"/>
            <a:ext cx="3573066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1"/>
          <p:cNvSpPr txBox="1"/>
          <p:nvPr>
            <p:ph type="title"/>
          </p:nvPr>
        </p:nvSpPr>
        <p:spPr>
          <a:xfrm>
            <a:off x="629841" y="457200"/>
            <a:ext cx="282897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1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0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40" name="Google Shape;140;p101"/>
          <p:cNvSpPr txBox="1"/>
          <p:nvPr>
            <p:ph idx="2" type="body"/>
          </p:nvPr>
        </p:nvSpPr>
        <p:spPr>
          <a:xfrm>
            <a:off x="629841" y="2057400"/>
            <a:ext cx="282897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41" name="Google Shape;141;p10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0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0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4" name="Google Shape;144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159" y="283591"/>
            <a:ext cx="1101125" cy="49746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01"/>
          <p:cNvSpPr/>
          <p:nvPr/>
        </p:nvSpPr>
        <p:spPr>
          <a:xfrm rot="5400000">
            <a:off x="135965" y="3406639"/>
            <a:ext cx="6858000" cy="4472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" name="Google Shape;146;p101"/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47" name="Google Shape;147;p101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01"/>
            <p:cNvSpPr txBox="1"/>
            <p:nvPr/>
          </p:nvSpPr>
          <p:spPr>
            <a:xfrm rot="-5400000">
              <a:off x="-565324" y="5562781"/>
              <a:ext cx="1377301" cy="292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25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25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0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5074" y="1270"/>
            <a:ext cx="5334040" cy="183146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0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0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0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4" name="Google Shape;154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159" y="283591"/>
            <a:ext cx="1101125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p102"/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56" name="Google Shape;156;p102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02"/>
            <p:cNvSpPr txBox="1"/>
            <p:nvPr/>
          </p:nvSpPr>
          <p:spPr>
            <a:xfrm rot="-5400000">
              <a:off x="-565324" y="5562781"/>
              <a:ext cx="1377301" cy="292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25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25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-color">
  <p:cSld name="Blank-color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3"/>
          <p:cNvSpPr/>
          <p:nvPr/>
        </p:nvSpPr>
        <p:spPr>
          <a:xfrm>
            <a:off x="-28575" y="0"/>
            <a:ext cx="9172575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0" name="Google Shape;160;p103"/>
          <p:cNvGrpSpPr/>
          <p:nvPr/>
        </p:nvGrpSpPr>
        <p:grpSpPr>
          <a:xfrm>
            <a:off x="5385090" y="6473575"/>
            <a:ext cx="3758911" cy="390911"/>
            <a:chOff x="7180118" y="6489891"/>
            <a:chExt cx="5011881" cy="390911"/>
          </a:xfrm>
        </p:grpSpPr>
        <p:sp>
          <p:nvSpPr>
            <p:cNvPr id="161" name="Google Shape;161;p103"/>
            <p:cNvSpPr/>
            <p:nvPr/>
          </p:nvSpPr>
          <p:spPr>
            <a:xfrm rot="10800000">
              <a:off x="7393415" y="6489891"/>
              <a:ext cx="4798584" cy="39090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03"/>
            <p:cNvSpPr/>
            <p:nvPr/>
          </p:nvSpPr>
          <p:spPr>
            <a:xfrm flipH="1">
              <a:off x="7180118" y="6489895"/>
              <a:ext cx="213299" cy="390907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3" name="Google Shape;163;p10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57165" y="283590"/>
            <a:ext cx="1103119" cy="49746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0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0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0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67" name="Google Shape;167;p103"/>
          <p:cNvGrpSpPr/>
          <p:nvPr/>
        </p:nvGrpSpPr>
        <p:grpSpPr>
          <a:xfrm>
            <a:off x="-44162" y="0"/>
            <a:ext cx="1598115" cy="390908"/>
            <a:chOff x="-58882" y="0"/>
            <a:chExt cx="2130820" cy="390908"/>
          </a:xfrm>
        </p:grpSpPr>
        <p:sp>
          <p:nvSpPr>
            <p:cNvPr id="168" name="Google Shape;168;p103"/>
            <p:cNvSpPr/>
            <p:nvPr/>
          </p:nvSpPr>
          <p:spPr>
            <a:xfrm>
              <a:off x="-58882" y="1"/>
              <a:ext cx="1921715" cy="39090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03"/>
            <p:cNvSpPr/>
            <p:nvPr/>
          </p:nvSpPr>
          <p:spPr>
            <a:xfrm flipH="1" rot="10800000">
              <a:off x="1858639" y="0"/>
              <a:ext cx="213299" cy="390907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p103"/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71" name="Google Shape;171;p103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03"/>
            <p:cNvSpPr txBox="1"/>
            <p:nvPr/>
          </p:nvSpPr>
          <p:spPr>
            <a:xfrm rot="-5400000">
              <a:off x="-565324" y="5562781"/>
              <a:ext cx="1377301" cy="292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25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25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5074" y="1270"/>
            <a:ext cx="5334040" cy="183146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0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0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0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8" name="Google Shape;178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159" y="283591"/>
            <a:ext cx="1101125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04"/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80" name="Google Shape;180;p104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04"/>
            <p:cNvSpPr txBox="1"/>
            <p:nvPr/>
          </p:nvSpPr>
          <p:spPr>
            <a:xfrm rot="-5400000">
              <a:off x="-565324" y="5562781"/>
              <a:ext cx="1377301" cy="292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25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25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p104"/>
          <p:cNvSpPr/>
          <p:nvPr/>
        </p:nvSpPr>
        <p:spPr>
          <a:xfrm rot="5400000">
            <a:off x="4549140" y="2285174"/>
            <a:ext cx="4571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4"/>
          <p:cNvSpPr txBox="1"/>
          <p:nvPr>
            <p:ph type="title"/>
          </p:nvPr>
        </p:nvSpPr>
        <p:spPr>
          <a:xfrm>
            <a:off x="628649" y="781052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5074" y="1270"/>
            <a:ext cx="5334040" cy="183146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0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0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0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9" name="Google Shape;189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159" y="283591"/>
            <a:ext cx="1101125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0" name="Google Shape;190;p105"/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91" name="Google Shape;191;p105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05"/>
            <p:cNvSpPr txBox="1"/>
            <p:nvPr/>
          </p:nvSpPr>
          <p:spPr>
            <a:xfrm rot="-5400000">
              <a:off x="-565324" y="5562781"/>
              <a:ext cx="1377301" cy="292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25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25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" name="Google Shape;193;p105"/>
          <p:cNvSpPr/>
          <p:nvPr/>
        </p:nvSpPr>
        <p:spPr>
          <a:xfrm rot="5400000">
            <a:off x="4554215" y="-4562095"/>
            <a:ext cx="4571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5"/>
          <p:cNvSpPr txBox="1"/>
          <p:nvPr>
            <p:ph type="title"/>
          </p:nvPr>
        </p:nvSpPr>
        <p:spPr>
          <a:xfrm>
            <a:off x="628649" y="781052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8.png"/><Relationship Id="rId4" Type="http://schemas.openxmlformats.org/officeDocument/2006/relationships/image" Target="../media/image2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9.png"/><Relationship Id="rId4" Type="http://schemas.openxmlformats.org/officeDocument/2006/relationships/image" Target="../media/image47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6"/>
          <p:cNvSpPr txBox="1"/>
          <p:nvPr/>
        </p:nvSpPr>
        <p:spPr>
          <a:xfrm>
            <a:off x="1879042" y="3216670"/>
            <a:ext cx="5034224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TOPIC 4 – ADVANCED SQL OPERATIONS 2</a:t>
            </a:r>
            <a:endParaRPr/>
          </a:p>
        </p:txBody>
      </p:sp>
      <p:sp>
        <p:nvSpPr>
          <p:cNvPr id="200" name="Google Shape;200;p46"/>
          <p:cNvSpPr txBox="1"/>
          <p:nvPr/>
        </p:nvSpPr>
        <p:spPr>
          <a:xfrm>
            <a:off x="140677" y="2501089"/>
            <a:ext cx="8802356" cy="7155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rPr>
              <a:t>SECP3623 DATABASE PROGRAMMING </a:t>
            </a:r>
            <a:endParaRPr/>
          </a:p>
        </p:txBody>
      </p:sp>
      <p:pic>
        <p:nvPicPr>
          <p:cNvPr id="201" name="Google Shape;20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5362" y="1306887"/>
            <a:ext cx="1687055" cy="563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54837" y="6381373"/>
            <a:ext cx="1602578" cy="120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7"/>
          <p:cNvSpPr txBox="1"/>
          <p:nvPr>
            <p:ph type="title"/>
          </p:nvPr>
        </p:nvSpPr>
        <p:spPr>
          <a:xfrm>
            <a:off x="629841" y="922372"/>
            <a:ext cx="7886700" cy="768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11527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511527"/>
                </a:solidFill>
              </a:rPr>
              <a:t>LECTURE LEARNING OUTCOME</a:t>
            </a:r>
            <a:endParaRPr/>
          </a:p>
        </p:txBody>
      </p:sp>
      <p:sp>
        <p:nvSpPr>
          <p:cNvPr id="208" name="Google Shape;208;p47"/>
          <p:cNvSpPr txBox="1"/>
          <p:nvPr/>
        </p:nvSpPr>
        <p:spPr>
          <a:xfrm>
            <a:off x="596034" y="1825799"/>
            <a:ext cx="66240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the end of this lecture, students should be able to: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7"/>
          <p:cNvSpPr txBox="1"/>
          <p:nvPr/>
        </p:nvSpPr>
        <p:spPr>
          <a:xfrm>
            <a:off x="627459" y="3130231"/>
            <a:ext cx="679340" cy="364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en-US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210" name="Google Shape;210;p47"/>
          <p:cNvSpPr txBox="1"/>
          <p:nvPr/>
        </p:nvSpPr>
        <p:spPr>
          <a:xfrm>
            <a:off x="903767" y="2275945"/>
            <a:ext cx="8070111" cy="3308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 SQL statements for data manipulations with multiple tables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oto Sans Symbols"/>
              <a:buChar char="❑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Subqueries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oto Sans Symbols"/>
              <a:buChar char="❑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Join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oto Sans Symbols"/>
              <a:buChar char="❑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Equijoin: 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NATURAL JOIN;  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… ON;  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INNER JOIN ON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oto Sans Symbols"/>
              <a:buChar char="❑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Outer join: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OUTER JOIN; 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 OUTER JOIN;  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OUTER JOIN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8"/>
          <p:cNvSpPr txBox="1"/>
          <p:nvPr>
            <p:ph type="title"/>
          </p:nvPr>
        </p:nvSpPr>
        <p:spPr>
          <a:xfrm>
            <a:off x="817991" y="727501"/>
            <a:ext cx="7025402" cy="5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SUBQUERIES</a:t>
            </a:r>
            <a:endParaRPr/>
          </a:p>
        </p:txBody>
      </p:sp>
      <p:sp>
        <p:nvSpPr>
          <p:cNvPr id="216" name="Google Shape;216;p48"/>
          <p:cNvSpPr txBox="1"/>
          <p:nvPr>
            <p:ph idx="1" type="body"/>
          </p:nvPr>
        </p:nvSpPr>
        <p:spPr>
          <a:xfrm>
            <a:off x="928524" y="1754241"/>
            <a:ext cx="7025402" cy="37999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b="1" lang="en-US"/>
              <a:t>Nested query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Contains outer &amp; inner </a:t>
            </a:r>
            <a:r>
              <a:rPr b="1" lang="en-US" sz="2400"/>
              <a:t>SELECT</a:t>
            </a:r>
            <a:r>
              <a:rPr lang="en-US" sz="2400"/>
              <a:t> statements.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result of inner </a:t>
            </a:r>
            <a:r>
              <a:rPr b="1" lang="en-US" sz="2400"/>
              <a:t>SELECT</a:t>
            </a:r>
            <a:r>
              <a:rPr lang="en-US" sz="2400"/>
              <a:t> (subquery) is used by the outer query to determine the final output.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Subqueries written at: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WHERE</a:t>
            </a:r>
            <a:r>
              <a:rPr lang="en-US" sz="2400"/>
              <a:t> or </a:t>
            </a:r>
            <a:r>
              <a:rPr b="1" lang="en-US" sz="2400"/>
              <a:t>HAVING</a:t>
            </a:r>
            <a:r>
              <a:rPr lang="en-US" sz="2400"/>
              <a:t> clause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SELECT</a:t>
            </a:r>
            <a:r>
              <a:rPr lang="en-US" sz="2400"/>
              <a:t> or </a:t>
            </a:r>
            <a:r>
              <a:rPr b="1" lang="en-US" sz="2400"/>
              <a:t>FROM</a:t>
            </a:r>
            <a:r>
              <a:rPr lang="en-US" sz="2400"/>
              <a:t> clause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When subquery written at </a:t>
            </a:r>
            <a:r>
              <a:rPr b="1" lang="en-US" sz="2400"/>
              <a:t>SELECT</a:t>
            </a:r>
            <a:r>
              <a:rPr lang="en-US" sz="2400"/>
              <a:t> clause, the subquery output is a single value.</a:t>
            </a:r>
            <a:endParaRPr/>
          </a:p>
        </p:txBody>
      </p:sp>
      <p:sp>
        <p:nvSpPr>
          <p:cNvPr id="217" name="Google Shape;217;p48"/>
          <p:cNvSpPr txBox="1"/>
          <p:nvPr>
            <p:ph idx="12" type="sldNum"/>
          </p:nvPr>
        </p:nvSpPr>
        <p:spPr>
          <a:xfrm>
            <a:off x="6818386" y="6356350"/>
            <a:ext cx="1447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9"/>
          <p:cNvSpPr txBox="1"/>
          <p:nvPr>
            <p:ph idx="1" type="body"/>
          </p:nvPr>
        </p:nvSpPr>
        <p:spPr>
          <a:xfrm>
            <a:off x="185856" y="1190431"/>
            <a:ext cx="4556966" cy="1128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Example 1: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List employee id and salary of all employees who are working in the sales department.</a:t>
            </a:r>
            <a:endParaRPr/>
          </a:p>
        </p:txBody>
      </p:sp>
      <p:pic>
        <p:nvPicPr>
          <p:cNvPr id="223" name="Google Shape;223;p49"/>
          <p:cNvPicPr preferRelativeResize="0"/>
          <p:nvPr/>
        </p:nvPicPr>
        <p:blipFill rotWithShape="1">
          <a:blip r:embed="rId3">
            <a:alphaModFix/>
          </a:blip>
          <a:srcRect b="0" l="0" r="36952" t="35672"/>
          <a:stretch/>
        </p:blipFill>
        <p:spPr>
          <a:xfrm>
            <a:off x="5204437" y="1525089"/>
            <a:ext cx="3684462" cy="3973977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49"/>
          <p:cNvSpPr txBox="1"/>
          <p:nvPr/>
        </p:nvSpPr>
        <p:spPr>
          <a:xfrm>
            <a:off x="185856" y="2974523"/>
            <a:ext cx="5010412" cy="269304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employee_id, salary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FROM</a:t>
            </a: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WHERE</a:t>
            </a: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department_id =</a:t>
            </a: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(</a:t>
            </a: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b="1" lang="en-US" sz="2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department_id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 </a:t>
            </a:r>
            <a:r>
              <a:rPr b="1" lang="en-US" sz="2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FROM</a:t>
            </a: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departments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 </a:t>
            </a:r>
            <a:r>
              <a:rPr b="1" lang="en-US" sz="2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WHERE</a:t>
            </a: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department_name</a:t>
            </a: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=</a:t>
            </a: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“</a:t>
            </a:r>
            <a:r>
              <a:rPr lang="en-US" sz="2400">
                <a:solidFill>
                  <a:srgbClr val="00B050"/>
                </a:solidFill>
                <a:latin typeface="Cascadia Code"/>
                <a:ea typeface="Cascadia Code"/>
                <a:cs typeface="Cascadia Code"/>
                <a:sym typeface="Cascadia Code"/>
              </a:rPr>
              <a:t>Sales</a:t>
            </a: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” </a:t>
            </a:r>
            <a:r>
              <a:rPr lang="en-US" sz="2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)</a:t>
            </a: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endParaRPr/>
          </a:p>
        </p:txBody>
      </p:sp>
      <p:sp>
        <p:nvSpPr>
          <p:cNvPr id="225" name="Google Shape;225;p49"/>
          <p:cNvSpPr txBox="1"/>
          <p:nvPr/>
        </p:nvSpPr>
        <p:spPr>
          <a:xfrm>
            <a:off x="1765523" y="464225"/>
            <a:ext cx="5612953" cy="5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SUBQUERIES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0"/>
          <p:cNvSpPr txBox="1"/>
          <p:nvPr/>
        </p:nvSpPr>
        <p:spPr>
          <a:xfrm>
            <a:off x="1551450" y="2468545"/>
            <a:ext cx="5100559" cy="3461658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employee_id, salary, department_name</a:t>
            </a:r>
            <a:endParaRPr sz="2400">
              <a:solidFill>
                <a:srgbClr val="C00000"/>
              </a:solidFill>
              <a:latin typeface="Cascadia Code"/>
              <a:ea typeface="Cascadia Code"/>
              <a:cs typeface="Cascadia Code"/>
              <a:sym typeface="Cascadia Code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FROM</a:t>
            </a: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employees</a:t>
            </a:r>
            <a:endParaRPr/>
          </a:p>
          <a:p>
            <a:pPr indent="-407988" lvl="0" marL="40798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WHERE</a:t>
            </a: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department_id =</a:t>
            </a: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(</a:t>
            </a: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b="1" lang="en-US" sz="2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department_id</a:t>
            </a:r>
            <a:endParaRPr sz="2400">
              <a:solidFill>
                <a:srgbClr val="C00000"/>
              </a:solidFill>
              <a:latin typeface="Cascadia Code"/>
              <a:ea typeface="Cascadia Code"/>
              <a:cs typeface="Cascadia Code"/>
              <a:sym typeface="Cascadia Code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 	</a:t>
            </a:r>
            <a:r>
              <a:rPr b="1" lang="en-US" sz="2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FROM</a:t>
            </a: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departments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 	</a:t>
            </a:r>
            <a:r>
              <a:rPr b="1" lang="en-US" sz="2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WHERE</a:t>
            </a: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department_name</a:t>
            </a: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=</a:t>
            </a: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“</a:t>
            </a:r>
            <a:r>
              <a:rPr lang="en-US" sz="2400">
                <a:solidFill>
                  <a:srgbClr val="00B050"/>
                </a:solidFill>
                <a:latin typeface="Cascadia Code"/>
                <a:ea typeface="Cascadia Code"/>
                <a:cs typeface="Cascadia Code"/>
                <a:sym typeface="Cascadia Code"/>
              </a:rPr>
              <a:t>Sales</a:t>
            </a: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”</a:t>
            </a:r>
            <a:r>
              <a:rPr lang="en-US" sz="2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);</a:t>
            </a: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endParaRPr/>
          </a:p>
        </p:txBody>
      </p:sp>
      <p:sp>
        <p:nvSpPr>
          <p:cNvPr id="231" name="Google Shape;231;p50"/>
          <p:cNvSpPr txBox="1"/>
          <p:nvPr>
            <p:ph idx="1" type="body"/>
          </p:nvPr>
        </p:nvSpPr>
        <p:spPr>
          <a:xfrm>
            <a:off x="757701" y="1260063"/>
            <a:ext cx="7848233" cy="983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What if we want to also display the department name in the result? How should the statement be written?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Will this query execute correctly???</a:t>
            </a:r>
            <a:endParaRPr sz="1800"/>
          </a:p>
        </p:txBody>
      </p:sp>
      <p:sp>
        <p:nvSpPr>
          <p:cNvPr id="232" name="Google Shape;232;p50"/>
          <p:cNvSpPr txBox="1"/>
          <p:nvPr>
            <p:ph idx="12" type="sldNum"/>
          </p:nvPr>
        </p:nvSpPr>
        <p:spPr>
          <a:xfrm>
            <a:off x="8275638" y="6356350"/>
            <a:ext cx="38576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33" name="Google Shape;233;p50"/>
          <p:cNvSpPr txBox="1"/>
          <p:nvPr>
            <p:ph type="title"/>
          </p:nvPr>
        </p:nvSpPr>
        <p:spPr>
          <a:xfrm>
            <a:off x="757701" y="435798"/>
            <a:ext cx="7025402" cy="5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SUBQUERIES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1"/>
          <p:cNvSpPr txBox="1"/>
          <p:nvPr>
            <p:ph type="title"/>
          </p:nvPr>
        </p:nvSpPr>
        <p:spPr>
          <a:xfrm>
            <a:off x="233916" y="365760"/>
            <a:ext cx="803150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OBTAINING DATA FROM MULTIPLE TABLES</a:t>
            </a:r>
            <a:endParaRPr/>
          </a:p>
        </p:txBody>
      </p:sp>
      <p:sp>
        <p:nvSpPr>
          <p:cNvPr id="239" name="Google Shape;239;p51"/>
          <p:cNvSpPr txBox="1"/>
          <p:nvPr>
            <p:ph idx="1" type="body"/>
          </p:nvPr>
        </p:nvSpPr>
        <p:spPr>
          <a:xfrm>
            <a:off x="1077686" y="1920240"/>
            <a:ext cx="7187739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Sometimes you need to use and display  data from more than one table. 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Employee IDs exist in the EMPLOYEES table.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Department IDs exist in both the EMPLOYEES and DEPARTMENTS tables.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Department names exist in the DEPARTMENTS table.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To produce the report, you need to </a:t>
            </a:r>
            <a:r>
              <a:rPr b="1" lang="en-US"/>
              <a:t>join</a:t>
            </a:r>
            <a:r>
              <a:rPr lang="en-US"/>
              <a:t> the EMPLOYEES and DEPARTMENTS tables, and access data from </a:t>
            </a:r>
            <a:r>
              <a:rPr b="1" lang="en-US"/>
              <a:t>both of them</a:t>
            </a:r>
            <a:r>
              <a:rPr lang="en-US"/>
              <a:t>.</a:t>
            </a:r>
            <a:endParaRPr/>
          </a:p>
          <a:p>
            <a:pPr indent="-19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40" name="Google Shape;240;p51"/>
          <p:cNvSpPr txBox="1"/>
          <p:nvPr>
            <p:ph idx="12" type="sldNum"/>
          </p:nvPr>
        </p:nvSpPr>
        <p:spPr>
          <a:xfrm>
            <a:off x="6818386" y="6356350"/>
            <a:ext cx="1447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2"/>
          <p:cNvSpPr txBox="1"/>
          <p:nvPr>
            <p:ph type="title"/>
          </p:nvPr>
        </p:nvSpPr>
        <p:spPr>
          <a:xfrm>
            <a:off x="150184" y="493130"/>
            <a:ext cx="8471301" cy="10064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OBTAINING DATA FROM MULTIPLE TABLES</a:t>
            </a:r>
            <a:endParaRPr/>
          </a:p>
        </p:txBody>
      </p:sp>
      <p:sp>
        <p:nvSpPr>
          <p:cNvPr id="246" name="Google Shape;246;p5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7" name="Google Shape;24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1509713"/>
            <a:ext cx="7573551" cy="433329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52"/>
          <p:cNvSpPr/>
          <p:nvPr/>
        </p:nvSpPr>
        <p:spPr>
          <a:xfrm>
            <a:off x="628650" y="2038027"/>
            <a:ext cx="3765119" cy="209227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2"/>
          <p:cNvSpPr/>
          <p:nvPr/>
        </p:nvSpPr>
        <p:spPr>
          <a:xfrm>
            <a:off x="4455763" y="2038027"/>
            <a:ext cx="3975038" cy="209227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04NF01a" id="254" name="Google Shape;254;p16"/>
          <p:cNvPicPr preferRelativeResize="0"/>
          <p:nvPr/>
        </p:nvPicPr>
        <p:blipFill rotWithShape="1">
          <a:blip r:embed="rId3">
            <a:alphaModFix/>
          </a:blip>
          <a:srcRect b="4859" l="771" r="68416" t="45182"/>
          <a:stretch/>
        </p:blipFill>
        <p:spPr>
          <a:xfrm>
            <a:off x="333296" y="2807466"/>
            <a:ext cx="2682346" cy="2889674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6"/>
          <p:cNvSpPr txBox="1"/>
          <p:nvPr>
            <p:ph type="title"/>
          </p:nvPr>
        </p:nvSpPr>
        <p:spPr>
          <a:xfrm>
            <a:off x="1469214" y="550070"/>
            <a:ext cx="5885259" cy="6107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UNION</a:t>
            </a:r>
            <a:r>
              <a:rPr b="1" lang="en-US" sz="3600">
                <a:solidFill>
                  <a:schemeClr val="accent1"/>
                </a:solidFill>
                <a:latin typeface="Times"/>
                <a:ea typeface="Times"/>
                <a:cs typeface="Times"/>
                <a:sym typeface="Times"/>
              </a:rPr>
              <a:t>  ( </a:t>
            </a:r>
            <a:r>
              <a:rPr b="1" lang="en-US" sz="3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∪ )</a:t>
            </a:r>
            <a:endParaRPr b="1" sz="3600">
              <a:solidFill>
                <a:schemeClr val="accen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6" name="Google Shape;256;p16"/>
          <p:cNvSpPr txBox="1"/>
          <p:nvPr>
            <p:ph idx="1" type="body"/>
          </p:nvPr>
        </p:nvSpPr>
        <p:spPr>
          <a:xfrm>
            <a:off x="2902906" y="3025111"/>
            <a:ext cx="6050072" cy="2843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71450" lvl="1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Union of two relations R and S defines </a:t>
            </a:r>
            <a:r>
              <a:rPr b="1" lang="en-US">
                <a:solidFill>
                  <a:srgbClr val="6C1D35"/>
                </a:solidFill>
                <a:latin typeface="Roboto"/>
                <a:ea typeface="Roboto"/>
                <a:cs typeface="Roboto"/>
                <a:sym typeface="Roboto"/>
              </a:rPr>
              <a:t>a relation that contains all the tuples of R, or S, or both R and S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en-US">
                <a:solidFill>
                  <a:srgbClr val="6C1D35"/>
                </a:solidFill>
                <a:latin typeface="Roboto"/>
                <a:ea typeface="Roboto"/>
                <a:cs typeface="Roboto"/>
                <a:sym typeface="Roboto"/>
              </a:rPr>
              <a:t>duplicate tuples being eliminated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. 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R and S must be </a:t>
            </a:r>
            <a:r>
              <a:rPr b="1" lang="en-US" sz="2100">
                <a:solidFill>
                  <a:srgbClr val="6C1D35"/>
                </a:solidFill>
                <a:latin typeface="Roboto"/>
                <a:ea typeface="Roboto"/>
                <a:cs typeface="Roboto"/>
                <a:sym typeface="Roboto"/>
              </a:rPr>
              <a:t>union-compatible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6C1D35"/>
              </a:buClr>
              <a:buSzPts val="1500"/>
              <a:buFont typeface="Arial"/>
              <a:buChar char="•"/>
            </a:pPr>
            <a:r>
              <a:rPr b="1" lang="en-US">
                <a:solidFill>
                  <a:srgbClr val="6C1D35"/>
                </a:solidFill>
                <a:latin typeface="Roboto"/>
                <a:ea typeface="Roboto"/>
                <a:cs typeface="Roboto"/>
                <a:sym typeface="Roboto"/>
              </a:rPr>
              <a:t>Degree of relation R and S is the same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Domain for each pair of attribute in R and S is the same</a:t>
            </a:r>
            <a:endParaRPr/>
          </a:p>
          <a:p>
            <a:pPr indent="-171450" lvl="3" marL="12001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–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R(A</a:t>
            </a:r>
            <a:r>
              <a:rPr lang="en-US" sz="788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, A</a:t>
            </a:r>
            <a:r>
              <a:rPr lang="en-US" sz="825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, A</a:t>
            </a:r>
            <a:r>
              <a:rPr lang="en-US" sz="825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... A</a:t>
            </a:r>
            <a:r>
              <a:rPr lang="en-US" sz="1050"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) ;  S(B</a:t>
            </a:r>
            <a:r>
              <a:rPr lang="en-US" sz="825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, B</a:t>
            </a:r>
            <a:r>
              <a:rPr lang="en-US" sz="788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, B</a:t>
            </a:r>
            <a:r>
              <a:rPr lang="en-US" sz="900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.... B</a:t>
            </a:r>
            <a:r>
              <a:rPr lang="en-US" sz="1050"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)  🡪 domain(A</a:t>
            </a:r>
            <a:r>
              <a:rPr lang="en-US" sz="1050"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) = domain (B</a:t>
            </a:r>
            <a:r>
              <a:rPr lang="en-US" sz="1050"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) for 1&lt;=</a:t>
            </a:r>
            <a:r>
              <a:rPr lang="en-US" sz="1200"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&lt;=</a:t>
            </a:r>
            <a:r>
              <a:rPr lang="en-US" sz="1200">
                <a:latin typeface="Roboto"/>
                <a:ea typeface="Roboto"/>
                <a:cs typeface="Roboto"/>
                <a:sym typeface="Roboto"/>
              </a:rPr>
              <a:t>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If R and S have </a:t>
            </a:r>
            <a:r>
              <a:rPr i="1" lang="en-US"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i="1" lang="en-US">
                <a:latin typeface="Roboto"/>
                <a:ea typeface="Roboto"/>
                <a:cs typeface="Roboto"/>
                <a:sym typeface="Roboto"/>
              </a:rPr>
              <a:t>j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tuples, respectively, union is obtained by concatenating them into </a:t>
            </a:r>
            <a:r>
              <a:rPr b="1" lang="en-US">
                <a:solidFill>
                  <a:srgbClr val="6C1D35"/>
                </a:solidFill>
                <a:latin typeface="Roboto"/>
                <a:ea typeface="Roboto"/>
                <a:cs typeface="Roboto"/>
                <a:sym typeface="Roboto"/>
              </a:rPr>
              <a:t>one relation with a maximum of (</a:t>
            </a:r>
            <a:r>
              <a:rPr b="1" i="1" lang="en-US">
                <a:solidFill>
                  <a:srgbClr val="6C1D35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b="1" lang="en-US">
                <a:solidFill>
                  <a:srgbClr val="6C1D35"/>
                </a:solidFill>
                <a:latin typeface="Roboto"/>
                <a:ea typeface="Roboto"/>
                <a:cs typeface="Roboto"/>
                <a:sym typeface="Roboto"/>
              </a:rPr>
              <a:t> + </a:t>
            </a:r>
            <a:r>
              <a:rPr b="1" i="1" lang="en-US">
                <a:solidFill>
                  <a:srgbClr val="6C1D35"/>
                </a:solidFill>
                <a:latin typeface="Roboto"/>
                <a:ea typeface="Roboto"/>
                <a:cs typeface="Roboto"/>
                <a:sym typeface="Roboto"/>
              </a:rPr>
              <a:t>j</a:t>
            </a:r>
            <a:r>
              <a:rPr b="1" lang="en-US">
                <a:solidFill>
                  <a:srgbClr val="6C1D35"/>
                </a:solidFill>
                <a:latin typeface="Roboto"/>
                <a:ea typeface="Roboto"/>
                <a:cs typeface="Roboto"/>
                <a:sym typeface="Roboto"/>
              </a:rPr>
              <a:t>) tuples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257" name="Google Shape;257;p16"/>
          <p:cNvSpPr/>
          <p:nvPr/>
        </p:nvSpPr>
        <p:spPr>
          <a:xfrm>
            <a:off x="3304233" y="1882693"/>
            <a:ext cx="2579375" cy="970970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 cap="flat" cmpd="sng" w="38100">
            <a:solidFill>
              <a:srgbClr val="2D0C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 ∪ S</a:t>
            </a:r>
            <a:endParaRPr/>
          </a:p>
        </p:txBody>
      </p:sp>
    </p:spTree>
  </p:cSld>
  <p:clrMapOvr>
    <a:masterClrMapping/>
  </p:clrMapOvr>
  <p:transition>
    <p:wipe dir="d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"/>
          <p:cNvSpPr txBox="1"/>
          <p:nvPr>
            <p:ph idx="1" type="body"/>
          </p:nvPr>
        </p:nvSpPr>
        <p:spPr>
          <a:xfrm>
            <a:off x="886217" y="1885950"/>
            <a:ext cx="2862197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3325" lIns="67850" spcFirstLastPara="1" rIns="67850" wrap="square" tIns="333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We will use example in Database Systems 6</a:t>
            </a:r>
            <a:r>
              <a:rPr baseline="30000" lang="en-US">
                <a:latin typeface="Roboto"/>
                <a:ea typeface="Roboto"/>
                <a:cs typeface="Roboto"/>
                <a:sym typeface="Roboto"/>
              </a:rPr>
              <a:t>th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Ed. (Connolly &amp; Begg, 2016).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Figure 4.3 from Chapter 4 The Relational Model (page 160)</a:t>
            </a:r>
            <a:endParaRPr/>
          </a:p>
        </p:txBody>
      </p:sp>
      <p:pic>
        <p:nvPicPr>
          <p:cNvPr descr="A screenshot of a computer&#10;&#10;Description automatically generated" id="263" name="Google Shape;26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4538" y="857250"/>
            <a:ext cx="350538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"/>
          <p:cNvSpPr txBox="1"/>
          <p:nvPr>
            <p:ph idx="1" type="body"/>
          </p:nvPr>
        </p:nvSpPr>
        <p:spPr>
          <a:xfrm>
            <a:off x="884651" y="1938182"/>
            <a:ext cx="8115299" cy="576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List all cities where there is either a branch office or a property for rent.</a:t>
            </a:r>
            <a:endParaRPr/>
          </a:p>
        </p:txBody>
      </p:sp>
      <p:pic>
        <p:nvPicPr>
          <p:cNvPr descr="DS3-Figure 04-04" id="269" name="Google Shape;26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9467" y="3216058"/>
            <a:ext cx="1175147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7"/>
          <p:cNvPicPr preferRelativeResize="0"/>
          <p:nvPr/>
        </p:nvPicPr>
        <p:blipFill rotWithShape="1">
          <a:blip r:embed="rId4">
            <a:alphaModFix/>
          </a:blip>
          <a:srcRect b="39525" l="28250" r="62761" t="13044"/>
          <a:stretch/>
        </p:blipFill>
        <p:spPr>
          <a:xfrm>
            <a:off x="4287817" y="3387508"/>
            <a:ext cx="908447" cy="1314450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pic>
        <p:nvPicPr>
          <p:cNvPr id="271" name="Google Shape;271;p17"/>
          <p:cNvPicPr preferRelativeResize="0"/>
          <p:nvPr/>
        </p:nvPicPr>
        <p:blipFill rotWithShape="1">
          <a:blip r:embed="rId5">
            <a:alphaModFix/>
          </a:blip>
          <a:srcRect b="17460" l="53001" r="28698" t="19048"/>
          <a:stretch/>
        </p:blipFill>
        <p:spPr>
          <a:xfrm>
            <a:off x="2401866" y="3330358"/>
            <a:ext cx="742950" cy="1428750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sp>
        <p:nvSpPr>
          <p:cNvPr id="272" name="Google Shape;272;p17"/>
          <p:cNvSpPr/>
          <p:nvPr/>
        </p:nvSpPr>
        <p:spPr>
          <a:xfrm>
            <a:off x="3544867" y="3844709"/>
            <a:ext cx="4988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∪ </a:t>
            </a:r>
            <a:endParaRPr sz="24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7"/>
          <p:cNvSpPr txBox="1"/>
          <p:nvPr/>
        </p:nvSpPr>
        <p:spPr>
          <a:xfrm>
            <a:off x="5545116" y="3901859"/>
            <a:ext cx="3193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</p:txBody>
      </p:sp>
      <p:sp>
        <p:nvSpPr>
          <p:cNvPr id="274" name="Google Shape;274;p17"/>
          <p:cNvSpPr txBox="1"/>
          <p:nvPr>
            <p:ph type="title"/>
          </p:nvPr>
        </p:nvSpPr>
        <p:spPr>
          <a:xfrm>
            <a:off x="1479263" y="812833"/>
            <a:ext cx="5885259" cy="6107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UNION</a:t>
            </a:r>
            <a:r>
              <a:rPr b="1" lang="en-US" sz="3600">
                <a:solidFill>
                  <a:schemeClr val="accent1"/>
                </a:solidFill>
                <a:latin typeface="Times"/>
                <a:ea typeface="Times"/>
                <a:cs typeface="Times"/>
                <a:sym typeface="Times"/>
              </a:rPr>
              <a:t>  ( </a:t>
            </a:r>
            <a:r>
              <a:rPr b="1" lang="en-US" sz="3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∪ )</a:t>
            </a:r>
            <a:endParaRPr b="1" sz="36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5" name="Google Shape;275;p17"/>
          <p:cNvSpPr txBox="1"/>
          <p:nvPr/>
        </p:nvSpPr>
        <p:spPr>
          <a:xfrm>
            <a:off x="1009128" y="2527907"/>
            <a:ext cx="71257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000"/>
              <a:buFont typeface="Roboto"/>
              <a:buNone/>
            </a:pPr>
            <a:r>
              <a:rPr b="1" i="0" lang="en-US" sz="3000" u="none" cap="none" strike="noStrike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Π</a:t>
            </a:r>
            <a:r>
              <a:rPr b="1" baseline="-25000" i="0" lang="en-US" sz="3000" u="none" cap="none" strike="noStrike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city</a:t>
            </a:r>
            <a:r>
              <a:rPr b="1" i="0" lang="en-US" sz="3000" u="none" cap="none" strike="noStrike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(Branch) ∪ Π</a:t>
            </a:r>
            <a:r>
              <a:rPr b="1" baseline="-25000" i="0" lang="en-US" sz="3000" u="none" cap="none" strike="noStrike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city</a:t>
            </a:r>
            <a:r>
              <a:rPr b="1" i="0" lang="en-US" sz="3000" u="none" cap="none" strike="noStrike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(PropertyForRent)</a:t>
            </a:r>
            <a:endParaRPr/>
          </a:p>
        </p:txBody>
      </p:sp>
    </p:spTree>
  </p:cSld>
  <p:clrMapOvr>
    <a:masterClrMapping/>
  </p:clrMapOvr>
  <p:transition>
    <p:wipe dir="d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04NF01a" id="280" name="Google Shape;280;p53"/>
          <p:cNvPicPr preferRelativeResize="0"/>
          <p:nvPr/>
        </p:nvPicPr>
        <p:blipFill rotWithShape="1">
          <a:blip r:embed="rId3">
            <a:alphaModFix/>
          </a:blip>
          <a:srcRect b="3890" l="31188" r="37999" t="45781"/>
          <a:stretch/>
        </p:blipFill>
        <p:spPr>
          <a:xfrm>
            <a:off x="329274" y="2849502"/>
            <a:ext cx="2682346" cy="291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53"/>
          <p:cNvSpPr txBox="1"/>
          <p:nvPr>
            <p:ph type="title"/>
          </p:nvPr>
        </p:nvSpPr>
        <p:spPr>
          <a:xfrm>
            <a:off x="1670447" y="567316"/>
            <a:ext cx="5668565" cy="6107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325" lIns="67850" spcFirstLastPara="1" rIns="67850" wrap="square" tIns="333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INTERSECT</a:t>
            </a:r>
            <a:r>
              <a:rPr b="1" lang="en-US" sz="3600">
                <a:solidFill>
                  <a:schemeClr val="accent1"/>
                </a:solidFill>
                <a:latin typeface="Times"/>
                <a:ea typeface="Times"/>
                <a:cs typeface="Times"/>
                <a:sym typeface="Times"/>
              </a:rPr>
              <a:t>  ( </a:t>
            </a:r>
            <a:r>
              <a:rPr b="1" lang="en-US" sz="3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∩ )</a:t>
            </a:r>
            <a:endParaRPr b="1" sz="3600">
              <a:solidFill>
                <a:schemeClr val="accen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2" name="Google Shape;282;p53"/>
          <p:cNvSpPr txBox="1"/>
          <p:nvPr>
            <p:ph idx="1" type="body"/>
          </p:nvPr>
        </p:nvSpPr>
        <p:spPr>
          <a:xfrm>
            <a:off x="3011620" y="3234063"/>
            <a:ext cx="5795963" cy="2141951"/>
          </a:xfrm>
          <a:prstGeom prst="rect">
            <a:avLst/>
          </a:prstGeom>
          <a:noFill/>
          <a:ln>
            <a:noFill/>
          </a:ln>
        </p:spPr>
        <p:txBody>
          <a:bodyPr anchorCtr="0" anchor="t" bIns="33325" lIns="67850" spcFirstLastPara="1" rIns="67850" wrap="square" tIns="33325">
            <a:noAutofit/>
          </a:bodyPr>
          <a:lstStyle/>
          <a:p>
            <a:pPr indent="-171450" lvl="1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</a:pPr>
            <a:r>
              <a:rPr lang="en-US" sz="2250">
                <a:latin typeface="Roboto"/>
                <a:ea typeface="Roboto"/>
                <a:cs typeface="Roboto"/>
                <a:sym typeface="Roboto"/>
              </a:rPr>
              <a:t>Defines a relation consisting of the set of </a:t>
            </a:r>
            <a:r>
              <a:rPr b="1" lang="en-US" sz="2400">
                <a:solidFill>
                  <a:srgbClr val="6C1D35"/>
                </a:solidFill>
                <a:latin typeface="Roboto"/>
                <a:ea typeface="Roboto"/>
                <a:cs typeface="Roboto"/>
                <a:sym typeface="Roboto"/>
              </a:rPr>
              <a:t>all tuples that are in both R and S</a:t>
            </a:r>
            <a:r>
              <a:rPr lang="en-US" sz="2250">
                <a:latin typeface="Roboto"/>
                <a:ea typeface="Roboto"/>
                <a:cs typeface="Roboto"/>
                <a:sym typeface="Roboto"/>
              </a:rPr>
              <a:t>. 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</a:pPr>
            <a:r>
              <a:rPr lang="en-US" sz="2250">
                <a:latin typeface="Roboto"/>
                <a:ea typeface="Roboto"/>
                <a:cs typeface="Roboto"/>
                <a:sym typeface="Roboto"/>
              </a:rPr>
              <a:t>R and S must be </a:t>
            </a:r>
            <a:r>
              <a:rPr b="1" lang="en-US" sz="2400">
                <a:solidFill>
                  <a:srgbClr val="6C1D35"/>
                </a:solidFill>
                <a:latin typeface="Roboto"/>
                <a:ea typeface="Roboto"/>
                <a:cs typeface="Roboto"/>
                <a:sym typeface="Roboto"/>
              </a:rPr>
              <a:t>union-compatible</a:t>
            </a:r>
            <a:r>
              <a:rPr lang="en-US" sz="2250"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</a:pPr>
            <a:r>
              <a:rPr lang="en-US" sz="2250">
                <a:latin typeface="Roboto"/>
                <a:ea typeface="Roboto"/>
                <a:cs typeface="Roboto"/>
                <a:sym typeface="Roboto"/>
              </a:rPr>
              <a:t>Expressed using basic operations: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</a:pPr>
            <a:r>
              <a:rPr i="1" lang="en-US" sz="2250">
                <a:latin typeface="Roboto"/>
                <a:ea typeface="Roboto"/>
                <a:cs typeface="Roboto"/>
                <a:sym typeface="Roboto"/>
              </a:rPr>
              <a:t>	</a:t>
            </a:r>
            <a:r>
              <a:rPr lang="en-US" sz="2250">
                <a:latin typeface="Roboto"/>
                <a:ea typeface="Roboto"/>
                <a:cs typeface="Roboto"/>
                <a:sym typeface="Roboto"/>
              </a:rPr>
              <a:t>R ∩ S = R – (R – S)</a:t>
            </a:r>
            <a:endParaRPr sz="22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53"/>
          <p:cNvSpPr/>
          <p:nvPr/>
        </p:nvSpPr>
        <p:spPr>
          <a:xfrm>
            <a:off x="3282313" y="1743365"/>
            <a:ext cx="2579375" cy="970970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 cap="flat" cmpd="sng" w="38100">
            <a:solidFill>
              <a:srgbClr val="2D0C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 ∩ S</a:t>
            </a:r>
            <a:endParaRPr/>
          </a:p>
        </p:txBody>
      </p:sp>
    </p:spTree>
  </p:cSld>
  <p:clrMapOvr>
    <a:masterClrMapping/>
  </p:clrMapOvr>
  <p:transition>
    <p:wipe dir="d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1"/>
          <p:cNvSpPr txBox="1"/>
          <p:nvPr>
            <p:ph idx="1" type="body"/>
          </p:nvPr>
        </p:nvSpPr>
        <p:spPr>
          <a:xfrm>
            <a:off x="615340" y="1958723"/>
            <a:ext cx="8196720" cy="721064"/>
          </a:xfrm>
          <a:prstGeom prst="rect">
            <a:avLst/>
          </a:prstGeom>
          <a:noFill/>
          <a:ln>
            <a:noFill/>
          </a:ln>
        </p:spPr>
        <p:txBody>
          <a:bodyPr anchorCtr="0" anchor="t" bIns="33325" lIns="67850" spcFirstLastPara="1" rIns="67850" wrap="square" tIns="333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List all cities where there is both a branch office and at least one property for rent.</a:t>
            </a:r>
            <a:endParaRPr/>
          </a:p>
        </p:txBody>
      </p:sp>
      <p:pic>
        <p:nvPicPr>
          <p:cNvPr descr="DS3-Figure 04-06" id="289" name="Google Shape;2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5448" y="3517466"/>
            <a:ext cx="1273969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1"/>
          <p:cNvPicPr preferRelativeResize="0"/>
          <p:nvPr/>
        </p:nvPicPr>
        <p:blipFill rotWithShape="1">
          <a:blip r:embed="rId4">
            <a:alphaModFix/>
          </a:blip>
          <a:srcRect b="17460" l="53001" r="28698" t="19048"/>
          <a:stretch/>
        </p:blipFill>
        <p:spPr>
          <a:xfrm>
            <a:off x="2176397" y="3631766"/>
            <a:ext cx="742950" cy="1428750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sp>
        <p:nvSpPr>
          <p:cNvPr id="291" name="Google Shape;291;p21"/>
          <p:cNvSpPr/>
          <p:nvPr/>
        </p:nvSpPr>
        <p:spPr>
          <a:xfrm>
            <a:off x="3319397" y="4146116"/>
            <a:ext cx="40005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∩ </a:t>
            </a:r>
            <a:endParaRPr sz="33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21"/>
          <p:cNvPicPr preferRelativeResize="0"/>
          <p:nvPr/>
        </p:nvPicPr>
        <p:blipFill rotWithShape="1">
          <a:blip r:embed="rId5">
            <a:alphaModFix/>
          </a:blip>
          <a:srcRect b="39525" l="28250" r="62761" t="13044"/>
          <a:stretch/>
        </p:blipFill>
        <p:spPr>
          <a:xfrm>
            <a:off x="4176649" y="3631766"/>
            <a:ext cx="908447" cy="1314450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sp>
        <p:nvSpPr>
          <p:cNvPr id="293" name="Google Shape;293;p21"/>
          <p:cNvSpPr txBox="1"/>
          <p:nvPr/>
        </p:nvSpPr>
        <p:spPr>
          <a:xfrm>
            <a:off x="5433947" y="4203266"/>
            <a:ext cx="34290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300"/>
              <a:buFont typeface="Arial"/>
              <a:buNone/>
            </a:pPr>
            <a:r>
              <a:rPr lang="en-US" sz="33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</p:txBody>
      </p:sp>
      <p:sp>
        <p:nvSpPr>
          <p:cNvPr id="294" name="Google Shape;294;p21"/>
          <p:cNvSpPr txBox="1"/>
          <p:nvPr>
            <p:ph type="title"/>
          </p:nvPr>
        </p:nvSpPr>
        <p:spPr>
          <a:xfrm>
            <a:off x="1610852" y="792996"/>
            <a:ext cx="5668565" cy="6107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325" lIns="67850" spcFirstLastPara="1" rIns="67850" wrap="square" tIns="333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INTERSECT</a:t>
            </a:r>
            <a:r>
              <a:rPr b="1" lang="en-US" sz="3600">
                <a:solidFill>
                  <a:schemeClr val="accent1"/>
                </a:solidFill>
                <a:latin typeface="Times"/>
                <a:ea typeface="Times"/>
                <a:cs typeface="Times"/>
                <a:sym typeface="Times"/>
              </a:rPr>
              <a:t>  ( </a:t>
            </a:r>
            <a:r>
              <a:rPr b="1" lang="en-US" sz="3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∩ )</a:t>
            </a:r>
            <a:endParaRPr b="1" sz="3600">
              <a:solidFill>
                <a:schemeClr val="accen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1234752" y="2731786"/>
            <a:ext cx="7468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Π</a:t>
            </a:r>
            <a:r>
              <a:rPr b="1" baseline="-25000" lang="en-US" sz="3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city</a:t>
            </a:r>
            <a:r>
              <a:rPr b="1" lang="en-US" sz="3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(Branch) ∩ Π</a:t>
            </a:r>
            <a:r>
              <a:rPr b="1" baseline="-25000" lang="en-US" sz="3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city</a:t>
            </a:r>
            <a:r>
              <a:rPr b="1" lang="en-US" sz="3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(PropertyForRent)</a:t>
            </a:r>
            <a:endParaRPr sz="3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4"/>
          <p:cNvSpPr txBox="1"/>
          <p:nvPr>
            <p:ph type="title"/>
          </p:nvPr>
        </p:nvSpPr>
        <p:spPr>
          <a:xfrm>
            <a:off x="628650" y="439149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SIMPLE JOIN / TRADITIONAL METHOD</a:t>
            </a:r>
            <a:endParaRPr/>
          </a:p>
        </p:txBody>
      </p:sp>
      <p:sp>
        <p:nvSpPr>
          <p:cNvPr id="301" name="Google Shape;301;p5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Query 1: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List the employee first name, last name and employee salary for the SALES department. </a:t>
            </a:r>
            <a:endParaRPr/>
          </a:p>
        </p:txBody>
      </p:sp>
      <p:sp>
        <p:nvSpPr>
          <p:cNvPr id="302" name="Google Shape;302;p5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10/21/2025</a:t>
            </a:r>
            <a:endParaRPr/>
          </a:p>
        </p:txBody>
      </p:sp>
      <p:sp>
        <p:nvSpPr>
          <p:cNvPr id="303" name="Google Shape;303;p5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4" name="Google Shape;304;p54"/>
          <p:cNvSpPr txBox="1"/>
          <p:nvPr/>
        </p:nvSpPr>
        <p:spPr>
          <a:xfrm>
            <a:off x="628650" y="2892084"/>
            <a:ext cx="7241721" cy="1323439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0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first_name, last_name, salary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FROM</a:t>
            </a:r>
            <a:r>
              <a:rPr lang="en-US" sz="20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0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employees, departments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WHERE</a:t>
            </a:r>
            <a:r>
              <a:rPr lang="en-US" sz="20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000">
                <a:solidFill>
                  <a:srgbClr val="C00000"/>
                </a:solidFill>
                <a:highlight>
                  <a:srgbClr val="00FFFF"/>
                </a:highlight>
                <a:latin typeface="Cascadia Code"/>
                <a:ea typeface="Cascadia Code"/>
                <a:cs typeface="Cascadia Code"/>
                <a:sym typeface="Cascadia Code"/>
              </a:rPr>
              <a:t>employees.department_id = departments.department_id</a:t>
            </a:r>
            <a:endParaRPr sz="2000">
              <a:solidFill>
                <a:srgbClr val="C00000"/>
              </a:solidFill>
              <a:highlight>
                <a:srgbClr val="00FFFF"/>
              </a:highlight>
              <a:latin typeface="Cascadia Code"/>
              <a:ea typeface="Cascadia Code"/>
              <a:cs typeface="Cascadia Code"/>
              <a:sym typeface="Cascadi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AND</a:t>
            </a:r>
            <a:r>
              <a:rPr lang="en-US" sz="20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 departments.department_name = ‘Sales’;</a:t>
            </a:r>
            <a:endParaRPr sz="2000">
              <a:solidFill>
                <a:schemeClr val="dk1"/>
              </a:solidFill>
              <a:latin typeface="Cascadia Code"/>
              <a:ea typeface="Cascadia Code"/>
              <a:cs typeface="Cascadia Code"/>
              <a:sym typeface="Cascadia Code"/>
            </a:endParaRPr>
          </a:p>
        </p:txBody>
      </p:sp>
      <p:pic>
        <p:nvPicPr>
          <p:cNvPr id="305" name="Google Shape;305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8249" y="4304900"/>
            <a:ext cx="4722365" cy="2167259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54"/>
          <p:cNvSpPr/>
          <p:nvPr/>
        </p:nvSpPr>
        <p:spPr>
          <a:xfrm>
            <a:off x="1101547" y="4555740"/>
            <a:ext cx="210638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is a simple join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*without the use of any </a:t>
            </a:r>
            <a:r>
              <a:rPr b="1"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special syntax 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SQL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accent1"/>
                </a:solidFill>
              </a:rPr>
              <a:t>SIMPLE JOIN / TRADITIONAL METHOD</a:t>
            </a:r>
            <a:endParaRPr/>
          </a:p>
        </p:txBody>
      </p:sp>
      <p:sp>
        <p:nvSpPr>
          <p:cNvPr id="312" name="Google Shape;312;p55"/>
          <p:cNvSpPr txBox="1"/>
          <p:nvPr>
            <p:ph idx="1" type="body"/>
          </p:nvPr>
        </p:nvSpPr>
        <p:spPr>
          <a:xfrm>
            <a:off x="628649" y="1458104"/>
            <a:ext cx="7886700" cy="48788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Query 2: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List all employees id, first name, last name and department name.</a:t>
            </a:r>
            <a:endParaRPr/>
          </a:p>
        </p:txBody>
      </p:sp>
      <p:sp>
        <p:nvSpPr>
          <p:cNvPr id="313" name="Google Shape;313;p5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4" name="Google Shape;314;p55"/>
          <p:cNvSpPr txBox="1"/>
          <p:nvPr/>
        </p:nvSpPr>
        <p:spPr>
          <a:xfrm>
            <a:off x="951138" y="2275835"/>
            <a:ext cx="7241721" cy="1015663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0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employee_id, first_name, last_name, department_name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FROM</a:t>
            </a:r>
            <a:r>
              <a:rPr lang="en-US" sz="20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0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employees, departments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WHERE</a:t>
            </a:r>
            <a:r>
              <a:rPr lang="en-US" sz="20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000">
                <a:solidFill>
                  <a:srgbClr val="C00000"/>
                </a:solidFill>
                <a:highlight>
                  <a:srgbClr val="00FFFF"/>
                </a:highlight>
                <a:latin typeface="Cascadia Code"/>
                <a:ea typeface="Cascadia Code"/>
                <a:cs typeface="Cascadia Code"/>
                <a:sym typeface="Cascadia Code"/>
              </a:rPr>
              <a:t>employees.department_id = departments.department_id</a:t>
            </a:r>
            <a:r>
              <a:rPr lang="en-US" sz="20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;</a:t>
            </a:r>
            <a:endParaRPr sz="2000">
              <a:solidFill>
                <a:schemeClr val="dk1"/>
              </a:solidFill>
              <a:latin typeface="Cascadia Code"/>
              <a:ea typeface="Cascadia Code"/>
              <a:cs typeface="Cascadia Code"/>
              <a:sym typeface="Cascadia Code"/>
            </a:endParaRPr>
          </a:p>
        </p:txBody>
      </p:sp>
      <p:pic>
        <p:nvPicPr>
          <p:cNvPr id="315" name="Google Shape;31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5547" y="3945282"/>
            <a:ext cx="4594945" cy="2547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accent1"/>
                </a:solidFill>
              </a:rPr>
              <a:t>SIMPLE JOIN / TRADITIONAL METHOD</a:t>
            </a:r>
            <a:endParaRPr/>
          </a:p>
        </p:txBody>
      </p:sp>
      <p:sp>
        <p:nvSpPr>
          <p:cNvPr id="321" name="Google Shape;321;p56"/>
          <p:cNvSpPr txBox="1"/>
          <p:nvPr>
            <p:ph idx="1" type="body"/>
          </p:nvPr>
        </p:nvSpPr>
        <p:spPr>
          <a:xfrm>
            <a:off x="628650" y="1381159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Query 3: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List all employee id, first name, last name, department id and department name.</a:t>
            </a:r>
            <a:endParaRPr/>
          </a:p>
        </p:txBody>
      </p:sp>
      <p:sp>
        <p:nvSpPr>
          <p:cNvPr id="322" name="Google Shape;322;p5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3" name="Google Shape;323;p56"/>
          <p:cNvSpPr/>
          <p:nvPr/>
        </p:nvSpPr>
        <p:spPr>
          <a:xfrm>
            <a:off x="4894490" y="4793338"/>
            <a:ext cx="458220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Why error occur?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How to correct the error?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099" y="2729586"/>
            <a:ext cx="8249801" cy="981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56"/>
          <p:cNvPicPr preferRelativeResize="0"/>
          <p:nvPr/>
        </p:nvPicPr>
        <p:blipFill rotWithShape="1">
          <a:blip r:embed="rId4">
            <a:alphaModFix/>
          </a:blip>
          <a:srcRect b="28936" l="0" r="9778" t="0"/>
          <a:stretch/>
        </p:blipFill>
        <p:spPr>
          <a:xfrm>
            <a:off x="162732" y="4009147"/>
            <a:ext cx="8249801" cy="431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7"/>
          <p:cNvSpPr txBox="1"/>
          <p:nvPr>
            <p:ph type="title"/>
          </p:nvPr>
        </p:nvSpPr>
        <p:spPr>
          <a:xfrm>
            <a:off x="628650" y="486712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accent1"/>
                </a:solidFill>
              </a:rPr>
              <a:t>SIMPLE JOIN / TRADITIONAL METHOD</a:t>
            </a:r>
            <a:endParaRPr/>
          </a:p>
        </p:txBody>
      </p:sp>
      <p:sp>
        <p:nvSpPr>
          <p:cNvPr id="331" name="Google Shape;331;p57"/>
          <p:cNvSpPr txBox="1"/>
          <p:nvPr>
            <p:ph idx="1" type="body"/>
          </p:nvPr>
        </p:nvSpPr>
        <p:spPr>
          <a:xfrm>
            <a:off x="628650" y="1435555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Query 3: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List all employee id, first name, last name, department id and department name.</a:t>
            </a:r>
            <a:endParaRPr/>
          </a:p>
        </p:txBody>
      </p:sp>
      <p:sp>
        <p:nvSpPr>
          <p:cNvPr id="332" name="Google Shape;332;p5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10/21/2025</a:t>
            </a:r>
            <a:endParaRPr/>
          </a:p>
        </p:txBody>
      </p:sp>
      <p:sp>
        <p:nvSpPr>
          <p:cNvPr id="333" name="Google Shape;333;p5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4" name="Google Shape;334;p57"/>
          <p:cNvSpPr txBox="1"/>
          <p:nvPr/>
        </p:nvSpPr>
        <p:spPr>
          <a:xfrm>
            <a:off x="325892" y="2659033"/>
            <a:ext cx="8524192" cy="1323439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0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employee_id, first_name, last_name, department_name, </a:t>
            </a:r>
            <a:r>
              <a:rPr b="1" lang="en-US" sz="2000">
                <a:solidFill>
                  <a:srgbClr val="C00000"/>
                </a:solidFill>
                <a:highlight>
                  <a:srgbClr val="00FFFF"/>
                </a:highlight>
                <a:latin typeface="Cascadia Code"/>
                <a:ea typeface="Cascadia Code"/>
                <a:cs typeface="Cascadia Code"/>
                <a:sym typeface="Cascadia Code"/>
              </a:rPr>
              <a:t>employee</a:t>
            </a:r>
            <a:r>
              <a:rPr lang="en-US" sz="2000">
                <a:solidFill>
                  <a:srgbClr val="C00000"/>
                </a:solidFill>
                <a:highlight>
                  <a:srgbClr val="00FFFF"/>
                </a:highlight>
                <a:latin typeface="Cascadia Code"/>
                <a:ea typeface="Cascadia Code"/>
                <a:cs typeface="Cascadia Code"/>
                <a:sym typeface="Cascadia Code"/>
              </a:rPr>
              <a:t>.</a:t>
            </a:r>
            <a:r>
              <a:rPr lang="en-US" sz="20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department_id</a:t>
            </a:r>
            <a:endParaRPr sz="2000">
              <a:solidFill>
                <a:srgbClr val="C00000"/>
              </a:solidFill>
              <a:latin typeface="Cascadia Code"/>
              <a:ea typeface="Cascadia Code"/>
              <a:cs typeface="Cascadia Code"/>
              <a:sym typeface="Cascadi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FROM</a:t>
            </a:r>
            <a:r>
              <a:rPr lang="en-US" sz="20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0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employees, departments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WHERE</a:t>
            </a:r>
            <a:r>
              <a:rPr lang="en-US" sz="20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0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employees.department_id = departments.department_id;</a:t>
            </a:r>
            <a:endParaRPr sz="2000">
              <a:solidFill>
                <a:schemeClr val="dk1"/>
              </a:solidFill>
              <a:latin typeface="Cascadia Code"/>
              <a:ea typeface="Cascadia Code"/>
              <a:cs typeface="Cascadia Code"/>
              <a:sym typeface="Cascadia Code"/>
            </a:endParaRPr>
          </a:p>
        </p:txBody>
      </p:sp>
      <p:sp>
        <p:nvSpPr>
          <p:cNvPr id="335" name="Google Shape;335;p57"/>
          <p:cNvSpPr/>
          <p:nvPr/>
        </p:nvSpPr>
        <p:spPr>
          <a:xfrm>
            <a:off x="2921431" y="4156017"/>
            <a:ext cx="449450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To solve the ambiguous column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issue, use </a:t>
            </a:r>
            <a:r>
              <a:rPr b="1"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Table prefix </a:t>
            </a:r>
            <a:r>
              <a:rPr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to correct the error</a:t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6" name="Google Shape;33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4975893"/>
            <a:ext cx="7144747" cy="590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8"/>
          <p:cNvSpPr txBox="1"/>
          <p:nvPr>
            <p:ph type="title"/>
          </p:nvPr>
        </p:nvSpPr>
        <p:spPr>
          <a:xfrm>
            <a:off x="116959" y="433430"/>
            <a:ext cx="8676167" cy="1180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JOINING TABLES USING SQL:1999 SYNTAX</a:t>
            </a:r>
            <a:endParaRPr/>
          </a:p>
        </p:txBody>
      </p:sp>
      <p:sp>
        <p:nvSpPr>
          <p:cNvPr id="342" name="Google Shape;342;p58"/>
          <p:cNvSpPr txBox="1"/>
          <p:nvPr>
            <p:ph idx="1" type="body"/>
          </p:nvPr>
        </p:nvSpPr>
        <p:spPr>
          <a:xfrm>
            <a:off x="636814" y="1613581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Use a join to query data from more than one table:</a:t>
            </a:r>
            <a:endParaRPr/>
          </a:p>
        </p:txBody>
      </p:sp>
      <p:sp>
        <p:nvSpPr>
          <p:cNvPr id="343" name="Google Shape;343;p5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10/21/2025</a:t>
            </a:r>
            <a:endParaRPr/>
          </a:p>
        </p:txBody>
      </p:sp>
      <p:sp>
        <p:nvSpPr>
          <p:cNvPr id="344" name="Google Shape;344;p5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5" name="Google Shape;34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441" y="2393602"/>
            <a:ext cx="8237117" cy="3116094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58"/>
          <p:cNvSpPr txBox="1"/>
          <p:nvPr/>
        </p:nvSpPr>
        <p:spPr>
          <a:xfrm>
            <a:off x="6147991" y="5655250"/>
            <a:ext cx="13794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 ] = optional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9"/>
          <p:cNvSpPr txBox="1"/>
          <p:nvPr>
            <p:ph type="title"/>
          </p:nvPr>
        </p:nvSpPr>
        <p:spPr>
          <a:xfrm>
            <a:off x="628650" y="829110"/>
            <a:ext cx="7517548" cy="85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b="1" lang="en-US" sz="3500">
                <a:solidFill>
                  <a:schemeClr val="accent1"/>
                </a:solidFill>
              </a:rPr>
              <a:t>EQUIJOIN (NATURAL JOIN, JOIN…USING, JOIN…ON, INNER JOIN…ON)</a:t>
            </a:r>
            <a:endParaRPr b="1" sz="3500">
              <a:solidFill>
                <a:schemeClr val="accent1"/>
              </a:solidFill>
            </a:endParaRPr>
          </a:p>
        </p:txBody>
      </p:sp>
      <p:sp>
        <p:nvSpPr>
          <p:cNvPr id="352" name="Google Shape;352;p59"/>
          <p:cNvSpPr txBox="1"/>
          <p:nvPr>
            <p:ph idx="1" type="body"/>
          </p:nvPr>
        </p:nvSpPr>
        <p:spPr>
          <a:xfrm>
            <a:off x="628650" y="2559090"/>
            <a:ext cx="4188279" cy="379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That is where a column (or multiple columns) in two or more tables match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Can write using: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Simple join: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SELECT…FROM…WHERE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ANSI syntax: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NATURAL JOIN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JOIN…USING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JOIN…ON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INNER JOIN…ON</a:t>
            </a:r>
            <a:endParaRPr/>
          </a:p>
        </p:txBody>
      </p:sp>
      <p:pic>
        <p:nvPicPr>
          <p:cNvPr id="353" name="Google Shape;353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5759" y="2962451"/>
            <a:ext cx="3332159" cy="250762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5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</a:rPr>
              <a:t>10/21/2025</a:t>
            </a:r>
            <a:endParaRPr sz="1000">
              <a:solidFill>
                <a:srgbClr val="888888"/>
              </a:solidFill>
            </a:endParaRPr>
          </a:p>
        </p:txBody>
      </p:sp>
      <p:sp>
        <p:nvSpPr>
          <p:cNvPr id="355" name="Google Shape;355;p5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rgbClr val="888888"/>
                </a:solidFill>
              </a:rPr>
              <a:t>‹#›</a:t>
            </a:fld>
            <a:endParaRPr sz="100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0"/>
          <p:cNvSpPr txBox="1"/>
          <p:nvPr>
            <p:ph type="title"/>
          </p:nvPr>
        </p:nvSpPr>
        <p:spPr>
          <a:xfrm>
            <a:off x="1240022" y="365760"/>
            <a:ext cx="702540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NATURAL JOIN</a:t>
            </a:r>
            <a:endParaRPr/>
          </a:p>
        </p:txBody>
      </p:sp>
      <p:sp>
        <p:nvSpPr>
          <p:cNvPr id="361" name="Google Shape;361;p60"/>
          <p:cNvSpPr txBox="1"/>
          <p:nvPr>
            <p:ph idx="1" type="body"/>
          </p:nvPr>
        </p:nvSpPr>
        <p:spPr>
          <a:xfrm>
            <a:off x="1240022" y="2176272"/>
            <a:ext cx="7025403" cy="4041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The </a:t>
            </a:r>
            <a:r>
              <a:rPr b="1" lang="en-US"/>
              <a:t>NATURAL JOIN </a:t>
            </a:r>
            <a:r>
              <a:rPr lang="en-US"/>
              <a:t>clause is based on all columns in the two tables that have the </a:t>
            </a:r>
            <a:r>
              <a:rPr b="1" lang="en-US"/>
              <a:t>same name</a:t>
            </a:r>
            <a:r>
              <a:rPr lang="en-US"/>
              <a:t>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It selects rows from the two tables that have </a:t>
            </a:r>
            <a:r>
              <a:rPr b="1" lang="en-US"/>
              <a:t>equal values </a:t>
            </a:r>
            <a:r>
              <a:rPr lang="en-US"/>
              <a:t>in all matched columns.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If the columns having the same names have different data types, an error is returned.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362" name="Google Shape;362;p60"/>
          <p:cNvSpPr txBox="1"/>
          <p:nvPr>
            <p:ph idx="10" type="dt"/>
          </p:nvPr>
        </p:nvSpPr>
        <p:spPr>
          <a:xfrm>
            <a:off x="1236407" y="6356350"/>
            <a:ext cx="14473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10/21/2025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3" name="Google Shape;363;p60"/>
          <p:cNvSpPr txBox="1"/>
          <p:nvPr>
            <p:ph idx="12" type="sldNum"/>
          </p:nvPr>
        </p:nvSpPr>
        <p:spPr>
          <a:xfrm>
            <a:off x="6818386" y="6356350"/>
            <a:ext cx="1447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1"/>
          <p:cNvSpPr txBox="1"/>
          <p:nvPr>
            <p:ph type="title"/>
          </p:nvPr>
        </p:nvSpPr>
        <p:spPr>
          <a:xfrm>
            <a:off x="628650" y="365127"/>
            <a:ext cx="7886700" cy="745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accent1"/>
                </a:solidFill>
              </a:rPr>
              <a:t>NATURAL JOIN</a:t>
            </a:r>
            <a:endParaRPr/>
          </a:p>
        </p:txBody>
      </p:sp>
      <p:sp>
        <p:nvSpPr>
          <p:cNvPr id="369" name="Google Shape;369;p61"/>
          <p:cNvSpPr txBox="1"/>
          <p:nvPr>
            <p:ph idx="1" type="body"/>
          </p:nvPr>
        </p:nvSpPr>
        <p:spPr>
          <a:xfrm>
            <a:off x="628650" y="1509714"/>
            <a:ext cx="7886700" cy="466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Query 2: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List all employees id, first name, last name and department name.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370" name="Google Shape;370;p6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10/21/2025</a:t>
            </a:r>
            <a:endParaRPr/>
          </a:p>
        </p:txBody>
      </p:sp>
      <p:sp>
        <p:nvSpPr>
          <p:cNvPr id="371" name="Google Shape;371;p6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2" name="Google Shape;372;p61"/>
          <p:cNvSpPr txBox="1"/>
          <p:nvPr/>
        </p:nvSpPr>
        <p:spPr>
          <a:xfrm>
            <a:off x="293915" y="2888882"/>
            <a:ext cx="4052942" cy="193899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employee_id, first_name, last_name, department_name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FROM</a:t>
            </a: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employees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NATURAL JOIN</a:t>
            </a: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departments;</a:t>
            </a:r>
            <a:endParaRPr sz="2400">
              <a:solidFill>
                <a:schemeClr val="dk1"/>
              </a:solidFill>
              <a:latin typeface="Cascadia Code"/>
              <a:ea typeface="Cascadia Code"/>
              <a:cs typeface="Cascadia Code"/>
              <a:sym typeface="Cascadia Code"/>
            </a:endParaRPr>
          </a:p>
        </p:txBody>
      </p:sp>
      <p:pic>
        <p:nvPicPr>
          <p:cNvPr id="373" name="Google Shape;37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2612571"/>
            <a:ext cx="4052942" cy="3135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2"/>
          <p:cNvSpPr txBox="1"/>
          <p:nvPr>
            <p:ph type="title"/>
          </p:nvPr>
        </p:nvSpPr>
        <p:spPr>
          <a:xfrm>
            <a:off x="1077503" y="404654"/>
            <a:ext cx="6571206" cy="556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NATURAL JOIN</a:t>
            </a:r>
            <a:endParaRPr sz="3600">
              <a:solidFill>
                <a:srgbClr val="303030"/>
              </a:solidFill>
            </a:endParaRPr>
          </a:p>
        </p:txBody>
      </p:sp>
      <p:pic>
        <p:nvPicPr>
          <p:cNvPr id="379" name="Google Shape;379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2542" y="3652706"/>
            <a:ext cx="4852287" cy="280064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62"/>
          <p:cNvSpPr txBox="1"/>
          <p:nvPr>
            <p:ph idx="1" type="body"/>
          </p:nvPr>
        </p:nvSpPr>
        <p:spPr>
          <a:xfrm>
            <a:off x="357058" y="723626"/>
            <a:ext cx="7795830" cy="133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Query 3: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List all employee id, first name, last name, department id and department name.</a:t>
            </a:r>
            <a:endParaRPr/>
          </a:p>
        </p:txBody>
      </p:sp>
      <p:sp>
        <p:nvSpPr>
          <p:cNvPr id="381" name="Google Shape;381;p62"/>
          <p:cNvSpPr txBox="1"/>
          <p:nvPr>
            <p:ph idx="10" type="dt"/>
          </p:nvPr>
        </p:nvSpPr>
        <p:spPr>
          <a:xfrm>
            <a:off x="6678385" y="5895487"/>
            <a:ext cx="19786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10/21/2025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82" name="Google Shape;382;p62"/>
          <p:cNvSpPr txBox="1"/>
          <p:nvPr>
            <p:ph idx="12" type="sldNum"/>
          </p:nvPr>
        </p:nvSpPr>
        <p:spPr>
          <a:xfrm>
            <a:off x="7648709" y="5532120"/>
            <a:ext cx="100835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383" name="Google Shape;383;p62"/>
          <p:cNvSpPr txBox="1"/>
          <p:nvPr/>
        </p:nvSpPr>
        <p:spPr>
          <a:xfrm>
            <a:off x="419756" y="1993695"/>
            <a:ext cx="7886700" cy="1477328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0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employee_id, first_name, last_name, department_id, department_name</a:t>
            </a:r>
            <a:endParaRPr sz="2000">
              <a:solidFill>
                <a:srgbClr val="C00000"/>
              </a:solidFill>
              <a:latin typeface="Cascadia Code"/>
              <a:ea typeface="Cascadia Code"/>
              <a:cs typeface="Cascadia Code"/>
              <a:sym typeface="Cascadia Code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FROM</a:t>
            </a:r>
            <a:r>
              <a:rPr lang="en-US" sz="20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0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NATURAL JOIN</a:t>
            </a:r>
            <a:r>
              <a:rPr lang="en-US" sz="20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0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departments;</a:t>
            </a:r>
            <a:endParaRPr sz="2000">
              <a:solidFill>
                <a:schemeClr val="dk1"/>
              </a:solidFill>
              <a:latin typeface="Cascadia Code"/>
              <a:ea typeface="Cascadia Code"/>
              <a:cs typeface="Cascadia Code"/>
              <a:sym typeface="Cascadia Cod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3"/>
          <p:cNvSpPr txBox="1"/>
          <p:nvPr>
            <p:ph type="title"/>
          </p:nvPr>
        </p:nvSpPr>
        <p:spPr>
          <a:xfrm>
            <a:off x="1190847" y="417034"/>
            <a:ext cx="5972332" cy="4442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NATURAL JOIN</a:t>
            </a:r>
            <a:endParaRPr sz="3600">
              <a:solidFill>
                <a:srgbClr val="303030"/>
              </a:solidFill>
            </a:endParaRPr>
          </a:p>
        </p:txBody>
      </p:sp>
      <p:pic>
        <p:nvPicPr>
          <p:cNvPr id="389" name="Google Shape;389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7395" y="4110597"/>
            <a:ext cx="5042767" cy="2330369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63"/>
          <p:cNvSpPr txBox="1"/>
          <p:nvPr>
            <p:ph idx="1" type="body"/>
          </p:nvPr>
        </p:nvSpPr>
        <p:spPr>
          <a:xfrm>
            <a:off x="294526" y="1194748"/>
            <a:ext cx="8068503" cy="847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2000"/>
              <a:t>Query 4a: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/>
              <a:t>List all employee id, first name, last name, department name and department location id.</a:t>
            </a:r>
            <a:endParaRPr sz="2000"/>
          </a:p>
        </p:txBody>
      </p:sp>
      <p:sp>
        <p:nvSpPr>
          <p:cNvPr id="391" name="Google Shape;391;p63"/>
          <p:cNvSpPr txBox="1"/>
          <p:nvPr>
            <p:ph idx="10" type="dt"/>
          </p:nvPr>
        </p:nvSpPr>
        <p:spPr>
          <a:xfrm>
            <a:off x="6678385" y="5895487"/>
            <a:ext cx="19786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10/21/2025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92" name="Google Shape;392;p63"/>
          <p:cNvSpPr txBox="1"/>
          <p:nvPr/>
        </p:nvSpPr>
        <p:spPr>
          <a:xfrm>
            <a:off x="385429" y="2376243"/>
            <a:ext cx="7886700" cy="1477328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3688" lvl="0" marL="2936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0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employee_id, first_name, last_name, department_name, location_id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FROM</a:t>
            </a:r>
            <a:r>
              <a:rPr lang="en-US" sz="20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0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NATURAL JOIN</a:t>
            </a:r>
            <a:r>
              <a:rPr lang="en-US" sz="20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0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departments;</a:t>
            </a:r>
            <a:endParaRPr sz="2000">
              <a:solidFill>
                <a:schemeClr val="dk1"/>
              </a:solidFill>
              <a:latin typeface="Cascadia Code"/>
              <a:ea typeface="Cascadia Code"/>
              <a:cs typeface="Cascadia Code"/>
              <a:sym typeface="Cascadia Cod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4"/>
          <p:cNvSpPr txBox="1"/>
          <p:nvPr>
            <p:ph type="title"/>
          </p:nvPr>
        </p:nvSpPr>
        <p:spPr>
          <a:xfrm>
            <a:off x="549967" y="457072"/>
            <a:ext cx="7886700" cy="6221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NATURAL JOIN</a:t>
            </a:r>
            <a:endParaRPr/>
          </a:p>
        </p:txBody>
      </p:sp>
      <p:sp>
        <p:nvSpPr>
          <p:cNvPr id="398" name="Google Shape;398;p64"/>
          <p:cNvSpPr txBox="1"/>
          <p:nvPr>
            <p:ph idx="1" type="body"/>
          </p:nvPr>
        </p:nvSpPr>
        <p:spPr>
          <a:xfrm>
            <a:off x="628650" y="1452434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Query 4b: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List all employee id, first name, last name, department name and city.</a:t>
            </a:r>
            <a:endParaRPr/>
          </a:p>
        </p:txBody>
      </p:sp>
      <p:sp>
        <p:nvSpPr>
          <p:cNvPr id="399" name="Google Shape;399;p6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10/21/2025</a:t>
            </a:r>
            <a:endParaRPr/>
          </a:p>
        </p:txBody>
      </p:sp>
      <p:sp>
        <p:nvSpPr>
          <p:cNvPr id="400" name="Google Shape;400;p6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1" name="Google Shape;401;p64"/>
          <p:cNvSpPr txBox="1"/>
          <p:nvPr/>
        </p:nvSpPr>
        <p:spPr>
          <a:xfrm>
            <a:off x="549967" y="2316310"/>
            <a:ext cx="7886700" cy="1323439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0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employee_id, first_name, last_name, department_name, city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FROM</a:t>
            </a:r>
            <a:r>
              <a:rPr lang="en-US" sz="20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0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NATURAL JOIN</a:t>
            </a:r>
            <a:r>
              <a:rPr lang="en-US" sz="20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0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departments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NATURAL JOIN </a:t>
            </a:r>
            <a:r>
              <a:rPr lang="en-US" sz="20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locations;</a:t>
            </a:r>
            <a:endParaRPr sz="2000">
              <a:solidFill>
                <a:schemeClr val="dk1"/>
              </a:solidFill>
              <a:latin typeface="Cascadia Code"/>
              <a:ea typeface="Cascadia Code"/>
              <a:cs typeface="Cascadia Code"/>
              <a:sym typeface="Cascadia Code"/>
            </a:endParaRPr>
          </a:p>
        </p:txBody>
      </p:sp>
      <p:pic>
        <p:nvPicPr>
          <p:cNvPr id="402" name="Google Shape;40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9243" y="4080537"/>
            <a:ext cx="5447303" cy="2320391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64"/>
          <p:cNvSpPr/>
          <p:nvPr/>
        </p:nvSpPr>
        <p:spPr>
          <a:xfrm>
            <a:off x="7075196" y="4541690"/>
            <a:ext cx="2068804" cy="64633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Natural join with multiple tables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5"/>
          <p:cNvSpPr txBox="1"/>
          <p:nvPr>
            <p:ph type="title"/>
          </p:nvPr>
        </p:nvSpPr>
        <p:spPr>
          <a:xfrm>
            <a:off x="1059299" y="716634"/>
            <a:ext cx="7025402" cy="7506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JOIN…USING</a:t>
            </a:r>
            <a:endParaRPr/>
          </a:p>
        </p:txBody>
      </p:sp>
      <p:sp>
        <p:nvSpPr>
          <p:cNvPr id="409" name="Google Shape;409;p65"/>
          <p:cNvSpPr txBox="1"/>
          <p:nvPr>
            <p:ph idx="1" type="body"/>
          </p:nvPr>
        </p:nvSpPr>
        <p:spPr>
          <a:xfrm>
            <a:off x="1240022" y="2176272"/>
            <a:ext cx="7025403" cy="4041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If several columns have the same names but the data types do not match, use the </a:t>
            </a:r>
            <a:r>
              <a:rPr b="1" lang="en-US" sz="2800"/>
              <a:t>USING</a:t>
            </a:r>
            <a:r>
              <a:rPr lang="en-US" sz="2800"/>
              <a:t> clause to specify the columns for the equijoin.</a:t>
            </a:r>
            <a:endParaRPr/>
          </a:p>
          <a:p>
            <a:pPr indent="-1778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Use the </a:t>
            </a:r>
            <a:r>
              <a:rPr b="1" lang="en-US" sz="2800"/>
              <a:t>USING</a:t>
            </a:r>
            <a:r>
              <a:rPr lang="en-US" sz="2800"/>
              <a:t> clause to match only one column when more than one column matches.</a:t>
            </a:r>
            <a:endParaRPr/>
          </a:p>
          <a:p>
            <a:pPr indent="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410" name="Google Shape;410;p65"/>
          <p:cNvSpPr txBox="1"/>
          <p:nvPr>
            <p:ph idx="10" type="dt"/>
          </p:nvPr>
        </p:nvSpPr>
        <p:spPr>
          <a:xfrm>
            <a:off x="1236407" y="6356350"/>
            <a:ext cx="14473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10/21/2025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1" name="Google Shape;411;p65"/>
          <p:cNvSpPr txBox="1"/>
          <p:nvPr>
            <p:ph idx="12" type="sldNum"/>
          </p:nvPr>
        </p:nvSpPr>
        <p:spPr>
          <a:xfrm>
            <a:off x="6818386" y="6356350"/>
            <a:ext cx="1447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6"/>
          <p:cNvSpPr txBox="1"/>
          <p:nvPr>
            <p:ph type="title"/>
          </p:nvPr>
        </p:nvSpPr>
        <p:spPr>
          <a:xfrm>
            <a:off x="628650" y="445186"/>
            <a:ext cx="7886700" cy="772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JOIN…USING</a:t>
            </a:r>
            <a:endParaRPr sz="3200"/>
          </a:p>
        </p:txBody>
      </p:sp>
      <p:sp>
        <p:nvSpPr>
          <p:cNvPr id="417" name="Google Shape;417;p6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Query 3: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List all employee id, first name, last name, department id and department name.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418" name="Google Shape;418;p6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10/21/2025</a:t>
            </a:r>
            <a:endParaRPr/>
          </a:p>
        </p:txBody>
      </p:sp>
      <p:sp>
        <p:nvSpPr>
          <p:cNvPr id="419" name="Google Shape;419;p6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0" name="Google Shape;420;p66"/>
          <p:cNvSpPr txBox="1"/>
          <p:nvPr/>
        </p:nvSpPr>
        <p:spPr>
          <a:xfrm>
            <a:off x="836840" y="2984803"/>
            <a:ext cx="7886700" cy="95410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SELECT</a:t>
            </a:r>
            <a:r>
              <a:rPr lang="en-US" sz="1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employee_id, first_name, last_name, department_id, department_name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FROM</a:t>
            </a:r>
            <a:r>
              <a:rPr lang="en-US" sz="1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JOIN</a:t>
            </a:r>
            <a:r>
              <a:rPr lang="en-US" sz="1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departments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USING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 (department_id);</a:t>
            </a:r>
            <a:endParaRPr sz="1400">
              <a:solidFill>
                <a:schemeClr val="dk1"/>
              </a:solidFill>
              <a:latin typeface="Cascadia Code"/>
              <a:ea typeface="Cascadia Code"/>
              <a:cs typeface="Cascadia Code"/>
              <a:sym typeface="Cascadia Code"/>
            </a:endParaRPr>
          </a:p>
        </p:txBody>
      </p:sp>
      <p:pic>
        <p:nvPicPr>
          <p:cNvPr id="421" name="Google Shape;421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8799" y="4052582"/>
            <a:ext cx="4831514" cy="2124381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66"/>
          <p:cNvSpPr/>
          <p:nvPr/>
        </p:nvSpPr>
        <p:spPr>
          <a:xfrm>
            <a:off x="178282" y="4052582"/>
            <a:ext cx="1832327" cy="92333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Join based on the </a:t>
            </a: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department_id 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attribute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7"/>
          <p:cNvSpPr txBox="1"/>
          <p:nvPr>
            <p:ph type="title"/>
          </p:nvPr>
        </p:nvSpPr>
        <p:spPr>
          <a:xfrm>
            <a:off x="628650" y="365127"/>
            <a:ext cx="7886700" cy="772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JOIN…USING</a:t>
            </a:r>
            <a:endParaRPr sz="3200"/>
          </a:p>
        </p:txBody>
      </p:sp>
      <p:sp>
        <p:nvSpPr>
          <p:cNvPr id="428" name="Google Shape;428;p6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The </a:t>
            </a:r>
            <a:r>
              <a:rPr b="1" lang="en-US">
                <a:solidFill>
                  <a:srgbClr val="4472C4"/>
                </a:solidFill>
              </a:rPr>
              <a:t>JOIN</a:t>
            </a:r>
            <a:r>
              <a:rPr lang="en-US"/>
              <a:t> condition for the </a:t>
            </a:r>
            <a:r>
              <a:rPr b="1" lang="en-US">
                <a:solidFill>
                  <a:srgbClr val="4472C4"/>
                </a:solidFill>
              </a:rPr>
              <a:t>NATURAL JOIN </a:t>
            </a:r>
            <a:r>
              <a:rPr lang="en-US"/>
              <a:t>is basically an equijoin of all columns with the same name.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Use the </a:t>
            </a:r>
            <a:r>
              <a:rPr b="1" lang="en-US">
                <a:solidFill>
                  <a:srgbClr val="4472C4"/>
                </a:solidFill>
              </a:rPr>
              <a:t>ON</a:t>
            </a:r>
            <a:r>
              <a:rPr lang="en-US"/>
              <a:t> clause to specify </a:t>
            </a:r>
            <a:r>
              <a:rPr lang="en-US">
                <a:solidFill>
                  <a:srgbClr val="C00000"/>
                </a:solidFill>
              </a:rPr>
              <a:t>arbitrary conditions </a:t>
            </a:r>
            <a:r>
              <a:rPr lang="en-US"/>
              <a:t>or specify columns to join.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The join condition is separated from other search conditions.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The </a:t>
            </a:r>
            <a:r>
              <a:rPr b="1" lang="en-US">
                <a:solidFill>
                  <a:srgbClr val="4472C4"/>
                </a:solidFill>
              </a:rPr>
              <a:t>ON</a:t>
            </a:r>
            <a:r>
              <a:rPr lang="en-US"/>
              <a:t> clause makes code easy to understand.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429" name="Google Shape;429;p6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10/21/2025</a:t>
            </a:r>
            <a:endParaRPr/>
          </a:p>
        </p:txBody>
      </p:sp>
      <p:sp>
        <p:nvSpPr>
          <p:cNvPr id="430" name="Google Shape;430;p6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8"/>
          <p:cNvSpPr txBox="1"/>
          <p:nvPr>
            <p:ph type="title"/>
          </p:nvPr>
        </p:nvSpPr>
        <p:spPr>
          <a:xfrm>
            <a:off x="628650" y="365127"/>
            <a:ext cx="7886700" cy="932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JOIN…ON</a:t>
            </a:r>
            <a:endParaRPr sz="3600"/>
          </a:p>
        </p:txBody>
      </p:sp>
      <p:sp>
        <p:nvSpPr>
          <p:cNvPr id="436" name="Google Shape;436;p68"/>
          <p:cNvSpPr txBox="1"/>
          <p:nvPr>
            <p:ph idx="1" type="body"/>
          </p:nvPr>
        </p:nvSpPr>
        <p:spPr>
          <a:xfrm>
            <a:off x="628650" y="1286187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Query 3: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List all employee id, first name, last name, department id and department name.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437" name="Google Shape;437;p6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10/21/2025</a:t>
            </a:r>
            <a:endParaRPr/>
          </a:p>
        </p:txBody>
      </p:sp>
      <p:sp>
        <p:nvSpPr>
          <p:cNvPr id="438" name="Google Shape;438;p6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9" name="Google Shape;439;p68"/>
          <p:cNvSpPr txBox="1"/>
          <p:nvPr/>
        </p:nvSpPr>
        <p:spPr>
          <a:xfrm>
            <a:off x="773045" y="2554581"/>
            <a:ext cx="7886700" cy="95410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SELECT</a:t>
            </a:r>
            <a:r>
              <a:rPr lang="en-US" sz="1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employee_id, first_name, last_name, department_id, department_name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FROM</a:t>
            </a:r>
            <a:r>
              <a:rPr lang="en-US" sz="1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JOIN</a:t>
            </a:r>
            <a:r>
              <a:rPr lang="en-US" sz="1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departments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ON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 (employees.department_id = departments.department_id);</a:t>
            </a:r>
            <a:endParaRPr sz="1400">
              <a:solidFill>
                <a:schemeClr val="dk1"/>
              </a:solidFill>
              <a:latin typeface="Cascadia Code"/>
              <a:ea typeface="Cascadia Code"/>
              <a:cs typeface="Cascadia Code"/>
              <a:sym typeface="Cascadia Code"/>
            </a:endParaRPr>
          </a:p>
        </p:txBody>
      </p:sp>
      <p:pic>
        <p:nvPicPr>
          <p:cNvPr id="440" name="Google Shape;440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0307" y="4075435"/>
            <a:ext cx="4779539" cy="2101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9"/>
          <p:cNvSpPr txBox="1"/>
          <p:nvPr>
            <p:ph type="title"/>
          </p:nvPr>
        </p:nvSpPr>
        <p:spPr>
          <a:xfrm>
            <a:off x="628650" y="365127"/>
            <a:ext cx="7886700" cy="963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JOIN…ON</a:t>
            </a:r>
            <a:endParaRPr sz="3200"/>
          </a:p>
        </p:txBody>
      </p:sp>
      <p:sp>
        <p:nvSpPr>
          <p:cNvPr id="446" name="Google Shape;446;p69"/>
          <p:cNvSpPr txBox="1"/>
          <p:nvPr>
            <p:ph idx="1" type="body"/>
          </p:nvPr>
        </p:nvSpPr>
        <p:spPr>
          <a:xfrm>
            <a:off x="628650" y="1286187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Query 4: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List all employee id, first name, last name, department name and department location id.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447" name="Google Shape;447;p6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10/21/2025</a:t>
            </a:r>
            <a:endParaRPr/>
          </a:p>
        </p:txBody>
      </p:sp>
      <p:sp>
        <p:nvSpPr>
          <p:cNvPr id="448" name="Google Shape;448;p6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9" name="Google Shape;449;p69"/>
          <p:cNvSpPr txBox="1"/>
          <p:nvPr/>
        </p:nvSpPr>
        <p:spPr>
          <a:xfrm>
            <a:off x="804942" y="2581890"/>
            <a:ext cx="7886700" cy="95410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SELECT</a:t>
            </a:r>
            <a:r>
              <a:rPr lang="en-US" sz="1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employee_id, first_name, last_name, department_name, location_id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FROM</a:t>
            </a:r>
            <a:r>
              <a:rPr lang="en-US" sz="1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Cascadia Code"/>
                <a:ea typeface="Cascadia Code"/>
                <a:cs typeface="Cascadia Code"/>
                <a:sym typeface="Cascadia Code"/>
              </a:rPr>
              <a:t>JOIN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 departments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Cascadia Code"/>
                <a:ea typeface="Cascadia Code"/>
                <a:cs typeface="Cascadia Code"/>
                <a:sym typeface="Cascadia Code"/>
              </a:rPr>
              <a:t>ON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 (employees.department_id = departments.department_id);</a:t>
            </a:r>
            <a:endParaRPr sz="1400">
              <a:solidFill>
                <a:schemeClr val="dk1"/>
              </a:solidFill>
              <a:latin typeface="Cascadia Code"/>
              <a:ea typeface="Cascadia Code"/>
              <a:cs typeface="Cascadia Code"/>
              <a:sym typeface="Cascadia Code"/>
            </a:endParaRPr>
          </a:p>
        </p:txBody>
      </p:sp>
      <p:pic>
        <p:nvPicPr>
          <p:cNvPr id="450" name="Google Shape;450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8073" y="4075435"/>
            <a:ext cx="4548484" cy="2101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0"/>
          <p:cNvSpPr txBox="1"/>
          <p:nvPr>
            <p:ph type="title"/>
          </p:nvPr>
        </p:nvSpPr>
        <p:spPr>
          <a:xfrm>
            <a:off x="628650" y="365126"/>
            <a:ext cx="7886700" cy="910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JOIN…ON</a:t>
            </a:r>
            <a:endParaRPr sz="3200"/>
          </a:p>
        </p:txBody>
      </p:sp>
      <p:sp>
        <p:nvSpPr>
          <p:cNvPr id="456" name="Google Shape;456;p70"/>
          <p:cNvSpPr txBox="1"/>
          <p:nvPr>
            <p:ph idx="1" type="body"/>
          </p:nvPr>
        </p:nvSpPr>
        <p:spPr>
          <a:xfrm>
            <a:off x="628650" y="1297339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Query 4b: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List all employee id, first name, last name, department name and city.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457" name="Google Shape;457;p7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10/21/2025</a:t>
            </a:r>
            <a:endParaRPr/>
          </a:p>
        </p:txBody>
      </p:sp>
      <p:sp>
        <p:nvSpPr>
          <p:cNvPr id="458" name="Google Shape;458;p7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9" name="Google Shape;459;p70"/>
          <p:cNvSpPr txBox="1"/>
          <p:nvPr/>
        </p:nvSpPr>
        <p:spPr>
          <a:xfrm>
            <a:off x="815574" y="2360700"/>
            <a:ext cx="7886700" cy="138499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SELECT</a:t>
            </a:r>
            <a:r>
              <a:rPr lang="en-US" sz="1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employee_id, first_name, last_name, department_name, city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FROM</a:t>
            </a:r>
            <a:r>
              <a:rPr lang="en-US" sz="1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employees 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JOIN</a:t>
            </a:r>
            <a:r>
              <a:rPr lang="en-US" sz="1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departments 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Cascadia Code"/>
                <a:ea typeface="Cascadia Code"/>
                <a:cs typeface="Cascadia Code"/>
                <a:sym typeface="Cascadia Code"/>
              </a:rPr>
              <a:t>ON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 e.department_id = d.department_id</a:t>
            </a:r>
            <a:endParaRPr sz="1400">
              <a:solidFill>
                <a:srgbClr val="C00000"/>
              </a:solidFill>
              <a:latin typeface="Cascadia Code"/>
              <a:ea typeface="Cascadia Code"/>
              <a:cs typeface="Cascadia Code"/>
              <a:sym typeface="Cascadi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JOIN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locations 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Cascadia Code"/>
                <a:ea typeface="Cascadia Code"/>
                <a:cs typeface="Cascadia Code"/>
                <a:sym typeface="Cascadia Code"/>
              </a:rPr>
              <a:t>ON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 d.location_id = l.location_id;</a:t>
            </a:r>
            <a:endParaRPr sz="1400">
              <a:solidFill>
                <a:schemeClr val="dk1"/>
              </a:solidFill>
              <a:latin typeface="Cascadia Code"/>
              <a:ea typeface="Cascadia Code"/>
              <a:cs typeface="Cascadia Code"/>
              <a:sym typeface="Cascadia Code"/>
            </a:endParaRPr>
          </a:p>
        </p:txBody>
      </p:sp>
      <p:pic>
        <p:nvPicPr>
          <p:cNvPr id="460" name="Google Shape;460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9512" y="4097734"/>
            <a:ext cx="4417088" cy="18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70"/>
          <p:cNvSpPr/>
          <p:nvPr/>
        </p:nvSpPr>
        <p:spPr>
          <a:xfrm>
            <a:off x="322939" y="4506323"/>
            <a:ext cx="1832327" cy="92333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b="1"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JOIN…ON 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multiple tables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71"/>
          <p:cNvSpPr txBox="1"/>
          <p:nvPr>
            <p:ph type="title"/>
          </p:nvPr>
        </p:nvSpPr>
        <p:spPr>
          <a:xfrm>
            <a:off x="0" y="253366"/>
            <a:ext cx="8314383" cy="1281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APPLYING ADDITIONAL CONDITIONS </a:t>
            </a:r>
            <a:br>
              <a:rPr b="1" lang="en-US" sz="3600">
                <a:solidFill>
                  <a:schemeClr val="accent1"/>
                </a:solidFill>
              </a:rPr>
            </a:br>
            <a:r>
              <a:rPr b="1" lang="en-US" sz="3600">
                <a:solidFill>
                  <a:schemeClr val="accent1"/>
                </a:solidFill>
              </a:rPr>
              <a:t>TO A JOIN</a:t>
            </a:r>
            <a:endParaRPr b="1" sz="3600">
              <a:solidFill>
                <a:schemeClr val="accent1"/>
              </a:solidFill>
            </a:endParaRPr>
          </a:p>
        </p:txBody>
      </p:sp>
      <p:sp>
        <p:nvSpPr>
          <p:cNvPr id="467" name="Google Shape;467;p7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Use the </a:t>
            </a:r>
            <a:r>
              <a:rPr b="1" lang="en-US">
                <a:solidFill>
                  <a:srgbClr val="0070C0"/>
                </a:solidFill>
              </a:rPr>
              <a:t>AND</a:t>
            </a:r>
            <a:r>
              <a:rPr lang="en-US"/>
              <a:t> clause or the </a:t>
            </a:r>
            <a:r>
              <a:rPr b="1" lang="en-US">
                <a:solidFill>
                  <a:srgbClr val="0070C0"/>
                </a:solidFill>
              </a:rPr>
              <a:t>WHERE</a:t>
            </a:r>
            <a:r>
              <a:rPr lang="en-US"/>
              <a:t> clause to apply additional conditions: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468" name="Google Shape;468;p7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10/21/2025</a:t>
            </a:r>
            <a:endParaRPr/>
          </a:p>
        </p:txBody>
      </p:sp>
      <p:sp>
        <p:nvSpPr>
          <p:cNvPr id="469" name="Google Shape;469;p7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70" name="Google Shape;470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202" y="2407920"/>
            <a:ext cx="6857595" cy="3459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SELF-JOIN</a:t>
            </a:r>
            <a:endParaRPr sz="3200"/>
          </a:p>
        </p:txBody>
      </p:sp>
      <p:sp>
        <p:nvSpPr>
          <p:cNvPr id="476" name="Google Shape;476;p72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A self join is a special form of equijoin or </a:t>
            </a:r>
            <a:r>
              <a:rPr b="1" lang="en-US">
                <a:solidFill>
                  <a:srgbClr val="0070C0"/>
                </a:solidFill>
              </a:rPr>
              <a:t>INNER JOIN </a:t>
            </a:r>
            <a:r>
              <a:rPr lang="en-US"/>
              <a:t>where a table is </a:t>
            </a:r>
            <a:r>
              <a:rPr b="1" lang="en-US"/>
              <a:t>joined against itself</a:t>
            </a:r>
            <a:r>
              <a:rPr lang="en-US"/>
              <a:t>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This means that the table </a:t>
            </a:r>
            <a:r>
              <a:rPr b="1" lang="en-US"/>
              <a:t>must exists two times </a:t>
            </a:r>
            <a:r>
              <a:rPr lang="en-US"/>
              <a:t>in the </a:t>
            </a:r>
            <a:r>
              <a:rPr b="1" lang="en-US">
                <a:solidFill>
                  <a:srgbClr val="0070C0"/>
                </a:solidFill>
              </a:rPr>
              <a:t>FROM</a:t>
            </a:r>
            <a:r>
              <a:rPr lang="en-US"/>
              <a:t> clause of the SQL query.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Note that when joining a table to itself </a:t>
            </a:r>
            <a:r>
              <a:rPr b="1" lang="en-US">
                <a:solidFill>
                  <a:srgbClr val="C00000"/>
                </a:solidFill>
              </a:rPr>
              <a:t>an alias must be used</a:t>
            </a:r>
            <a:r>
              <a:rPr lang="en-US"/>
              <a:t> for each of the tables in the </a:t>
            </a:r>
            <a:r>
              <a:rPr b="1" lang="en-US">
                <a:solidFill>
                  <a:srgbClr val="0070C0"/>
                </a:solidFill>
              </a:rPr>
              <a:t>FROM</a:t>
            </a:r>
            <a:r>
              <a:rPr lang="en-US"/>
              <a:t> clause and then also used in the select list and </a:t>
            </a:r>
            <a:r>
              <a:rPr b="1" lang="en-US">
                <a:solidFill>
                  <a:srgbClr val="0070C0"/>
                </a:solidFill>
              </a:rPr>
              <a:t>WHERE</a:t>
            </a:r>
            <a:r>
              <a:rPr lang="en-US"/>
              <a:t> clause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477" name="Google Shape;477;p7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10/21/2025</a:t>
            </a:r>
            <a:endParaRPr/>
          </a:p>
        </p:txBody>
      </p:sp>
      <p:sp>
        <p:nvSpPr>
          <p:cNvPr id="478" name="Google Shape;478;p7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79" name="Google Shape;479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6653" y="4334667"/>
            <a:ext cx="3048413" cy="2000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7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chemeClr val="accent1"/>
                </a:solidFill>
              </a:rPr>
              <a:t>JOIN…ON </a:t>
            </a:r>
            <a:r>
              <a:rPr b="1" lang="en-US" sz="3600">
                <a:solidFill>
                  <a:schemeClr val="accent1"/>
                </a:solidFill>
              </a:rPr>
              <a:t>using INNER JOIN…ON</a:t>
            </a:r>
            <a:endParaRPr/>
          </a:p>
        </p:txBody>
      </p:sp>
      <p:sp>
        <p:nvSpPr>
          <p:cNvPr id="485" name="Google Shape;485;p7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Query 5: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List all employee id, first name, last name and their manager’s id and first name, last name.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486" name="Google Shape;486;p7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10/21/2025</a:t>
            </a:r>
            <a:endParaRPr/>
          </a:p>
        </p:txBody>
      </p:sp>
      <p:sp>
        <p:nvSpPr>
          <p:cNvPr id="487" name="Google Shape;487;p7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8" name="Google Shape;488;p73"/>
          <p:cNvSpPr txBox="1"/>
          <p:nvPr/>
        </p:nvSpPr>
        <p:spPr>
          <a:xfrm>
            <a:off x="836840" y="2984803"/>
            <a:ext cx="7886700" cy="1169551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746125" lvl="0" marL="7461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SELECT</a:t>
            </a:r>
            <a:r>
              <a:rPr lang="en-US" sz="1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e.employee_id, e.first_name, e.last_name, m.employee_id MANAGER_ID, m.first_name MANAGER_FNAME, m.last_name MANAGER_LNAME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FROM</a:t>
            </a:r>
            <a:r>
              <a:rPr lang="en-US" sz="1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employees 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INNER JOIN</a:t>
            </a:r>
            <a:r>
              <a:rPr lang="en-US" sz="1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employees 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Cascadia Code"/>
                <a:ea typeface="Cascadia Code"/>
                <a:cs typeface="Cascadia Code"/>
                <a:sym typeface="Cascadia Code"/>
              </a:rPr>
              <a:t>ON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 e.manager_id = m.employee_id;</a:t>
            </a:r>
            <a:endParaRPr sz="1400">
              <a:solidFill>
                <a:schemeClr val="dk1"/>
              </a:solidFill>
              <a:latin typeface="Cascadia Code"/>
              <a:ea typeface="Cascadia Code"/>
              <a:cs typeface="Cascadia Code"/>
              <a:sym typeface="Cascadia Code"/>
            </a:endParaRPr>
          </a:p>
        </p:txBody>
      </p:sp>
      <p:pic>
        <p:nvPicPr>
          <p:cNvPr id="489" name="Google Shape;489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2602" y="4290879"/>
            <a:ext cx="5443595" cy="186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SELF JOIN using INNER JOIN…ON</a:t>
            </a:r>
            <a:endParaRPr/>
          </a:p>
        </p:txBody>
      </p:sp>
      <p:sp>
        <p:nvSpPr>
          <p:cNvPr id="495" name="Google Shape;495;p7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Query 5: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List all employee id, first name, last name and their manager’s id and first name, last name.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496" name="Google Shape;496;p7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10/21/2025</a:t>
            </a:r>
            <a:endParaRPr/>
          </a:p>
        </p:txBody>
      </p:sp>
      <p:sp>
        <p:nvSpPr>
          <p:cNvPr id="497" name="Google Shape;497;p7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8" name="Google Shape;498;p74"/>
          <p:cNvSpPr txBox="1"/>
          <p:nvPr/>
        </p:nvSpPr>
        <p:spPr>
          <a:xfrm>
            <a:off x="836840" y="2984803"/>
            <a:ext cx="7886700" cy="1169551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746125" lvl="0" marL="7461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SELECT</a:t>
            </a:r>
            <a:r>
              <a:rPr lang="en-US" sz="1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e.employee_id, e.first_name, e.last_name, m.employee_id MANAGER_ID, m.first_name MANAGER_FNAME, m.last_name MANAGER_LNAME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FROM</a:t>
            </a:r>
            <a:r>
              <a:rPr lang="en-US" sz="1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employees 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JOIN</a:t>
            </a:r>
            <a:r>
              <a:rPr lang="en-US" sz="1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employees 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Cascadia Code"/>
                <a:ea typeface="Cascadia Code"/>
                <a:cs typeface="Cascadia Code"/>
                <a:sym typeface="Cascadia Code"/>
              </a:rPr>
              <a:t>ON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 e.manager_id = m.employee_id;</a:t>
            </a:r>
            <a:endParaRPr sz="1400">
              <a:solidFill>
                <a:schemeClr val="dk1"/>
              </a:solidFill>
              <a:latin typeface="Cascadia Code"/>
              <a:ea typeface="Cascadia Code"/>
              <a:cs typeface="Cascadia Code"/>
              <a:sym typeface="Cascadia Code"/>
            </a:endParaRPr>
          </a:p>
        </p:txBody>
      </p:sp>
      <p:pic>
        <p:nvPicPr>
          <p:cNvPr id="499" name="Google Shape;499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2602" y="4290879"/>
            <a:ext cx="5443595" cy="186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74"/>
          <p:cNvSpPr/>
          <p:nvPr/>
        </p:nvSpPr>
        <p:spPr>
          <a:xfrm>
            <a:off x="100519" y="4470266"/>
            <a:ext cx="1752996" cy="73866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JOIN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b="1" lang="en-US" sz="1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INNER JOIN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functionally equivalent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7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SELF JOIN using INNER JOIN…ON</a:t>
            </a:r>
            <a:endParaRPr/>
          </a:p>
        </p:txBody>
      </p:sp>
      <p:sp>
        <p:nvSpPr>
          <p:cNvPr id="506" name="Google Shape;506;p7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Query 6: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List all employee who are the manager.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507" name="Google Shape;507;p7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10/21/2025</a:t>
            </a:r>
            <a:endParaRPr/>
          </a:p>
        </p:txBody>
      </p:sp>
      <p:sp>
        <p:nvSpPr>
          <p:cNvPr id="508" name="Google Shape;508;p7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9" name="Google Shape;509;p75"/>
          <p:cNvSpPr txBox="1"/>
          <p:nvPr/>
        </p:nvSpPr>
        <p:spPr>
          <a:xfrm>
            <a:off x="853316" y="2742049"/>
            <a:ext cx="7886700" cy="95410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746125" lvl="0" marL="7461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SELECT DISTINCT</a:t>
            </a:r>
            <a:r>
              <a:rPr lang="en-US" sz="1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e.manager_id, m.first_name, m.last_name</a:t>
            </a:r>
            <a:endParaRPr sz="1400">
              <a:solidFill>
                <a:srgbClr val="C00000"/>
              </a:solidFill>
              <a:latin typeface="Cascadia Code"/>
              <a:ea typeface="Cascadia Code"/>
              <a:cs typeface="Cascadia Code"/>
              <a:sym typeface="Cascadi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FROM</a:t>
            </a:r>
            <a:r>
              <a:rPr lang="en-US" sz="1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employees 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INNER JOIN</a:t>
            </a:r>
            <a:r>
              <a:rPr lang="en-US" sz="1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employees 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Cascadia Code"/>
                <a:ea typeface="Cascadia Code"/>
                <a:cs typeface="Cascadia Code"/>
                <a:sym typeface="Cascadia Code"/>
              </a:rPr>
              <a:t>ON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 e.manager_id = m.employee_id;</a:t>
            </a:r>
            <a:endParaRPr sz="1400">
              <a:solidFill>
                <a:schemeClr val="dk1"/>
              </a:solidFill>
              <a:latin typeface="Cascadia Code"/>
              <a:ea typeface="Cascadia Code"/>
              <a:cs typeface="Cascadia Code"/>
              <a:sym typeface="Cascadia Code"/>
            </a:endParaRPr>
          </a:p>
        </p:txBody>
      </p:sp>
      <p:pic>
        <p:nvPicPr>
          <p:cNvPr id="510" name="Google Shape;510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5852" y="3911600"/>
            <a:ext cx="3072296" cy="2265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INNER JOIN…ON</a:t>
            </a:r>
            <a:endParaRPr/>
          </a:p>
        </p:txBody>
      </p:sp>
      <p:sp>
        <p:nvSpPr>
          <p:cNvPr id="516" name="Google Shape;516;p7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Query 3: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List all employee id, first name, last name, department id and department name.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517" name="Google Shape;517;p7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10/21/2025</a:t>
            </a:r>
            <a:endParaRPr/>
          </a:p>
        </p:txBody>
      </p:sp>
      <p:sp>
        <p:nvSpPr>
          <p:cNvPr id="518" name="Google Shape;518;p7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9" name="Google Shape;519;p76"/>
          <p:cNvSpPr txBox="1"/>
          <p:nvPr/>
        </p:nvSpPr>
        <p:spPr>
          <a:xfrm>
            <a:off x="836840" y="2984803"/>
            <a:ext cx="7886700" cy="95410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SELECT</a:t>
            </a:r>
            <a:r>
              <a:rPr lang="en-US" sz="1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employee_id, first_name, last_name, department_id, department_name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FROM</a:t>
            </a:r>
            <a:r>
              <a:rPr lang="en-US" sz="1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INNER JOIN</a:t>
            </a:r>
            <a:r>
              <a:rPr lang="en-US" sz="1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departments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ON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 (employees.department_id = departments.department_id);</a:t>
            </a:r>
            <a:endParaRPr sz="1400">
              <a:solidFill>
                <a:schemeClr val="dk1"/>
              </a:solidFill>
              <a:latin typeface="Cascadia Code"/>
              <a:ea typeface="Cascadia Code"/>
              <a:cs typeface="Cascadia Code"/>
              <a:sym typeface="Cascadia Code"/>
            </a:endParaRPr>
          </a:p>
        </p:txBody>
      </p:sp>
      <p:pic>
        <p:nvPicPr>
          <p:cNvPr id="520" name="Google Shape;520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4100" y="4121049"/>
            <a:ext cx="4675799" cy="2055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INNER JOIN…ON</a:t>
            </a:r>
            <a:endParaRPr/>
          </a:p>
        </p:txBody>
      </p:sp>
      <p:sp>
        <p:nvSpPr>
          <p:cNvPr id="526" name="Google Shape;526;p7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Query 4: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List all employee id, first name, last name, department name and department location id.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527" name="Google Shape;527;p7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10/21/2025</a:t>
            </a:r>
            <a:endParaRPr/>
          </a:p>
        </p:txBody>
      </p:sp>
      <p:sp>
        <p:nvSpPr>
          <p:cNvPr id="528" name="Google Shape;528;p7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9" name="Google Shape;529;p77"/>
          <p:cNvSpPr txBox="1"/>
          <p:nvPr/>
        </p:nvSpPr>
        <p:spPr>
          <a:xfrm>
            <a:off x="836840" y="2984803"/>
            <a:ext cx="7886700" cy="95410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SELECT</a:t>
            </a:r>
            <a:r>
              <a:rPr lang="en-US" sz="1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employee_id, first_name, last_name, department_name, location_id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FROM</a:t>
            </a:r>
            <a:r>
              <a:rPr lang="en-US" sz="1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Cascadia Code"/>
                <a:ea typeface="Cascadia Code"/>
                <a:cs typeface="Cascadia Code"/>
                <a:sym typeface="Cascadia Code"/>
              </a:rPr>
              <a:t>INNER JOIN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 departments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Cascadia Code"/>
                <a:ea typeface="Cascadia Code"/>
                <a:cs typeface="Cascadia Code"/>
                <a:sym typeface="Cascadia Code"/>
              </a:rPr>
              <a:t>ON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 (employees.department_id = departments.department_id);</a:t>
            </a:r>
            <a:endParaRPr sz="1400">
              <a:solidFill>
                <a:schemeClr val="dk1"/>
              </a:solidFill>
              <a:latin typeface="Cascadia Code"/>
              <a:ea typeface="Cascadia Code"/>
              <a:cs typeface="Cascadia Code"/>
              <a:sym typeface="Cascadia Code"/>
            </a:endParaRPr>
          </a:p>
        </p:txBody>
      </p:sp>
      <p:pic>
        <p:nvPicPr>
          <p:cNvPr id="530" name="Google Shape;530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8035" y="4085776"/>
            <a:ext cx="4526102" cy="2091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Practice in-class</a:t>
            </a:r>
            <a:endParaRPr/>
          </a:p>
        </p:txBody>
      </p:sp>
      <p:sp>
        <p:nvSpPr>
          <p:cNvPr id="536" name="Google Shape;536;p78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lang="en-US"/>
              <a:t>Create two tables called members and committees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Member:  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-US"/>
              <a:t>Attribute 1:  member_id 🡪 value autoincrement 🡪 int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-US"/>
              <a:t>Attribute 2:  name 🡪 100 char length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-US"/>
              <a:t>PK: member_id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Committees: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-US"/>
              <a:t>Attribute 1: committee_id 🡪 value autoincrement  🡪 int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-US"/>
              <a:t>Attribute 2:  name  🡪 100 char length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-US"/>
              <a:t>PK:  committee_id</a:t>
            </a:r>
            <a:endParaRPr/>
          </a:p>
          <a:p>
            <a:pPr indent="-7620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lang="en-US"/>
              <a:t>Insert values into these two tables: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Member:  (John, Jane, Mary, David, Amelia)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Committees:  (John, Mary, Amelia, Joe)</a:t>
            </a:r>
            <a:endParaRPr/>
          </a:p>
          <a:p>
            <a:pPr indent="0" lvl="2" marL="9144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/>
          </a:p>
        </p:txBody>
      </p:sp>
      <p:sp>
        <p:nvSpPr>
          <p:cNvPr id="537" name="Google Shape;537;p7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10/21/2025</a:t>
            </a:r>
            <a:endParaRPr/>
          </a:p>
        </p:txBody>
      </p:sp>
      <p:sp>
        <p:nvSpPr>
          <p:cNvPr id="538" name="Google Shape;538;p7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Practice in-class</a:t>
            </a:r>
            <a:endParaRPr/>
          </a:p>
        </p:txBody>
      </p:sp>
      <p:sp>
        <p:nvSpPr>
          <p:cNvPr id="544" name="Google Shape;544;p7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inds members who are also the committee members using: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/>
              <a:t>Use simple join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/>
              <a:t>Use NATURAL JOIN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/>
              <a:t>Use INNER JOIN … ON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/>
              <a:t>Use JOIN … ON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Use outer join to the following queries: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List the status of committee all members, i.e committee and not-committee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List the status of membership for all  committees, i.e member or not-member</a:t>
            </a:r>
            <a:endParaRPr/>
          </a:p>
        </p:txBody>
      </p:sp>
      <p:sp>
        <p:nvSpPr>
          <p:cNvPr id="545" name="Google Shape;545;p7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10/21/2025</a:t>
            </a:r>
            <a:endParaRPr/>
          </a:p>
        </p:txBody>
      </p:sp>
      <p:sp>
        <p:nvSpPr>
          <p:cNvPr id="546" name="Google Shape;546;p7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8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OUTER JOIN</a:t>
            </a:r>
            <a:endParaRPr/>
          </a:p>
        </p:txBody>
      </p:sp>
      <p:sp>
        <p:nvSpPr>
          <p:cNvPr id="552" name="Google Shape;552;p80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Often times we need to return rows from one table even if there are no matching rows that are produced through a join condition. For this situation, we use outer joins.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Outer joins: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</a:pPr>
            <a:r>
              <a:rPr b="1" lang="en-US">
                <a:solidFill>
                  <a:srgbClr val="0070C0"/>
                </a:solidFill>
              </a:rPr>
              <a:t>LEFT OUTER JOIN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</a:pPr>
            <a:r>
              <a:rPr b="1" lang="en-US">
                <a:solidFill>
                  <a:srgbClr val="0070C0"/>
                </a:solidFill>
              </a:rPr>
              <a:t>RIGHT OUTER JOIN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</a:pPr>
            <a:r>
              <a:rPr b="1" lang="en-US">
                <a:solidFill>
                  <a:srgbClr val="0070C0"/>
                </a:solidFill>
              </a:rPr>
              <a:t>FULL OUTER JOIN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553" name="Google Shape;553;p8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10/21/2025</a:t>
            </a:r>
            <a:endParaRPr/>
          </a:p>
        </p:txBody>
      </p:sp>
      <p:sp>
        <p:nvSpPr>
          <p:cNvPr id="554" name="Google Shape;554;p8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8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LEFT OUTER JOIN</a:t>
            </a:r>
            <a:endParaRPr/>
          </a:p>
        </p:txBody>
      </p:sp>
      <p:sp>
        <p:nvSpPr>
          <p:cNvPr id="560" name="Google Shape;560;p8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A left outer join is where the table, on the left of a </a:t>
            </a:r>
            <a:r>
              <a:rPr b="1" lang="en-US">
                <a:solidFill>
                  <a:srgbClr val="0070C0"/>
                </a:solidFill>
              </a:rPr>
              <a:t>FROM</a:t>
            </a:r>
            <a:r>
              <a:rPr lang="en-US"/>
              <a:t> clause is required to </a:t>
            </a:r>
            <a:r>
              <a:rPr b="1" lang="en-US">
                <a:solidFill>
                  <a:srgbClr val="C00000"/>
                </a:solidFill>
              </a:rPr>
              <a:t>return all of its rows </a:t>
            </a:r>
            <a:r>
              <a:rPr lang="en-US"/>
              <a:t>regardless of having matching rows from the table it is being joined on.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561" name="Google Shape;561;p8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10/21/2025</a:t>
            </a:r>
            <a:endParaRPr/>
          </a:p>
        </p:txBody>
      </p:sp>
      <p:sp>
        <p:nvSpPr>
          <p:cNvPr id="562" name="Google Shape;562;p8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63" name="Google Shape;563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4922" y="3295135"/>
            <a:ext cx="3048413" cy="2129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8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LEFT OUTER JOIN</a:t>
            </a:r>
            <a:endParaRPr/>
          </a:p>
        </p:txBody>
      </p:sp>
      <p:sp>
        <p:nvSpPr>
          <p:cNvPr id="569" name="Google Shape;569;p82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Query 7: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List all department with all its employees, including all department without employee.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570" name="Google Shape;570;p8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10/21/2025</a:t>
            </a:r>
            <a:endParaRPr/>
          </a:p>
        </p:txBody>
      </p:sp>
      <p:sp>
        <p:nvSpPr>
          <p:cNvPr id="571" name="Google Shape;571;p8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2" name="Google Shape;572;p82"/>
          <p:cNvSpPr txBox="1"/>
          <p:nvPr/>
        </p:nvSpPr>
        <p:spPr>
          <a:xfrm>
            <a:off x="836840" y="2984803"/>
            <a:ext cx="7886700" cy="95410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SELECT</a:t>
            </a:r>
            <a:r>
              <a:rPr lang="en-US" sz="1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department_name, first_name</a:t>
            </a:r>
            <a:endParaRPr sz="1400">
              <a:solidFill>
                <a:srgbClr val="C00000"/>
              </a:solidFill>
              <a:latin typeface="Cascadia Code"/>
              <a:ea typeface="Cascadia Code"/>
              <a:cs typeface="Cascadia Code"/>
              <a:sym typeface="Cascadi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FROM</a:t>
            </a:r>
            <a:r>
              <a:rPr lang="en-US" sz="1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departments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Cascadia Code"/>
                <a:ea typeface="Cascadia Code"/>
                <a:cs typeface="Cascadia Code"/>
                <a:sym typeface="Cascadia Code"/>
              </a:rPr>
              <a:t>LEFT OUTER JOIN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Cascadia Code"/>
                <a:ea typeface="Cascadia Code"/>
                <a:cs typeface="Cascadia Code"/>
                <a:sym typeface="Cascadia Code"/>
              </a:rPr>
              <a:t>ON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 (departments.department_id = employees.department_id);</a:t>
            </a:r>
            <a:endParaRPr sz="1400">
              <a:solidFill>
                <a:schemeClr val="dk1"/>
              </a:solidFill>
              <a:latin typeface="Cascadia Code"/>
              <a:ea typeface="Cascadia Code"/>
              <a:cs typeface="Cascadia Code"/>
              <a:sym typeface="Cascadia Code"/>
            </a:endParaRPr>
          </a:p>
        </p:txBody>
      </p:sp>
      <p:pic>
        <p:nvPicPr>
          <p:cNvPr id="573" name="Google Shape;573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6671" y="4133821"/>
            <a:ext cx="4010658" cy="2179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83"/>
          <p:cNvSpPr txBox="1"/>
          <p:nvPr>
            <p:ph type="title"/>
          </p:nvPr>
        </p:nvSpPr>
        <p:spPr>
          <a:xfrm>
            <a:off x="628650" y="365126"/>
            <a:ext cx="7886700" cy="11446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RIGHT OUTER JOIN</a:t>
            </a:r>
            <a:endParaRPr/>
          </a:p>
        </p:txBody>
      </p:sp>
      <p:sp>
        <p:nvSpPr>
          <p:cNvPr id="579" name="Google Shape;579;p8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A right outer join is just the opposite of a left outer join. It states that you would like all rows from the right table in the </a:t>
            </a:r>
            <a:r>
              <a:rPr b="1" lang="en-US">
                <a:solidFill>
                  <a:srgbClr val="0070C0"/>
                </a:solidFill>
              </a:rPr>
              <a:t>FROM</a:t>
            </a:r>
            <a:r>
              <a:rPr lang="en-US"/>
              <a:t> clause to be returned regardless of having a true match defined in the WHERE clause against the left side table in the FROM clause.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580" name="Google Shape;580;p8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10/21/2025</a:t>
            </a:r>
            <a:endParaRPr/>
          </a:p>
        </p:txBody>
      </p:sp>
      <p:sp>
        <p:nvSpPr>
          <p:cNvPr id="581" name="Google Shape;581;p8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2" name="Google Shape;582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7793" y="3739979"/>
            <a:ext cx="3048413" cy="1989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84"/>
          <p:cNvSpPr txBox="1"/>
          <p:nvPr>
            <p:ph type="title"/>
          </p:nvPr>
        </p:nvSpPr>
        <p:spPr>
          <a:xfrm>
            <a:off x="628650" y="365126"/>
            <a:ext cx="7886700" cy="8257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RIGHT OUTER JOIN</a:t>
            </a:r>
            <a:endParaRPr/>
          </a:p>
        </p:txBody>
      </p:sp>
      <p:sp>
        <p:nvSpPr>
          <p:cNvPr id="588" name="Google Shape;588;p8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Query 8: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List all employees with their departments, including all employees without department.</a:t>
            </a:r>
            <a:endParaRPr/>
          </a:p>
        </p:txBody>
      </p:sp>
      <p:sp>
        <p:nvSpPr>
          <p:cNvPr id="589" name="Google Shape;589;p8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10/21/2025</a:t>
            </a:r>
            <a:endParaRPr/>
          </a:p>
        </p:txBody>
      </p:sp>
      <p:sp>
        <p:nvSpPr>
          <p:cNvPr id="590" name="Google Shape;590;p8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1" name="Google Shape;591;p84"/>
          <p:cNvSpPr txBox="1"/>
          <p:nvPr/>
        </p:nvSpPr>
        <p:spPr>
          <a:xfrm>
            <a:off x="836840" y="2984803"/>
            <a:ext cx="7886700" cy="95410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SELECT</a:t>
            </a:r>
            <a:r>
              <a:rPr lang="en-US" sz="1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department_name, first_name</a:t>
            </a:r>
            <a:endParaRPr sz="1400">
              <a:solidFill>
                <a:srgbClr val="C00000"/>
              </a:solidFill>
              <a:latin typeface="Cascadia Code"/>
              <a:ea typeface="Cascadia Code"/>
              <a:cs typeface="Cascadia Code"/>
              <a:sym typeface="Cascadi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FROM</a:t>
            </a:r>
            <a:r>
              <a:rPr lang="en-US" sz="1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departments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Cascadia Code"/>
                <a:ea typeface="Cascadia Code"/>
                <a:cs typeface="Cascadia Code"/>
                <a:sym typeface="Cascadia Code"/>
              </a:rPr>
              <a:t>RIGHT OUTER JOIN 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Cascadia Code"/>
                <a:ea typeface="Cascadia Code"/>
                <a:cs typeface="Cascadia Code"/>
                <a:sym typeface="Cascadia Code"/>
              </a:rPr>
              <a:t>ON</a:t>
            </a:r>
            <a:r>
              <a:rPr lang="en-US" sz="14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 (departments.department_id = employees.department_id);</a:t>
            </a:r>
            <a:endParaRPr sz="1400">
              <a:solidFill>
                <a:schemeClr val="dk1"/>
              </a:solidFill>
              <a:latin typeface="Cascadia Code"/>
              <a:ea typeface="Cascadia Code"/>
              <a:cs typeface="Cascadia Code"/>
              <a:sym typeface="Cascadia Code"/>
            </a:endParaRPr>
          </a:p>
        </p:txBody>
      </p:sp>
      <p:pic>
        <p:nvPicPr>
          <p:cNvPr id="592" name="Google Shape;592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1564" y="4075435"/>
            <a:ext cx="3459043" cy="1943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8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FULL OUTER JOIN</a:t>
            </a:r>
            <a:endParaRPr/>
          </a:p>
        </p:txBody>
      </p:sp>
      <p:sp>
        <p:nvSpPr>
          <p:cNvPr id="598" name="Google Shape;598;p8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Return both left and right sides of a query regardless of having a match.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599" name="Google Shape;599;p8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10/21/2025</a:t>
            </a:r>
            <a:endParaRPr/>
          </a:p>
        </p:txBody>
      </p:sp>
      <p:sp>
        <p:nvSpPr>
          <p:cNvPr id="600" name="Google Shape;600;p8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1" name="Google Shape;601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8939" y="2764787"/>
            <a:ext cx="3048413" cy="229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6"/>
          <p:cNvSpPr txBox="1"/>
          <p:nvPr>
            <p:ph type="title"/>
          </p:nvPr>
        </p:nvSpPr>
        <p:spPr>
          <a:xfrm>
            <a:off x="277274" y="365126"/>
            <a:ext cx="4922047" cy="840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accent1"/>
                </a:solidFill>
              </a:rPr>
              <a:t>FULL OUTER JOIN</a:t>
            </a:r>
            <a:endParaRPr/>
          </a:p>
        </p:txBody>
      </p:sp>
      <p:sp>
        <p:nvSpPr>
          <p:cNvPr id="607" name="Google Shape;607;p86"/>
          <p:cNvSpPr txBox="1"/>
          <p:nvPr>
            <p:ph idx="1" type="body"/>
          </p:nvPr>
        </p:nvSpPr>
        <p:spPr>
          <a:xfrm>
            <a:off x="628650" y="1646238"/>
            <a:ext cx="6013899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How can we get the records for all employees AND all departments whether they are missing data or not?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608" name="Google Shape;608;p8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10/21/2025</a:t>
            </a:r>
            <a:endParaRPr/>
          </a:p>
        </p:txBody>
      </p:sp>
      <p:sp>
        <p:nvSpPr>
          <p:cNvPr id="609" name="Google Shape;609;p8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0" name="Google Shape;610;p86"/>
          <p:cNvSpPr txBox="1"/>
          <p:nvPr/>
        </p:nvSpPr>
        <p:spPr>
          <a:xfrm>
            <a:off x="209699" y="2811487"/>
            <a:ext cx="6432849" cy="1629884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0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department_name, first_name</a:t>
            </a:r>
            <a:endParaRPr sz="2000">
              <a:solidFill>
                <a:srgbClr val="C00000"/>
              </a:solidFill>
              <a:latin typeface="Cascadia Code"/>
              <a:ea typeface="Cascadia Code"/>
              <a:cs typeface="Cascadia Code"/>
              <a:sym typeface="Cascadia Code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472C4"/>
                </a:solidFill>
                <a:latin typeface="Cascadia Code"/>
                <a:ea typeface="Cascadia Code"/>
                <a:cs typeface="Cascadia Code"/>
                <a:sym typeface="Cascadia Code"/>
              </a:rPr>
              <a:t>FROM</a:t>
            </a:r>
            <a:r>
              <a:rPr lang="en-US" sz="20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</a:t>
            </a:r>
            <a:r>
              <a:rPr lang="en-US" sz="20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departments</a:t>
            </a:r>
            <a:endParaRPr/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70C0"/>
                </a:solidFill>
                <a:latin typeface="Cascadia Code"/>
                <a:ea typeface="Cascadia Code"/>
                <a:cs typeface="Cascadia Code"/>
                <a:sym typeface="Cascadia Code"/>
              </a:rPr>
              <a:t>FULL OUTER JOIN </a:t>
            </a:r>
            <a:r>
              <a:rPr lang="en-US" sz="20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employees</a:t>
            </a:r>
            <a:endParaRPr/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70C0"/>
                </a:solidFill>
                <a:latin typeface="Cascadia Code"/>
                <a:ea typeface="Cascadia Code"/>
                <a:cs typeface="Cascadia Code"/>
                <a:sym typeface="Cascadia Code"/>
              </a:rPr>
              <a:t>ON</a:t>
            </a:r>
            <a:r>
              <a:rPr lang="en-US" sz="2000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 (departments.department_id = employees.department_id);</a:t>
            </a:r>
            <a:endParaRPr sz="2000">
              <a:solidFill>
                <a:schemeClr val="dk1"/>
              </a:solidFill>
              <a:latin typeface="Cascadia Code"/>
              <a:ea typeface="Cascadia Code"/>
              <a:cs typeface="Cascadia Code"/>
              <a:sym typeface="Cascadia Code"/>
            </a:endParaRPr>
          </a:p>
        </p:txBody>
      </p:sp>
      <p:pic>
        <p:nvPicPr>
          <p:cNvPr id="611" name="Google Shape;611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2549" y="707290"/>
            <a:ext cx="2224177" cy="5633902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86"/>
          <p:cNvSpPr/>
          <p:nvPr/>
        </p:nvSpPr>
        <p:spPr>
          <a:xfrm>
            <a:off x="6642549" y="1309817"/>
            <a:ext cx="1727094" cy="241086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86"/>
          <p:cNvSpPr/>
          <p:nvPr/>
        </p:nvSpPr>
        <p:spPr>
          <a:xfrm>
            <a:off x="6642549" y="5307096"/>
            <a:ext cx="1727094" cy="1034095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87"/>
          <p:cNvSpPr txBox="1"/>
          <p:nvPr>
            <p:ph type="title"/>
          </p:nvPr>
        </p:nvSpPr>
        <p:spPr>
          <a:xfrm>
            <a:off x="1392325" y="613159"/>
            <a:ext cx="5862585" cy="97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2117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742117"/>
                </a:solidFill>
              </a:rPr>
              <a:t>SUMMARY</a:t>
            </a:r>
            <a:endParaRPr b="1" sz="4000">
              <a:solidFill>
                <a:srgbClr val="742117"/>
              </a:solidFill>
            </a:endParaRPr>
          </a:p>
        </p:txBody>
      </p:sp>
      <p:sp>
        <p:nvSpPr>
          <p:cNvPr id="619" name="Google Shape;619;p87"/>
          <p:cNvSpPr txBox="1"/>
          <p:nvPr>
            <p:ph idx="1" type="body"/>
          </p:nvPr>
        </p:nvSpPr>
        <p:spPr>
          <a:xfrm>
            <a:off x="266281" y="1875866"/>
            <a:ext cx="8611438" cy="40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SQL is standard language for relational databases.</a:t>
            </a:r>
            <a:endParaRPr sz="28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25" name="Google Shape;625;p8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26" name="Google Shape;626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1392" y="3429000"/>
            <a:ext cx="3995252" cy="300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8817" y="3028051"/>
            <a:ext cx="3995252" cy="300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9173" y="2870567"/>
            <a:ext cx="2709212" cy="916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ecture Slide Template DB">
  <a:themeElements>
    <a:clrScheme name="Custom 2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6C1D35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6C3636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2019-01-07T08:53:00Z</dcterms:created>
  <dc:creator>acidfed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1033-11.2.0.9684</vt:lpwstr>
  </property>
</Properties>
</file>