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83" r:id="rId3"/>
    <p:sldId id="257" r:id="rId4"/>
    <p:sldId id="258" r:id="rId5"/>
    <p:sldId id="259" r:id="rId6"/>
    <p:sldId id="260" r:id="rId7"/>
    <p:sldId id="261" r:id="rId8"/>
    <p:sldId id="262" r:id="rId9"/>
    <p:sldId id="274" r:id="rId10"/>
    <p:sldId id="263" r:id="rId11"/>
    <p:sldId id="275" r:id="rId12"/>
    <p:sldId id="277" r:id="rId13"/>
    <p:sldId id="278" r:id="rId14"/>
    <p:sldId id="265" r:id="rId15"/>
    <p:sldId id="279" r:id="rId16"/>
    <p:sldId id="266" r:id="rId17"/>
    <p:sldId id="280" r:id="rId18"/>
    <p:sldId id="284" r:id="rId19"/>
    <p:sldId id="267" r:id="rId20"/>
    <p:sldId id="268" r:id="rId21"/>
    <p:sldId id="282" r:id="rId22"/>
    <p:sldId id="269" r:id="rId23"/>
    <p:sldId id="270" r:id="rId24"/>
    <p:sldId id="271" r:id="rId25"/>
    <p:sldId id="272" r:id="rId26"/>
    <p:sldId id="273" r:id="rId27"/>
    <p:sldId id="281" r:id="rId28"/>
    <p:sldId id="276" r:id="rId29"/>
  </p:sldIdLst>
  <p:sldSz cx="12192000" cy="6858000"/>
  <p:notesSz cx="6858000" cy="9144000"/>
  <p:embeddedFontLst>
    <p:embeddedFont>
      <p:font typeface="Cambria Math" panose="02040503050406030204" pitchFamily="18" charset="0"/>
      <p:regular r:id="rId31"/>
    </p:embeddedFont>
    <p:embeddedFont>
      <p:font typeface="Play" panose="020B0604020202020204"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laN9dmLMpd+YO7yFUOOqGFlbe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3E70FF-3B2D-46C4-A98C-9AE733A9FB03}">
  <a:tblStyle styleId="{563E70FF-3B2D-46C4-A98C-9AE733A9FB03}"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7735D69-CFF9-4D1D-AD73-4BBD9CF8C6CB}"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FF7"/>
          </a:solidFill>
        </a:fill>
      </a:tcStyle>
    </a:wholeTbl>
    <a:band1H>
      <a:tcTxStyle/>
      <a:tcStyle>
        <a:tcBdr/>
        <a:fill>
          <a:solidFill>
            <a:srgbClr val="CADEEF"/>
          </a:solidFill>
        </a:fill>
      </a:tcStyle>
    </a:band1H>
    <a:band2H>
      <a:tcTxStyle/>
      <a:tcStyle>
        <a:tcBdr/>
      </a:tcStyle>
    </a:band2H>
    <a:band1V>
      <a:tcTxStyle/>
      <a:tcStyle>
        <a:tcBdr/>
        <a:fill>
          <a:solidFill>
            <a:srgbClr val="CADEEF"/>
          </a:solidFill>
        </a:fill>
      </a:tcStyle>
    </a:band1V>
    <a:band2V>
      <a:tcTxStyle/>
      <a:tcStyle>
        <a:tcBdr/>
      </a:tcStyle>
    </a:band2V>
    <a:lastCol>
      <a:tcTxStyle b="on" i="off">
        <a:font>
          <a:latin typeface="Aptos"/>
          <a:ea typeface="Aptos"/>
          <a:cs typeface="Aptos"/>
        </a:font>
        <a:schemeClr val="lt1"/>
      </a:tcTxStyle>
      <a:tcStyle>
        <a:tcBdr/>
        <a:fill>
          <a:solidFill>
            <a:schemeClr val="accent4"/>
          </a:solidFill>
        </a:fill>
      </a:tcStyle>
    </a:lastCol>
    <a:firstCol>
      <a:tcTxStyle b="on" i="off">
        <a:font>
          <a:latin typeface="Aptos"/>
          <a:ea typeface="Aptos"/>
          <a:cs typeface="Aptos"/>
        </a:font>
        <a:schemeClr val="lt1"/>
      </a:tcTxStyle>
      <a:tcStyle>
        <a:tcBdr/>
        <a:fill>
          <a:solidFill>
            <a:schemeClr val="accent4"/>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4"/>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5096A162-E3E4-2F73-5699-491E7797CD70}"/>
            </a:ext>
          </a:extLst>
        </p:cNvPr>
        <p:cNvGrpSpPr/>
        <p:nvPr/>
      </p:nvGrpSpPr>
      <p:grpSpPr>
        <a:xfrm>
          <a:off x="0" y="0"/>
          <a:ext cx="0" cy="0"/>
          <a:chOff x="0" y="0"/>
          <a:chExt cx="0" cy="0"/>
        </a:xfrm>
      </p:grpSpPr>
      <p:sp>
        <p:nvSpPr>
          <p:cNvPr id="206" name="Google Shape;206;p9:notes">
            <a:extLst>
              <a:ext uri="{FF2B5EF4-FFF2-40B4-BE49-F238E27FC236}">
                <a16:creationId xmlns:a16="http://schemas.microsoft.com/office/drawing/2014/main" id="{81167648-0A36-964B-799F-F48F63D6AF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9:notes">
            <a:extLst>
              <a:ext uri="{FF2B5EF4-FFF2-40B4-BE49-F238E27FC236}">
                <a16:creationId xmlns:a16="http://schemas.microsoft.com/office/drawing/2014/main" id="{53391F7C-B65C-C808-D879-3F06547747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2773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2D49D8CF-F3D5-CFCF-DD71-630B92A07813}"/>
            </a:ext>
          </a:extLst>
        </p:cNvPr>
        <p:cNvGrpSpPr/>
        <p:nvPr/>
      </p:nvGrpSpPr>
      <p:grpSpPr>
        <a:xfrm>
          <a:off x="0" y="0"/>
          <a:ext cx="0" cy="0"/>
          <a:chOff x="0" y="0"/>
          <a:chExt cx="0" cy="0"/>
        </a:xfrm>
      </p:grpSpPr>
      <p:sp>
        <p:nvSpPr>
          <p:cNvPr id="206" name="Google Shape;206;p9:notes">
            <a:extLst>
              <a:ext uri="{FF2B5EF4-FFF2-40B4-BE49-F238E27FC236}">
                <a16:creationId xmlns:a16="http://schemas.microsoft.com/office/drawing/2014/main" id="{A9353958-3631-CF56-AF6E-B0EE9A9183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9:notes">
            <a:extLst>
              <a:ext uri="{FF2B5EF4-FFF2-40B4-BE49-F238E27FC236}">
                <a16:creationId xmlns:a16="http://schemas.microsoft.com/office/drawing/2014/main" id="{98628AC3-BDB0-5724-6BF7-965C706D45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4053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ED14F33C-6CA3-0363-1C11-BA6B29666970}"/>
            </a:ext>
          </a:extLst>
        </p:cNvPr>
        <p:cNvGrpSpPr/>
        <p:nvPr/>
      </p:nvGrpSpPr>
      <p:grpSpPr>
        <a:xfrm>
          <a:off x="0" y="0"/>
          <a:ext cx="0" cy="0"/>
          <a:chOff x="0" y="0"/>
          <a:chExt cx="0" cy="0"/>
        </a:xfrm>
      </p:grpSpPr>
      <p:sp>
        <p:nvSpPr>
          <p:cNvPr id="206" name="Google Shape;206;p9:notes">
            <a:extLst>
              <a:ext uri="{FF2B5EF4-FFF2-40B4-BE49-F238E27FC236}">
                <a16:creationId xmlns:a16="http://schemas.microsoft.com/office/drawing/2014/main" id="{BA334E23-35EA-65C3-5EFF-6CDB3E2532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9:notes">
            <a:extLst>
              <a:ext uri="{FF2B5EF4-FFF2-40B4-BE49-F238E27FC236}">
                <a16:creationId xmlns:a16="http://schemas.microsoft.com/office/drawing/2014/main" id="{BB13C1D5-E5F3-7E50-0AED-A8D13952BA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2872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a:extLst>
            <a:ext uri="{FF2B5EF4-FFF2-40B4-BE49-F238E27FC236}">
              <a16:creationId xmlns:a16="http://schemas.microsoft.com/office/drawing/2014/main" id="{40B9E7BB-39EA-1391-3DB0-A9BAF299B7E4}"/>
            </a:ext>
          </a:extLst>
        </p:cNvPr>
        <p:cNvGrpSpPr/>
        <p:nvPr/>
      </p:nvGrpSpPr>
      <p:grpSpPr>
        <a:xfrm>
          <a:off x="0" y="0"/>
          <a:ext cx="0" cy="0"/>
          <a:chOff x="0" y="0"/>
          <a:chExt cx="0" cy="0"/>
        </a:xfrm>
      </p:grpSpPr>
      <p:sp>
        <p:nvSpPr>
          <p:cNvPr id="212" name="Google Shape;212;p10:notes">
            <a:extLst>
              <a:ext uri="{FF2B5EF4-FFF2-40B4-BE49-F238E27FC236}">
                <a16:creationId xmlns:a16="http://schemas.microsoft.com/office/drawing/2014/main" id="{ABCFDA30-8B4A-6DFA-9C56-4AEC25A484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0:notes">
            <a:extLst>
              <a:ext uri="{FF2B5EF4-FFF2-40B4-BE49-F238E27FC236}">
                <a16:creationId xmlns:a16="http://schemas.microsoft.com/office/drawing/2014/main" id="{BF5BA285-69B2-DB2B-42D5-8878D757C0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1625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7406A96E-EAE7-9D9F-D9D8-B3E9D9B8BA91}"/>
            </a:ext>
          </a:extLst>
        </p:cNvPr>
        <p:cNvGrpSpPr/>
        <p:nvPr/>
      </p:nvGrpSpPr>
      <p:grpSpPr>
        <a:xfrm>
          <a:off x="0" y="0"/>
          <a:ext cx="0" cy="0"/>
          <a:chOff x="0" y="0"/>
          <a:chExt cx="0" cy="0"/>
        </a:xfrm>
      </p:grpSpPr>
      <p:sp>
        <p:nvSpPr>
          <p:cNvPr id="224" name="Google Shape;224;p12:notes">
            <a:extLst>
              <a:ext uri="{FF2B5EF4-FFF2-40B4-BE49-F238E27FC236}">
                <a16:creationId xmlns:a16="http://schemas.microsoft.com/office/drawing/2014/main" id="{D6A2993E-0CA8-D381-87CF-808877D095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2:notes">
            <a:extLst>
              <a:ext uri="{FF2B5EF4-FFF2-40B4-BE49-F238E27FC236}">
                <a16:creationId xmlns:a16="http://schemas.microsoft.com/office/drawing/2014/main" id="{0A62C489-6BBE-D9CD-37BE-C7561B825C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336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242D77F-7E28-7A21-9CDD-614A7FE7C4ED}"/>
            </a:ext>
          </a:extLst>
        </p:cNvPr>
        <p:cNvGrpSpPr/>
        <p:nvPr/>
      </p:nvGrpSpPr>
      <p:grpSpPr>
        <a:xfrm>
          <a:off x="0" y="0"/>
          <a:ext cx="0" cy="0"/>
          <a:chOff x="0" y="0"/>
          <a:chExt cx="0" cy="0"/>
        </a:xfrm>
      </p:grpSpPr>
      <p:sp>
        <p:nvSpPr>
          <p:cNvPr id="93" name="Google Shape;93;p1:notes">
            <a:extLst>
              <a:ext uri="{FF2B5EF4-FFF2-40B4-BE49-F238E27FC236}">
                <a16:creationId xmlns:a16="http://schemas.microsoft.com/office/drawing/2014/main" id="{7BC43836-D383-9A37-3BF9-C55F3A319A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1:notes">
            <a:extLst>
              <a:ext uri="{FF2B5EF4-FFF2-40B4-BE49-F238E27FC236}">
                <a16:creationId xmlns:a16="http://schemas.microsoft.com/office/drawing/2014/main" id="{24EFF781-B549-C20F-B576-F0CEC6CDF4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a:extLst>
              <a:ext uri="{FF2B5EF4-FFF2-40B4-BE49-F238E27FC236}">
                <a16:creationId xmlns:a16="http://schemas.microsoft.com/office/drawing/2014/main" id="{36655874-9061-C56D-92CE-8D06A59AD7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347043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Play"/>
              <a:buNone/>
              <a:defRPr sz="4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20"/>
          <p:cNvSpPr/>
          <p:nvPr/>
        </p:nvSpPr>
        <p:spPr>
          <a:xfrm rot="5400000">
            <a:off x="1091881" y="3077844"/>
            <a:ext cx="671198" cy="193040"/>
          </a:xfrm>
          <a:prstGeom prst="trapezoid">
            <a:avLst>
              <a:gd name="adj" fmla="val 1"/>
            </a:avLst>
          </a:prstGeom>
          <a:solidFill>
            <a:srgbClr val="8F03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 name="Google Shape;22;p20"/>
          <p:cNvSpPr/>
          <p:nvPr/>
        </p:nvSpPr>
        <p:spPr>
          <a:xfrm>
            <a:off x="10464800" y="50800"/>
            <a:ext cx="1676400" cy="365125"/>
          </a:xfrm>
          <a:prstGeom prst="parallelogram">
            <a:avLst>
              <a:gd name="adj" fmla="val 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23" name="Google Shape;23;p20"/>
          <p:cNvSpPr/>
          <p:nvPr/>
        </p:nvSpPr>
        <p:spPr>
          <a:xfrm>
            <a:off x="10515600" y="0"/>
            <a:ext cx="1676400" cy="365125"/>
          </a:xfrm>
          <a:prstGeom prst="parallelogram">
            <a:avLst>
              <a:gd name="adj" fmla="val 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Arial"/>
                <a:ea typeface="Arial"/>
                <a:cs typeface="Arial"/>
                <a:sym typeface="Arial"/>
              </a:rPr>
              <a:t>SECP3623</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1"/>
          <p:cNvSpPr/>
          <p:nvPr/>
        </p:nvSpPr>
        <p:spPr>
          <a:xfrm>
            <a:off x="10464800" y="50800"/>
            <a:ext cx="1676400" cy="365125"/>
          </a:xfrm>
          <a:prstGeom prst="parallelogram">
            <a:avLst>
              <a:gd name="adj" fmla="val 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Arial"/>
              <a:ea typeface="Arial"/>
              <a:cs typeface="Arial"/>
              <a:sym typeface="Arial"/>
            </a:endParaRPr>
          </a:p>
        </p:txBody>
      </p:sp>
      <p:sp>
        <p:nvSpPr>
          <p:cNvPr id="26" name="Google Shape;26;p21"/>
          <p:cNvSpPr/>
          <p:nvPr/>
        </p:nvSpPr>
        <p:spPr>
          <a:xfrm>
            <a:off x="132080" y="294638"/>
            <a:ext cx="304800" cy="833121"/>
          </a:xfrm>
          <a:prstGeom prst="rect">
            <a:avLst/>
          </a:prstGeom>
          <a:solidFill>
            <a:srgbClr val="A67E0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7" name="Google Shape;27;p21"/>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8F0100"/>
              </a:buClr>
              <a:buSzPts val="3200"/>
              <a:buFont typeface="Play"/>
              <a:buNone/>
              <a:defRPr sz="3200" b="1">
                <a:solidFill>
                  <a:srgbClr val="8F01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1"/>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21"/>
          <p:cNvSpPr/>
          <p:nvPr/>
        </p:nvSpPr>
        <p:spPr>
          <a:xfrm rot="5400000">
            <a:off x="50481" y="314645"/>
            <a:ext cx="671198" cy="772160"/>
          </a:xfrm>
          <a:prstGeom prst="trapezoid">
            <a:avLst>
              <a:gd name="adj" fmla="val 1"/>
            </a:avLst>
          </a:prstGeom>
          <a:solidFill>
            <a:srgbClr val="8F03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3" name="Google Shape;33;p21"/>
          <p:cNvSpPr/>
          <p:nvPr/>
        </p:nvSpPr>
        <p:spPr>
          <a:xfrm>
            <a:off x="81280" y="294639"/>
            <a:ext cx="304800" cy="833121"/>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 name="Google Shape;34;p21"/>
          <p:cNvSpPr/>
          <p:nvPr/>
        </p:nvSpPr>
        <p:spPr>
          <a:xfrm>
            <a:off x="10515600" y="0"/>
            <a:ext cx="1676400" cy="365125"/>
          </a:xfrm>
          <a:prstGeom prst="parallelogram">
            <a:avLst>
              <a:gd name="adj" fmla="val 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Arial"/>
                <a:ea typeface="Arial"/>
                <a:cs typeface="Arial"/>
                <a:sym typeface="Arial"/>
              </a:rPr>
              <a:t>SECP3623</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8"/>
          <p:cNvSpPr>
            <a:spLocks noGrp="1"/>
          </p:cNvSpPr>
          <p:nvPr>
            <p:ph type="pic" idx="2"/>
          </p:nvPr>
        </p:nvSpPr>
        <p:spPr>
          <a:xfrm>
            <a:off x="5183188" y="987425"/>
            <a:ext cx="6172200" cy="4873625"/>
          </a:xfrm>
          <a:prstGeom prst="rect">
            <a:avLst/>
          </a:prstGeom>
          <a:noFill/>
          <a:ln>
            <a:noFill/>
          </a:ln>
        </p:spPr>
      </p:sp>
      <p:sp>
        <p:nvSpPr>
          <p:cNvPr id="76" name="Google Shape;76;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ctrTitle"/>
          </p:nvPr>
        </p:nvSpPr>
        <p:spPr>
          <a:xfrm>
            <a:off x="1524000" y="2805422"/>
            <a:ext cx="9144000" cy="74031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4800"/>
              <a:buFont typeface="Play"/>
              <a:buNone/>
            </a:pPr>
            <a:r>
              <a:rPr lang="en-US" dirty="0"/>
              <a:t>Topic 5 : Indexes</a:t>
            </a:r>
            <a:endParaRPr dirty="0"/>
          </a:p>
        </p:txBody>
      </p:sp>
      <p:sp>
        <p:nvSpPr>
          <p:cNvPr id="3" name="TextBox 2">
            <a:extLst>
              <a:ext uri="{FF2B5EF4-FFF2-40B4-BE49-F238E27FC236}">
                <a16:creationId xmlns:a16="http://schemas.microsoft.com/office/drawing/2014/main" id="{8C29619C-2AA9-1D26-B135-FF1723ABEFA1}"/>
              </a:ext>
            </a:extLst>
          </p:cNvPr>
          <p:cNvSpPr txBox="1"/>
          <p:nvPr/>
        </p:nvSpPr>
        <p:spPr>
          <a:xfrm>
            <a:off x="-363796" y="1648671"/>
            <a:ext cx="13489858" cy="2585323"/>
          </a:xfrm>
          <a:prstGeom prst="rect">
            <a:avLst/>
          </a:prstGeom>
          <a:noFill/>
        </p:spPr>
        <p:txBody>
          <a:bodyPr wrap="square">
            <a:spAutoFit/>
          </a:bodyPr>
          <a:lstStyle/>
          <a:p>
            <a:pPr algn="ctr" rtl="0">
              <a:buNone/>
            </a:pPr>
            <a:r>
              <a:rPr lang="en-MY" sz="5400" b="1" i="0" u="none" strike="noStrike" dirty="0">
                <a:solidFill>
                  <a:srgbClr val="6C1D35"/>
                </a:solidFill>
                <a:effectLst/>
                <a:latin typeface="Calibri" panose="020F0502020204030204" pitchFamily="34" charset="0"/>
              </a:rPr>
              <a:t>SECP3623 DATABASE PROGRAMMING </a:t>
            </a:r>
            <a:endParaRPr lang="en-MY" sz="5400" b="0" dirty="0">
              <a:effectLst/>
            </a:endParaRPr>
          </a:p>
          <a:p>
            <a:pPr>
              <a:buNone/>
            </a:pPr>
            <a:br>
              <a:rPr lang="en-MY" sz="5400" dirty="0"/>
            </a:br>
            <a:endParaRPr lang="en-MY"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00A6C-CA5F-5DEE-F2D9-0012F5EB46A0}"/>
              </a:ext>
            </a:extLst>
          </p:cNvPr>
          <p:cNvSpPr>
            <a:spLocks noGrp="1"/>
          </p:cNvSpPr>
          <p:nvPr>
            <p:ph type="title"/>
          </p:nvPr>
        </p:nvSpPr>
        <p:spPr/>
        <p:txBody>
          <a:bodyPr/>
          <a:lstStyle/>
          <a:p>
            <a:r>
              <a:rPr lang="en-US" dirty="0"/>
              <a:t>Learning Outcomes</a:t>
            </a:r>
            <a:endParaRPr lang="en-MY" dirty="0"/>
          </a:p>
        </p:txBody>
      </p:sp>
      <p:sp>
        <p:nvSpPr>
          <p:cNvPr id="3" name="Text Placeholder 2">
            <a:extLst>
              <a:ext uri="{FF2B5EF4-FFF2-40B4-BE49-F238E27FC236}">
                <a16:creationId xmlns:a16="http://schemas.microsoft.com/office/drawing/2014/main" id="{B622C30A-90DF-BE5C-E494-97D520F3B31E}"/>
              </a:ext>
            </a:extLst>
          </p:cNvPr>
          <p:cNvSpPr>
            <a:spLocks noGrp="1"/>
          </p:cNvSpPr>
          <p:nvPr>
            <p:ph type="body" idx="1"/>
          </p:nvPr>
        </p:nvSpPr>
        <p:spPr/>
        <p:txBody>
          <a:bodyPr>
            <a:normAutofit fontScale="92500" lnSpcReduction="10000"/>
          </a:bodyPr>
          <a:lstStyle/>
          <a:p>
            <a:pPr marL="76200" indent="0">
              <a:buNone/>
            </a:pPr>
            <a:r>
              <a:rPr lang="en-US" dirty="0"/>
              <a:t>By the end of this lecture, students should be able to:</a:t>
            </a:r>
          </a:p>
          <a:p>
            <a:pPr marL="76200" indent="0">
              <a:buNone/>
            </a:pPr>
            <a:r>
              <a:rPr lang="en-US" b="1" dirty="0"/>
              <a:t>Indexing in SQL</a:t>
            </a:r>
          </a:p>
          <a:p>
            <a:r>
              <a:rPr lang="en-US" dirty="0"/>
              <a:t>What is Indexes</a:t>
            </a:r>
          </a:p>
          <a:p>
            <a:r>
              <a:rPr lang="en-US" dirty="0"/>
              <a:t>Types of Indexes (B-Tree Index, Bitmap Index, Text index)</a:t>
            </a:r>
          </a:p>
          <a:p>
            <a:r>
              <a:rPr lang="en-US" dirty="0"/>
              <a:t>Index Creation</a:t>
            </a:r>
          </a:p>
          <a:p>
            <a:r>
              <a:rPr lang="en-US" dirty="0"/>
              <a:t>Advantages &amp; Limitations of Indexes</a:t>
            </a:r>
          </a:p>
          <a:p>
            <a:endParaRPr lang="en-US" dirty="0"/>
          </a:p>
          <a:p>
            <a:pPr marL="76200" indent="0">
              <a:buNone/>
            </a:pPr>
            <a:r>
              <a:rPr lang="en-US" b="1" dirty="0"/>
              <a:t>Constraints</a:t>
            </a:r>
          </a:p>
          <a:p>
            <a:r>
              <a:rPr lang="en-US" dirty="0"/>
              <a:t>What is Constraint</a:t>
            </a:r>
          </a:p>
          <a:p>
            <a:r>
              <a:rPr lang="en-US" dirty="0"/>
              <a:t>Types of Constraints (Primary Key, Foreign Key, Unique, Check)</a:t>
            </a:r>
          </a:p>
          <a:p>
            <a:r>
              <a:rPr lang="en-US" dirty="0"/>
              <a:t>Creation of Constraints</a:t>
            </a:r>
          </a:p>
          <a:p>
            <a:r>
              <a:rPr lang="en-US" dirty="0"/>
              <a:t>Examples</a:t>
            </a:r>
            <a:endParaRPr lang="en-MY" dirty="0"/>
          </a:p>
        </p:txBody>
      </p:sp>
    </p:spTree>
    <p:extLst>
      <p:ext uri="{BB962C8B-B14F-4D97-AF65-F5344CB8AC3E}">
        <p14:creationId xmlns:p14="http://schemas.microsoft.com/office/powerpoint/2010/main" val="9370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Some limitations when query…</a:t>
            </a:r>
            <a:endParaRPr/>
          </a:p>
        </p:txBody>
      </p:sp>
      <p:graphicFrame>
        <p:nvGraphicFramePr>
          <p:cNvPr id="105" name="Google Shape;105;p2"/>
          <p:cNvGraphicFramePr/>
          <p:nvPr/>
        </p:nvGraphicFramePr>
        <p:xfrm>
          <a:off x="4011505" y="1883133"/>
          <a:ext cx="3855400" cy="1910600"/>
        </p:xfrm>
        <a:graphic>
          <a:graphicData uri="http://schemas.openxmlformats.org/drawingml/2006/table">
            <a:tbl>
              <a:tblPr firstRow="1" bandRow="1">
                <a:noFill/>
                <a:tableStyleId>{563E70FF-3B2D-46C4-A98C-9AE733A9FB03}</a:tableStyleId>
              </a:tblPr>
              <a:tblGrid>
                <a:gridCol w="963850">
                  <a:extLst>
                    <a:ext uri="{9D8B030D-6E8A-4147-A177-3AD203B41FA5}">
                      <a16:colId xmlns:a16="http://schemas.microsoft.com/office/drawing/2014/main" val="20000"/>
                    </a:ext>
                  </a:extLst>
                </a:gridCol>
                <a:gridCol w="963850">
                  <a:extLst>
                    <a:ext uri="{9D8B030D-6E8A-4147-A177-3AD203B41FA5}">
                      <a16:colId xmlns:a16="http://schemas.microsoft.com/office/drawing/2014/main" val="20001"/>
                    </a:ext>
                  </a:extLst>
                </a:gridCol>
                <a:gridCol w="963850">
                  <a:extLst>
                    <a:ext uri="{9D8B030D-6E8A-4147-A177-3AD203B41FA5}">
                      <a16:colId xmlns:a16="http://schemas.microsoft.com/office/drawing/2014/main" val="20002"/>
                    </a:ext>
                  </a:extLst>
                </a:gridCol>
                <a:gridCol w="963850">
                  <a:extLst>
                    <a:ext uri="{9D8B030D-6E8A-4147-A177-3AD203B41FA5}">
                      <a16:colId xmlns:a16="http://schemas.microsoft.com/office/drawing/2014/main" val="20003"/>
                    </a:ext>
                  </a:extLst>
                </a:gridCol>
              </a:tblGrid>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extLst>
                  <a:ext uri="{0D108BD9-81ED-4DB2-BD59-A6C34878D82A}">
                    <a16:rowId xmlns:a16="http://schemas.microsoft.com/office/drawing/2014/main" val="10000"/>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extLst>
                  <a:ext uri="{0D108BD9-81ED-4DB2-BD59-A6C34878D82A}">
                    <a16:rowId xmlns:a16="http://schemas.microsoft.com/office/drawing/2014/main" val="10001"/>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extLst>
                  <a:ext uri="{0D108BD9-81ED-4DB2-BD59-A6C34878D82A}">
                    <a16:rowId xmlns:a16="http://schemas.microsoft.com/office/drawing/2014/main" val="10002"/>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extLst>
                  <a:ext uri="{0D108BD9-81ED-4DB2-BD59-A6C34878D82A}">
                    <a16:rowId xmlns:a16="http://schemas.microsoft.com/office/drawing/2014/main" val="10003"/>
                  </a:ext>
                </a:extLst>
              </a:tr>
            </a:tbl>
          </a:graphicData>
        </a:graphic>
      </p:graphicFrame>
      <p:graphicFrame>
        <p:nvGraphicFramePr>
          <p:cNvPr id="106" name="Google Shape;106;p2"/>
          <p:cNvGraphicFramePr/>
          <p:nvPr/>
        </p:nvGraphicFramePr>
        <p:xfrm>
          <a:off x="698724" y="4566576"/>
          <a:ext cx="3648000" cy="451950"/>
        </p:xfrm>
        <a:graphic>
          <a:graphicData uri="http://schemas.openxmlformats.org/drawingml/2006/table">
            <a:tbl>
              <a:tblPr firstRow="1" bandRow="1">
                <a:noFill/>
                <a:tableStyleId>{563E70FF-3B2D-46C4-A98C-9AE733A9FB03}</a:tableStyleId>
              </a:tblPr>
              <a:tblGrid>
                <a:gridCol w="912000">
                  <a:extLst>
                    <a:ext uri="{9D8B030D-6E8A-4147-A177-3AD203B41FA5}">
                      <a16:colId xmlns:a16="http://schemas.microsoft.com/office/drawing/2014/main" val="20000"/>
                    </a:ext>
                  </a:extLst>
                </a:gridCol>
                <a:gridCol w="912000">
                  <a:extLst>
                    <a:ext uri="{9D8B030D-6E8A-4147-A177-3AD203B41FA5}">
                      <a16:colId xmlns:a16="http://schemas.microsoft.com/office/drawing/2014/main" val="20001"/>
                    </a:ext>
                  </a:extLst>
                </a:gridCol>
                <a:gridCol w="912000">
                  <a:extLst>
                    <a:ext uri="{9D8B030D-6E8A-4147-A177-3AD203B41FA5}">
                      <a16:colId xmlns:a16="http://schemas.microsoft.com/office/drawing/2014/main" val="20002"/>
                    </a:ext>
                  </a:extLst>
                </a:gridCol>
                <a:gridCol w="912000">
                  <a:extLst>
                    <a:ext uri="{9D8B030D-6E8A-4147-A177-3AD203B41FA5}">
                      <a16:colId xmlns:a16="http://schemas.microsoft.com/office/drawing/2014/main" val="20003"/>
                    </a:ext>
                  </a:extLst>
                </a:gridCol>
              </a:tblGrid>
              <a:tr h="451950">
                <a:tc>
                  <a:txBody>
                    <a:bodyPr/>
                    <a:lstStyle/>
                    <a:p>
                      <a:pPr marL="0" marR="0" lvl="0" indent="0" algn="l" rtl="0">
                        <a:spcBef>
                          <a:spcPts val="0"/>
                        </a:spcBef>
                        <a:spcAft>
                          <a:spcPts val="0"/>
                        </a:spcAft>
                        <a:buNone/>
                      </a:pPr>
                      <a:endParaRPr sz="1500"/>
                    </a:p>
                  </a:txBody>
                  <a:tcPr marL="74725" marR="74725" marT="37375" marB="37375">
                    <a:solidFill>
                      <a:srgbClr val="D0D0D0"/>
                    </a:solidFill>
                  </a:tcPr>
                </a:tc>
                <a:tc>
                  <a:txBody>
                    <a:bodyPr/>
                    <a:lstStyle/>
                    <a:p>
                      <a:pPr marL="0" marR="0" lvl="0" indent="0" algn="l" rtl="0">
                        <a:spcBef>
                          <a:spcPts val="0"/>
                        </a:spcBef>
                        <a:spcAft>
                          <a:spcPts val="0"/>
                        </a:spcAft>
                        <a:buNone/>
                      </a:pPr>
                      <a:endParaRPr sz="1500"/>
                    </a:p>
                  </a:txBody>
                  <a:tcPr marL="74725" marR="74725" marT="37375" marB="37375">
                    <a:solidFill>
                      <a:srgbClr val="D0D0D0"/>
                    </a:solidFill>
                  </a:tcPr>
                </a:tc>
                <a:tc>
                  <a:txBody>
                    <a:bodyPr/>
                    <a:lstStyle/>
                    <a:p>
                      <a:pPr marL="0" marR="0" lvl="0" indent="0" algn="l" rtl="0">
                        <a:spcBef>
                          <a:spcPts val="0"/>
                        </a:spcBef>
                        <a:spcAft>
                          <a:spcPts val="0"/>
                        </a:spcAft>
                        <a:buNone/>
                      </a:pPr>
                      <a:endParaRPr sz="1500"/>
                    </a:p>
                  </a:txBody>
                  <a:tcPr marL="74725" marR="74725" marT="37375" marB="37375">
                    <a:solidFill>
                      <a:srgbClr val="D0D0D0"/>
                    </a:solidFill>
                  </a:tcPr>
                </a:tc>
                <a:tc>
                  <a:txBody>
                    <a:bodyPr/>
                    <a:lstStyle/>
                    <a:p>
                      <a:pPr marL="0" marR="0" lvl="0" indent="0" algn="l" rtl="0">
                        <a:spcBef>
                          <a:spcPts val="0"/>
                        </a:spcBef>
                        <a:spcAft>
                          <a:spcPts val="0"/>
                        </a:spcAft>
                        <a:buNone/>
                      </a:pPr>
                      <a:endParaRPr sz="1500"/>
                    </a:p>
                  </a:txBody>
                  <a:tcPr marL="74725" marR="74725" marT="37375" marB="37375">
                    <a:solidFill>
                      <a:srgbClr val="D0D0D0"/>
                    </a:solidFill>
                  </a:tcPr>
                </a:tc>
                <a:extLst>
                  <a:ext uri="{0D108BD9-81ED-4DB2-BD59-A6C34878D82A}">
                    <a16:rowId xmlns:a16="http://schemas.microsoft.com/office/drawing/2014/main" val="10000"/>
                  </a:ext>
                </a:extLst>
              </a:tr>
            </a:tbl>
          </a:graphicData>
        </a:graphic>
      </p:graphicFrame>
      <p:cxnSp>
        <p:nvCxnSpPr>
          <p:cNvPr id="107" name="Google Shape;107;p2"/>
          <p:cNvCxnSpPr/>
          <p:nvPr/>
        </p:nvCxnSpPr>
        <p:spPr>
          <a:xfrm rot="10800000" flipH="1">
            <a:off x="4346688" y="3793850"/>
            <a:ext cx="1592400" cy="998700"/>
          </a:xfrm>
          <a:prstGeom prst="curvedConnector2">
            <a:avLst/>
          </a:prstGeom>
          <a:noFill/>
          <a:ln w="19050" cap="flat" cmpd="sng">
            <a:solidFill>
              <a:schemeClr val="accent1"/>
            </a:solidFill>
            <a:prstDash val="dash"/>
            <a:miter lim="800000"/>
            <a:headEnd type="none" w="sm" len="sm"/>
            <a:tailEnd type="triangle" w="med" len="med"/>
          </a:ln>
        </p:spPr>
      </p:cxnSp>
      <p:sp>
        <p:nvSpPr>
          <p:cNvPr id="108" name="Google Shape;108;p2"/>
          <p:cNvSpPr txBox="1"/>
          <p:nvPr/>
        </p:nvSpPr>
        <p:spPr>
          <a:xfrm>
            <a:off x="698724" y="5059834"/>
            <a:ext cx="3647963"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new data inserted / appended to the next available location regardless of order from any columns</a:t>
            </a:r>
            <a:endParaRPr/>
          </a:p>
        </p:txBody>
      </p:sp>
      <p:sp>
        <p:nvSpPr>
          <p:cNvPr id="109" name="Google Shape;109;p2"/>
          <p:cNvSpPr txBox="1"/>
          <p:nvPr/>
        </p:nvSpPr>
        <p:spPr>
          <a:xfrm>
            <a:off x="698724" y="4155935"/>
            <a:ext cx="373861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new data</a:t>
            </a:r>
            <a:endParaRPr/>
          </a:p>
        </p:txBody>
      </p:sp>
      <p:sp>
        <p:nvSpPr>
          <p:cNvPr id="110" name="Google Shape;110;p2"/>
          <p:cNvSpPr txBox="1"/>
          <p:nvPr/>
        </p:nvSpPr>
        <p:spPr>
          <a:xfrm>
            <a:off x="4128322" y="1489950"/>
            <a:ext cx="373861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Existing table</a:t>
            </a:r>
            <a:endParaRPr/>
          </a:p>
        </p:txBody>
      </p:sp>
      <p:sp>
        <p:nvSpPr>
          <p:cNvPr id="111" name="Google Shape;111;p2"/>
          <p:cNvSpPr txBox="1"/>
          <p:nvPr/>
        </p:nvSpPr>
        <p:spPr>
          <a:xfrm>
            <a:off x="8294158" y="2417373"/>
            <a:ext cx="198609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SEARCH</a:t>
            </a:r>
            <a:endParaRPr/>
          </a:p>
        </p:txBody>
      </p:sp>
      <p:pic>
        <p:nvPicPr>
          <p:cNvPr id="112" name="Google Shape;112;p2" descr="User with solid fill"/>
          <p:cNvPicPr preferRelativeResize="0"/>
          <p:nvPr/>
        </p:nvPicPr>
        <p:blipFill rotWithShape="1">
          <a:blip r:embed="rId3">
            <a:alphaModFix/>
          </a:blip>
          <a:srcRect/>
          <a:stretch/>
        </p:blipFill>
        <p:spPr>
          <a:xfrm>
            <a:off x="10442028" y="1924039"/>
            <a:ext cx="914400" cy="914400"/>
          </a:xfrm>
          <a:prstGeom prst="rect">
            <a:avLst/>
          </a:prstGeom>
          <a:noFill/>
          <a:ln>
            <a:noFill/>
          </a:ln>
        </p:spPr>
      </p:pic>
      <p:cxnSp>
        <p:nvCxnSpPr>
          <p:cNvPr id="113" name="Google Shape;113;p2"/>
          <p:cNvCxnSpPr/>
          <p:nvPr/>
        </p:nvCxnSpPr>
        <p:spPr>
          <a:xfrm rot="10800000">
            <a:off x="8135007" y="2316482"/>
            <a:ext cx="2304393"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14" name="Google Shape;114;p2"/>
          <p:cNvCxnSpPr/>
          <p:nvPr/>
        </p:nvCxnSpPr>
        <p:spPr>
          <a:xfrm>
            <a:off x="7993117" y="2316482"/>
            <a:ext cx="19863" cy="1477263"/>
          </a:xfrm>
          <a:prstGeom prst="straightConnector1">
            <a:avLst/>
          </a:prstGeom>
          <a:noFill/>
          <a:ln w="19050" cap="flat" cmpd="sng">
            <a:solidFill>
              <a:schemeClr val="accent1"/>
            </a:solidFill>
            <a:prstDash val="dash"/>
            <a:miter lim="800000"/>
            <a:headEnd type="none" w="sm" len="sm"/>
            <a:tailEnd type="triangle" w="med" len="med"/>
          </a:ln>
        </p:spPr>
      </p:cxnSp>
      <p:sp>
        <p:nvSpPr>
          <p:cNvPr id="115" name="Google Shape;115;p2"/>
          <p:cNvSpPr txBox="1"/>
          <p:nvPr/>
        </p:nvSpPr>
        <p:spPr>
          <a:xfrm>
            <a:off x="8934873" y="2939329"/>
            <a:ext cx="315890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when query the database, the server will need to inspect every row to answer the query</a:t>
            </a:r>
            <a:endParaRPr/>
          </a:p>
        </p:txBody>
      </p:sp>
      <p:pic>
        <p:nvPicPr>
          <p:cNvPr id="116" name="Google Shape;116;p2" descr="Magnifying glass with solid fill"/>
          <p:cNvPicPr preferRelativeResize="0"/>
          <p:nvPr/>
        </p:nvPicPr>
        <p:blipFill rotWithShape="1">
          <a:blip r:embed="rId4">
            <a:alphaModFix/>
          </a:blip>
          <a:srcRect/>
          <a:stretch/>
        </p:blipFill>
        <p:spPr>
          <a:xfrm>
            <a:off x="8436853" y="2984878"/>
            <a:ext cx="498020" cy="498020"/>
          </a:xfrm>
          <a:prstGeom prst="rect">
            <a:avLst/>
          </a:prstGeom>
          <a:noFill/>
          <a:ln>
            <a:noFill/>
          </a:ln>
        </p:spPr>
      </p:pic>
      <p:pic>
        <p:nvPicPr>
          <p:cNvPr id="117" name="Google Shape;117;p2" descr="A computer code with text&#10;&#10;Description automatically generated with medium confidence"/>
          <p:cNvPicPr preferRelativeResize="0"/>
          <p:nvPr/>
        </p:nvPicPr>
        <p:blipFill rotWithShape="1">
          <a:blip r:embed="rId5">
            <a:alphaModFix/>
          </a:blip>
          <a:srcRect/>
          <a:stretch/>
        </p:blipFill>
        <p:spPr>
          <a:xfrm>
            <a:off x="8700793" y="4293147"/>
            <a:ext cx="3158909" cy="2332733"/>
          </a:xfrm>
          <a:prstGeom prst="rect">
            <a:avLst/>
          </a:prstGeom>
          <a:noFill/>
          <a:ln>
            <a:noFill/>
          </a:ln>
        </p:spPr>
      </p:pic>
      <p:sp>
        <p:nvSpPr>
          <p:cNvPr id="118" name="Google Shape;118;p2"/>
          <p:cNvSpPr txBox="1"/>
          <p:nvPr/>
        </p:nvSpPr>
        <p:spPr>
          <a:xfrm>
            <a:off x="7515234" y="4423218"/>
            <a:ext cx="1239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Arial"/>
                <a:ea typeface="Arial"/>
                <a:cs typeface="Arial"/>
                <a:sym typeface="Arial"/>
              </a:rPr>
              <a:t>Example:</a:t>
            </a:r>
            <a:endParaRPr/>
          </a:p>
        </p:txBody>
      </p:sp>
      <p:sp>
        <p:nvSpPr>
          <p:cNvPr id="119" name="Google Shape;119;p2"/>
          <p:cNvSpPr txBox="1"/>
          <p:nvPr/>
        </p:nvSpPr>
        <p:spPr>
          <a:xfrm rot="5400000">
            <a:off x="7501671" y="2894977"/>
            <a:ext cx="150025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table scan</a:t>
            </a:r>
            <a:endParaRPr/>
          </a:p>
        </p:txBody>
      </p:sp>
      <p:sp>
        <p:nvSpPr>
          <p:cNvPr id="120" name="Google Shape;120;p2"/>
          <p:cNvSpPr txBox="1"/>
          <p:nvPr/>
        </p:nvSpPr>
        <p:spPr>
          <a:xfrm>
            <a:off x="717584" y="2144773"/>
            <a:ext cx="3044715" cy="1200329"/>
          </a:xfrm>
          <a:prstGeom prst="rect">
            <a:avLst/>
          </a:prstGeom>
          <a:solidFill>
            <a:srgbClr val="FAE2D5"/>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Limitation</a:t>
            </a:r>
            <a:r>
              <a:rPr lang="en-US" sz="1800" b="1">
                <a:solidFill>
                  <a:schemeClr val="dk1"/>
                </a:solidFill>
                <a:latin typeface="Arial"/>
                <a:ea typeface="Arial"/>
                <a:cs typeface="Arial"/>
                <a:sym typeface="Arial"/>
              </a:rPr>
              <a:t>: </a:t>
            </a:r>
            <a:r>
              <a:rPr lang="en-US" sz="1800">
                <a:solidFill>
                  <a:schemeClr val="dk1"/>
                </a:solidFill>
                <a:latin typeface="Arial"/>
                <a:ea typeface="Arial"/>
                <a:cs typeface="Arial"/>
                <a:sym typeface="Arial"/>
              </a:rPr>
              <a:t>When the number of rows is large, i.e., in millions, this could be a time-consuming task</a:t>
            </a:r>
            <a:endParaRPr/>
          </a:p>
        </p:txBody>
      </p:sp>
      <p:sp>
        <p:nvSpPr>
          <p:cNvPr id="121" name="Google Shape;121;p2"/>
          <p:cNvSpPr txBox="1"/>
          <p:nvPr/>
        </p:nvSpPr>
        <p:spPr>
          <a:xfrm>
            <a:off x="4484639" y="5059834"/>
            <a:ext cx="3855436" cy="1200329"/>
          </a:xfrm>
          <a:prstGeom prst="rect">
            <a:avLst/>
          </a:prstGeom>
          <a:solidFill>
            <a:srgbClr val="D9E5F8"/>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server need to do a table scan on each rows for the content of column </a:t>
            </a:r>
            <a:r>
              <a:rPr lang="en-US" sz="1800" i="1">
                <a:solidFill>
                  <a:schemeClr val="dk1"/>
                </a:solidFill>
                <a:latin typeface="Arial"/>
                <a:ea typeface="Arial"/>
                <a:cs typeface="Arial"/>
                <a:sym typeface="Arial"/>
              </a:rPr>
              <a:t>last_name</a:t>
            </a:r>
            <a:r>
              <a:rPr lang="en-US" sz="1800">
                <a:solidFill>
                  <a:schemeClr val="dk1"/>
                </a:solidFill>
                <a:latin typeface="Arial"/>
                <a:ea typeface="Arial"/>
                <a:cs typeface="Arial"/>
                <a:sym typeface="Arial"/>
              </a:rPr>
              <a:t> if the content begins with Y and add to the result set.</a:t>
            </a:r>
            <a:endParaRPr/>
          </a:p>
        </p:txBody>
      </p:sp>
      <p:sp>
        <p:nvSpPr>
          <p:cNvPr id="122" name="Google Shape;122;p2"/>
          <p:cNvSpPr/>
          <p:nvPr/>
        </p:nvSpPr>
        <p:spPr>
          <a:xfrm rot="5400000">
            <a:off x="7965762" y="5434147"/>
            <a:ext cx="1199494" cy="450869"/>
          </a:xfrm>
          <a:prstGeom prst="triangle">
            <a:avLst>
              <a:gd name="adj" fmla="val 50000"/>
            </a:avLst>
          </a:prstGeom>
          <a:solidFill>
            <a:srgbClr val="D9E5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What is Indexes?</a:t>
            </a:r>
            <a:endParaRPr/>
          </a:p>
        </p:txBody>
      </p:sp>
      <p:sp>
        <p:nvSpPr>
          <p:cNvPr id="128" name="Google Shape;128;p3"/>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dirty="0"/>
              <a:t>A database server uses indexes to locate rows in a table.</a:t>
            </a:r>
            <a:endParaRPr dirty="0"/>
          </a:p>
          <a:p>
            <a:pPr marL="228600" lvl="0" indent="-228600" algn="l" rtl="0">
              <a:lnSpc>
                <a:spcPct val="90000"/>
              </a:lnSpc>
              <a:spcBef>
                <a:spcPts val="1000"/>
              </a:spcBef>
              <a:spcAft>
                <a:spcPts val="0"/>
              </a:spcAft>
              <a:buClr>
                <a:schemeClr val="dk1"/>
              </a:buClr>
              <a:buSzPts val="2400"/>
              <a:buChar char="•"/>
            </a:pPr>
            <a:r>
              <a:rPr lang="en-US" dirty="0"/>
              <a:t>Indexes are special tables that kept in specific order according to the specific columns that can used to locate the rows in the original table. </a:t>
            </a:r>
            <a:endParaRPr dirty="0"/>
          </a:p>
          <a:p>
            <a:pPr marL="228600" lvl="0" indent="-228600" algn="l" rtl="0">
              <a:lnSpc>
                <a:spcPct val="90000"/>
              </a:lnSpc>
              <a:spcBef>
                <a:spcPts val="1000"/>
              </a:spcBef>
              <a:spcAft>
                <a:spcPts val="0"/>
              </a:spcAft>
              <a:buClr>
                <a:schemeClr val="dk1"/>
              </a:buClr>
              <a:buSzPts val="2400"/>
              <a:buChar char="•"/>
            </a:pPr>
            <a:r>
              <a:rPr lang="en-US" b="1" dirty="0"/>
              <a:t>Role of index: </a:t>
            </a:r>
            <a:r>
              <a:rPr lang="en-US" dirty="0"/>
              <a:t>to facilitate the retrieval of a subset of table’s row without need to inspect every row in table.</a:t>
            </a:r>
            <a:endParaRPr dirty="0"/>
          </a:p>
        </p:txBody>
      </p:sp>
      <p:pic>
        <p:nvPicPr>
          <p:cNvPr id="129" name="Google Shape;129;p3" descr="A diagram of a company's company&#10;&#10;Description automatically generated"/>
          <p:cNvPicPr preferRelativeResize="0"/>
          <p:nvPr/>
        </p:nvPicPr>
        <p:blipFill rotWithShape="1">
          <a:blip r:embed="rId3">
            <a:alphaModFix/>
          </a:blip>
          <a:srcRect/>
          <a:stretch/>
        </p:blipFill>
        <p:spPr>
          <a:xfrm>
            <a:off x="5281448" y="3558753"/>
            <a:ext cx="6230796" cy="2934122"/>
          </a:xfrm>
          <a:prstGeom prst="rect">
            <a:avLst/>
          </a:prstGeom>
          <a:noFill/>
          <a:ln>
            <a:noFill/>
          </a:ln>
        </p:spPr>
      </p:pic>
      <p:graphicFrame>
        <p:nvGraphicFramePr>
          <p:cNvPr id="130" name="Google Shape;130;p3"/>
          <p:cNvGraphicFramePr/>
          <p:nvPr/>
        </p:nvGraphicFramePr>
        <p:xfrm>
          <a:off x="385436" y="4070508"/>
          <a:ext cx="3855425" cy="1910600"/>
        </p:xfrm>
        <a:graphic>
          <a:graphicData uri="http://schemas.openxmlformats.org/drawingml/2006/table">
            <a:tbl>
              <a:tblPr firstRow="1" bandRow="1">
                <a:noFill/>
                <a:tableStyleId>{563E70FF-3B2D-46C4-A98C-9AE733A9FB03}</a:tableStyleId>
              </a:tblPr>
              <a:tblGrid>
                <a:gridCol w="963850">
                  <a:extLst>
                    <a:ext uri="{9D8B030D-6E8A-4147-A177-3AD203B41FA5}">
                      <a16:colId xmlns:a16="http://schemas.microsoft.com/office/drawing/2014/main" val="20000"/>
                    </a:ext>
                  </a:extLst>
                </a:gridCol>
                <a:gridCol w="963850">
                  <a:extLst>
                    <a:ext uri="{9D8B030D-6E8A-4147-A177-3AD203B41FA5}">
                      <a16:colId xmlns:a16="http://schemas.microsoft.com/office/drawing/2014/main" val="20001"/>
                    </a:ext>
                  </a:extLst>
                </a:gridCol>
                <a:gridCol w="666525">
                  <a:extLst>
                    <a:ext uri="{9D8B030D-6E8A-4147-A177-3AD203B41FA5}">
                      <a16:colId xmlns:a16="http://schemas.microsoft.com/office/drawing/2014/main" val="20002"/>
                    </a:ext>
                  </a:extLst>
                </a:gridCol>
                <a:gridCol w="1261200">
                  <a:extLst>
                    <a:ext uri="{9D8B030D-6E8A-4147-A177-3AD203B41FA5}">
                      <a16:colId xmlns:a16="http://schemas.microsoft.com/office/drawing/2014/main" val="20003"/>
                    </a:ext>
                  </a:extLst>
                </a:gridCol>
              </a:tblGrid>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r>
                        <a:rPr lang="en-US" sz="1600"/>
                        <a:t>last_name</a:t>
                      </a:r>
                      <a:endParaRPr/>
                    </a:p>
                  </a:txBody>
                  <a:tcPr marL="78975" marR="78975" marT="39500" marB="39500"/>
                </a:tc>
                <a:extLst>
                  <a:ext uri="{0D108BD9-81ED-4DB2-BD59-A6C34878D82A}">
                    <a16:rowId xmlns:a16="http://schemas.microsoft.com/office/drawing/2014/main" val="10000"/>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r>
                        <a:rPr lang="en-US" sz="1600"/>
                        <a:t>Fleming</a:t>
                      </a:r>
                      <a:endParaRPr/>
                    </a:p>
                  </a:txBody>
                  <a:tcPr marL="78975" marR="78975" marT="39500" marB="39500"/>
                </a:tc>
                <a:extLst>
                  <a:ext uri="{0D108BD9-81ED-4DB2-BD59-A6C34878D82A}">
                    <a16:rowId xmlns:a16="http://schemas.microsoft.com/office/drawing/2014/main" val="10001"/>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r>
                        <a:rPr lang="en-US" sz="1600"/>
                        <a:t>Barker</a:t>
                      </a:r>
                      <a:endParaRPr/>
                    </a:p>
                  </a:txBody>
                  <a:tcPr marL="78975" marR="78975" marT="39500" marB="39500"/>
                </a:tc>
                <a:extLst>
                  <a:ext uri="{0D108BD9-81ED-4DB2-BD59-A6C34878D82A}">
                    <a16:rowId xmlns:a16="http://schemas.microsoft.com/office/drawing/2014/main" val="10002"/>
                  </a:ext>
                </a:extLst>
              </a:tr>
              <a:tr h="477650">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endParaRPr sz="1600"/>
                    </a:p>
                  </a:txBody>
                  <a:tcPr marL="78975" marR="78975" marT="39500" marB="39500"/>
                </a:tc>
                <a:tc>
                  <a:txBody>
                    <a:bodyPr/>
                    <a:lstStyle/>
                    <a:p>
                      <a:pPr marL="0" marR="0" lvl="0" indent="0" algn="l" rtl="0">
                        <a:spcBef>
                          <a:spcPts val="0"/>
                        </a:spcBef>
                        <a:spcAft>
                          <a:spcPts val="0"/>
                        </a:spcAft>
                        <a:buNone/>
                      </a:pPr>
                      <a:r>
                        <a:rPr lang="en-US" sz="1600"/>
                        <a:t>Roberts</a:t>
                      </a:r>
                      <a:endParaRPr/>
                    </a:p>
                  </a:txBody>
                  <a:tcPr marL="78975" marR="78975" marT="39500" marB="39500"/>
                </a:tc>
                <a:extLst>
                  <a:ext uri="{0D108BD9-81ED-4DB2-BD59-A6C34878D82A}">
                    <a16:rowId xmlns:a16="http://schemas.microsoft.com/office/drawing/2014/main" val="10003"/>
                  </a:ext>
                </a:extLst>
              </a:tr>
            </a:tbl>
          </a:graphicData>
        </a:graphic>
      </p:graphicFrame>
      <p:sp>
        <p:nvSpPr>
          <p:cNvPr id="131" name="Google Shape;131;p3"/>
          <p:cNvSpPr/>
          <p:nvPr/>
        </p:nvSpPr>
        <p:spPr>
          <a:xfrm rot="10800000">
            <a:off x="4414319" y="4735845"/>
            <a:ext cx="693682" cy="579938"/>
          </a:xfrm>
          <a:prstGeom prst="rightArrow">
            <a:avLst>
              <a:gd name="adj1" fmla="val 50000"/>
              <a:gd name="adj2" fmla="val 50000"/>
            </a:avLst>
          </a:prstGeom>
          <a:solidFill>
            <a:srgbClr val="D9E5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3"/>
          <p:cNvSpPr txBox="1"/>
          <p:nvPr/>
        </p:nvSpPr>
        <p:spPr>
          <a:xfrm>
            <a:off x="6572864" y="3189421"/>
            <a:ext cx="36479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Index to help faster locate of rows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Index Creation</a:t>
            </a:r>
            <a:endParaRPr/>
          </a:p>
        </p:txBody>
      </p:sp>
      <p:sp>
        <p:nvSpPr>
          <p:cNvPr id="138" name="Google Shape;138;p4"/>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a:t>Indexes can be created during the creation of table, or post creation of table (through </a:t>
            </a:r>
            <a:r>
              <a:rPr lang="en-US">
                <a:solidFill>
                  <a:srgbClr val="8F0100"/>
                </a:solidFill>
                <a:latin typeface="Arial"/>
                <a:ea typeface="Arial"/>
                <a:cs typeface="Arial"/>
                <a:sym typeface="Arial"/>
              </a:rPr>
              <a:t>alter table</a:t>
            </a:r>
            <a:r>
              <a:rPr lang="en-US"/>
              <a:t>)</a:t>
            </a:r>
            <a:endParaRPr/>
          </a:p>
        </p:txBody>
      </p:sp>
      <p:sp>
        <p:nvSpPr>
          <p:cNvPr id="139" name="Google Shape;139;p4"/>
          <p:cNvSpPr txBox="1"/>
          <p:nvPr/>
        </p:nvSpPr>
        <p:spPr>
          <a:xfrm>
            <a:off x="4650828" y="2583863"/>
            <a:ext cx="408958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ALTER TABLE </a:t>
            </a:r>
            <a:r>
              <a:rPr lang="en-US" sz="1800">
                <a:solidFill>
                  <a:srgbClr val="8F0100"/>
                </a:solidFill>
                <a:latin typeface="Arial"/>
                <a:ea typeface="Arial"/>
                <a:cs typeface="Arial"/>
                <a:sym typeface="Arial"/>
              </a:rPr>
              <a:t>customer</a:t>
            </a:r>
            <a:endParaRPr sz="1800" b="1">
              <a:solidFill>
                <a:srgbClr val="8F0100"/>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ADD INDEX </a:t>
            </a:r>
            <a:r>
              <a:rPr lang="en-US" sz="1800">
                <a:solidFill>
                  <a:srgbClr val="8F0100"/>
                </a:solidFill>
                <a:latin typeface="Arial"/>
                <a:ea typeface="Arial"/>
                <a:cs typeface="Arial"/>
                <a:sym typeface="Arial"/>
              </a:rPr>
              <a:t>idx_email</a:t>
            </a:r>
            <a:r>
              <a:rPr lang="en-US" sz="1800" b="1">
                <a:solidFill>
                  <a:schemeClr val="dk1"/>
                </a:solidFill>
                <a:latin typeface="Arial"/>
                <a:ea typeface="Arial"/>
                <a:cs typeface="Arial"/>
                <a:sym typeface="Arial"/>
              </a:rPr>
              <a:t> </a:t>
            </a:r>
            <a:r>
              <a:rPr lang="en-US" sz="1800">
                <a:solidFill>
                  <a:schemeClr val="dk1"/>
                </a:solidFill>
                <a:latin typeface="Arial"/>
                <a:ea typeface="Arial"/>
                <a:cs typeface="Arial"/>
                <a:sym typeface="Arial"/>
              </a:rPr>
              <a:t>(</a:t>
            </a:r>
            <a:r>
              <a:rPr lang="en-US" sz="1800">
                <a:solidFill>
                  <a:srgbClr val="8F0100"/>
                </a:solidFill>
                <a:latin typeface="Arial"/>
                <a:ea typeface="Arial"/>
                <a:cs typeface="Arial"/>
                <a:sym typeface="Arial"/>
              </a:rPr>
              <a:t>email</a:t>
            </a:r>
            <a:r>
              <a:rPr lang="en-US" sz="1800">
                <a:solidFill>
                  <a:schemeClr val="dk1"/>
                </a:solidFill>
                <a:latin typeface="Arial"/>
                <a:ea typeface="Arial"/>
                <a:cs typeface="Arial"/>
                <a:sym typeface="Arial"/>
              </a:rPr>
              <a:t>);</a:t>
            </a:r>
            <a:endParaRPr/>
          </a:p>
        </p:txBody>
      </p:sp>
      <p:sp>
        <p:nvSpPr>
          <p:cNvPr id="140" name="Google Shape;140;p4"/>
          <p:cNvSpPr txBox="1"/>
          <p:nvPr/>
        </p:nvSpPr>
        <p:spPr>
          <a:xfrm>
            <a:off x="5280334" y="2112931"/>
            <a:ext cx="12100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B0F0"/>
                </a:solidFill>
                <a:latin typeface="Arial"/>
                <a:ea typeface="Arial"/>
                <a:cs typeface="Arial"/>
                <a:sym typeface="Arial"/>
              </a:rPr>
              <a:t>&lt;table&gt;</a:t>
            </a:r>
            <a:endParaRPr/>
          </a:p>
        </p:txBody>
      </p:sp>
      <p:sp>
        <p:nvSpPr>
          <p:cNvPr id="141" name="Google Shape;141;p4"/>
          <p:cNvSpPr txBox="1"/>
          <p:nvPr/>
        </p:nvSpPr>
        <p:spPr>
          <a:xfrm>
            <a:off x="4650828" y="3333829"/>
            <a:ext cx="18800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B0F0"/>
                </a:solidFill>
                <a:latin typeface="Arial"/>
                <a:ea typeface="Arial"/>
                <a:cs typeface="Arial"/>
                <a:sym typeface="Arial"/>
              </a:rPr>
              <a:t>&lt;index_name&gt;</a:t>
            </a:r>
            <a:endParaRPr sz="1800">
              <a:solidFill>
                <a:schemeClr val="dk1"/>
              </a:solidFill>
              <a:latin typeface="Arial"/>
              <a:ea typeface="Arial"/>
              <a:cs typeface="Arial"/>
              <a:sym typeface="Arial"/>
            </a:endParaRPr>
          </a:p>
        </p:txBody>
      </p:sp>
      <p:sp>
        <p:nvSpPr>
          <p:cNvPr id="142" name="Google Shape;142;p4"/>
          <p:cNvSpPr txBox="1"/>
          <p:nvPr/>
        </p:nvSpPr>
        <p:spPr>
          <a:xfrm>
            <a:off x="8329848" y="2297597"/>
            <a:ext cx="272349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B0F0"/>
                </a:solidFill>
                <a:latin typeface="Arial"/>
                <a:ea typeface="Arial"/>
                <a:cs typeface="Arial"/>
                <a:sym typeface="Arial"/>
              </a:rPr>
              <a:t>&lt;column for index&gt;</a:t>
            </a:r>
            <a:endParaRPr sz="1800">
              <a:solidFill>
                <a:schemeClr val="dk1"/>
              </a:solidFill>
              <a:latin typeface="Arial"/>
              <a:ea typeface="Arial"/>
              <a:cs typeface="Arial"/>
              <a:sym typeface="Arial"/>
            </a:endParaRPr>
          </a:p>
        </p:txBody>
      </p:sp>
      <p:cxnSp>
        <p:nvCxnSpPr>
          <p:cNvPr id="143" name="Google Shape;143;p4"/>
          <p:cNvCxnSpPr>
            <a:stCxn id="140" idx="3"/>
            <a:endCxn id="139" idx="0"/>
          </p:cNvCxnSpPr>
          <p:nvPr/>
        </p:nvCxnSpPr>
        <p:spPr>
          <a:xfrm>
            <a:off x="6490338" y="2297597"/>
            <a:ext cx="205200" cy="286200"/>
          </a:xfrm>
          <a:prstGeom prst="curvedConnector2">
            <a:avLst/>
          </a:prstGeom>
          <a:noFill/>
          <a:ln w="19050" cap="flat" cmpd="sng">
            <a:solidFill>
              <a:schemeClr val="accent1"/>
            </a:solidFill>
            <a:prstDash val="solid"/>
            <a:miter lim="800000"/>
            <a:headEnd type="none" w="sm" len="sm"/>
            <a:tailEnd type="triangle" w="med" len="med"/>
          </a:ln>
        </p:spPr>
      </p:cxnSp>
      <p:cxnSp>
        <p:nvCxnSpPr>
          <p:cNvPr id="144" name="Google Shape;144;p4"/>
          <p:cNvCxnSpPr>
            <a:stCxn id="141" idx="3"/>
            <a:endCxn id="139" idx="2"/>
          </p:cNvCxnSpPr>
          <p:nvPr/>
        </p:nvCxnSpPr>
        <p:spPr>
          <a:xfrm rot="10800000" flipH="1">
            <a:off x="6530865" y="3230195"/>
            <a:ext cx="164700" cy="288300"/>
          </a:xfrm>
          <a:prstGeom prst="curvedConnector2">
            <a:avLst/>
          </a:prstGeom>
          <a:noFill/>
          <a:ln w="19050" cap="flat" cmpd="sng">
            <a:solidFill>
              <a:schemeClr val="accent1"/>
            </a:solidFill>
            <a:prstDash val="solid"/>
            <a:miter lim="800000"/>
            <a:headEnd type="none" w="sm" len="sm"/>
            <a:tailEnd type="triangle" w="med" len="med"/>
          </a:ln>
        </p:spPr>
      </p:cxnSp>
      <p:cxnSp>
        <p:nvCxnSpPr>
          <p:cNvPr id="145" name="Google Shape;145;p4"/>
          <p:cNvCxnSpPr>
            <a:stCxn id="142" idx="2"/>
            <a:endCxn id="139" idx="3"/>
          </p:cNvCxnSpPr>
          <p:nvPr/>
        </p:nvCxnSpPr>
        <p:spPr>
          <a:xfrm rot="5400000">
            <a:off x="9095945" y="2311279"/>
            <a:ext cx="240000" cy="951300"/>
          </a:xfrm>
          <a:prstGeom prst="curvedConnector2">
            <a:avLst/>
          </a:prstGeom>
          <a:noFill/>
          <a:ln w="19050" cap="flat" cmpd="sng">
            <a:solidFill>
              <a:schemeClr val="accent1"/>
            </a:solidFill>
            <a:prstDash val="solid"/>
            <a:miter lim="800000"/>
            <a:headEnd type="none" w="sm" len="sm"/>
            <a:tailEnd type="triangle" w="med" len="med"/>
          </a:ln>
        </p:spPr>
      </p:cxnSp>
      <p:sp>
        <p:nvSpPr>
          <p:cNvPr id="146" name="Google Shape;146;p4"/>
          <p:cNvSpPr txBox="1"/>
          <p:nvPr/>
        </p:nvSpPr>
        <p:spPr>
          <a:xfrm>
            <a:off x="4624952" y="3875797"/>
            <a:ext cx="598914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CREATE TABLE </a:t>
            </a:r>
            <a:r>
              <a:rPr lang="en-US" sz="1800">
                <a:solidFill>
                  <a:srgbClr val="8F0100"/>
                </a:solidFill>
                <a:latin typeface="Arial"/>
                <a:ea typeface="Arial"/>
                <a:cs typeface="Arial"/>
                <a:sym typeface="Arial"/>
              </a:rPr>
              <a:t>customer</a:t>
            </a:r>
            <a:r>
              <a:rPr lang="en-US" sz="1800">
                <a:solidFill>
                  <a:schemeClr val="dk1"/>
                </a:solidFill>
                <a:latin typeface="Arial"/>
                <a:ea typeface="Arial"/>
                <a:cs typeface="Arial"/>
                <a:sym typeface="Arial"/>
              </a:rPr>
              <a:t>(</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PRIMARY KEY </a:t>
            </a:r>
            <a:r>
              <a:rPr lang="en-US" sz="1800">
                <a:solidFill>
                  <a:schemeClr val="dk1"/>
                </a:solidFill>
                <a:latin typeface="Arial"/>
                <a:ea typeface="Arial"/>
                <a:cs typeface="Arial"/>
                <a:sym typeface="Arial"/>
              </a:rPr>
              <a:t>(customer_id),</a:t>
            </a: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KEY </a:t>
            </a:r>
            <a:r>
              <a:rPr lang="en-US" sz="1800">
                <a:solidFill>
                  <a:schemeClr val="dk1"/>
                </a:solidFill>
                <a:latin typeface="Arial"/>
                <a:ea typeface="Arial"/>
                <a:cs typeface="Arial"/>
                <a:sym typeface="Arial"/>
              </a:rPr>
              <a:t>idx_fk_store_id (store_id),</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KEY </a:t>
            </a:r>
            <a:r>
              <a:rPr lang="en-US" sz="1800">
                <a:solidFill>
                  <a:schemeClr val="dk1"/>
                </a:solidFill>
                <a:latin typeface="Arial"/>
                <a:ea typeface="Arial"/>
                <a:cs typeface="Arial"/>
                <a:sym typeface="Arial"/>
              </a:rPr>
              <a:t>id_fk_address_id (address_id),</a:t>
            </a:r>
            <a:r>
              <a:rPr lang="en-US" sz="1800" b="1">
                <a:solidFill>
                  <a:schemeClr val="dk1"/>
                </a:solidFill>
                <a:latin typeface="Arial"/>
                <a:ea typeface="Arial"/>
                <a:cs typeface="Arial"/>
                <a:sym typeface="Arial"/>
              </a:rPr>
              <a:t> </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KEY </a:t>
            </a:r>
            <a:r>
              <a:rPr lang="en-US" sz="1800">
                <a:solidFill>
                  <a:schemeClr val="dk1"/>
                </a:solidFill>
                <a:latin typeface="Arial"/>
                <a:ea typeface="Arial"/>
                <a:cs typeface="Arial"/>
                <a:sym typeface="Arial"/>
              </a:rPr>
              <a:t>idx_last_name (last_name)</a:t>
            </a: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a:t>
            </a:r>
            <a:endParaRPr/>
          </a:p>
        </p:txBody>
      </p:sp>
      <p:sp>
        <p:nvSpPr>
          <p:cNvPr id="147" name="Google Shape;147;p4"/>
          <p:cNvSpPr txBox="1"/>
          <p:nvPr/>
        </p:nvSpPr>
        <p:spPr>
          <a:xfrm>
            <a:off x="3103451" y="4609313"/>
            <a:ext cx="2048403"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B0F0"/>
                </a:solidFill>
                <a:latin typeface="Arial"/>
                <a:ea typeface="Arial"/>
                <a:cs typeface="Arial"/>
                <a:sym typeface="Arial"/>
              </a:rPr>
              <a:t>primary key will generate one index named primary</a:t>
            </a:r>
            <a:endParaRPr/>
          </a:p>
        </p:txBody>
      </p:sp>
      <p:cxnSp>
        <p:nvCxnSpPr>
          <p:cNvPr id="148" name="Google Shape;148;p4"/>
          <p:cNvCxnSpPr>
            <a:stCxn id="147" idx="3"/>
          </p:cNvCxnSpPr>
          <p:nvPr/>
        </p:nvCxnSpPr>
        <p:spPr>
          <a:xfrm rot="10800000" flipH="1">
            <a:off x="5151854" y="4912178"/>
            <a:ext cx="325500" cy="297300"/>
          </a:xfrm>
          <a:prstGeom prst="curvedConnector3">
            <a:avLst>
              <a:gd name="adj1" fmla="val 50016"/>
            </a:avLst>
          </a:prstGeom>
          <a:noFill/>
          <a:ln w="19050" cap="flat" cmpd="sng">
            <a:solidFill>
              <a:schemeClr val="accent1"/>
            </a:solidFill>
            <a:prstDash val="solid"/>
            <a:miter lim="800000"/>
            <a:headEnd type="none" w="sm" len="sm"/>
            <a:tailEnd type="triangle" w="med" len="med"/>
          </a:ln>
        </p:spPr>
      </p:cxnSp>
      <p:sp>
        <p:nvSpPr>
          <p:cNvPr id="149" name="Google Shape;149;p4"/>
          <p:cNvSpPr txBox="1"/>
          <p:nvPr/>
        </p:nvSpPr>
        <p:spPr>
          <a:xfrm>
            <a:off x="9791161" y="3875797"/>
            <a:ext cx="252436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B0F0"/>
                </a:solidFill>
                <a:latin typeface="Arial"/>
                <a:ea typeface="Arial"/>
                <a:cs typeface="Arial"/>
                <a:sym typeface="Arial"/>
              </a:rPr>
              <a:t>define other indexes using </a:t>
            </a:r>
            <a:r>
              <a:rPr lang="en-US" sz="1800" b="1">
                <a:solidFill>
                  <a:srgbClr val="00B0F0"/>
                </a:solidFill>
                <a:latin typeface="Arial"/>
                <a:ea typeface="Arial"/>
                <a:cs typeface="Arial"/>
                <a:sym typeface="Arial"/>
              </a:rPr>
              <a:t>KEY</a:t>
            </a:r>
            <a:r>
              <a:rPr lang="en-US" sz="1800">
                <a:solidFill>
                  <a:srgbClr val="00B0F0"/>
                </a:solidFill>
                <a:latin typeface="Arial"/>
                <a:ea typeface="Arial"/>
                <a:cs typeface="Arial"/>
                <a:sym typeface="Arial"/>
              </a:rPr>
              <a:t> keyword</a:t>
            </a:r>
            <a:endParaRPr/>
          </a:p>
        </p:txBody>
      </p:sp>
      <p:cxnSp>
        <p:nvCxnSpPr>
          <p:cNvPr id="150" name="Google Shape;150;p4"/>
          <p:cNvCxnSpPr>
            <a:stCxn id="149" idx="2"/>
            <a:endCxn id="146" idx="3"/>
          </p:cNvCxnSpPr>
          <p:nvPr/>
        </p:nvCxnSpPr>
        <p:spPr>
          <a:xfrm rot="5400000">
            <a:off x="10718391" y="4694877"/>
            <a:ext cx="230700" cy="439200"/>
          </a:xfrm>
          <a:prstGeom prst="curvedConnector2">
            <a:avLst/>
          </a:prstGeom>
          <a:noFill/>
          <a:ln w="19050" cap="flat" cmpd="sng">
            <a:solidFill>
              <a:schemeClr val="accent1"/>
            </a:solidFill>
            <a:prstDash val="solid"/>
            <a:miter lim="800000"/>
            <a:headEnd type="none" w="sm" len="sm"/>
            <a:tailEnd type="triangle" w="med" len="med"/>
          </a:ln>
        </p:spPr>
      </p:cxnSp>
      <p:sp>
        <p:nvSpPr>
          <p:cNvPr id="151" name="Google Shape;151;p4"/>
          <p:cNvSpPr/>
          <p:nvPr/>
        </p:nvSpPr>
        <p:spPr>
          <a:xfrm>
            <a:off x="528704" y="2536919"/>
            <a:ext cx="2223665" cy="892081"/>
          </a:xfrm>
          <a:prstGeom prst="roundRect">
            <a:avLst>
              <a:gd name="adj" fmla="val 16667"/>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Adding index in existing table</a:t>
            </a:r>
            <a:endParaRPr/>
          </a:p>
        </p:txBody>
      </p:sp>
      <p:sp>
        <p:nvSpPr>
          <p:cNvPr id="152" name="Google Shape;152;p4"/>
          <p:cNvSpPr/>
          <p:nvPr/>
        </p:nvSpPr>
        <p:spPr>
          <a:xfrm>
            <a:off x="528704" y="3875797"/>
            <a:ext cx="2223665" cy="892081"/>
          </a:xfrm>
          <a:prstGeom prst="roundRect">
            <a:avLst>
              <a:gd name="adj" fmla="val 16667"/>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Define index during table creation</a:t>
            </a:r>
            <a:endParaRPr/>
          </a:p>
        </p:txBody>
      </p:sp>
      <p:cxnSp>
        <p:nvCxnSpPr>
          <p:cNvPr id="153" name="Google Shape;153;p4"/>
          <p:cNvCxnSpPr>
            <a:stCxn id="151" idx="3"/>
          </p:cNvCxnSpPr>
          <p:nvPr/>
        </p:nvCxnSpPr>
        <p:spPr>
          <a:xfrm>
            <a:off x="2752369" y="2982960"/>
            <a:ext cx="1507200" cy="0"/>
          </a:xfrm>
          <a:prstGeom prst="straightConnector1">
            <a:avLst/>
          </a:prstGeom>
          <a:noFill/>
          <a:ln w="19050" cap="flat" cmpd="sng">
            <a:solidFill>
              <a:schemeClr val="accent1"/>
            </a:solidFill>
            <a:prstDash val="solid"/>
            <a:miter lim="800000"/>
            <a:headEnd type="none" w="sm" len="sm"/>
            <a:tailEnd type="triangle" w="med" len="med"/>
          </a:ln>
        </p:spPr>
      </p:cxnSp>
      <p:cxnSp>
        <p:nvCxnSpPr>
          <p:cNvPr id="154" name="Google Shape;154;p4"/>
          <p:cNvCxnSpPr>
            <a:stCxn id="152" idx="3"/>
          </p:cNvCxnSpPr>
          <p:nvPr/>
        </p:nvCxnSpPr>
        <p:spPr>
          <a:xfrm>
            <a:off x="2752369" y="4321838"/>
            <a:ext cx="1646100" cy="0"/>
          </a:xfrm>
          <a:prstGeom prst="straightConnector1">
            <a:avLst/>
          </a:prstGeom>
          <a:noFill/>
          <a:ln w="19050" cap="flat" cmpd="sng">
            <a:solidFill>
              <a:schemeClr val="accent1"/>
            </a:solidFill>
            <a:prstDash val="solid"/>
            <a:miter lim="800000"/>
            <a:headEnd type="none" w="sm" len="sm"/>
            <a:tailEnd type="triangle" w="med" len="med"/>
          </a:ln>
        </p:spPr>
      </p:cxnSp>
      <p:sp>
        <p:nvSpPr>
          <p:cNvPr id="155" name="Google Shape;155;p4"/>
          <p:cNvSpPr txBox="1"/>
          <p:nvPr/>
        </p:nvSpPr>
        <p:spPr>
          <a:xfrm>
            <a:off x="4398579" y="498947"/>
            <a:ext cx="7444794" cy="646331"/>
          </a:xfrm>
          <a:prstGeom prst="rect">
            <a:avLst/>
          </a:prstGeom>
          <a:solidFill>
            <a:srgbClr val="FAE2D5"/>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NOTE: </a:t>
            </a:r>
            <a:r>
              <a:rPr lang="en-US" sz="1800">
                <a:solidFill>
                  <a:schemeClr val="dk1"/>
                </a:solidFill>
                <a:latin typeface="Arial"/>
                <a:ea typeface="Arial"/>
                <a:cs typeface="Arial"/>
                <a:sym typeface="Arial"/>
              </a:rPr>
              <a:t>To check for existing index in a table can use following command: </a:t>
            </a:r>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		SHOW INDEX FROM </a:t>
            </a:r>
            <a:r>
              <a:rPr lang="en-US" sz="1800">
                <a:solidFill>
                  <a:srgbClr val="00B0F0"/>
                </a:solidFill>
                <a:latin typeface="Arial"/>
                <a:ea typeface="Arial"/>
                <a:cs typeface="Arial"/>
                <a:sym typeface="Arial"/>
              </a:rPr>
              <a:t>&lt;table&gt;</a:t>
            </a:r>
            <a:endParaRPr/>
          </a:p>
        </p:txBody>
      </p:sp>
      <p:sp>
        <p:nvSpPr>
          <p:cNvPr id="156" name="Google Shape;156;p4"/>
          <p:cNvSpPr txBox="1"/>
          <p:nvPr/>
        </p:nvSpPr>
        <p:spPr>
          <a:xfrm>
            <a:off x="212610" y="6311883"/>
            <a:ext cx="11345451" cy="369332"/>
          </a:xfrm>
          <a:prstGeom prst="rect">
            <a:avLst/>
          </a:prstGeom>
          <a:solidFill>
            <a:srgbClr val="FAE2D5"/>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NOTE: </a:t>
            </a:r>
            <a:r>
              <a:rPr lang="en-US" sz="1800">
                <a:solidFill>
                  <a:schemeClr val="dk1"/>
                </a:solidFill>
                <a:latin typeface="Arial"/>
                <a:ea typeface="Arial"/>
                <a:cs typeface="Arial"/>
                <a:sym typeface="Arial"/>
              </a:rPr>
              <a:t>To drop existing index in a table in MySQL:  </a:t>
            </a:r>
            <a:r>
              <a:rPr lang="en-US" sz="1800" b="1">
                <a:solidFill>
                  <a:schemeClr val="dk1"/>
                </a:solidFill>
                <a:latin typeface="Arial"/>
                <a:ea typeface="Arial"/>
                <a:cs typeface="Arial"/>
                <a:sym typeface="Arial"/>
              </a:rPr>
              <a:t>ALTER TABLE </a:t>
            </a:r>
            <a:r>
              <a:rPr lang="en-US" sz="1800">
                <a:solidFill>
                  <a:srgbClr val="00B0F0"/>
                </a:solidFill>
                <a:latin typeface="Arial"/>
                <a:ea typeface="Arial"/>
                <a:cs typeface="Arial"/>
                <a:sym typeface="Arial"/>
              </a:rPr>
              <a:t>&lt;table&gt; </a:t>
            </a:r>
            <a:r>
              <a:rPr lang="en-US" sz="1800" b="1">
                <a:solidFill>
                  <a:schemeClr val="dk1"/>
                </a:solidFill>
                <a:latin typeface="Arial"/>
                <a:ea typeface="Arial"/>
                <a:cs typeface="Arial"/>
                <a:sym typeface="Arial"/>
              </a:rPr>
              <a:t>DROP INDEX </a:t>
            </a:r>
            <a:r>
              <a:rPr lang="en-US" sz="1800">
                <a:solidFill>
                  <a:srgbClr val="00B0F0"/>
                </a:solidFill>
                <a:latin typeface="Arial"/>
                <a:ea typeface="Arial"/>
                <a:cs typeface="Arial"/>
                <a:sym typeface="Arial"/>
              </a:rPr>
              <a:t>&lt;index name&gt;</a:t>
            </a:r>
            <a:r>
              <a:rPr lang="en-US" sz="1800" b="1">
                <a:solidFill>
                  <a:schemeClr val="dk1"/>
                </a:solidFill>
                <a:latin typeface="Arial"/>
                <a:ea typeface="Arial"/>
                <a:cs typeface="Arial"/>
                <a:sym typeface="Arial"/>
              </a:rPr>
              <a:t> </a:t>
            </a:r>
            <a:endParaRPr sz="1800">
              <a:solidFill>
                <a:srgbClr val="00B0F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5" descr="A close up of text&#10;&#10;Description automatically generated"/>
          <p:cNvPicPr preferRelativeResize="0"/>
          <p:nvPr/>
        </p:nvPicPr>
        <p:blipFill rotWithShape="1">
          <a:blip r:embed="rId3">
            <a:alphaModFix/>
          </a:blip>
          <a:srcRect/>
          <a:stretch/>
        </p:blipFill>
        <p:spPr>
          <a:xfrm>
            <a:off x="480848" y="4565562"/>
            <a:ext cx="4419600" cy="1257300"/>
          </a:xfrm>
          <a:prstGeom prst="rect">
            <a:avLst/>
          </a:prstGeom>
          <a:noFill/>
          <a:ln>
            <a:noFill/>
          </a:ln>
        </p:spPr>
      </p:pic>
      <p:sp>
        <p:nvSpPr>
          <p:cNvPr id="162" name="Google Shape;162;p5"/>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Unique indexes</a:t>
            </a:r>
            <a:endParaRPr/>
          </a:p>
        </p:txBody>
      </p:sp>
      <p:pic>
        <p:nvPicPr>
          <p:cNvPr id="163" name="Google Shape;163;p5" descr="A white text on a white background&#10;&#10;Description automatically generated"/>
          <p:cNvPicPr preferRelativeResize="0"/>
          <p:nvPr/>
        </p:nvPicPr>
        <p:blipFill rotWithShape="1">
          <a:blip r:embed="rId4">
            <a:alphaModFix/>
          </a:blip>
          <a:srcRect/>
          <a:stretch/>
        </p:blipFill>
        <p:spPr>
          <a:xfrm>
            <a:off x="696310" y="1813691"/>
            <a:ext cx="6311900" cy="3009900"/>
          </a:xfrm>
          <a:prstGeom prst="rect">
            <a:avLst/>
          </a:prstGeom>
          <a:noFill/>
          <a:ln>
            <a:noFill/>
          </a:ln>
        </p:spPr>
      </p:pic>
      <p:sp>
        <p:nvSpPr>
          <p:cNvPr id="164" name="Google Shape;164;p5"/>
          <p:cNvSpPr/>
          <p:nvPr/>
        </p:nvSpPr>
        <p:spPr>
          <a:xfrm>
            <a:off x="977462" y="3168869"/>
            <a:ext cx="3531476" cy="283779"/>
          </a:xfrm>
          <a:prstGeom prst="roundRect">
            <a:avLst>
              <a:gd name="adj" fmla="val 16667"/>
            </a:avLst>
          </a:prstGeom>
          <a:noFill/>
          <a:ln w="28575" cap="flat" cmpd="sng">
            <a:solidFill>
              <a:srgbClr val="8F01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5"/>
          <p:cNvSpPr txBox="1"/>
          <p:nvPr/>
        </p:nvSpPr>
        <p:spPr>
          <a:xfrm>
            <a:off x="5060734" y="2995475"/>
            <a:ext cx="262233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B0F0"/>
                </a:solidFill>
                <a:latin typeface="Arial"/>
                <a:ea typeface="Arial"/>
                <a:cs typeface="Arial"/>
                <a:sym typeface="Arial"/>
              </a:rPr>
              <a:t>Does not have any UNIQUE constraints</a:t>
            </a:r>
            <a:endParaRPr/>
          </a:p>
        </p:txBody>
      </p:sp>
      <p:cxnSp>
        <p:nvCxnSpPr>
          <p:cNvPr id="166" name="Google Shape;166;p5"/>
          <p:cNvCxnSpPr>
            <a:stCxn id="165" idx="1"/>
          </p:cNvCxnSpPr>
          <p:nvPr/>
        </p:nvCxnSpPr>
        <p:spPr>
          <a:xfrm flipH="1">
            <a:off x="4509034" y="3318641"/>
            <a:ext cx="551700" cy="600"/>
          </a:xfrm>
          <a:prstGeom prst="curvedConnector3">
            <a:avLst>
              <a:gd name="adj1" fmla="val 50009"/>
            </a:avLst>
          </a:prstGeom>
          <a:noFill/>
          <a:ln w="19050" cap="flat" cmpd="sng">
            <a:solidFill>
              <a:schemeClr val="accent1"/>
            </a:solidFill>
            <a:prstDash val="solid"/>
            <a:miter lim="800000"/>
            <a:headEnd type="none" w="sm" len="sm"/>
            <a:tailEnd type="triangle" w="med" len="med"/>
          </a:ln>
        </p:spPr>
      </p:cxnSp>
      <p:pic>
        <p:nvPicPr>
          <p:cNvPr id="167" name="Google Shape;167;p5"/>
          <p:cNvPicPr preferRelativeResize="0"/>
          <p:nvPr/>
        </p:nvPicPr>
        <p:blipFill rotWithShape="1">
          <a:blip r:embed="rId5">
            <a:alphaModFix/>
          </a:blip>
          <a:srcRect/>
          <a:stretch/>
        </p:blipFill>
        <p:spPr>
          <a:xfrm>
            <a:off x="7569200" y="1907172"/>
            <a:ext cx="4368800" cy="622300"/>
          </a:xfrm>
          <a:prstGeom prst="rect">
            <a:avLst/>
          </a:prstGeom>
          <a:noFill/>
          <a:ln w="9525" cap="flat" cmpd="sng">
            <a:solidFill>
              <a:srgbClr val="8F0100"/>
            </a:solidFill>
            <a:prstDash val="solid"/>
            <a:round/>
            <a:headEnd type="none" w="sm" len="sm"/>
            <a:tailEnd type="none" w="sm" len="sm"/>
          </a:ln>
        </p:spPr>
      </p:pic>
      <p:sp>
        <p:nvSpPr>
          <p:cNvPr id="168" name="Google Shape;168;p5"/>
          <p:cNvSpPr txBox="1"/>
          <p:nvPr/>
        </p:nvSpPr>
        <p:spPr>
          <a:xfrm>
            <a:off x="7569200" y="2799556"/>
            <a:ext cx="4254936"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8F0100"/>
                </a:solidFill>
                <a:latin typeface="Arial"/>
                <a:ea typeface="Arial"/>
                <a:cs typeface="Arial"/>
                <a:sym typeface="Arial"/>
              </a:rPr>
              <a:t>This add UNIQUE constraint and create a unique index on customer.email column.</a:t>
            </a:r>
            <a:endParaRPr/>
          </a:p>
          <a:p>
            <a:pPr marL="0" marR="0" lvl="0" indent="0" algn="l" rtl="0">
              <a:spcBef>
                <a:spcPts val="0"/>
              </a:spcBef>
              <a:spcAft>
                <a:spcPts val="0"/>
              </a:spcAft>
              <a:buNone/>
            </a:pPr>
            <a:endParaRPr sz="1800">
              <a:solidFill>
                <a:srgbClr val="8F0100"/>
              </a:solidFill>
              <a:latin typeface="Arial"/>
              <a:ea typeface="Arial"/>
              <a:cs typeface="Arial"/>
              <a:sym typeface="Arial"/>
            </a:endParaRPr>
          </a:p>
          <a:p>
            <a:pPr marL="0" marR="0" lvl="0" indent="0" algn="l" rtl="0">
              <a:spcBef>
                <a:spcPts val="0"/>
              </a:spcBef>
              <a:spcAft>
                <a:spcPts val="0"/>
              </a:spcAft>
              <a:buNone/>
            </a:pPr>
            <a:r>
              <a:rPr lang="en-US" sz="1800">
                <a:solidFill>
                  <a:srgbClr val="8F0100"/>
                </a:solidFill>
                <a:latin typeface="Arial"/>
                <a:ea typeface="Arial"/>
                <a:cs typeface="Arial"/>
                <a:sym typeface="Arial"/>
              </a:rPr>
              <a:t>serves as a mechanism for disallowing duplicate values in the indexed column. </a:t>
            </a:r>
            <a:endParaRPr/>
          </a:p>
          <a:p>
            <a:pPr marL="0" marR="0" lvl="0" indent="0" algn="l" rtl="0">
              <a:spcBef>
                <a:spcPts val="0"/>
              </a:spcBef>
              <a:spcAft>
                <a:spcPts val="0"/>
              </a:spcAft>
              <a:buNone/>
            </a:pPr>
            <a:endParaRPr sz="1800">
              <a:solidFill>
                <a:srgbClr val="8F0100"/>
              </a:solidFill>
              <a:latin typeface="Arial"/>
              <a:ea typeface="Arial"/>
              <a:cs typeface="Arial"/>
              <a:sym typeface="Arial"/>
            </a:endParaRPr>
          </a:p>
          <a:p>
            <a:pPr marL="0" marR="0" lvl="0" indent="0" algn="l" rtl="0">
              <a:spcBef>
                <a:spcPts val="0"/>
              </a:spcBef>
              <a:spcAft>
                <a:spcPts val="0"/>
              </a:spcAft>
              <a:buNone/>
            </a:pPr>
            <a:r>
              <a:rPr lang="en-US" sz="1800">
                <a:solidFill>
                  <a:srgbClr val="8F0100"/>
                </a:solidFill>
                <a:latin typeface="Arial"/>
                <a:ea typeface="Arial"/>
                <a:cs typeface="Arial"/>
                <a:sym typeface="Arial"/>
              </a:rPr>
              <a:t>Whenever a row is inserted or when the indexed column is modified, the database server checks the unique index to see whether the value already exists in another row in the table.</a:t>
            </a:r>
            <a:endParaRPr/>
          </a:p>
          <a:p>
            <a:pPr marL="0" marR="0" lvl="0" indent="0" algn="l" rtl="0">
              <a:spcBef>
                <a:spcPts val="0"/>
              </a:spcBef>
              <a:spcAft>
                <a:spcPts val="0"/>
              </a:spcAft>
              <a:buNone/>
            </a:pPr>
            <a:endParaRPr sz="1800">
              <a:solidFill>
                <a:srgbClr val="8F01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6"/>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Multicolumn indexes</a:t>
            </a:r>
            <a:endParaRPr/>
          </a:p>
        </p:txBody>
      </p:sp>
      <p:sp>
        <p:nvSpPr>
          <p:cNvPr id="174" name="Google Shape;174;p6"/>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dirty="0"/>
              <a:t>You may also build indexes that span multiple columns. If, for example, you find yourself searching for customers by first and last names, you can build an index on both columns together</a:t>
            </a:r>
            <a:endParaRPr dirty="0"/>
          </a:p>
          <a:p>
            <a:pPr marL="228600" lvl="0" indent="-76200" algn="l" rtl="0">
              <a:lnSpc>
                <a:spcPct val="90000"/>
              </a:lnSpc>
              <a:spcBef>
                <a:spcPts val="1000"/>
              </a:spcBef>
              <a:spcAft>
                <a:spcPts val="0"/>
              </a:spcAft>
              <a:buClr>
                <a:schemeClr val="dk1"/>
              </a:buClr>
              <a:buSzPts val="2400"/>
              <a:buNone/>
            </a:pPr>
            <a:endParaRPr dirty="0"/>
          </a:p>
        </p:txBody>
      </p:sp>
      <p:pic>
        <p:nvPicPr>
          <p:cNvPr id="175" name="Google Shape;175;p6"/>
          <p:cNvPicPr preferRelativeResize="0"/>
          <p:nvPr/>
        </p:nvPicPr>
        <p:blipFill rotWithShape="1">
          <a:blip r:embed="rId3">
            <a:alphaModFix/>
          </a:blip>
          <a:srcRect/>
          <a:stretch/>
        </p:blipFill>
        <p:spPr>
          <a:xfrm>
            <a:off x="5412609" y="2575692"/>
            <a:ext cx="6159500" cy="571500"/>
          </a:xfrm>
          <a:prstGeom prst="rect">
            <a:avLst/>
          </a:prstGeom>
          <a:noFill/>
          <a:ln w="9525" cap="flat" cmpd="sng">
            <a:solidFill>
              <a:srgbClr val="8F0100"/>
            </a:solidFill>
            <a:prstDash val="solid"/>
            <a:round/>
            <a:headEnd type="none" w="sm" len="sm"/>
            <a:tailEnd type="none" w="sm" len="sm"/>
          </a:ln>
        </p:spPr>
      </p:pic>
      <p:graphicFrame>
        <p:nvGraphicFramePr>
          <p:cNvPr id="176" name="Google Shape;176;p6"/>
          <p:cNvGraphicFramePr/>
          <p:nvPr/>
        </p:nvGraphicFramePr>
        <p:xfrm>
          <a:off x="7662039" y="4030666"/>
          <a:ext cx="2632850" cy="1854250"/>
        </p:xfrm>
        <a:graphic>
          <a:graphicData uri="http://schemas.openxmlformats.org/drawingml/2006/table">
            <a:tbl>
              <a:tblPr firstRow="1" bandRow="1">
                <a:noFill/>
                <a:tableStyleId>{563E70FF-3B2D-46C4-A98C-9AE733A9FB03}</a:tableStyleId>
              </a:tblPr>
              <a:tblGrid>
                <a:gridCol w="1316425">
                  <a:extLst>
                    <a:ext uri="{9D8B030D-6E8A-4147-A177-3AD203B41FA5}">
                      <a16:colId xmlns:a16="http://schemas.microsoft.com/office/drawing/2014/main" val="20000"/>
                    </a:ext>
                  </a:extLst>
                </a:gridCol>
                <a:gridCol w="1316425">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t>last_name</a:t>
                      </a:r>
                      <a:endParaRPr/>
                    </a:p>
                  </a:txBody>
                  <a:tcPr marL="91450" marR="91450" marT="45725" marB="45725"/>
                </a:tc>
                <a:tc>
                  <a:txBody>
                    <a:bodyPr/>
                    <a:lstStyle/>
                    <a:p>
                      <a:pPr marL="0" marR="0" lvl="0" indent="0" algn="l" rtl="0">
                        <a:spcBef>
                          <a:spcPts val="0"/>
                        </a:spcBef>
                        <a:spcAft>
                          <a:spcPts val="0"/>
                        </a:spcAft>
                        <a:buNone/>
                      </a:pPr>
                      <a:r>
                        <a:rPr lang="en-US" sz="1800"/>
                        <a:t>first_name</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Alan</a:t>
                      </a:r>
                      <a:endParaRPr/>
                    </a:p>
                  </a:txBody>
                  <a:tcPr marL="91450" marR="91450" marT="45725" marB="45725"/>
                </a:tc>
                <a:tc>
                  <a:txBody>
                    <a:bodyPr/>
                    <a:lstStyle/>
                    <a:p>
                      <a:pPr marL="0" marR="0" lvl="0" indent="0" algn="l" rtl="0">
                        <a:spcBef>
                          <a:spcPts val="0"/>
                        </a:spcBef>
                        <a:spcAft>
                          <a:spcPts val="0"/>
                        </a:spcAft>
                        <a:buNone/>
                      </a:pPr>
                      <a:r>
                        <a:rPr lang="en-US" sz="1800"/>
                        <a:t>Brown</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Alan</a:t>
                      </a:r>
                      <a:endParaRPr/>
                    </a:p>
                  </a:txBody>
                  <a:tcPr marL="91450" marR="91450" marT="45725" marB="45725"/>
                </a:tc>
                <a:tc>
                  <a:txBody>
                    <a:bodyPr/>
                    <a:lstStyle/>
                    <a:p>
                      <a:pPr marL="0" marR="0" lvl="0" indent="0" algn="l" rtl="0">
                        <a:spcBef>
                          <a:spcPts val="0"/>
                        </a:spcBef>
                        <a:spcAft>
                          <a:spcPts val="0"/>
                        </a:spcAft>
                        <a:buNone/>
                      </a:pPr>
                      <a:r>
                        <a:rPr lang="en-US" sz="1800"/>
                        <a:t>Kahn</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a:t>
                      </a:r>
                      <a:endParaRPr/>
                    </a:p>
                  </a:txBody>
                  <a:tcPr marL="91450" marR="91450" marT="45725" marB="45725"/>
                </a:tc>
                <a:tc>
                  <a:txBody>
                    <a:bodyPr/>
                    <a:lstStyle/>
                    <a:p>
                      <a:pPr marL="0" marR="0" lvl="0" indent="0" algn="l" rtl="0">
                        <a:spcBef>
                          <a:spcPts val="0"/>
                        </a:spcBef>
                        <a:spcAft>
                          <a:spcPts val="0"/>
                        </a:spcAft>
                        <a:buNone/>
                      </a:pPr>
                      <a:r>
                        <a:rPr lang="en-US" sz="1800"/>
                        <a:t>,,,</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a:t>
                      </a:r>
                      <a:endParaRPr/>
                    </a:p>
                  </a:txBody>
                  <a:tcPr marL="91450" marR="91450" marT="45725" marB="45725"/>
                </a:tc>
                <a:tc>
                  <a:txBody>
                    <a:bodyPr/>
                    <a:lstStyle/>
                    <a:p>
                      <a:pPr marL="0" marR="0" lvl="0" indent="0" algn="l" rtl="0">
                        <a:spcBef>
                          <a:spcPts val="0"/>
                        </a:spcBef>
                        <a:spcAft>
                          <a:spcPts val="0"/>
                        </a:spcAft>
                        <a:buNone/>
                      </a:pPr>
                      <a:r>
                        <a:rPr lang="en-US" sz="1800"/>
                        <a:t>,,,</a:t>
                      </a:r>
                      <a:endParaRPr/>
                    </a:p>
                  </a:txBody>
                  <a:tcPr marL="91450" marR="91450" marT="45725" marB="45725"/>
                </a:tc>
                <a:extLst>
                  <a:ext uri="{0D108BD9-81ED-4DB2-BD59-A6C34878D82A}">
                    <a16:rowId xmlns:a16="http://schemas.microsoft.com/office/drawing/2014/main" val="10004"/>
                  </a:ext>
                </a:extLst>
              </a:tr>
            </a:tbl>
          </a:graphicData>
        </a:graphic>
      </p:graphicFrame>
      <p:sp>
        <p:nvSpPr>
          <p:cNvPr id="177" name="Google Shape;177;p6"/>
          <p:cNvSpPr/>
          <p:nvPr/>
        </p:nvSpPr>
        <p:spPr>
          <a:xfrm>
            <a:off x="8717438" y="3326974"/>
            <a:ext cx="409904" cy="463681"/>
          </a:xfrm>
          <a:prstGeom prst="down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6"/>
          <p:cNvSpPr txBox="1"/>
          <p:nvPr/>
        </p:nvSpPr>
        <p:spPr>
          <a:xfrm>
            <a:off x="8715428" y="6047642"/>
            <a:ext cx="315890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index</a:t>
            </a:r>
            <a:endParaRPr/>
          </a:p>
        </p:txBody>
      </p:sp>
      <p:sp>
        <p:nvSpPr>
          <p:cNvPr id="179" name="Google Shape;179;p6"/>
          <p:cNvSpPr txBox="1"/>
          <p:nvPr/>
        </p:nvSpPr>
        <p:spPr>
          <a:xfrm>
            <a:off x="4352918" y="4019458"/>
            <a:ext cx="3158909"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 this case, this index will be useful for queries that specify:</a:t>
            </a:r>
            <a:endParaRPr/>
          </a:p>
          <a:p>
            <a:pPr marL="0" marR="0" lvl="0" indent="0" algn="l" rtl="0">
              <a:spcBef>
                <a:spcPts val="0"/>
              </a:spcBef>
              <a:spcAft>
                <a:spcPts val="0"/>
              </a:spcAft>
              <a:buNone/>
            </a:pPr>
            <a:r>
              <a:rPr lang="en-US" sz="1800">
                <a:solidFill>
                  <a:srgbClr val="00B0F0"/>
                </a:solidFill>
                <a:latin typeface="Arial"/>
                <a:ea typeface="Arial"/>
                <a:cs typeface="Arial"/>
                <a:sym typeface="Arial"/>
              </a:rPr>
              <a:t>1. the first and last name</a:t>
            </a:r>
            <a:endParaRPr/>
          </a:p>
          <a:p>
            <a:pPr marL="0" marR="0" lvl="0" indent="0" algn="l" rtl="0">
              <a:spcBef>
                <a:spcPts val="0"/>
              </a:spcBef>
              <a:spcAft>
                <a:spcPts val="0"/>
              </a:spcAft>
              <a:buNone/>
            </a:pPr>
            <a:r>
              <a:rPr lang="en-US" sz="1800">
                <a:solidFill>
                  <a:srgbClr val="00B0F0"/>
                </a:solidFill>
                <a:latin typeface="Arial"/>
                <a:ea typeface="Arial"/>
                <a:cs typeface="Arial"/>
                <a:sym typeface="Arial"/>
              </a:rPr>
              <a:t>2. just the last name</a:t>
            </a:r>
            <a:endParaRPr/>
          </a:p>
        </p:txBody>
      </p:sp>
      <p:sp>
        <p:nvSpPr>
          <p:cNvPr id="180" name="Google Shape;180;p6"/>
          <p:cNvSpPr txBox="1"/>
          <p:nvPr/>
        </p:nvSpPr>
        <p:spPr>
          <a:xfrm>
            <a:off x="9474745" y="3499487"/>
            <a:ext cx="20973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B0F0"/>
                </a:solidFill>
                <a:latin typeface="Arial"/>
                <a:ea typeface="Arial"/>
                <a:cs typeface="Arial"/>
                <a:sym typeface="Arial"/>
              </a:rPr>
              <a:t>The order matters!!</a:t>
            </a:r>
            <a:endParaRPr/>
          </a:p>
        </p:txBody>
      </p:sp>
      <p:cxnSp>
        <p:nvCxnSpPr>
          <p:cNvPr id="181" name="Google Shape;181;p6"/>
          <p:cNvCxnSpPr>
            <a:stCxn id="180" idx="0"/>
          </p:cNvCxnSpPr>
          <p:nvPr/>
        </p:nvCxnSpPr>
        <p:spPr>
          <a:xfrm rot="5400000" flipH="1">
            <a:off x="10267227" y="3243287"/>
            <a:ext cx="283800" cy="228600"/>
          </a:xfrm>
          <a:prstGeom prst="curvedConnector3">
            <a:avLst>
              <a:gd name="adj1" fmla="val 50017"/>
            </a:avLst>
          </a:prstGeom>
          <a:noFill/>
          <a:ln w="19050" cap="flat" cmpd="sng">
            <a:solidFill>
              <a:schemeClr val="accent1"/>
            </a:solidFill>
            <a:prstDash val="solid"/>
            <a:miter lim="800000"/>
            <a:headEnd type="none" w="sm" len="sm"/>
            <a:tailEnd type="triangle" w="med" len="med"/>
          </a:ln>
        </p:spPr>
      </p:cxnSp>
      <p:sp>
        <p:nvSpPr>
          <p:cNvPr id="182" name="Google Shape;182;p6"/>
          <p:cNvSpPr txBox="1"/>
          <p:nvPr/>
        </p:nvSpPr>
        <p:spPr>
          <a:xfrm>
            <a:off x="3063325" y="5501256"/>
            <a:ext cx="4448502" cy="1077178"/>
          </a:xfrm>
          <a:prstGeom prst="rect">
            <a:avLst/>
          </a:prstGeom>
          <a:solidFill>
            <a:srgbClr val="FAE2D5"/>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rgbClr val="8F0100"/>
                </a:solidFill>
                <a:latin typeface="Arial"/>
                <a:ea typeface="Arial"/>
                <a:cs typeface="Arial"/>
                <a:sym typeface="Arial"/>
              </a:rPr>
              <a:t>Note: </a:t>
            </a:r>
            <a:r>
              <a:rPr lang="en-US" sz="1600" dirty="0">
                <a:solidFill>
                  <a:srgbClr val="000000"/>
                </a:solidFill>
                <a:latin typeface="Arial"/>
                <a:ea typeface="Arial"/>
                <a:cs typeface="Arial"/>
                <a:sym typeface="Arial"/>
              </a:rPr>
              <a:t>It would not be useful for queries that specify </a:t>
            </a:r>
            <a:r>
              <a:rPr lang="en-US" sz="1600" b="1" dirty="0">
                <a:solidFill>
                  <a:srgbClr val="8F0100"/>
                </a:solidFill>
                <a:latin typeface="Arial"/>
                <a:ea typeface="Arial"/>
                <a:cs typeface="Arial"/>
                <a:sym typeface="Arial"/>
              </a:rPr>
              <a:t>only first name</a:t>
            </a:r>
            <a:r>
              <a:rPr lang="en-US" sz="1600" dirty="0">
                <a:solidFill>
                  <a:srgbClr val="000000"/>
                </a:solidFill>
                <a:latin typeface="Arial"/>
                <a:ea typeface="Arial"/>
                <a:cs typeface="Arial"/>
                <a:sym typeface="Arial"/>
              </a:rPr>
              <a:t>. If use only first name, the server will still need to scan every entry to find matching first name.</a:t>
            </a:r>
            <a:endParaRPr sz="1600" b="1" dirty="0">
              <a:solidFill>
                <a:srgbClr val="000000"/>
              </a:solidFill>
              <a:latin typeface="Arial"/>
              <a:ea typeface="Arial"/>
              <a:cs typeface="Arial"/>
              <a:sym typeface="Arial"/>
            </a:endParaRPr>
          </a:p>
        </p:txBody>
      </p:sp>
      <p:sp>
        <p:nvSpPr>
          <p:cNvPr id="183" name="Google Shape;183;p6"/>
          <p:cNvSpPr txBox="1"/>
          <p:nvPr/>
        </p:nvSpPr>
        <p:spPr>
          <a:xfrm>
            <a:off x="144899" y="2437658"/>
            <a:ext cx="3862122" cy="2862322"/>
          </a:xfrm>
          <a:prstGeom prst="rect">
            <a:avLst/>
          </a:prstGeom>
          <a:solidFill>
            <a:srgbClr val="BEF2C7"/>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Reminder: </a:t>
            </a:r>
            <a:r>
              <a:rPr lang="en-US" sz="1800">
                <a:solidFill>
                  <a:schemeClr val="dk1"/>
                </a:solidFill>
                <a:latin typeface="Arial"/>
                <a:ea typeface="Arial"/>
                <a:cs typeface="Arial"/>
                <a:sym typeface="Arial"/>
              </a:rPr>
              <a:t>When building multiple-column indexes, therefore, you should think carefully about which column to list first, which column to list second, and so on, to help make the index as useful as possible.</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a:solidFill>
                  <a:schemeClr val="dk1"/>
                </a:solidFill>
                <a:latin typeface="Arial"/>
                <a:ea typeface="Arial"/>
                <a:cs typeface="Arial"/>
                <a:sym typeface="Arial"/>
              </a:rPr>
              <a:t>You can also make multiple indexes based on same set of columns but in different orders if needed.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7"/>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Types of Indexes</a:t>
            </a:r>
            <a:endParaRPr/>
          </a:p>
        </p:txBody>
      </p:sp>
      <p:sp>
        <p:nvSpPr>
          <p:cNvPr id="189" name="Google Shape;189;p7"/>
          <p:cNvSpPr/>
          <p:nvPr/>
        </p:nvSpPr>
        <p:spPr>
          <a:xfrm>
            <a:off x="646386" y="1481958"/>
            <a:ext cx="3373821" cy="567559"/>
          </a:xfrm>
          <a:prstGeom prst="roundRect">
            <a:avLst>
              <a:gd name="adj" fmla="val 16667"/>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B-Tree Indexes</a:t>
            </a:r>
            <a:endParaRPr/>
          </a:p>
        </p:txBody>
      </p:sp>
      <p:sp>
        <p:nvSpPr>
          <p:cNvPr id="190" name="Google Shape;190;p7"/>
          <p:cNvSpPr/>
          <p:nvPr/>
        </p:nvSpPr>
        <p:spPr>
          <a:xfrm>
            <a:off x="4252748" y="1481958"/>
            <a:ext cx="3373821" cy="567559"/>
          </a:xfrm>
          <a:prstGeom prst="roundRect">
            <a:avLst>
              <a:gd name="adj" fmla="val 16667"/>
            </a:avLst>
          </a:prstGeom>
          <a:gradFill>
            <a:gsLst>
              <a:gs pos="0">
                <a:srgbClr val="9ACEF4"/>
              </a:gs>
              <a:gs pos="50000">
                <a:srgbClr val="8DC3EA"/>
              </a:gs>
              <a:gs pos="100000">
                <a:srgbClr val="78BDED"/>
              </a:gs>
            </a:gsLst>
            <a:lin ang="5400000" scaled="0"/>
          </a:gra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Bitmap Indexes</a:t>
            </a:r>
            <a:endParaRPr/>
          </a:p>
        </p:txBody>
      </p:sp>
      <p:sp>
        <p:nvSpPr>
          <p:cNvPr id="191" name="Google Shape;191;p7"/>
          <p:cNvSpPr/>
          <p:nvPr/>
        </p:nvSpPr>
        <p:spPr>
          <a:xfrm>
            <a:off x="7859110" y="1481958"/>
            <a:ext cx="3373821" cy="567559"/>
          </a:xfrm>
          <a:prstGeom prst="roundRect">
            <a:avLst>
              <a:gd name="adj" fmla="val 16667"/>
            </a:avLst>
          </a:prstGeom>
          <a:gradFill>
            <a:gsLst>
              <a:gs pos="0">
                <a:srgbClr val="A6D49D"/>
              </a:gs>
              <a:gs pos="50000">
                <a:srgbClr val="99C991"/>
              </a:gs>
              <a:gs pos="100000">
                <a:srgbClr val="88C57C"/>
              </a:gs>
            </a:gsLst>
            <a:lin ang="5400000" scaled="0"/>
          </a:gra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Text Indexes</a:t>
            </a:r>
            <a:endParaRPr/>
          </a:p>
        </p:txBody>
      </p:sp>
      <p:sp>
        <p:nvSpPr>
          <p:cNvPr id="192" name="Google Shape;192;p7"/>
          <p:cNvSpPr/>
          <p:nvPr/>
        </p:nvSpPr>
        <p:spPr>
          <a:xfrm>
            <a:off x="646386" y="2333297"/>
            <a:ext cx="3373821" cy="4051737"/>
          </a:xfrm>
          <a:prstGeom prst="roundRect">
            <a:avLst>
              <a:gd name="adj" fmla="val 5452"/>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Known as balanced-tree indexing.</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Default index type in MySQL, Oracle and SQL Server, unless you explicitly ask for other type.</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Organized as tree structure, with multiple levels of branch nodes</a:t>
            </a:r>
            <a:endParaRPr/>
          </a:p>
        </p:txBody>
      </p:sp>
      <p:sp>
        <p:nvSpPr>
          <p:cNvPr id="193" name="Google Shape;193;p7"/>
          <p:cNvSpPr/>
          <p:nvPr/>
        </p:nvSpPr>
        <p:spPr>
          <a:xfrm>
            <a:off x="4252747" y="2333296"/>
            <a:ext cx="3373821" cy="4051737"/>
          </a:xfrm>
          <a:prstGeom prst="roundRect">
            <a:avLst>
              <a:gd name="adj" fmla="val 5452"/>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Suitable for columns that contain only small number of values across large number of rows (low-cardinality data)</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Commonly used in data warehousing environments, where large amounts of data are generally indexed on columns containing relatively few values.</a:t>
            </a:r>
            <a:endParaRPr/>
          </a:p>
        </p:txBody>
      </p:sp>
      <p:sp>
        <p:nvSpPr>
          <p:cNvPr id="194" name="Google Shape;194;p7"/>
          <p:cNvSpPr/>
          <p:nvPr/>
        </p:nvSpPr>
        <p:spPr>
          <a:xfrm>
            <a:off x="7859108" y="2333295"/>
            <a:ext cx="3373821" cy="4051737"/>
          </a:xfrm>
          <a:prstGeom prst="roundRect">
            <a:avLst>
              <a:gd name="adj" fmla="val 5452"/>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Specialized indexing and search mechanisms for documents. </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This applies only if your database stores documents.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4DCA874B-6AEC-FBD7-3C54-21765C6EFF27}"/>
            </a:ext>
          </a:extLst>
        </p:cNvPr>
        <p:cNvGrpSpPr/>
        <p:nvPr/>
      </p:nvGrpSpPr>
      <p:grpSpPr>
        <a:xfrm>
          <a:off x="0" y="0"/>
          <a:ext cx="0" cy="0"/>
          <a:chOff x="0" y="0"/>
          <a:chExt cx="0" cy="0"/>
        </a:xfrm>
      </p:grpSpPr>
      <p:sp>
        <p:nvSpPr>
          <p:cNvPr id="210" name="Google Shape;210;p9">
            <a:extLst>
              <a:ext uri="{FF2B5EF4-FFF2-40B4-BE49-F238E27FC236}">
                <a16:creationId xmlns:a16="http://schemas.microsoft.com/office/drawing/2014/main" id="{1200CACE-30EB-D4F0-7827-EAEF3CC5D7A6}"/>
              </a:ext>
            </a:extLst>
          </p:cNvPr>
          <p:cNvSpPr txBox="1">
            <a:spLocks noGrp="1"/>
          </p:cNvSpPr>
          <p:nvPr>
            <p:ph type="body" idx="1"/>
          </p:nvPr>
        </p:nvSpPr>
        <p:spPr>
          <a:xfrm>
            <a:off x="208934" y="1249025"/>
            <a:ext cx="11481619" cy="4947603"/>
          </a:xfrm>
          <a:prstGeom prst="rect">
            <a:avLst/>
          </a:prstGeom>
          <a:noFill/>
          <a:ln>
            <a:noFill/>
          </a:ln>
        </p:spPr>
        <p:txBody>
          <a:bodyPr spcFirstLastPara="1" wrap="square" lIns="91425" tIns="45700" rIns="91425" bIns="45700" anchor="t" anchorCtr="0">
            <a:normAutofit/>
          </a:bodyPr>
          <a:lstStyle/>
          <a:p>
            <a:pPr marL="495300" indent="-342900">
              <a:spcBef>
                <a:spcPts val="0"/>
              </a:spcBef>
            </a:pPr>
            <a:r>
              <a:rPr lang="en-US" sz="1800" dirty="0"/>
              <a:t>B-tree is a data structure that provides sorted data and allows searches, sequential access, attachments and removals in sorted order. </a:t>
            </a:r>
          </a:p>
          <a:p>
            <a:pPr marL="495300" indent="-342900">
              <a:spcBef>
                <a:spcPts val="0"/>
              </a:spcBef>
            </a:pPr>
            <a:endParaRPr lang="en-US" sz="1800" dirty="0"/>
          </a:p>
          <a:p>
            <a:pPr marL="495300" indent="-342900">
              <a:spcBef>
                <a:spcPts val="0"/>
              </a:spcBef>
            </a:pPr>
            <a:r>
              <a:rPr lang="en-US" sz="1800" dirty="0"/>
              <a:t>B-tree is highly capable of storing systems that write large blocks of data.</a:t>
            </a:r>
          </a:p>
          <a:p>
            <a:pPr marL="495300" indent="-342900">
              <a:spcBef>
                <a:spcPts val="0"/>
              </a:spcBef>
            </a:pPr>
            <a:endParaRPr lang="en-US" sz="1800" dirty="0"/>
          </a:p>
          <a:p>
            <a:pPr marL="495300" indent="-342900">
              <a:spcBef>
                <a:spcPts val="0"/>
              </a:spcBef>
            </a:pPr>
            <a:r>
              <a:rPr lang="en-US" sz="1800" dirty="0"/>
              <a:t>B-tree simplifies the binary search tree by allowing nodes with more than two children. Below is a B-tree example.</a:t>
            </a:r>
            <a:endParaRPr sz="1800" dirty="0"/>
          </a:p>
        </p:txBody>
      </p:sp>
      <p:sp>
        <p:nvSpPr>
          <p:cNvPr id="4" name="Google Shape;199;p8">
            <a:extLst>
              <a:ext uri="{FF2B5EF4-FFF2-40B4-BE49-F238E27FC236}">
                <a16:creationId xmlns:a16="http://schemas.microsoft.com/office/drawing/2014/main" id="{DFBA7473-4395-F977-FA44-8741F42A16B2}"/>
              </a:ext>
            </a:extLst>
          </p:cNvPr>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B-tree index</a:t>
            </a:r>
            <a:endParaRPr dirty="0"/>
          </a:p>
        </p:txBody>
      </p:sp>
      <p:pic>
        <p:nvPicPr>
          <p:cNvPr id="1026" name="Picture 2" descr="Illustration of a b-tree">
            <a:extLst>
              <a:ext uri="{FF2B5EF4-FFF2-40B4-BE49-F238E27FC236}">
                <a16:creationId xmlns:a16="http://schemas.microsoft.com/office/drawing/2014/main" id="{36A5950F-411C-8001-3650-BC0F6C453A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 y="3429000"/>
            <a:ext cx="6486525" cy="2295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C11E466-D0BA-03E1-F19D-10543C7B43BA}"/>
              </a:ext>
            </a:extLst>
          </p:cNvPr>
          <p:cNvSpPr txBox="1"/>
          <p:nvPr/>
        </p:nvSpPr>
        <p:spPr>
          <a:xfrm>
            <a:off x="7085312" y="3429000"/>
            <a:ext cx="4897754" cy="3046988"/>
          </a:xfrm>
          <a:prstGeom prst="rect">
            <a:avLst/>
          </a:prstGeom>
          <a:noFill/>
        </p:spPr>
        <p:txBody>
          <a:bodyPr wrap="square">
            <a:spAutoFit/>
          </a:bodyPr>
          <a:lstStyle/>
          <a:p>
            <a:r>
              <a:rPr lang="en-US" sz="1600" dirty="0">
                <a:solidFill>
                  <a:schemeClr val="tx1"/>
                </a:solidFill>
                <a:latin typeface="+mn-lt"/>
              </a:rPr>
              <a:t>S</a:t>
            </a:r>
            <a:r>
              <a:rPr lang="en-US" sz="1600" b="0" i="0" dirty="0">
                <a:solidFill>
                  <a:schemeClr val="tx1"/>
                </a:solidFill>
                <a:effectLst/>
                <a:latin typeface="+mn-lt"/>
              </a:rPr>
              <a:t>tores data such that each node contains keys in ascending order. </a:t>
            </a:r>
          </a:p>
          <a:p>
            <a:endParaRPr lang="en-US" sz="1600" b="0" i="0" dirty="0">
              <a:solidFill>
                <a:schemeClr val="tx1"/>
              </a:solidFill>
              <a:effectLst/>
              <a:latin typeface="+mn-lt"/>
            </a:endParaRPr>
          </a:p>
          <a:p>
            <a:r>
              <a:rPr lang="en-US" sz="1600" b="0" i="0" dirty="0">
                <a:solidFill>
                  <a:schemeClr val="tx1"/>
                </a:solidFill>
                <a:effectLst/>
                <a:latin typeface="+mn-lt"/>
              </a:rPr>
              <a:t>Each of these keys has two references to another two child nodes. </a:t>
            </a:r>
          </a:p>
          <a:p>
            <a:endParaRPr lang="en-US" sz="1600" dirty="0">
              <a:solidFill>
                <a:schemeClr val="tx1"/>
              </a:solidFill>
              <a:latin typeface="+mn-lt"/>
            </a:endParaRPr>
          </a:p>
          <a:p>
            <a:r>
              <a:rPr lang="en-US" sz="1600" b="0" i="0" dirty="0">
                <a:solidFill>
                  <a:schemeClr val="tx1"/>
                </a:solidFill>
                <a:effectLst/>
                <a:latin typeface="+mn-lt"/>
              </a:rPr>
              <a:t>The left-side child node keys are less than the current keys, and the right-side child node keys are more than the current keys. </a:t>
            </a:r>
          </a:p>
          <a:p>
            <a:endParaRPr lang="en-US" sz="1600" dirty="0">
              <a:solidFill>
                <a:schemeClr val="tx1"/>
              </a:solidFill>
              <a:latin typeface="+mn-lt"/>
            </a:endParaRPr>
          </a:p>
          <a:p>
            <a:r>
              <a:rPr lang="en-US" sz="1600" b="0" i="0" dirty="0">
                <a:solidFill>
                  <a:schemeClr val="tx1"/>
                </a:solidFill>
                <a:effectLst/>
                <a:latin typeface="+mn-lt"/>
              </a:rPr>
              <a:t>If a single node has “n” number of keys, then it can have maximum “n+1” child nodes.</a:t>
            </a:r>
            <a:endParaRPr lang="en-MY" sz="1600" dirty="0">
              <a:solidFill>
                <a:schemeClr val="tx1"/>
              </a:solidFill>
              <a:latin typeface="+mn-lt"/>
            </a:endParaRPr>
          </a:p>
        </p:txBody>
      </p:sp>
    </p:spTree>
    <p:extLst>
      <p:ext uri="{BB962C8B-B14F-4D97-AF65-F5344CB8AC3E}">
        <p14:creationId xmlns:p14="http://schemas.microsoft.com/office/powerpoint/2010/main" val="88074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8"/>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B-tree index</a:t>
            </a:r>
            <a:endParaRPr dirty="0"/>
          </a:p>
        </p:txBody>
      </p:sp>
      <p:pic>
        <p:nvPicPr>
          <p:cNvPr id="200" name="Google Shape;200;p8" descr="A diagram of a company's company's flowchart&#10;&#10;Description automatically generated"/>
          <p:cNvPicPr preferRelativeResize="0">
            <a:picLocks noGrp="1"/>
          </p:cNvPicPr>
          <p:nvPr>
            <p:ph type="body" idx="1"/>
          </p:nvPr>
        </p:nvPicPr>
        <p:blipFill rotWithShape="1">
          <a:blip r:embed="rId3">
            <a:alphaModFix/>
          </a:blip>
          <a:srcRect/>
          <a:stretch/>
        </p:blipFill>
        <p:spPr>
          <a:xfrm>
            <a:off x="151468" y="1463674"/>
            <a:ext cx="8705137" cy="4422583"/>
          </a:xfrm>
          <a:prstGeom prst="rect">
            <a:avLst/>
          </a:prstGeom>
          <a:noFill/>
          <a:ln>
            <a:noFill/>
          </a:ln>
        </p:spPr>
      </p:pic>
      <p:sp>
        <p:nvSpPr>
          <p:cNvPr id="201" name="Google Shape;201;p8"/>
          <p:cNvSpPr txBox="1"/>
          <p:nvPr/>
        </p:nvSpPr>
        <p:spPr>
          <a:xfrm>
            <a:off x="8893773" y="1361942"/>
            <a:ext cx="3158909"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If issue a query to retrieve all customer whose last name starts with G, </a:t>
            </a:r>
            <a:endParaRPr dirty="0"/>
          </a:p>
          <a:p>
            <a:pPr marL="342900" marR="0" lvl="0" indent="-342900" algn="l" rtl="0">
              <a:spcBef>
                <a:spcPts val="0"/>
              </a:spcBef>
              <a:spcAft>
                <a:spcPts val="0"/>
              </a:spcAft>
              <a:buClr>
                <a:schemeClr val="dk1"/>
              </a:buClr>
              <a:buSzPts val="1800"/>
              <a:buFont typeface="Arial"/>
              <a:buAutoNum type="arabicPeriod"/>
            </a:pPr>
            <a:r>
              <a:rPr lang="en-US" sz="1800" dirty="0">
                <a:solidFill>
                  <a:schemeClr val="dk1"/>
                </a:solidFill>
                <a:latin typeface="Arial"/>
                <a:ea typeface="Arial"/>
                <a:cs typeface="Arial"/>
                <a:sym typeface="Arial"/>
              </a:rPr>
              <a:t>the server would look at the top branch node (root node) and follow left node that handles last names beginning with A through M, </a:t>
            </a:r>
            <a:endParaRPr dirty="0"/>
          </a:p>
          <a:p>
            <a:pPr marL="342900" marR="0" lvl="0" indent="-342900" algn="l" rtl="0">
              <a:spcBef>
                <a:spcPts val="0"/>
              </a:spcBef>
              <a:spcAft>
                <a:spcPts val="0"/>
              </a:spcAft>
              <a:buClr>
                <a:schemeClr val="dk1"/>
              </a:buClr>
              <a:buSzPts val="1800"/>
              <a:buFont typeface="Arial"/>
              <a:buAutoNum type="arabicPeriod"/>
            </a:pPr>
            <a:r>
              <a:rPr lang="en-US" sz="1800" dirty="0">
                <a:solidFill>
                  <a:schemeClr val="dk1"/>
                </a:solidFill>
                <a:latin typeface="Arial"/>
                <a:ea typeface="Arial"/>
                <a:cs typeface="Arial"/>
                <a:sym typeface="Arial"/>
              </a:rPr>
              <a:t>then direct to a leaf node  containing last names beginning with G through I.</a:t>
            </a:r>
            <a:endParaRPr dirty="0"/>
          </a:p>
          <a:p>
            <a:pPr marL="342900" marR="0" lvl="0" indent="-342900" algn="l" rtl="0">
              <a:spcBef>
                <a:spcPts val="0"/>
              </a:spcBef>
              <a:spcAft>
                <a:spcPts val="0"/>
              </a:spcAft>
              <a:buClr>
                <a:schemeClr val="dk1"/>
              </a:buClr>
              <a:buSzPts val="1800"/>
              <a:buFont typeface="Arial"/>
              <a:buAutoNum type="arabicPeriod"/>
            </a:pPr>
            <a:r>
              <a:rPr lang="en-US" sz="1800" dirty="0">
                <a:solidFill>
                  <a:schemeClr val="dk1"/>
                </a:solidFill>
                <a:latin typeface="Arial"/>
                <a:ea typeface="Arial"/>
                <a:cs typeface="Arial"/>
                <a:sym typeface="Arial"/>
              </a:rPr>
              <a:t>Then server starts reading values in the leaf node until it encounter a value doesn’t begin with G.</a:t>
            </a:r>
            <a:endParaRPr dirty="0"/>
          </a:p>
        </p:txBody>
      </p:sp>
      <p:sp>
        <p:nvSpPr>
          <p:cNvPr id="202" name="Google Shape;202;p8"/>
          <p:cNvSpPr/>
          <p:nvPr/>
        </p:nvSpPr>
        <p:spPr>
          <a:xfrm rot="10800000">
            <a:off x="2986196" y="2081049"/>
            <a:ext cx="788276" cy="394138"/>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8"/>
          <p:cNvSpPr/>
          <p:nvPr/>
        </p:nvSpPr>
        <p:spPr>
          <a:xfrm rot="5400000">
            <a:off x="2789126" y="3589515"/>
            <a:ext cx="788276" cy="394138"/>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8"/>
          <p:cNvSpPr/>
          <p:nvPr/>
        </p:nvSpPr>
        <p:spPr>
          <a:xfrm rot="5400000">
            <a:off x="2178214" y="4486604"/>
            <a:ext cx="501868" cy="394138"/>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C96A6F4E-0B8B-B1A0-FCDE-95BCE2594157}"/>
            </a:ext>
          </a:extLst>
        </p:cNvPr>
        <p:cNvGrpSpPr/>
        <p:nvPr/>
      </p:nvGrpSpPr>
      <p:grpSpPr>
        <a:xfrm>
          <a:off x="0" y="0"/>
          <a:ext cx="0" cy="0"/>
          <a:chOff x="0" y="0"/>
          <a:chExt cx="0" cy="0"/>
        </a:xfrm>
      </p:grpSpPr>
      <p:sp>
        <p:nvSpPr>
          <p:cNvPr id="209" name="Google Shape;209;p9">
            <a:extLst>
              <a:ext uri="{FF2B5EF4-FFF2-40B4-BE49-F238E27FC236}">
                <a16:creationId xmlns:a16="http://schemas.microsoft.com/office/drawing/2014/main" id="{8102EF4F-D24F-E350-8B26-608F58279EDB}"/>
              </a:ext>
            </a:extLst>
          </p:cNvPr>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Bitmap indexes</a:t>
            </a:r>
            <a:endParaRPr dirty="0"/>
          </a:p>
        </p:txBody>
      </p:sp>
      <p:sp>
        <p:nvSpPr>
          <p:cNvPr id="210" name="Google Shape;210;p9">
            <a:extLst>
              <a:ext uri="{FF2B5EF4-FFF2-40B4-BE49-F238E27FC236}">
                <a16:creationId xmlns:a16="http://schemas.microsoft.com/office/drawing/2014/main" id="{36A8A054-1A80-BB68-1230-18CC39814112}"/>
              </a:ext>
            </a:extLst>
          </p:cNvPr>
          <p:cNvSpPr txBox="1">
            <a:spLocks noGrp="1"/>
          </p:cNvSpPr>
          <p:nvPr>
            <p:ph type="body" idx="1"/>
          </p:nvPr>
        </p:nvSpPr>
        <p:spPr>
          <a:xfrm>
            <a:off x="324463" y="1298186"/>
            <a:ext cx="11513576" cy="5299259"/>
          </a:xfrm>
          <a:prstGeom prst="rect">
            <a:avLst/>
          </a:prstGeom>
          <a:noFill/>
          <a:ln>
            <a:noFill/>
          </a:ln>
        </p:spPr>
        <p:txBody>
          <a:bodyPr spcFirstLastPara="1" wrap="square" lIns="91425" tIns="45700" rIns="91425" bIns="45700" anchor="t" anchorCtr="0">
            <a:noAutofit/>
          </a:bodyPr>
          <a:lstStyle/>
          <a:p>
            <a:pPr marL="495300" indent="-342900">
              <a:lnSpc>
                <a:spcPct val="120000"/>
              </a:lnSpc>
              <a:spcBef>
                <a:spcPts val="0"/>
              </a:spcBef>
            </a:pPr>
            <a:r>
              <a:rPr lang="en-US" sz="1600" b="1" dirty="0"/>
              <a:t>Bitmap</a:t>
            </a:r>
            <a:r>
              <a:rPr lang="en-US" sz="1600" dirty="0"/>
              <a:t> combines two words: </a:t>
            </a:r>
            <a:r>
              <a:rPr lang="en-US" sz="1600" b="1" dirty="0"/>
              <a:t>Bit</a:t>
            </a:r>
            <a:r>
              <a:rPr lang="en-US" sz="1600" dirty="0"/>
              <a:t> and </a:t>
            </a:r>
            <a:r>
              <a:rPr lang="en-US" sz="1600" b="1" dirty="0"/>
              <a:t>Map</a:t>
            </a:r>
            <a:r>
              <a:rPr lang="en-US" sz="1600" dirty="0"/>
              <a:t>. </a:t>
            </a:r>
          </a:p>
          <a:p>
            <a:pPr marL="152400" indent="0">
              <a:lnSpc>
                <a:spcPct val="120000"/>
              </a:lnSpc>
              <a:spcBef>
                <a:spcPts val="0"/>
              </a:spcBef>
              <a:buNone/>
            </a:pPr>
            <a:endParaRPr lang="en-US" sz="1600" dirty="0"/>
          </a:p>
          <a:p>
            <a:pPr marL="495300" indent="-342900">
              <a:lnSpc>
                <a:spcPct val="120000"/>
              </a:lnSpc>
              <a:spcBef>
                <a:spcPts val="0"/>
              </a:spcBef>
            </a:pPr>
            <a:r>
              <a:rPr lang="en-US" sz="1600" dirty="0"/>
              <a:t>A bit represents the smallest unit of data in a computer, which can only hold a value of either </a:t>
            </a:r>
            <a:r>
              <a:rPr lang="en-US" sz="1600" b="1" dirty="0"/>
              <a:t>0</a:t>
            </a:r>
            <a:r>
              <a:rPr lang="en-US" sz="1600" dirty="0"/>
              <a:t> or </a:t>
            </a:r>
            <a:r>
              <a:rPr lang="en-US" sz="1600" b="1" dirty="0"/>
              <a:t>1</a:t>
            </a:r>
            <a:r>
              <a:rPr lang="en-US" sz="1600" dirty="0"/>
              <a:t>. </a:t>
            </a:r>
          </a:p>
          <a:p>
            <a:pPr marL="495300" indent="-342900">
              <a:lnSpc>
                <a:spcPct val="120000"/>
              </a:lnSpc>
              <a:spcBef>
                <a:spcPts val="0"/>
              </a:spcBef>
            </a:pPr>
            <a:endParaRPr lang="en-US" sz="1600" dirty="0"/>
          </a:p>
          <a:p>
            <a:pPr marL="495300" indent="-342900">
              <a:lnSpc>
                <a:spcPct val="120000"/>
              </a:lnSpc>
              <a:spcBef>
                <a:spcPts val="0"/>
              </a:spcBef>
            </a:pPr>
            <a:r>
              <a:rPr lang="en-US" sz="1600" dirty="0"/>
              <a:t>A map refers to the process of transforming and organizing data according to what value should be assigned to 0 and 1.</a:t>
            </a:r>
          </a:p>
          <a:p>
            <a:pPr fontAlgn="base">
              <a:lnSpc>
                <a:spcPct val="120000"/>
              </a:lnSpc>
            </a:pPr>
            <a:r>
              <a:rPr lang="en-US" sz="1600" dirty="0"/>
              <a:t>Designed to improve query performance on low-cardinality scalar fields. </a:t>
            </a:r>
            <a:r>
              <a:rPr lang="en-US" sz="1600" b="1" dirty="0"/>
              <a:t>Cardinality </a:t>
            </a:r>
            <a:r>
              <a:rPr lang="en-US" sz="1600" dirty="0"/>
              <a:t>refers to the number of distinct values in a field. Fields with fewer distinct elements are considered low-cardinality.</a:t>
            </a:r>
          </a:p>
          <a:p>
            <a:pPr fontAlgn="base">
              <a:lnSpc>
                <a:spcPct val="120000"/>
              </a:lnSpc>
            </a:pPr>
            <a:r>
              <a:rPr lang="en-US" sz="1600" dirty="0"/>
              <a:t>This index type helps reduce the retrieval time of scalar queries by representing field values in a compact binary format and performing efficient bitwise operations on them.</a:t>
            </a:r>
          </a:p>
          <a:p>
            <a:pPr fontAlgn="base">
              <a:lnSpc>
                <a:spcPct val="120000"/>
              </a:lnSpc>
            </a:pPr>
            <a:r>
              <a:rPr lang="en-US" sz="1600" dirty="0"/>
              <a:t>Consists of two main components: </a:t>
            </a:r>
            <a:r>
              <a:rPr lang="en-US" sz="1600" b="1" dirty="0"/>
              <a:t>bitmaps and keys</a:t>
            </a:r>
            <a:r>
              <a:rPr lang="en-US" sz="1600" dirty="0"/>
              <a:t>. Keys represent the unique values in the indexed field. For each unique value, there is a corresponding bitmap. The length of these bitmaps is equal to the number of records in the collection. </a:t>
            </a:r>
          </a:p>
          <a:p>
            <a:pPr fontAlgn="base">
              <a:lnSpc>
                <a:spcPct val="120000"/>
              </a:lnSpc>
            </a:pPr>
            <a:r>
              <a:rPr lang="en-US" sz="1600" dirty="0"/>
              <a:t>Each bit in the bitmap corresponds to a record in the collection. If the value of the indexed field in a record matches the key, the corresponding bit is set to </a:t>
            </a:r>
            <a:r>
              <a:rPr lang="en-US" sz="1600" b="1" dirty="0"/>
              <a:t>1</a:t>
            </a:r>
            <a:r>
              <a:rPr lang="en-US" sz="1600" dirty="0"/>
              <a:t>; otherwise, it is set to </a:t>
            </a:r>
            <a:r>
              <a:rPr lang="en-US" sz="1600" b="1" dirty="0"/>
              <a:t>0</a:t>
            </a:r>
            <a:r>
              <a:rPr lang="en-US" sz="1600" dirty="0"/>
              <a:t>.</a:t>
            </a:r>
          </a:p>
          <a:p>
            <a:pPr marL="495300" indent="-342900">
              <a:lnSpc>
                <a:spcPct val="120000"/>
              </a:lnSpc>
              <a:spcBef>
                <a:spcPts val="0"/>
              </a:spcBef>
            </a:pPr>
            <a:endParaRPr sz="1600" dirty="0"/>
          </a:p>
        </p:txBody>
      </p:sp>
    </p:spTree>
    <p:extLst>
      <p:ext uri="{BB962C8B-B14F-4D97-AF65-F5344CB8AC3E}">
        <p14:creationId xmlns:p14="http://schemas.microsoft.com/office/powerpoint/2010/main" val="3442996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8">
          <a:extLst>
            <a:ext uri="{FF2B5EF4-FFF2-40B4-BE49-F238E27FC236}">
              <a16:creationId xmlns:a16="http://schemas.microsoft.com/office/drawing/2014/main" id="{50C7DFC9-5600-389C-603D-39479940E20C}"/>
            </a:ext>
          </a:extLst>
        </p:cNvPr>
        <p:cNvGrpSpPr/>
        <p:nvPr/>
      </p:nvGrpSpPr>
      <p:grpSpPr>
        <a:xfrm>
          <a:off x="0" y="0"/>
          <a:ext cx="0" cy="0"/>
          <a:chOff x="0" y="0"/>
          <a:chExt cx="0" cy="0"/>
        </a:xfrm>
      </p:grpSpPr>
      <p:sp>
        <p:nvSpPr>
          <p:cNvPr id="209" name="Google Shape;209;p9">
            <a:extLst>
              <a:ext uri="{FF2B5EF4-FFF2-40B4-BE49-F238E27FC236}">
                <a16:creationId xmlns:a16="http://schemas.microsoft.com/office/drawing/2014/main" id="{8D4F2CD7-2A0D-3DB6-C830-A04318A39183}"/>
              </a:ext>
            </a:extLst>
          </p:cNvPr>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Bitmap indexes</a:t>
            </a:r>
            <a:endParaRPr dirty="0"/>
          </a:p>
        </p:txBody>
      </p:sp>
      <p:pic>
        <p:nvPicPr>
          <p:cNvPr id="5" name="Picture 4">
            <a:extLst>
              <a:ext uri="{FF2B5EF4-FFF2-40B4-BE49-F238E27FC236}">
                <a16:creationId xmlns:a16="http://schemas.microsoft.com/office/drawing/2014/main" id="{22F30B09-765B-678B-06A4-26DDC2821417}"/>
              </a:ext>
            </a:extLst>
          </p:cNvPr>
          <p:cNvPicPr>
            <a:picLocks noChangeAspect="1"/>
          </p:cNvPicPr>
          <p:nvPr/>
        </p:nvPicPr>
        <p:blipFill>
          <a:blip r:embed="rId3"/>
          <a:stretch>
            <a:fillRect/>
          </a:stretch>
        </p:blipFill>
        <p:spPr>
          <a:xfrm>
            <a:off x="838200" y="2092719"/>
            <a:ext cx="4276766" cy="3231953"/>
          </a:xfrm>
          <a:prstGeom prst="rect">
            <a:avLst/>
          </a:prstGeom>
        </p:spPr>
      </p:pic>
      <p:sp>
        <p:nvSpPr>
          <p:cNvPr id="6" name="Google Shape;182;p6">
            <a:extLst>
              <a:ext uri="{FF2B5EF4-FFF2-40B4-BE49-F238E27FC236}">
                <a16:creationId xmlns:a16="http://schemas.microsoft.com/office/drawing/2014/main" id="{54D40E82-5692-E8D1-F85F-3E5D61B5DD14}"/>
              </a:ext>
            </a:extLst>
          </p:cNvPr>
          <p:cNvSpPr txBox="1"/>
          <p:nvPr/>
        </p:nvSpPr>
        <p:spPr>
          <a:xfrm>
            <a:off x="1735969" y="1754205"/>
            <a:ext cx="948236" cy="338514"/>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dirty="0">
                <a:solidFill>
                  <a:srgbClr val="8F0100"/>
                </a:solidFill>
                <a:latin typeface="Arial"/>
                <a:ea typeface="Arial"/>
                <a:cs typeface="Arial"/>
                <a:sym typeface="Arial"/>
              </a:rPr>
              <a:t>Table</a:t>
            </a:r>
            <a:endParaRPr sz="1600" b="1" dirty="0">
              <a:solidFill>
                <a:srgbClr val="000000"/>
              </a:solidFill>
              <a:latin typeface="Arial"/>
              <a:ea typeface="Arial"/>
              <a:cs typeface="Arial"/>
              <a:sym typeface="Arial"/>
            </a:endParaRPr>
          </a:p>
        </p:txBody>
      </p:sp>
      <p:pic>
        <p:nvPicPr>
          <p:cNvPr id="8" name="Picture 7">
            <a:extLst>
              <a:ext uri="{FF2B5EF4-FFF2-40B4-BE49-F238E27FC236}">
                <a16:creationId xmlns:a16="http://schemas.microsoft.com/office/drawing/2014/main" id="{84977368-0D6D-D2CA-F917-5EBDFCB35884}"/>
              </a:ext>
            </a:extLst>
          </p:cNvPr>
          <p:cNvPicPr>
            <a:picLocks noChangeAspect="1"/>
          </p:cNvPicPr>
          <p:nvPr/>
        </p:nvPicPr>
        <p:blipFill>
          <a:blip r:embed="rId4"/>
          <a:srcRect t="26447"/>
          <a:stretch>
            <a:fillRect/>
          </a:stretch>
        </p:blipFill>
        <p:spPr>
          <a:xfrm>
            <a:off x="5500976" y="2494711"/>
            <a:ext cx="1961708" cy="1118006"/>
          </a:xfrm>
          <a:prstGeom prst="rect">
            <a:avLst/>
          </a:prstGeom>
        </p:spPr>
      </p:pic>
      <p:sp>
        <p:nvSpPr>
          <p:cNvPr id="9" name="Google Shape;182;p6">
            <a:extLst>
              <a:ext uri="{FF2B5EF4-FFF2-40B4-BE49-F238E27FC236}">
                <a16:creationId xmlns:a16="http://schemas.microsoft.com/office/drawing/2014/main" id="{A2B4DDAB-DA9B-1ABE-C76E-C31843A68382}"/>
              </a:ext>
            </a:extLst>
          </p:cNvPr>
          <p:cNvSpPr txBox="1"/>
          <p:nvPr/>
        </p:nvSpPr>
        <p:spPr>
          <a:xfrm>
            <a:off x="5594555" y="1523393"/>
            <a:ext cx="2271251" cy="461624"/>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8F0100"/>
                </a:solidFill>
                <a:latin typeface="Arial"/>
                <a:ea typeface="Arial"/>
                <a:cs typeface="Arial"/>
                <a:sym typeface="Arial"/>
              </a:rPr>
              <a:t>2 values of gender index</a:t>
            </a:r>
          </a:p>
          <a:p>
            <a:pPr marL="0" marR="0" lvl="0" indent="0" algn="ctr" rtl="0">
              <a:spcBef>
                <a:spcPts val="0"/>
              </a:spcBef>
              <a:spcAft>
                <a:spcPts val="0"/>
              </a:spcAft>
              <a:buNone/>
            </a:pPr>
            <a:r>
              <a:rPr lang="en-US" sz="1200" b="1" dirty="0">
                <a:solidFill>
                  <a:srgbClr val="8F0100"/>
                </a:solidFill>
              </a:rPr>
              <a:t>5 bits means 5 rows in table</a:t>
            </a:r>
            <a:endParaRPr sz="1200" b="1" dirty="0">
              <a:solidFill>
                <a:srgbClr val="000000"/>
              </a:solidFill>
              <a:latin typeface="Arial"/>
              <a:ea typeface="Arial"/>
              <a:cs typeface="Arial"/>
              <a:sym typeface="Arial"/>
            </a:endParaRPr>
          </a:p>
        </p:txBody>
      </p:sp>
      <p:pic>
        <p:nvPicPr>
          <p:cNvPr id="11" name="Picture 10">
            <a:extLst>
              <a:ext uri="{FF2B5EF4-FFF2-40B4-BE49-F238E27FC236}">
                <a16:creationId xmlns:a16="http://schemas.microsoft.com/office/drawing/2014/main" id="{F40DB7A2-4E55-ACD2-F92E-FEF89738E422}"/>
              </a:ext>
            </a:extLst>
          </p:cNvPr>
          <p:cNvPicPr>
            <a:picLocks noChangeAspect="1"/>
          </p:cNvPicPr>
          <p:nvPr/>
        </p:nvPicPr>
        <p:blipFill>
          <a:blip r:embed="rId5"/>
          <a:stretch>
            <a:fillRect/>
          </a:stretch>
        </p:blipFill>
        <p:spPr>
          <a:xfrm>
            <a:off x="8255235" y="2494711"/>
            <a:ext cx="2157557" cy="2975017"/>
          </a:xfrm>
          <a:prstGeom prst="rect">
            <a:avLst/>
          </a:prstGeom>
        </p:spPr>
      </p:pic>
      <p:sp>
        <p:nvSpPr>
          <p:cNvPr id="12" name="TextBox 11">
            <a:extLst>
              <a:ext uri="{FF2B5EF4-FFF2-40B4-BE49-F238E27FC236}">
                <a16:creationId xmlns:a16="http://schemas.microsoft.com/office/drawing/2014/main" id="{8CC29E54-718D-FF7B-9284-1DA25E7398C5}"/>
              </a:ext>
            </a:extLst>
          </p:cNvPr>
          <p:cNvSpPr txBox="1"/>
          <p:nvPr/>
        </p:nvSpPr>
        <p:spPr>
          <a:xfrm>
            <a:off x="8255235" y="2092719"/>
            <a:ext cx="2454518" cy="307777"/>
          </a:xfrm>
          <a:prstGeom prst="rect">
            <a:avLst/>
          </a:prstGeom>
          <a:noFill/>
          <a:ln>
            <a:solidFill>
              <a:schemeClr val="accent1"/>
            </a:solidFill>
          </a:ln>
        </p:spPr>
        <p:txBody>
          <a:bodyPr wrap="none" rtlCol="0">
            <a:spAutoFit/>
          </a:bodyPr>
          <a:lstStyle/>
          <a:p>
            <a:r>
              <a:rPr lang="en-US" b="1" dirty="0"/>
              <a:t>BITMAPS for </a:t>
            </a:r>
            <a:r>
              <a:rPr lang="en-US" b="1" dirty="0" err="1"/>
              <a:t>income_level</a:t>
            </a:r>
            <a:endParaRPr lang="en-MY" b="1" dirty="0"/>
          </a:p>
        </p:txBody>
      </p:sp>
      <p:sp>
        <p:nvSpPr>
          <p:cNvPr id="13" name="TextBox 12">
            <a:extLst>
              <a:ext uri="{FF2B5EF4-FFF2-40B4-BE49-F238E27FC236}">
                <a16:creationId xmlns:a16="http://schemas.microsoft.com/office/drawing/2014/main" id="{974AB998-9441-65C0-017F-9EEFCEE18C1C}"/>
              </a:ext>
            </a:extLst>
          </p:cNvPr>
          <p:cNvSpPr txBox="1"/>
          <p:nvPr/>
        </p:nvSpPr>
        <p:spPr>
          <a:xfrm>
            <a:off x="5824474" y="2092719"/>
            <a:ext cx="1927131" cy="307777"/>
          </a:xfrm>
          <a:prstGeom prst="rect">
            <a:avLst/>
          </a:prstGeom>
          <a:noFill/>
          <a:ln>
            <a:solidFill>
              <a:schemeClr val="accent1"/>
            </a:solidFill>
          </a:ln>
        </p:spPr>
        <p:txBody>
          <a:bodyPr wrap="none" rtlCol="0">
            <a:spAutoFit/>
          </a:bodyPr>
          <a:lstStyle/>
          <a:p>
            <a:r>
              <a:rPr lang="en-US" b="1" dirty="0"/>
              <a:t>BITMAPS for gender</a:t>
            </a:r>
            <a:endParaRPr lang="en-MY" b="1" dirty="0"/>
          </a:p>
        </p:txBody>
      </p:sp>
      <p:sp>
        <p:nvSpPr>
          <p:cNvPr id="14" name="Google Shape;182;p6">
            <a:extLst>
              <a:ext uri="{FF2B5EF4-FFF2-40B4-BE49-F238E27FC236}">
                <a16:creationId xmlns:a16="http://schemas.microsoft.com/office/drawing/2014/main" id="{D8BF9E80-17CB-67CB-5C53-E0D529941A1B}"/>
              </a:ext>
            </a:extLst>
          </p:cNvPr>
          <p:cNvSpPr txBox="1"/>
          <p:nvPr/>
        </p:nvSpPr>
        <p:spPr>
          <a:xfrm>
            <a:off x="8346868" y="1523393"/>
            <a:ext cx="2271251" cy="461624"/>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8F0100"/>
                </a:solidFill>
                <a:latin typeface="Arial"/>
                <a:ea typeface="Arial"/>
                <a:cs typeface="Arial"/>
                <a:sym typeface="Arial"/>
              </a:rPr>
              <a:t>5 income levels</a:t>
            </a:r>
          </a:p>
          <a:p>
            <a:pPr marL="0" marR="0" lvl="0" indent="0" algn="ctr" rtl="0">
              <a:spcBef>
                <a:spcPts val="0"/>
              </a:spcBef>
              <a:spcAft>
                <a:spcPts val="0"/>
              </a:spcAft>
              <a:buNone/>
            </a:pPr>
            <a:r>
              <a:rPr lang="en-US" sz="1200" b="1" dirty="0">
                <a:solidFill>
                  <a:srgbClr val="8F0100"/>
                </a:solidFill>
              </a:rPr>
              <a:t>5 bits means 5 rows in table</a:t>
            </a:r>
            <a:endParaRPr sz="1200" b="1" dirty="0">
              <a:solidFill>
                <a:srgbClr val="000000"/>
              </a:solidFill>
              <a:latin typeface="Arial"/>
              <a:ea typeface="Arial"/>
              <a:cs typeface="Arial"/>
              <a:sym typeface="Arial"/>
            </a:endParaRPr>
          </a:p>
        </p:txBody>
      </p:sp>
      <p:sp>
        <p:nvSpPr>
          <p:cNvPr id="16" name="TextBox 15">
            <a:extLst>
              <a:ext uri="{FF2B5EF4-FFF2-40B4-BE49-F238E27FC236}">
                <a16:creationId xmlns:a16="http://schemas.microsoft.com/office/drawing/2014/main" id="{0D17FD84-A610-DB08-6084-B179D0A4AE00}"/>
              </a:ext>
            </a:extLst>
          </p:cNvPr>
          <p:cNvSpPr txBox="1"/>
          <p:nvPr/>
        </p:nvSpPr>
        <p:spPr>
          <a:xfrm>
            <a:off x="5500976" y="5547733"/>
            <a:ext cx="6096000" cy="1015663"/>
          </a:xfrm>
          <a:prstGeom prst="rect">
            <a:avLst/>
          </a:prstGeom>
          <a:noFill/>
          <a:ln>
            <a:solidFill>
              <a:schemeClr val="accent2">
                <a:lumMod val="75000"/>
              </a:schemeClr>
            </a:solidFill>
          </a:ln>
        </p:spPr>
        <p:txBody>
          <a:bodyPr wrap="square">
            <a:spAutoFit/>
          </a:bodyPr>
          <a:lstStyle/>
          <a:p>
            <a:pPr algn="l" rtl="0" fontAlgn="base">
              <a:buNone/>
            </a:pPr>
            <a:r>
              <a:rPr lang="en-US" sz="2000" b="1" i="0" dirty="0">
                <a:solidFill>
                  <a:srgbClr val="000000"/>
                </a:solidFill>
                <a:effectLst/>
                <a:latin typeface="Cambria Math" panose="02040503050406030204" pitchFamily="18" charset="0"/>
                <a:ea typeface="Cambria Math" panose="02040503050406030204" pitchFamily="18" charset="0"/>
              </a:rPr>
              <a:t>CREATE BITMAP INDEX </a:t>
            </a:r>
            <a:r>
              <a:rPr lang="en-US" sz="2000" b="0" i="0" dirty="0">
                <a:solidFill>
                  <a:srgbClr val="000000"/>
                </a:solidFill>
                <a:effectLst/>
                <a:latin typeface="Cambria Math" panose="02040503050406030204" pitchFamily="18" charset="0"/>
                <a:ea typeface="Cambria Math" panose="02040503050406030204" pitchFamily="18" charset="0"/>
              </a:rPr>
              <a:t>&lt;</a:t>
            </a:r>
            <a:r>
              <a:rPr lang="en-US" sz="2000" b="0" i="0" dirty="0" err="1">
                <a:solidFill>
                  <a:srgbClr val="000000"/>
                </a:solidFill>
                <a:effectLst/>
                <a:latin typeface="Cambria Math" panose="02040503050406030204" pitchFamily="18" charset="0"/>
                <a:ea typeface="Cambria Math" panose="02040503050406030204" pitchFamily="18" charset="0"/>
              </a:rPr>
              <a:t>indexname</a:t>
            </a:r>
            <a:r>
              <a:rPr lang="en-US" sz="2000" b="0" i="0" dirty="0">
                <a:solidFill>
                  <a:srgbClr val="000000"/>
                </a:solidFill>
                <a:effectLst/>
                <a:latin typeface="Cambria Math" panose="02040503050406030204" pitchFamily="18" charset="0"/>
                <a:ea typeface="Cambria Math" panose="02040503050406030204" pitchFamily="18" charset="0"/>
              </a:rPr>
              <a:t>&gt; </a:t>
            </a:r>
            <a:r>
              <a:rPr lang="en-US" sz="2000" b="1" i="0" dirty="0">
                <a:solidFill>
                  <a:srgbClr val="000000"/>
                </a:solidFill>
                <a:effectLst/>
                <a:latin typeface="Cambria Math" panose="02040503050406030204" pitchFamily="18" charset="0"/>
                <a:ea typeface="Cambria Math" panose="02040503050406030204" pitchFamily="18" charset="0"/>
              </a:rPr>
              <a:t>ON</a:t>
            </a:r>
            <a:endParaRPr lang="en-US" sz="2000" b="1" i="0" dirty="0">
              <a:solidFill>
                <a:srgbClr val="656E7F"/>
              </a:solidFill>
              <a:effectLst/>
              <a:latin typeface="Cambria Math" panose="02040503050406030204" pitchFamily="18" charset="0"/>
              <a:ea typeface="Cambria Math" panose="02040503050406030204" pitchFamily="18" charset="0"/>
            </a:endParaRPr>
          </a:p>
          <a:p>
            <a:pPr algn="l" rtl="0" fontAlgn="base">
              <a:buNone/>
            </a:pPr>
            <a:r>
              <a:rPr lang="en-US" sz="2000" b="0" i="0" dirty="0">
                <a:solidFill>
                  <a:srgbClr val="000000"/>
                </a:solidFill>
                <a:effectLst/>
                <a:latin typeface="Cambria Math" panose="02040503050406030204" pitchFamily="18" charset="0"/>
                <a:ea typeface="Cambria Math" panose="02040503050406030204" pitchFamily="18" charset="0"/>
              </a:rPr>
              <a:t>&lt;table&gt;</a:t>
            </a:r>
            <a:endParaRPr lang="en-US" sz="2000" b="0" i="0" dirty="0">
              <a:solidFill>
                <a:srgbClr val="656E7F"/>
              </a:solidFill>
              <a:effectLst/>
              <a:latin typeface="Cambria Math" panose="02040503050406030204" pitchFamily="18" charset="0"/>
              <a:ea typeface="Cambria Math" panose="02040503050406030204" pitchFamily="18" charset="0"/>
            </a:endParaRPr>
          </a:p>
          <a:p>
            <a:pPr algn="l" rtl="0" fontAlgn="base">
              <a:buNone/>
            </a:pPr>
            <a:r>
              <a:rPr lang="en-US" sz="2000" b="0" i="0" dirty="0">
                <a:solidFill>
                  <a:srgbClr val="000000"/>
                </a:solidFill>
                <a:effectLst/>
                <a:latin typeface="Cambria Math" panose="02040503050406030204" pitchFamily="18" charset="0"/>
                <a:ea typeface="Cambria Math" panose="02040503050406030204" pitchFamily="18" charset="0"/>
              </a:rPr>
              <a:t> (x, y);</a:t>
            </a:r>
            <a:endParaRPr lang="en-US" sz="2000" b="0" i="0" dirty="0">
              <a:solidFill>
                <a:srgbClr val="656E7F"/>
              </a:solidFill>
              <a:effectLst/>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32942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52D25FE-5985-184A-C3A3-A1611474AB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839" y="1414616"/>
            <a:ext cx="8334375" cy="495300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209;p9">
            <a:extLst>
              <a:ext uri="{FF2B5EF4-FFF2-40B4-BE49-F238E27FC236}">
                <a16:creationId xmlns:a16="http://schemas.microsoft.com/office/drawing/2014/main" id="{22A3FDC4-49B8-E1EA-2085-25682525EE94}"/>
              </a:ext>
            </a:extLst>
          </p:cNvPr>
          <p:cNvSpPr txBox="1">
            <a:spLocks noGrp="1"/>
          </p:cNvSpPr>
          <p:nvPr>
            <p:ph type="title"/>
          </p:nvPr>
        </p:nvSpPr>
        <p:spPr>
          <a:xfrm>
            <a:off x="838200" y="325797"/>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Bitmap indexes</a:t>
            </a:r>
            <a:endParaRPr dirty="0"/>
          </a:p>
        </p:txBody>
      </p:sp>
    </p:spTree>
    <p:extLst>
      <p:ext uri="{BB962C8B-B14F-4D97-AF65-F5344CB8AC3E}">
        <p14:creationId xmlns:p14="http://schemas.microsoft.com/office/powerpoint/2010/main" val="755850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0"/>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Text indexes</a:t>
            </a:r>
            <a:endParaRPr/>
          </a:p>
        </p:txBody>
      </p:sp>
      <p:sp>
        <p:nvSpPr>
          <p:cNvPr id="216" name="Google Shape;216;p10"/>
          <p:cNvSpPr txBox="1">
            <a:spLocks noGrp="1"/>
          </p:cNvSpPr>
          <p:nvPr>
            <p:ph type="body" idx="1"/>
          </p:nvPr>
        </p:nvSpPr>
        <p:spPr>
          <a:xfrm>
            <a:off x="344129" y="1229360"/>
            <a:ext cx="11503742" cy="5191105"/>
          </a:xfrm>
          <a:prstGeom prst="rect">
            <a:avLst/>
          </a:prstGeom>
          <a:noFill/>
          <a:ln>
            <a:noFill/>
          </a:ln>
        </p:spPr>
        <p:txBody>
          <a:bodyPr spcFirstLastPara="1" wrap="square" lIns="91425" tIns="45700" rIns="91425" bIns="45700" anchor="t" anchorCtr="0">
            <a:normAutofit/>
          </a:bodyPr>
          <a:lstStyle/>
          <a:p>
            <a:pPr marL="495300" indent="-342900">
              <a:lnSpc>
                <a:spcPct val="150000"/>
              </a:lnSpc>
              <a:spcBef>
                <a:spcPts val="0"/>
              </a:spcBef>
            </a:pPr>
            <a:r>
              <a:rPr lang="en-US" sz="1600" b="1" dirty="0"/>
              <a:t>Text Indexing (or Full-Text Indexing)</a:t>
            </a:r>
            <a:r>
              <a:rPr lang="en-US" sz="1600" dirty="0"/>
              <a:t> is the process of creating data structures such as inverted indexes that map terms (words) to their locations in text fields or documents.</a:t>
            </a:r>
            <a:br>
              <a:rPr lang="en-US" sz="1600" dirty="0"/>
            </a:br>
            <a:r>
              <a:rPr lang="en-US" sz="1600" dirty="0"/>
              <a:t>This allows the database to perform </a:t>
            </a:r>
            <a:r>
              <a:rPr lang="en-US" sz="1600" b="1" dirty="0"/>
              <a:t>sub-second keyword or phrase searches</a:t>
            </a:r>
            <a:r>
              <a:rPr lang="en-US" sz="1600" dirty="0"/>
              <a:t> across large text datasets, making it essential for efficient </a:t>
            </a:r>
            <a:r>
              <a:rPr lang="en-US" sz="1600" b="1" dirty="0"/>
              <a:t>information retrieval.</a:t>
            </a:r>
          </a:p>
          <a:p>
            <a:pPr marL="495300" indent="-342900">
              <a:lnSpc>
                <a:spcPct val="150000"/>
              </a:lnSpc>
              <a:spcBef>
                <a:spcPts val="0"/>
              </a:spcBef>
            </a:pPr>
            <a:r>
              <a:rPr lang="en-US" sz="1600" dirty="0"/>
              <a:t>A text index is a specialized database index built to support efficient searching within </a:t>
            </a:r>
            <a:r>
              <a:rPr lang="en-US" sz="1600" b="1" dirty="0"/>
              <a:t>text-based columns or fields</a:t>
            </a:r>
            <a:r>
              <a:rPr lang="en-US" sz="1600" dirty="0"/>
              <a:t>, rather than just exact matches or numeric lookups. It enables operations like full-text search, keyword search, phrase matching and relevance ranking.</a:t>
            </a:r>
          </a:p>
          <a:p>
            <a:pPr>
              <a:lnSpc>
                <a:spcPct val="150000"/>
              </a:lnSpc>
            </a:pPr>
            <a:r>
              <a:rPr lang="en-US" sz="1600" dirty="0"/>
              <a:t>Standard database indexes work well for exact or range queries on structured data but perform poorly when you want to search for words inside large text fields (examples, articles, comments).</a:t>
            </a:r>
          </a:p>
          <a:p>
            <a:pPr>
              <a:lnSpc>
                <a:spcPct val="150000"/>
              </a:lnSpc>
            </a:pPr>
            <a:r>
              <a:rPr lang="en-US" sz="1600" dirty="0"/>
              <a:t>A text index allows queries such as “find all documents where the word ‘climate’ appears” or “find all records containing the phrase ‘machine learning’”.</a:t>
            </a:r>
          </a:p>
          <a:p>
            <a:pPr>
              <a:lnSpc>
                <a:spcPct val="150000"/>
              </a:lnSpc>
            </a:pPr>
            <a:r>
              <a:rPr lang="en-US" sz="1600" dirty="0"/>
              <a:t>With large volumes of text (logs, articles, user posts), text indexing is essential for interactive performance.</a:t>
            </a:r>
          </a:p>
          <a:p>
            <a:pPr>
              <a:lnSpc>
                <a:spcPct val="150000"/>
              </a:lnSpc>
            </a:pPr>
            <a:endParaRPr lang="en-US" sz="1600" dirty="0"/>
          </a:p>
          <a:p>
            <a:pPr marL="152400" indent="0">
              <a:lnSpc>
                <a:spcPct val="150000"/>
              </a:lnSpc>
              <a:spcBef>
                <a:spcPts val="0"/>
              </a:spcBef>
              <a:buNone/>
            </a:pPr>
            <a:endParaRPr lang="en-US" sz="1600" dirty="0"/>
          </a:p>
          <a:p>
            <a:pPr marL="495300" indent="-342900">
              <a:spcBef>
                <a:spcPts val="0"/>
              </a:spcBef>
            </a:pPr>
            <a:endParaRPr lang="en-US" sz="2000" dirty="0"/>
          </a:p>
          <a:p>
            <a:pPr marL="228600" lvl="0" indent="-76200" algn="l" rtl="0">
              <a:lnSpc>
                <a:spcPct val="90000"/>
              </a:lnSpc>
              <a:spcBef>
                <a:spcPts val="0"/>
              </a:spcBef>
              <a:spcAft>
                <a:spcPts val="0"/>
              </a:spcAft>
              <a:buClr>
                <a:schemeClr val="dk1"/>
              </a:buClr>
              <a:buSzPts val="2400"/>
              <a:buNone/>
            </a:pPr>
            <a:endParaRPr lang="en-US" dirty="0"/>
          </a:p>
          <a:p>
            <a:pPr marL="228600" lvl="0" indent="-76200" algn="l" rtl="0">
              <a:lnSpc>
                <a:spcPct val="90000"/>
              </a:lnSpc>
              <a:spcBef>
                <a:spcPts val="0"/>
              </a:spcBef>
              <a:spcAft>
                <a:spcPts val="0"/>
              </a:spcAft>
              <a:buClr>
                <a:schemeClr val="dk1"/>
              </a:buClr>
              <a:buSzPts val="24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a:extLst>
            <a:ext uri="{FF2B5EF4-FFF2-40B4-BE49-F238E27FC236}">
              <a16:creationId xmlns:a16="http://schemas.microsoft.com/office/drawing/2014/main" id="{DA6E6D4F-A201-4786-A606-DDB9A859540E}"/>
            </a:ext>
          </a:extLst>
        </p:cNvPr>
        <p:cNvGrpSpPr/>
        <p:nvPr/>
      </p:nvGrpSpPr>
      <p:grpSpPr>
        <a:xfrm>
          <a:off x="0" y="0"/>
          <a:ext cx="0" cy="0"/>
          <a:chOff x="0" y="0"/>
          <a:chExt cx="0" cy="0"/>
        </a:xfrm>
      </p:grpSpPr>
      <p:sp>
        <p:nvSpPr>
          <p:cNvPr id="215" name="Google Shape;215;p10">
            <a:extLst>
              <a:ext uri="{FF2B5EF4-FFF2-40B4-BE49-F238E27FC236}">
                <a16:creationId xmlns:a16="http://schemas.microsoft.com/office/drawing/2014/main" id="{9A6ED65C-EB52-7F64-6C0A-BDFBF26E4318}"/>
              </a:ext>
            </a:extLst>
          </p:cNvPr>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Text indexes</a:t>
            </a:r>
            <a:endParaRPr dirty="0"/>
          </a:p>
        </p:txBody>
      </p:sp>
      <p:sp>
        <p:nvSpPr>
          <p:cNvPr id="5" name="TextBox 4">
            <a:extLst>
              <a:ext uri="{FF2B5EF4-FFF2-40B4-BE49-F238E27FC236}">
                <a16:creationId xmlns:a16="http://schemas.microsoft.com/office/drawing/2014/main" id="{96B95884-5832-0077-BC77-82281B2298A5}"/>
              </a:ext>
            </a:extLst>
          </p:cNvPr>
          <p:cNvSpPr txBox="1"/>
          <p:nvPr/>
        </p:nvSpPr>
        <p:spPr>
          <a:xfrm>
            <a:off x="334297" y="1293162"/>
            <a:ext cx="6882581" cy="4524315"/>
          </a:xfrm>
          <a:prstGeom prst="rect">
            <a:avLst/>
          </a:prstGeom>
          <a:noFill/>
        </p:spPr>
        <p:txBody>
          <a:bodyPr wrap="square">
            <a:spAutoFit/>
          </a:bodyPr>
          <a:lstStyle/>
          <a:p>
            <a:r>
              <a:rPr lang="en-MY" sz="1600" dirty="0">
                <a:solidFill>
                  <a:schemeClr val="accent6">
                    <a:lumMod val="75000"/>
                  </a:schemeClr>
                </a:solidFill>
                <a:latin typeface="Courier New" panose="02070309020205020404" pitchFamily="49" charset="0"/>
                <a:cs typeface="Courier New" panose="02070309020205020404" pitchFamily="49" charset="0"/>
              </a:rPr>
              <a:t>-- Create table</a:t>
            </a:r>
          </a:p>
          <a:p>
            <a:r>
              <a:rPr lang="en-MY" sz="1600" dirty="0">
                <a:solidFill>
                  <a:srgbClr val="C00000"/>
                </a:solidFill>
                <a:latin typeface="Courier New" panose="02070309020205020404" pitchFamily="49" charset="0"/>
                <a:cs typeface="Courier New" panose="02070309020205020404" pitchFamily="49" charset="0"/>
              </a:rPr>
              <a:t>CREATE TABLE</a:t>
            </a:r>
            <a:r>
              <a:rPr lang="en-MY" sz="1600" dirty="0">
                <a:latin typeface="Courier New" panose="02070309020205020404" pitchFamily="49" charset="0"/>
                <a:cs typeface="Courier New" panose="02070309020205020404" pitchFamily="49" charset="0"/>
              </a:rPr>
              <a:t> product (</a:t>
            </a:r>
          </a:p>
          <a:p>
            <a:r>
              <a:rPr lang="en-MY" sz="1600" dirty="0">
                <a:latin typeface="Courier New" panose="02070309020205020404" pitchFamily="49" charset="0"/>
                <a:cs typeface="Courier New" panose="02070309020205020404" pitchFamily="49" charset="0"/>
              </a:rPr>
              <a:t>    </a:t>
            </a:r>
            <a:r>
              <a:rPr lang="en-MY" sz="1600" dirty="0" err="1">
                <a:latin typeface="Courier New" panose="02070309020205020404" pitchFamily="49" charset="0"/>
                <a:cs typeface="Courier New" panose="02070309020205020404" pitchFamily="49" charset="0"/>
              </a:rPr>
              <a:t>product_id</a:t>
            </a:r>
            <a:r>
              <a:rPr lang="en-MY" sz="1600" dirty="0">
                <a:latin typeface="Courier New" panose="02070309020205020404" pitchFamily="49" charset="0"/>
                <a:cs typeface="Courier New" panose="02070309020205020404" pitchFamily="49" charset="0"/>
              </a:rPr>
              <a:t> INT PRIMARY KEY,</a:t>
            </a:r>
          </a:p>
          <a:p>
            <a:r>
              <a:rPr lang="en-MY" sz="1600" dirty="0">
                <a:latin typeface="Courier New" panose="02070309020205020404" pitchFamily="49" charset="0"/>
                <a:cs typeface="Courier New" panose="02070309020205020404" pitchFamily="49" charset="0"/>
              </a:rPr>
              <a:t>    name VARCHAR(100),</a:t>
            </a:r>
          </a:p>
          <a:p>
            <a:r>
              <a:rPr lang="en-MY" sz="1600" dirty="0">
                <a:latin typeface="Courier New" panose="02070309020205020404" pitchFamily="49" charset="0"/>
                <a:cs typeface="Courier New" panose="02070309020205020404" pitchFamily="49" charset="0"/>
              </a:rPr>
              <a:t>    description TEXT</a:t>
            </a:r>
          </a:p>
          <a:p>
            <a:r>
              <a:rPr lang="en-MY" sz="1600" dirty="0">
                <a:latin typeface="Courier New" panose="02070309020205020404" pitchFamily="49" charset="0"/>
                <a:cs typeface="Courier New" panose="02070309020205020404" pitchFamily="49" charset="0"/>
              </a:rPr>
              <a:t>);</a:t>
            </a:r>
          </a:p>
          <a:p>
            <a:endParaRPr lang="en-MY" sz="1600" dirty="0">
              <a:latin typeface="Courier New" panose="02070309020205020404" pitchFamily="49" charset="0"/>
              <a:cs typeface="Courier New" panose="02070309020205020404" pitchFamily="49" charset="0"/>
            </a:endParaRPr>
          </a:p>
          <a:p>
            <a:r>
              <a:rPr lang="en-MY" sz="1600" dirty="0">
                <a:solidFill>
                  <a:schemeClr val="accent6">
                    <a:lumMod val="75000"/>
                  </a:schemeClr>
                </a:solidFill>
                <a:latin typeface="Courier New" panose="02070309020205020404" pitchFamily="49" charset="0"/>
                <a:cs typeface="Courier New" panose="02070309020205020404" pitchFamily="49" charset="0"/>
              </a:rPr>
              <a:t>-- Create a text index</a:t>
            </a:r>
          </a:p>
          <a:p>
            <a:r>
              <a:rPr lang="en-MY" sz="1600" dirty="0">
                <a:solidFill>
                  <a:srgbClr val="C00000"/>
                </a:solidFill>
                <a:latin typeface="Courier New" panose="02070309020205020404" pitchFamily="49" charset="0"/>
                <a:cs typeface="Courier New" panose="02070309020205020404" pitchFamily="49" charset="0"/>
              </a:rPr>
              <a:t>CREATE FULLTEXT INDEX </a:t>
            </a:r>
            <a:r>
              <a:rPr lang="en-MY" sz="1600" dirty="0" err="1">
                <a:latin typeface="Courier New" panose="02070309020205020404" pitchFamily="49" charset="0"/>
                <a:cs typeface="Courier New" panose="02070309020205020404" pitchFamily="49" charset="0"/>
              </a:rPr>
              <a:t>ft_description</a:t>
            </a:r>
            <a:r>
              <a:rPr lang="en-MY" sz="1600" dirty="0">
                <a:latin typeface="Courier New" panose="02070309020205020404" pitchFamily="49" charset="0"/>
                <a:cs typeface="Courier New" panose="02070309020205020404" pitchFamily="49" charset="0"/>
              </a:rPr>
              <a:t> ON </a:t>
            </a:r>
          </a:p>
          <a:p>
            <a:r>
              <a:rPr lang="en-MY" sz="1600" dirty="0">
                <a:latin typeface="Courier New" panose="02070309020205020404" pitchFamily="49" charset="0"/>
                <a:cs typeface="Courier New" panose="02070309020205020404" pitchFamily="49" charset="0"/>
              </a:rPr>
              <a:t>product(</a:t>
            </a:r>
            <a:r>
              <a:rPr lang="en-MY" sz="1600" dirty="0" err="1">
                <a:latin typeface="Courier New" panose="02070309020205020404" pitchFamily="49" charset="0"/>
                <a:cs typeface="Courier New" panose="02070309020205020404" pitchFamily="49" charset="0"/>
              </a:rPr>
              <a:t>desc</a:t>
            </a:r>
            <a:r>
              <a:rPr lang="en-MY" sz="1600" dirty="0">
                <a:latin typeface="Courier New" panose="02070309020205020404" pitchFamily="49" charset="0"/>
                <a:cs typeface="Courier New" panose="02070309020205020404" pitchFamily="49" charset="0"/>
              </a:rPr>
              <a:t>);</a:t>
            </a:r>
          </a:p>
          <a:p>
            <a:endParaRPr lang="en-MY" sz="1600" dirty="0">
              <a:latin typeface="Courier New" panose="02070309020205020404" pitchFamily="49" charset="0"/>
              <a:cs typeface="Courier New" panose="02070309020205020404" pitchFamily="49" charset="0"/>
            </a:endParaRPr>
          </a:p>
          <a:p>
            <a:endParaRPr lang="en-MY" sz="1600" dirty="0">
              <a:latin typeface="Courier New" panose="02070309020205020404" pitchFamily="49" charset="0"/>
              <a:cs typeface="Courier New" panose="02070309020205020404" pitchFamily="49" charset="0"/>
            </a:endParaRPr>
          </a:p>
          <a:p>
            <a:endParaRPr lang="en-MY" sz="1600" dirty="0">
              <a:latin typeface="Courier New" panose="02070309020205020404" pitchFamily="49" charset="0"/>
              <a:cs typeface="Courier New" panose="02070309020205020404" pitchFamily="49" charset="0"/>
            </a:endParaRPr>
          </a:p>
          <a:p>
            <a:r>
              <a:rPr lang="en-MY" sz="1600" dirty="0">
                <a:solidFill>
                  <a:schemeClr val="accent6">
                    <a:lumMod val="75000"/>
                  </a:schemeClr>
                </a:solidFill>
                <a:latin typeface="Courier New" panose="02070309020205020404" pitchFamily="49" charset="0"/>
                <a:cs typeface="Courier New" panose="02070309020205020404" pitchFamily="49" charset="0"/>
              </a:rPr>
              <a:t>-- Query using text search</a:t>
            </a:r>
          </a:p>
          <a:p>
            <a:r>
              <a:rPr lang="en-MY" sz="1600" dirty="0">
                <a:solidFill>
                  <a:srgbClr val="C00000"/>
                </a:solidFill>
                <a:latin typeface="Courier New" panose="02070309020205020404" pitchFamily="49" charset="0"/>
                <a:cs typeface="Courier New" panose="02070309020205020404" pitchFamily="49" charset="0"/>
              </a:rPr>
              <a:t>SELECT * FROM</a:t>
            </a:r>
            <a:r>
              <a:rPr lang="en-MY" sz="1600" dirty="0">
                <a:latin typeface="Courier New" panose="02070309020205020404" pitchFamily="49" charset="0"/>
                <a:cs typeface="Courier New" panose="02070309020205020404" pitchFamily="49" charset="0"/>
              </a:rPr>
              <a:t> product</a:t>
            </a:r>
          </a:p>
          <a:p>
            <a:r>
              <a:rPr lang="en-MY" sz="1600" dirty="0">
                <a:latin typeface="Courier New" panose="02070309020205020404" pitchFamily="49" charset="0"/>
                <a:cs typeface="Courier New" panose="02070309020205020404" pitchFamily="49" charset="0"/>
              </a:rPr>
              <a:t>WHERE MATCH(</a:t>
            </a:r>
            <a:r>
              <a:rPr lang="en-MY" sz="1600" dirty="0" err="1">
                <a:latin typeface="Courier New" panose="02070309020205020404" pitchFamily="49" charset="0"/>
                <a:cs typeface="Courier New" panose="02070309020205020404" pitchFamily="49" charset="0"/>
              </a:rPr>
              <a:t>desc</a:t>
            </a:r>
            <a:r>
              <a:rPr lang="en-MY" sz="1600" dirty="0">
                <a:latin typeface="Courier New" panose="02070309020205020404" pitchFamily="49" charset="0"/>
                <a:cs typeface="Courier New" panose="02070309020205020404" pitchFamily="49" charset="0"/>
              </a:rPr>
              <a:t>)</a:t>
            </a:r>
          </a:p>
          <a:p>
            <a:r>
              <a:rPr lang="en-MY" sz="1600" dirty="0">
                <a:latin typeface="Courier New" panose="02070309020205020404" pitchFamily="49" charset="0"/>
                <a:cs typeface="Courier New" panose="02070309020205020404" pitchFamily="49" charset="0"/>
              </a:rPr>
              <a:t>AGAINST </a:t>
            </a:r>
          </a:p>
          <a:p>
            <a:r>
              <a:rPr lang="en-MY" sz="1600" dirty="0">
                <a:latin typeface="Courier New" panose="02070309020205020404" pitchFamily="49" charset="0"/>
                <a:cs typeface="Courier New" panose="02070309020205020404" pitchFamily="49" charset="0"/>
              </a:rPr>
              <a:t>('wireless fan' IN NATURAL LANGUAGE MODE);</a:t>
            </a:r>
          </a:p>
        </p:txBody>
      </p:sp>
      <p:sp>
        <p:nvSpPr>
          <p:cNvPr id="7" name="TextBox 6">
            <a:extLst>
              <a:ext uri="{FF2B5EF4-FFF2-40B4-BE49-F238E27FC236}">
                <a16:creationId xmlns:a16="http://schemas.microsoft.com/office/drawing/2014/main" id="{AAEFF59B-52EE-6A48-16AA-2ED28223EA73}"/>
              </a:ext>
            </a:extLst>
          </p:cNvPr>
          <p:cNvSpPr txBox="1"/>
          <p:nvPr/>
        </p:nvSpPr>
        <p:spPr>
          <a:xfrm>
            <a:off x="4340942" y="1127760"/>
            <a:ext cx="7030065" cy="127727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en-US" sz="1100" dirty="0"/>
              <a:t>This creates a table named </a:t>
            </a:r>
            <a:r>
              <a:rPr lang="en-US" sz="1100" b="1" dirty="0">
                <a:latin typeface="Courier New" panose="02070309020205020404" pitchFamily="49" charset="0"/>
              </a:rPr>
              <a:t>product</a:t>
            </a:r>
            <a:r>
              <a:rPr lang="en-US" sz="1100" dirty="0"/>
              <a:t> with three columns:</a:t>
            </a:r>
          </a:p>
          <a:p>
            <a:pPr>
              <a:buFont typeface="Arial" panose="020B0604020202020204" pitchFamily="34" charset="0"/>
              <a:buChar char="•"/>
            </a:pPr>
            <a:r>
              <a:rPr lang="en-US" sz="1100" b="1" dirty="0">
                <a:latin typeface="Courier New" panose="02070309020205020404" pitchFamily="49" charset="0"/>
              </a:rPr>
              <a:t> </a:t>
            </a:r>
            <a:r>
              <a:rPr lang="en-US" sz="1100" b="1" dirty="0" err="1">
                <a:latin typeface="Courier New" panose="02070309020205020404" pitchFamily="49" charset="0"/>
              </a:rPr>
              <a:t>product_id</a:t>
            </a:r>
            <a:r>
              <a:rPr lang="en-US" sz="1100" dirty="0"/>
              <a:t> — a unique identifier for each product (primary key).</a:t>
            </a:r>
          </a:p>
          <a:p>
            <a:pPr>
              <a:buFont typeface="Arial" panose="020B0604020202020204" pitchFamily="34" charset="0"/>
              <a:buChar char="•"/>
            </a:pPr>
            <a:r>
              <a:rPr lang="en-US" sz="1100" b="1" dirty="0">
                <a:latin typeface="Courier New" panose="02070309020205020404" pitchFamily="49" charset="0"/>
              </a:rPr>
              <a:t> name</a:t>
            </a:r>
            <a:r>
              <a:rPr lang="en-US" sz="1100" dirty="0"/>
              <a:t> — stores the product name (short text).</a:t>
            </a:r>
          </a:p>
          <a:p>
            <a:pPr>
              <a:buFont typeface="Arial" panose="020B0604020202020204" pitchFamily="34" charset="0"/>
              <a:buChar char="•"/>
            </a:pPr>
            <a:r>
              <a:rPr lang="en-US" sz="1100" b="1" dirty="0">
                <a:latin typeface="Courier New" panose="02070309020205020404" pitchFamily="49" charset="0"/>
              </a:rPr>
              <a:t> description</a:t>
            </a:r>
            <a:r>
              <a:rPr lang="en-US" sz="1100" dirty="0"/>
              <a:t> — a longer text field where you store detailed product info.</a:t>
            </a:r>
          </a:p>
          <a:p>
            <a:pPr>
              <a:buNone/>
            </a:pPr>
            <a:br>
              <a:rPr lang="en-US" sz="1100" dirty="0"/>
            </a:br>
            <a:r>
              <a:rPr lang="en-US" sz="1100" dirty="0"/>
              <a:t>Full-text indexes are meant for </a:t>
            </a:r>
            <a:r>
              <a:rPr lang="en-US" sz="1100" b="1" dirty="0"/>
              <a:t>large text columns</a:t>
            </a:r>
            <a:r>
              <a:rPr lang="en-US" sz="1100" dirty="0"/>
              <a:t> (</a:t>
            </a:r>
            <a:r>
              <a:rPr lang="en-US" sz="1100" dirty="0">
                <a:latin typeface="Courier New" panose="02070309020205020404" pitchFamily="49" charset="0"/>
              </a:rPr>
              <a:t>CHAR</a:t>
            </a:r>
            <a:r>
              <a:rPr lang="en-US" sz="1100" dirty="0"/>
              <a:t>, </a:t>
            </a:r>
            <a:r>
              <a:rPr lang="en-US" sz="1100" dirty="0">
                <a:latin typeface="Courier New" panose="02070309020205020404" pitchFamily="49" charset="0"/>
              </a:rPr>
              <a:t>VARCHAR</a:t>
            </a:r>
            <a:r>
              <a:rPr lang="en-US" sz="1100" dirty="0"/>
              <a:t>, or </a:t>
            </a:r>
            <a:r>
              <a:rPr lang="en-US" sz="1100" dirty="0">
                <a:latin typeface="Courier New" panose="02070309020205020404" pitchFamily="49" charset="0"/>
              </a:rPr>
              <a:t>TEXT</a:t>
            </a:r>
            <a:r>
              <a:rPr lang="en-US" sz="1100" dirty="0"/>
              <a:t>) where word-based searching is needed.</a:t>
            </a:r>
          </a:p>
        </p:txBody>
      </p:sp>
      <p:sp>
        <p:nvSpPr>
          <p:cNvPr id="9" name="TextBox 8">
            <a:extLst>
              <a:ext uri="{FF2B5EF4-FFF2-40B4-BE49-F238E27FC236}">
                <a16:creationId xmlns:a16="http://schemas.microsoft.com/office/drawing/2014/main" id="{4D7205A3-76B0-6849-2328-88BDA11B50B3}"/>
              </a:ext>
            </a:extLst>
          </p:cNvPr>
          <p:cNvSpPr txBox="1"/>
          <p:nvPr/>
        </p:nvSpPr>
        <p:spPr>
          <a:xfrm>
            <a:off x="5309418" y="2865280"/>
            <a:ext cx="6292645" cy="110799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sz="1100" dirty="0"/>
              <a:t>This command creates a </a:t>
            </a:r>
            <a:r>
              <a:rPr lang="en-US" sz="1100" b="1" dirty="0"/>
              <a:t>Full-Text Index</a:t>
            </a:r>
            <a:r>
              <a:rPr lang="en-US" sz="1100" dirty="0"/>
              <a:t> named </a:t>
            </a:r>
            <a:r>
              <a:rPr lang="en-US" sz="1100" dirty="0" err="1">
                <a:latin typeface="Courier New" panose="02070309020205020404" pitchFamily="49" charset="0"/>
              </a:rPr>
              <a:t>ft_desc</a:t>
            </a:r>
            <a:r>
              <a:rPr lang="en-US" sz="1100" dirty="0"/>
              <a:t> on the </a:t>
            </a:r>
            <a:r>
              <a:rPr lang="en-US" sz="1100" dirty="0">
                <a:latin typeface="Courier New" panose="02070309020205020404" pitchFamily="49" charset="0"/>
              </a:rPr>
              <a:t>desc</a:t>
            </a:r>
            <a:r>
              <a:rPr lang="en-US" sz="1100" dirty="0"/>
              <a:t> column. This index works differently from normal B-Tree indexes:</a:t>
            </a:r>
          </a:p>
          <a:p>
            <a:pPr>
              <a:buFont typeface="Arial" panose="020B0604020202020204" pitchFamily="34" charset="0"/>
              <a:buChar char="•"/>
            </a:pPr>
            <a:r>
              <a:rPr lang="en-US" sz="1100" dirty="0"/>
              <a:t> It </a:t>
            </a:r>
            <a:r>
              <a:rPr lang="en-US" sz="1100" b="1" dirty="0"/>
              <a:t>tokenizes</a:t>
            </a:r>
            <a:r>
              <a:rPr lang="en-US" sz="1100" dirty="0"/>
              <a:t> the content (splits text into words).</a:t>
            </a:r>
          </a:p>
          <a:p>
            <a:pPr>
              <a:buFont typeface="Arial" panose="020B0604020202020204" pitchFamily="34" charset="0"/>
              <a:buChar char="•"/>
            </a:pPr>
            <a:r>
              <a:rPr lang="en-US" sz="1100" dirty="0"/>
              <a:t> It builds an </a:t>
            </a:r>
            <a:r>
              <a:rPr lang="en-US" sz="1100" b="1" dirty="0"/>
              <a:t>inverted index</a:t>
            </a:r>
            <a:r>
              <a:rPr lang="en-US" sz="1100" dirty="0"/>
              <a:t> mapping each term → product IDs where the term appears.</a:t>
            </a:r>
          </a:p>
          <a:p>
            <a:pPr>
              <a:buFont typeface="Arial" panose="020B0604020202020204" pitchFamily="34" charset="0"/>
              <a:buChar char="•"/>
            </a:pPr>
            <a:r>
              <a:rPr lang="en-US" sz="1100" dirty="0"/>
              <a:t> This allows sub-second keyword searching even in large data.</a:t>
            </a:r>
          </a:p>
          <a:p>
            <a:pPr>
              <a:buNone/>
            </a:pPr>
            <a:r>
              <a:rPr lang="en-US" sz="1100" i="1" dirty="0"/>
              <a:t>Without this index,</a:t>
            </a:r>
            <a:r>
              <a:rPr lang="en-US" sz="1100" dirty="0"/>
              <a:t> using </a:t>
            </a:r>
            <a:r>
              <a:rPr lang="en-US" sz="1100" dirty="0">
                <a:latin typeface="Courier New" panose="02070309020205020404" pitchFamily="49" charset="0"/>
              </a:rPr>
              <a:t>LIKE '%word%'</a:t>
            </a:r>
            <a:r>
              <a:rPr lang="en-US" sz="1100" dirty="0"/>
              <a:t> would scan the entire table for matches very slow.</a:t>
            </a:r>
          </a:p>
        </p:txBody>
      </p:sp>
      <p:sp>
        <p:nvSpPr>
          <p:cNvPr id="11" name="TextBox 10">
            <a:extLst>
              <a:ext uri="{FF2B5EF4-FFF2-40B4-BE49-F238E27FC236}">
                <a16:creationId xmlns:a16="http://schemas.microsoft.com/office/drawing/2014/main" id="{016F16F9-45A2-2757-3725-A8A7DBC65F73}"/>
              </a:ext>
            </a:extLst>
          </p:cNvPr>
          <p:cNvSpPr txBox="1"/>
          <p:nvPr/>
        </p:nvSpPr>
        <p:spPr>
          <a:xfrm>
            <a:off x="5739579" y="4536329"/>
            <a:ext cx="5980471" cy="144655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buNone/>
            </a:pPr>
            <a:r>
              <a:rPr lang="en-US" sz="1100" dirty="0">
                <a:latin typeface="Courier New" panose="02070309020205020404" pitchFamily="49" charset="0"/>
              </a:rPr>
              <a:t>MATCH()</a:t>
            </a:r>
            <a:r>
              <a:rPr lang="en-US" sz="1100" dirty="0"/>
              <a:t> function searches the indexed </a:t>
            </a:r>
            <a:r>
              <a:rPr lang="en-US" sz="1100" dirty="0">
                <a:latin typeface="Courier New" panose="02070309020205020404" pitchFamily="49" charset="0"/>
              </a:rPr>
              <a:t>description</a:t>
            </a:r>
            <a:r>
              <a:rPr lang="en-US" sz="1100" dirty="0"/>
              <a:t> column, and </a:t>
            </a:r>
            <a:r>
              <a:rPr lang="en-US" sz="1100" dirty="0">
                <a:latin typeface="Courier New" panose="02070309020205020404" pitchFamily="49" charset="0"/>
              </a:rPr>
              <a:t>AGAINST()</a:t>
            </a:r>
            <a:r>
              <a:rPr lang="en-US" sz="1100" dirty="0"/>
              <a:t> specifies the search query.</a:t>
            </a:r>
          </a:p>
          <a:p>
            <a:pPr>
              <a:buFont typeface="+mj-lt"/>
              <a:buAutoNum type="arabicPeriod"/>
            </a:pPr>
            <a:r>
              <a:rPr lang="en-US" sz="1100" dirty="0"/>
              <a:t>The query searches for the keywords </a:t>
            </a:r>
            <a:r>
              <a:rPr lang="en-US" sz="1100" b="1" dirty="0"/>
              <a:t>“wireless”</a:t>
            </a:r>
            <a:r>
              <a:rPr lang="en-US" sz="1100" dirty="0"/>
              <a:t> and </a:t>
            </a:r>
            <a:r>
              <a:rPr lang="en-US" sz="1100" b="1" dirty="0"/>
              <a:t>“fan”</a:t>
            </a:r>
            <a:r>
              <a:rPr lang="en-US" sz="1100" dirty="0"/>
              <a:t>.</a:t>
            </a:r>
          </a:p>
          <a:p>
            <a:pPr>
              <a:buFont typeface="+mj-lt"/>
              <a:buAutoNum type="arabicPeriod"/>
            </a:pPr>
            <a:r>
              <a:rPr lang="en-US" sz="1100" dirty="0"/>
              <a:t>MySQL uses the </a:t>
            </a:r>
            <a:r>
              <a:rPr lang="en-US" sz="1100" b="1" dirty="0"/>
              <a:t>full-text index</a:t>
            </a:r>
            <a:r>
              <a:rPr lang="en-US" sz="1100" dirty="0"/>
              <a:t> to find all rows where these words appear.</a:t>
            </a:r>
          </a:p>
          <a:p>
            <a:pPr>
              <a:buFont typeface="+mj-lt"/>
              <a:buAutoNum type="arabicPeriod"/>
            </a:pPr>
            <a:r>
              <a:rPr lang="en-US" sz="1100" dirty="0"/>
              <a:t>Results are </a:t>
            </a:r>
            <a:r>
              <a:rPr lang="en-US" sz="1100" b="1" dirty="0"/>
              <a:t>ranked by relevance</a:t>
            </a:r>
            <a:r>
              <a:rPr lang="en-US" sz="1100" dirty="0"/>
              <a:t> — rows with both terms appearing more frequently (or closer together) rank higher.</a:t>
            </a:r>
          </a:p>
          <a:p>
            <a:pPr>
              <a:buFont typeface="+mj-lt"/>
              <a:buAutoNum type="arabicPeriod"/>
            </a:pPr>
            <a:r>
              <a:rPr lang="en-US" sz="1100" dirty="0">
                <a:latin typeface="Courier New" panose="02070309020205020404" pitchFamily="49" charset="0"/>
              </a:rPr>
              <a:t>IN NATURAL LANGUAGE MODE</a:t>
            </a:r>
            <a:r>
              <a:rPr lang="en-US" sz="1100" dirty="0"/>
              <a:t> means the search behaves like a normal human-language query.</a:t>
            </a:r>
          </a:p>
        </p:txBody>
      </p:sp>
    </p:spTree>
    <p:extLst>
      <p:ext uri="{BB962C8B-B14F-4D97-AF65-F5344CB8AC3E}">
        <p14:creationId xmlns:p14="http://schemas.microsoft.com/office/powerpoint/2010/main" val="46449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1"/>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How Indexes works in DB?</a:t>
            </a:r>
            <a:endParaRPr dirty="0"/>
          </a:p>
        </p:txBody>
      </p:sp>
      <p:sp>
        <p:nvSpPr>
          <p:cNvPr id="222" name="Google Shape;222;p11"/>
          <p:cNvSpPr txBox="1">
            <a:spLocks noGrp="1"/>
          </p:cNvSpPr>
          <p:nvPr>
            <p:ph type="body" idx="1"/>
          </p:nvPr>
        </p:nvSpPr>
        <p:spPr>
          <a:xfrm>
            <a:off x="216309" y="1081876"/>
            <a:ext cx="11641394" cy="3381969"/>
          </a:xfrm>
          <a:prstGeom prst="rect">
            <a:avLst/>
          </a:prstGeom>
          <a:noFill/>
          <a:ln>
            <a:noFill/>
          </a:ln>
        </p:spPr>
        <p:txBody>
          <a:bodyPr spcFirstLastPara="1" wrap="square" lIns="91425" tIns="45700" rIns="91425" bIns="45700" anchor="t" anchorCtr="0">
            <a:normAutofit/>
          </a:bodyPr>
          <a:lstStyle/>
          <a:p>
            <a:pPr fontAlgn="base">
              <a:lnSpc>
                <a:spcPct val="150000"/>
              </a:lnSpc>
            </a:pPr>
            <a:r>
              <a:rPr lang="en-US" sz="1800" dirty="0"/>
              <a:t>Indexes are implemented using data structures like </a:t>
            </a:r>
            <a:r>
              <a:rPr lang="en-US" sz="1800" b="1" dirty="0"/>
              <a:t>B-trees</a:t>
            </a:r>
            <a:r>
              <a:rPr lang="en-US" sz="1800" dirty="0"/>
              <a:t>, which organize the data in a way that reduces the number of steps required to find a particular row. When an index is created on a column, the database engine generates a sorted data structure for that column that enables rapid searching.</a:t>
            </a:r>
          </a:p>
          <a:p>
            <a:pPr fontAlgn="base">
              <a:lnSpc>
                <a:spcPct val="150000"/>
              </a:lnSpc>
            </a:pPr>
            <a:r>
              <a:rPr lang="en-US" sz="1800" dirty="0"/>
              <a:t>When a query is executed, the database checks if an index is available for the specified columns. If it is, the database uses the index to find the data more quickly, as opposed to scanning each row sequentially (a process known as a </a:t>
            </a:r>
            <a:r>
              <a:rPr lang="en-US" sz="1800" b="1" dirty="0"/>
              <a:t>full table scan</a:t>
            </a:r>
            <a:r>
              <a:rPr lang="en-US" sz="1800" dirty="0"/>
              <a:t>).</a:t>
            </a:r>
          </a:p>
          <a:p>
            <a:pPr fontAlgn="base">
              <a:lnSpc>
                <a:spcPct val="150000"/>
              </a:lnSpc>
            </a:pPr>
            <a:r>
              <a:rPr lang="en-US" sz="1800" dirty="0"/>
              <a:t>For example: </a:t>
            </a:r>
          </a:p>
          <a:p>
            <a:pPr marL="228600" lvl="0" indent="-76200" algn="l" rtl="0">
              <a:lnSpc>
                <a:spcPct val="90000"/>
              </a:lnSpc>
              <a:spcBef>
                <a:spcPts val="0"/>
              </a:spcBef>
              <a:spcAft>
                <a:spcPts val="0"/>
              </a:spcAft>
              <a:buClr>
                <a:schemeClr val="dk1"/>
              </a:buClr>
              <a:buSzPts val="2400"/>
              <a:buNone/>
            </a:pPr>
            <a:endParaRPr dirty="0"/>
          </a:p>
        </p:txBody>
      </p:sp>
      <p:sp>
        <p:nvSpPr>
          <p:cNvPr id="2" name="Rectangle 1">
            <a:extLst>
              <a:ext uri="{FF2B5EF4-FFF2-40B4-BE49-F238E27FC236}">
                <a16:creationId xmlns:a16="http://schemas.microsoft.com/office/drawing/2014/main" id="{039370E2-AB10-F662-BB49-FFDBD223826E}"/>
              </a:ext>
            </a:extLst>
          </p:cNvPr>
          <p:cNvSpPr/>
          <p:nvPr/>
        </p:nvSpPr>
        <p:spPr>
          <a:xfrm>
            <a:off x="607143" y="4480058"/>
            <a:ext cx="10758950" cy="2002195"/>
          </a:xfrm>
          <a:prstGeom prst="rect">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just">
              <a:lnSpc>
                <a:spcPct val="200000"/>
              </a:lnSpc>
            </a:pPr>
            <a:r>
              <a:rPr lang="en-US" sz="1600" dirty="0"/>
              <a:t>Let’s say you have a table called</a:t>
            </a:r>
            <a:r>
              <a:rPr lang="en-US" sz="1600" dirty="0">
                <a:latin typeface="Courier New" panose="02070309020205020404" pitchFamily="49" charset="0"/>
                <a:cs typeface="Courier New" panose="02070309020205020404" pitchFamily="49" charset="0"/>
              </a:rPr>
              <a:t> Students </a:t>
            </a:r>
            <a:r>
              <a:rPr lang="en-US" sz="1600" dirty="0"/>
              <a:t>with columns such as </a:t>
            </a:r>
            <a:r>
              <a:rPr lang="en-US" sz="1600" dirty="0" err="1">
                <a:latin typeface="Courier New" panose="02070309020205020404" pitchFamily="49" charset="0"/>
                <a:cs typeface="Courier New" panose="02070309020205020404" pitchFamily="49" charset="0"/>
              </a:rPr>
              <a:t>StudentID</a:t>
            </a:r>
            <a:r>
              <a:rPr lang="en-US" sz="1600" dirty="0">
                <a:latin typeface="Courier New" panose="02070309020205020404" pitchFamily="49" charset="0"/>
                <a:cs typeface="Courier New" panose="02070309020205020404" pitchFamily="49" charset="0"/>
              </a:rPr>
              <a:t>, Name, and Department</a:t>
            </a:r>
            <a:r>
              <a:rPr lang="en-US" sz="1600" dirty="0"/>
              <a:t>. If you frequently query the </a:t>
            </a:r>
            <a:r>
              <a:rPr lang="en-US" sz="1600" dirty="0" err="1">
                <a:latin typeface="Courier New" panose="02070309020205020404" pitchFamily="49" charset="0"/>
                <a:cs typeface="Courier New" panose="02070309020205020404" pitchFamily="49" charset="0"/>
              </a:rPr>
              <a:t>StudentID</a:t>
            </a:r>
            <a:r>
              <a:rPr lang="en-US" sz="1600" dirty="0"/>
              <a:t> column, creating an index on it will make those queries faster. Instead of searching through each row to find a particular</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StudentID</a:t>
            </a:r>
            <a:r>
              <a:rPr lang="en-US" sz="1600" dirty="0"/>
              <a:t>, the database can use the index, which has already organized </a:t>
            </a:r>
            <a:r>
              <a:rPr lang="en-US" sz="1600" dirty="0" err="1">
                <a:latin typeface="Courier New" panose="02070309020205020404" pitchFamily="49" charset="0"/>
                <a:cs typeface="Courier New" panose="02070309020205020404" pitchFamily="49" charset="0"/>
              </a:rPr>
              <a:t>StudentID</a:t>
            </a:r>
            <a:r>
              <a:rPr lang="en-US" sz="1600" dirty="0"/>
              <a:t> values in a way that makes them easy to locate.</a:t>
            </a:r>
          </a:p>
          <a:p>
            <a:pPr algn="ctr"/>
            <a:endParaRPr lang="en-MY"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7573F-4434-A185-7B7D-0A6FEC17893A}"/>
              </a:ext>
            </a:extLst>
          </p:cNvPr>
          <p:cNvSpPr>
            <a:spLocks noGrp="1"/>
          </p:cNvSpPr>
          <p:nvPr>
            <p:ph type="title"/>
          </p:nvPr>
        </p:nvSpPr>
        <p:spPr/>
        <p:txBody>
          <a:bodyPr/>
          <a:lstStyle/>
          <a:p>
            <a:r>
              <a:rPr lang="en-US" dirty="0"/>
              <a:t>How Indexes works in DB?</a:t>
            </a:r>
            <a:endParaRPr lang="en-MY" dirty="0"/>
          </a:p>
        </p:txBody>
      </p:sp>
      <p:pic>
        <p:nvPicPr>
          <p:cNvPr id="3074" name="Picture 2">
            <a:extLst>
              <a:ext uri="{FF2B5EF4-FFF2-40B4-BE49-F238E27FC236}">
                <a16:creationId xmlns:a16="http://schemas.microsoft.com/office/drawing/2014/main" id="{9CB22846-799C-9CBF-C891-D180E1BF00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129" t="9535" r="6378" b="13301"/>
          <a:stretch>
            <a:fillRect/>
          </a:stretch>
        </p:blipFill>
        <p:spPr bwMode="auto">
          <a:xfrm>
            <a:off x="403123" y="1964734"/>
            <a:ext cx="4296697" cy="25247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E1FF9D-5E57-4A39-5673-2806B5AC5976}"/>
              </a:ext>
            </a:extLst>
          </p:cNvPr>
          <p:cNvSpPr txBox="1"/>
          <p:nvPr/>
        </p:nvSpPr>
        <p:spPr>
          <a:xfrm>
            <a:off x="5161935" y="1474681"/>
            <a:ext cx="6191865" cy="1909433"/>
          </a:xfrm>
          <a:prstGeom prst="rect">
            <a:avLst/>
          </a:prstGeom>
          <a:noFill/>
        </p:spPr>
        <p:txBody>
          <a:bodyPr wrap="square">
            <a:spAutoFit/>
          </a:bodyPr>
          <a:lstStyle/>
          <a:p>
            <a:pPr marL="285750" indent="-285750" algn="l">
              <a:lnSpc>
                <a:spcPts val="2400"/>
              </a:lnSpc>
              <a:buFont typeface="Arial" panose="020B0604020202020204" pitchFamily="34" charset="0"/>
              <a:buChar char="•"/>
            </a:pPr>
            <a:r>
              <a:rPr lang="en-US" b="0" i="0" dirty="0">
                <a:solidFill>
                  <a:srgbClr val="242424"/>
                </a:solidFill>
                <a:effectLst/>
                <a:latin typeface="+mn-lt"/>
              </a:rPr>
              <a:t>An index is a shortcut that helps the database find data quickly without scanning every row.</a:t>
            </a:r>
            <a:endParaRPr lang="en-US" b="1" i="0" dirty="0">
              <a:solidFill>
                <a:srgbClr val="242424"/>
              </a:solidFill>
              <a:effectLst/>
              <a:latin typeface="+mn-lt"/>
            </a:endParaRPr>
          </a:p>
          <a:p>
            <a:pPr marL="285750" indent="-285750" algn="l">
              <a:lnSpc>
                <a:spcPts val="2400"/>
              </a:lnSpc>
              <a:buFont typeface="Arial" panose="020B0604020202020204" pitchFamily="34" charset="0"/>
              <a:buChar char="•"/>
            </a:pPr>
            <a:r>
              <a:rPr lang="en-US" b="0" i="0" dirty="0">
                <a:solidFill>
                  <a:srgbClr val="242424"/>
                </a:solidFill>
                <a:effectLst/>
                <a:latin typeface="+mn-lt"/>
              </a:rPr>
              <a:t>The index stores a sorted list of values from a column (</a:t>
            </a:r>
            <a:r>
              <a:rPr lang="en-US" dirty="0">
                <a:solidFill>
                  <a:srgbClr val="242424"/>
                </a:solidFill>
                <a:latin typeface="+mn-lt"/>
              </a:rPr>
              <a:t>example: </a:t>
            </a:r>
            <a:r>
              <a:rPr lang="en-US" b="0" i="0" dirty="0">
                <a:solidFill>
                  <a:srgbClr val="242424"/>
                </a:solidFill>
                <a:effectLst/>
                <a:latin typeface="+mn-lt"/>
              </a:rPr>
              <a:t>email).</a:t>
            </a:r>
          </a:p>
          <a:p>
            <a:pPr marL="285750" indent="-285750" algn="l">
              <a:lnSpc>
                <a:spcPts val="2400"/>
              </a:lnSpc>
              <a:buFont typeface="Arial" panose="020B0604020202020204" pitchFamily="34" charset="0"/>
              <a:buChar char="•"/>
            </a:pPr>
            <a:r>
              <a:rPr lang="en-US" b="0" i="0" dirty="0">
                <a:solidFill>
                  <a:srgbClr val="242424"/>
                </a:solidFill>
                <a:effectLst/>
                <a:latin typeface="+mn-lt"/>
              </a:rPr>
              <a:t>Each entry in the index points to a page where the actual data is stored.</a:t>
            </a:r>
          </a:p>
          <a:p>
            <a:pPr marL="285750" indent="-285750" algn="l">
              <a:lnSpc>
                <a:spcPts val="2400"/>
              </a:lnSpc>
              <a:buFont typeface="Arial" panose="020B0604020202020204" pitchFamily="34" charset="0"/>
              <a:buChar char="•"/>
            </a:pPr>
            <a:r>
              <a:rPr lang="en-US" b="0" i="0" dirty="0">
                <a:solidFill>
                  <a:srgbClr val="242424"/>
                </a:solidFill>
                <a:effectLst/>
                <a:latin typeface="+mn-lt"/>
              </a:rPr>
              <a:t>Instead of scanning every row, the database looks at the index first, finds the right page, and jumps directly to it.</a:t>
            </a:r>
          </a:p>
        </p:txBody>
      </p:sp>
      <p:sp>
        <p:nvSpPr>
          <p:cNvPr id="7" name="TextBox 6">
            <a:extLst>
              <a:ext uri="{FF2B5EF4-FFF2-40B4-BE49-F238E27FC236}">
                <a16:creationId xmlns:a16="http://schemas.microsoft.com/office/drawing/2014/main" id="{6F105502-021E-9E5E-E6E4-5BB7E18A21BD}"/>
              </a:ext>
            </a:extLst>
          </p:cNvPr>
          <p:cNvSpPr txBox="1"/>
          <p:nvPr/>
        </p:nvSpPr>
        <p:spPr>
          <a:xfrm>
            <a:off x="235974" y="4548497"/>
            <a:ext cx="6096000" cy="306302"/>
          </a:xfrm>
          <a:prstGeom prst="rect">
            <a:avLst/>
          </a:prstGeom>
          <a:noFill/>
        </p:spPr>
        <p:txBody>
          <a:bodyPr wrap="square">
            <a:spAutoFit/>
          </a:bodyPr>
          <a:lstStyle/>
          <a:p>
            <a:pPr algn="l">
              <a:lnSpc>
                <a:spcPts val="1800"/>
              </a:lnSpc>
              <a:buNone/>
            </a:pPr>
            <a:r>
              <a:rPr lang="en-US" b="1" i="0" dirty="0">
                <a:solidFill>
                  <a:srgbClr val="242424"/>
                </a:solidFill>
                <a:effectLst/>
                <a:latin typeface="+mn-lt"/>
              </a:rPr>
              <a:t>Creating an Index</a:t>
            </a:r>
          </a:p>
        </p:txBody>
      </p:sp>
      <p:sp>
        <p:nvSpPr>
          <p:cNvPr id="9" name="TextBox 8">
            <a:extLst>
              <a:ext uri="{FF2B5EF4-FFF2-40B4-BE49-F238E27FC236}">
                <a16:creationId xmlns:a16="http://schemas.microsoft.com/office/drawing/2014/main" id="{4E854006-3D26-5A8F-B574-1A22F264462B}"/>
              </a:ext>
            </a:extLst>
          </p:cNvPr>
          <p:cNvSpPr txBox="1"/>
          <p:nvPr/>
        </p:nvSpPr>
        <p:spPr>
          <a:xfrm>
            <a:off x="235972" y="4918675"/>
            <a:ext cx="5132439" cy="307777"/>
          </a:xfrm>
          <a:prstGeom prst="rect">
            <a:avLst/>
          </a:prstGeom>
          <a:noFill/>
        </p:spPr>
        <p:txBody>
          <a:bodyPr wrap="square">
            <a:spAutoFit/>
          </a:bodyPr>
          <a:lstStyle/>
          <a:p>
            <a:pPr algn="l">
              <a:spcBef>
                <a:spcPts val="4200"/>
              </a:spcBef>
              <a:buNone/>
            </a:pPr>
            <a:r>
              <a:rPr lang="en-US" b="0" i="0" dirty="0">
                <a:solidFill>
                  <a:srgbClr val="AA0D91"/>
                </a:solidFill>
                <a:effectLst/>
                <a:latin typeface="Courier New" panose="02070309020205020404" pitchFamily="49" charset="0"/>
                <a:cs typeface="Courier New" panose="02070309020205020404" pitchFamily="49" charset="0"/>
              </a:rPr>
              <a:t>CREATE</a:t>
            </a:r>
            <a:r>
              <a:rPr lang="en-US" b="0" i="0" dirty="0">
                <a:solidFill>
                  <a:srgbClr val="242424"/>
                </a:solidFill>
                <a:effectLst/>
                <a:latin typeface="Courier New" panose="02070309020205020404" pitchFamily="49" charset="0"/>
                <a:cs typeface="Courier New" panose="02070309020205020404" pitchFamily="49" charset="0"/>
              </a:rPr>
              <a:t> INDEX </a:t>
            </a:r>
            <a:r>
              <a:rPr lang="en-US" b="0" i="0" dirty="0" err="1">
                <a:solidFill>
                  <a:srgbClr val="242424"/>
                </a:solidFill>
                <a:effectLst/>
                <a:latin typeface="Courier New" panose="02070309020205020404" pitchFamily="49" charset="0"/>
                <a:cs typeface="Courier New" panose="02070309020205020404" pitchFamily="49" charset="0"/>
              </a:rPr>
              <a:t>idx_users_email</a:t>
            </a:r>
            <a:r>
              <a:rPr lang="en-US" b="0" i="0" dirty="0">
                <a:solidFill>
                  <a:srgbClr val="242424"/>
                </a:solidFill>
                <a:effectLst/>
                <a:latin typeface="Courier New" panose="02070309020205020404" pitchFamily="49" charset="0"/>
                <a:cs typeface="Courier New" panose="02070309020205020404" pitchFamily="49" charset="0"/>
              </a:rPr>
              <a:t> </a:t>
            </a:r>
            <a:r>
              <a:rPr lang="en-US" b="0" i="0" dirty="0">
                <a:solidFill>
                  <a:srgbClr val="AA0D91"/>
                </a:solidFill>
                <a:effectLst/>
                <a:latin typeface="Courier New" panose="02070309020205020404" pitchFamily="49" charset="0"/>
                <a:cs typeface="Courier New" panose="02070309020205020404" pitchFamily="49" charset="0"/>
              </a:rPr>
              <a:t>ON</a:t>
            </a:r>
            <a:r>
              <a:rPr lang="en-US" b="0" i="0" dirty="0">
                <a:solidFill>
                  <a:srgbClr val="242424"/>
                </a:solidFill>
                <a:effectLst/>
                <a:latin typeface="Courier New" panose="02070309020205020404" pitchFamily="49" charset="0"/>
                <a:cs typeface="Courier New" panose="02070309020205020404" pitchFamily="49" charset="0"/>
              </a:rPr>
              <a:t> users (email);</a:t>
            </a:r>
          </a:p>
        </p:txBody>
      </p:sp>
      <p:sp>
        <p:nvSpPr>
          <p:cNvPr id="13" name="TextBox 12">
            <a:extLst>
              <a:ext uri="{FF2B5EF4-FFF2-40B4-BE49-F238E27FC236}">
                <a16:creationId xmlns:a16="http://schemas.microsoft.com/office/drawing/2014/main" id="{5D143F0F-7963-5B65-BE84-D372ECF2456E}"/>
              </a:ext>
            </a:extLst>
          </p:cNvPr>
          <p:cNvSpPr txBox="1"/>
          <p:nvPr/>
        </p:nvSpPr>
        <p:spPr>
          <a:xfrm>
            <a:off x="5692877" y="3528832"/>
            <a:ext cx="6096000" cy="306237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spcBef>
                <a:spcPts val="600"/>
              </a:spcBef>
            </a:pPr>
            <a:r>
              <a:rPr lang="en-US" b="1" dirty="0">
                <a:solidFill>
                  <a:srgbClr val="363737"/>
                </a:solidFill>
                <a:latin typeface="Spectral"/>
              </a:rPr>
              <a:t>HOW INDEXES WORKS IN DB?</a:t>
            </a:r>
          </a:p>
          <a:p>
            <a:pPr algn="l">
              <a:spcBef>
                <a:spcPts val="600"/>
              </a:spcBef>
            </a:pPr>
            <a:r>
              <a:rPr lang="en-US" b="1" i="0" dirty="0">
                <a:solidFill>
                  <a:srgbClr val="363737"/>
                </a:solidFill>
                <a:effectLst/>
                <a:latin typeface="Spectral"/>
              </a:rPr>
              <a:t>Index Creation</a:t>
            </a:r>
            <a:r>
              <a:rPr lang="en-US" b="0" i="0" dirty="0">
                <a:solidFill>
                  <a:srgbClr val="363737"/>
                </a:solidFill>
                <a:effectLst/>
                <a:latin typeface="Spectral"/>
              </a:rPr>
              <a:t>: The database administrator creates an index on a specific column or set of columns.</a:t>
            </a:r>
          </a:p>
          <a:p>
            <a:pPr algn="l">
              <a:spcBef>
                <a:spcPts val="600"/>
              </a:spcBef>
              <a:buFont typeface="+mj-lt"/>
              <a:buAutoNum type="arabicPeriod"/>
            </a:pPr>
            <a:r>
              <a:rPr lang="en-US" b="1" i="0" dirty="0">
                <a:solidFill>
                  <a:srgbClr val="363737"/>
                </a:solidFill>
                <a:effectLst/>
                <a:latin typeface="Spectral"/>
              </a:rPr>
              <a:t>Index Building</a:t>
            </a:r>
            <a:r>
              <a:rPr lang="en-US" b="0" i="0" dirty="0">
                <a:solidFill>
                  <a:srgbClr val="363737"/>
                </a:solidFill>
                <a:effectLst/>
                <a:latin typeface="Spectral"/>
              </a:rPr>
              <a:t>: The database management system builds the index by scanning the table and storing the values of the indexed column(s) along with a pointer to the corresponding data.</a:t>
            </a:r>
          </a:p>
          <a:p>
            <a:pPr algn="l">
              <a:spcBef>
                <a:spcPts val="600"/>
              </a:spcBef>
              <a:buFont typeface="+mj-lt"/>
              <a:buAutoNum type="arabicPeriod"/>
            </a:pPr>
            <a:r>
              <a:rPr lang="en-US" b="1" i="0" dirty="0">
                <a:solidFill>
                  <a:srgbClr val="363737"/>
                </a:solidFill>
                <a:effectLst/>
                <a:latin typeface="Spectral"/>
              </a:rPr>
              <a:t>Query Execution</a:t>
            </a:r>
            <a:r>
              <a:rPr lang="en-US" b="0" i="0" dirty="0">
                <a:solidFill>
                  <a:srgbClr val="363737"/>
                </a:solidFill>
                <a:effectLst/>
                <a:latin typeface="Spectral"/>
              </a:rPr>
              <a:t>: When a query is executed, the database engine checks if an index exists for the requested column(s).</a:t>
            </a:r>
          </a:p>
          <a:p>
            <a:pPr algn="l">
              <a:spcBef>
                <a:spcPts val="600"/>
              </a:spcBef>
              <a:buFont typeface="+mj-lt"/>
              <a:buAutoNum type="arabicPeriod"/>
            </a:pPr>
            <a:r>
              <a:rPr lang="en-US" b="1" i="0" dirty="0">
                <a:solidFill>
                  <a:srgbClr val="363737"/>
                </a:solidFill>
                <a:effectLst/>
                <a:latin typeface="Spectral"/>
              </a:rPr>
              <a:t>Index Search</a:t>
            </a:r>
            <a:r>
              <a:rPr lang="en-US" b="0" i="0" dirty="0">
                <a:solidFill>
                  <a:srgbClr val="363737"/>
                </a:solidFill>
                <a:effectLst/>
                <a:latin typeface="Spectral"/>
              </a:rPr>
              <a:t>: If an index exists, the database searches the index for the requested data, using the pointers to quickly locate the data.</a:t>
            </a:r>
          </a:p>
          <a:p>
            <a:pPr algn="l">
              <a:spcBef>
                <a:spcPts val="600"/>
              </a:spcBef>
              <a:buFont typeface="+mj-lt"/>
              <a:buAutoNum type="arabicPeriod"/>
            </a:pPr>
            <a:r>
              <a:rPr lang="en-US" b="1" i="0" dirty="0">
                <a:solidFill>
                  <a:srgbClr val="363737"/>
                </a:solidFill>
                <a:effectLst/>
                <a:latin typeface="Spectral"/>
              </a:rPr>
              <a:t>Data Retrieval</a:t>
            </a:r>
            <a:r>
              <a:rPr lang="en-US" b="0" i="0" dirty="0">
                <a:solidFill>
                  <a:srgbClr val="363737"/>
                </a:solidFill>
                <a:effectLst/>
                <a:latin typeface="Spectral"/>
              </a:rPr>
              <a:t>: The database retrieves the requested data, using the pointers from the index.</a:t>
            </a:r>
          </a:p>
        </p:txBody>
      </p:sp>
      <p:sp>
        <p:nvSpPr>
          <p:cNvPr id="14" name="TextBox 13">
            <a:extLst>
              <a:ext uri="{FF2B5EF4-FFF2-40B4-BE49-F238E27FC236}">
                <a16:creationId xmlns:a16="http://schemas.microsoft.com/office/drawing/2014/main" id="{A85FEFCC-FA5C-91A1-FB6D-06FFED61A751}"/>
              </a:ext>
            </a:extLst>
          </p:cNvPr>
          <p:cNvSpPr txBox="1"/>
          <p:nvPr/>
        </p:nvSpPr>
        <p:spPr>
          <a:xfrm>
            <a:off x="235972" y="5869378"/>
            <a:ext cx="5132439" cy="523220"/>
          </a:xfrm>
          <a:prstGeom prst="rect">
            <a:avLst/>
          </a:prstGeom>
          <a:noFill/>
        </p:spPr>
        <p:txBody>
          <a:bodyPr wrap="square">
            <a:spAutoFit/>
          </a:bodyPr>
          <a:lstStyle/>
          <a:p>
            <a:pPr algn="l">
              <a:spcBef>
                <a:spcPts val="4200"/>
              </a:spcBef>
              <a:buNone/>
            </a:pPr>
            <a:r>
              <a:rPr lang="en-US" b="0" i="0" dirty="0">
                <a:solidFill>
                  <a:srgbClr val="AA0D91"/>
                </a:solidFill>
                <a:effectLst/>
                <a:latin typeface="Courier New" panose="02070309020205020404" pitchFamily="49" charset="0"/>
                <a:cs typeface="Courier New" panose="02070309020205020404" pitchFamily="49" charset="0"/>
              </a:rPr>
              <a:t>SELECT </a:t>
            </a:r>
            <a:r>
              <a:rPr lang="en-US" b="0" i="0" dirty="0">
                <a:solidFill>
                  <a:schemeClr val="tx1"/>
                </a:solidFill>
                <a:effectLst/>
                <a:latin typeface="Courier New" panose="02070309020205020404" pitchFamily="49" charset="0"/>
                <a:cs typeface="Courier New" panose="02070309020205020404" pitchFamily="49" charset="0"/>
              </a:rPr>
              <a:t>*</a:t>
            </a:r>
            <a:r>
              <a:rPr lang="en-US" b="0" i="0" dirty="0">
                <a:solidFill>
                  <a:srgbClr val="AA0D91"/>
                </a:solidFill>
                <a:effectLst/>
                <a:latin typeface="Courier New" panose="02070309020205020404" pitchFamily="49" charset="0"/>
                <a:cs typeface="Courier New" panose="02070309020205020404" pitchFamily="49" charset="0"/>
              </a:rPr>
              <a:t> FROM </a:t>
            </a:r>
            <a:r>
              <a:rPr lang="en-US" b="0" i="0" dirty="0">
                <a:solidFill>
                  <a:schemeClr val="tx1"/>
                </a:solidFill>
                <a:effectLst/>
                <a:latin typeface="Courier New" panose="02070309020205020404" pitchFamily="49" charset="0"/>
                <a:cs typeface="Courier New" panose="02070309020205020404" pitchFamily="49" charset="0"/>
              </a:rPr>
              <a:t>users</a:t>
            </a:r>
            <a:r>
              <a:rPr lang="en-US" b="0" i="0" dirty="0">
                <a:solidFill>
                  <a:srgbClr val="AA0D91"/>
                </a:solidFill>
                <a:effectLst/>
                <a:latin typeface="Courier New" panose="02070309020205020404" pitchFamily="49" charset="0"/>
                <a:cs typeface="Courier New" panose="02070309020205020404" pitchFamily="49" charset="0"/>
              </a:rPr>
              <a:t> WHERE </a:t>
            </a:r>
            <a:r>
              <a:rPr lang="en-US" b="0" i="0" dirty="0" err="1">
                <a:solidFill>
                  <a:schemeClr val="tx1"/>
                </a:solidFill>
                <a:effectLst/>
                <a:latin typeface="Courier New" panose="02070309020205020404" pitchFamily="49" charset="0"/>
                <a:cs typeface="Courier New" panose="02070309020205020404" pitchFamily="49" charset="0"/>
              </a:rPr>
              <a:t>users_email</a:t>
            </a:r>
            <a:r>
              <a:rPr lang="en-US" b="0" i="0" dirty="0">
                <a:solidFill>
                  <a:schemeClr val="tx1"/>
                </a:solidFill>
                <a:effectLst/>
                <a:latin typeface="Courier New" panose="02070309020205020404" pitchFamily="49" charset="0"/>
                <a:cs typeface="Courier New" panose="02070309020205020404" pitchFamily="49" charset="0"/>
              </a:rPr>
              <a:t> = “ali@graduate.utm.my” </a:t>
            </a:r>
          </a:p>
        </p:txBody>
      </p:sp>
      <p:sp>
        <p:nvSpPr>
          <p:cNvPr id="16" name="TextBox 15">
            <a:extLst>
              <a:ext uri="{FF2B5EF4-FFF2-40B4-BE49-F238E27FC236}">
                <a16:creationId xmlns:a16="http://schemas.microsoft.com/office/drawing/2014/main" id="{985A0454-DC58-C472-1CB6-173641E0B3A2}"/>
              </a:ext>
            </a:extLst>
          </p:cNvPr>
          <p:cNvSpPr txBox="1"/>
          <p:nvPr/>
        </p:nvSpPr>
        <p:spPr>
          <a:xfrm>
            <a:off x="235974" y="5286305"/>
            <a:ext cx="6096000" cy="523220"/>
          </a:xfrm>
          <a:prstGeom prst="rect">
            <a:avLst/>
          </a:prstGeom>
          <a:noFill/>
        </p:spPr>
        <p:txBody>
          <a:bodyPr wrap="square">
            <a:spAutoFit/>
          </a:bodyPr>
          <a:lstStyle/>
          <a:p>
            <a:r>
              <a:rPr lang="en-US" b="1" i="0" dirty="0">
                <a:solidFill>
                  <a:srgbClr val="363737"/>
                </a:solidFill>
                <a:effectLst/>
                <a:latin typeface="Spectral"/>
              </a:rPr>
              <a:t>After creating the index, queries that involve conditions or sorting on the </a:t>
            </a:r>
            <a:r>
              <a:rPr lang="en-US" b="1" dirty="0" err="1">
                <a:solidFill>
                  <a:srgbClr val="363737"/>
                </a:solidFill>
                <a:latin typeface="Courier New" panose="02070309020205020404" pitchFamily="49" charset="0"/>
              </a:rPr>
              <a:t>users_email</a:t>
            </a:r>
            <a:r>
              <a:rPr lang="en-US" b="1" i="0" dirty="0">
                <a:solidFill>
                  <a:srgbClr val="363737"/>
                </a:solidFill>
                <a:effectLst/>
                <a:latin typeface="Spectral"/>
              </a:rPr>
              <a:t> column will be optimized. </a:t>
            </a:r>
            <a:endParaRPr lang="en-MY" b="1" dirty="0"/>
          </a:p>
        </p:txBody>
      </p:sp>
    </p:spTree>
    <p:extLst>
      <p:ext uri="{BB962C8B-B14F-4D97-AF65-F5344CB8AC3E}">
        <p14:creationId xmlns:p14="http://schemas.microsoft.com/office/powerpoint/2010/main" val="3460973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AC14A6FC-B186-9E23-C975-F6046E855B74}"/>
            </a:ext>
          </a:extLst>
        </p:cNvPr>
        <p:cNvGrpSpPr/>
        <p:nvPr/>
      </p:nvGrpSpPr>
      <p:grpSpPr>
        <a:xfrm>
          <a:off x="0" y="0"/>
          <a:ext cx="0" cy="0"/>
          <a:chOff x="0" y="0"/>
          <a:chExt cx="0" cy="0"/>
        </a:xfrm>
      </p:grpSpPr>
      <p:sp>
        <p:nvSpPr>
          <p:cNvPr id="227" name="Google Shape;227;p12">
            <a:extLst>
              <a:ext uri="{FF2B5EF4-FFF2-40B4-BE49-F238E27FC236}">
                <a16:creationId xmlns:a16="http://schemas.microsoft.com/office/drawing/2014/main" id="{E13263E9-DF60-4365-996F-C7B2A56A13D7}"/>
              </a:ext>
            </a:extLst>
          </p:cNvPr>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dirty="0"/>
              <a:t>Advantage of Indexes</a:t>
            </a:r>
            <a:endParaRPr dirty="0"/>
          </a:p>
        </p:txBody>
      </p:sp>
      <p:sp>
        <p:nvSpPr>
          <p:cNvPr id="3" name="Text Placeholder 2">
            <a:extLst>
              <a:ext uri="{FF2B5EF4-FFF2-40B4-BE49-F238E27FC236}">
                <a16:creationId xmlns:a16="http://schemas.microsoft.com/office/drawing/2014/main" id="{300A15D8-3607-064C-01BC-529014A0E770}"/>
              </a:ext>
            </a:extLst>
          </p:cNvPr>
          <p:cNvSpPr>
            <a:spLocks noGrp="1"/>
          </p:cNvSpPr>
          <p:nvPr>
            <p:ph type="body" idx="1"/>
          </p:nvPr>
        </p:nvSpPr>
        <p:spPr/>
        <p:txBody>
          <a:bodyPr/>
          <a:lstStyle/>
          <a:p>
            <a:pPr fontAlgn="base"/>
            <a:r>
              <a:rPr lang="en-US" dirty="0"/>
              <a:t>Query optimization: Indexes make search queries much faster.</a:t>
            </a:r>
          </a:p>
          <a:p>
            <a:pPr fontAlgn="base"/>
            <a:endParaRPr lang="en-US" dirty="0"/>
          </a:p>
          <a:p>
            <a:pPr fontAlgn="base"/>
            <a:r>
              <a:rPr lang="en-US" dirty="0"/>
              <a:t>Uniqueness: Indexes like primary key index and unique index help to avoid duplicate row data.</a:t>
            </a:r>
          </a:p>
          <a:p>
            <a:pPr marL="76200" indent="0" fontAlgn="base">
              <a:buNone/>
            </a:pPr>
            <a:endParaRPr lang="en-US" dirty="0"/>
          </a:p>
          <a:p>
            <a:pPr fontAlgn="base"/>
            <a:r>
              <a:rPr lang="en-US" dirty="0"/>
              <a:t>Text searching: Users have the opportunity to optimize searching against even large amounts of text located in any field indexed as such.</a:t>
            </a:r>
          </a:p>
          <a:p>
            <a:pPr marL="76200" indent="0">
              <a:buNone/>
            </a:pPr>
            <a:endParaRPr lang="en-MY" dirty="0"/>
          </a:p>
        </p:txBody>
      </p:sp>
    </p:spTree>
    <p:extLst>
      <p:ext uri="{BB962C8B-B14F-4D97-AF65-F5344CB8AC3E}">
        <p14:creationId xmlns:p14="http://schemas.microsoft.com/office/powerpoint/2010/main" val="22031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2"/>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Limitation of Indexes</a:t>
            </a:r>
            <a:endParaRPr/>
          </a:p>
        </p:txBody>
      </p:sp>
      <p:sp>
        <p:nvSpPr>
          <p:cNvPr id="228" name="Google Shape;228;p12"/>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a:t>Every index created is actually a table (though it is a special type of table).</a:t>
            </a:r>
            <a:endParaRPr/>
          </a:p>
          <a:p>
            <a:pPr marL="228600" lvl="0" indent="-228600" algn="l" rtl="0">
              <a:lnSpc>
                <a:spcPct val="90000"/>
              </a:lnSpc>
              <a:spcBef>
                <a:spcPts val="1000"/>
              </a:spcBef>
              <a:spcAft>
                <a:spcPts val="0"/>
              </a:spcAft>
              <a:buClr>
                <a:schemeClr val="dk1"/>
              </a:buClr>
              <a:buSzPts val="2400"/>
              <a:buChar char="•"/>
            </a:pPr>
            <a:r>
              <a:rPr lang="en-US"/>
              <a:t>Every time a row is added to or removed from table, all indexes on that table must be modified and updated. When a row is updated, any indexes on the column(s) that were affected need to be modified as well.</a:t>
            </a:r>
            <a:endParaRPr/>
          </a:p>
          <a:p>
            <a:pPr marL="228600" lvl="0" indent="-228600" algn="l" rtl="0">
              <a:lnSpc>
                <a:spcPct val="90000"/>
              </a:lnSpc>
              <a:spcBef>
                <a:spcPts val="1000"/>
              </a:spcBef>
              <a:spcAft>
                <a:spcPts val="0"/>
              </a:spcAft>
              <a:buClr>
                <a:schemeClr val="dk1"/>
              </a:buClr>
              <a:buSzPts val="2400"/>
              <a:buChar char="•"/>
            </a:pPr>
            <a:r>
              <a:rPr lang="en-US"/>
              <a:t>If there are excessive indexes available, to keep all schema objects up-to-date would slow things down.</a:t>
            </a:r>
            <a:endParaRPr/>
          </a:p>
          <a:p>
            <a:pPr marL="228600" lvl="0" indent="-228600" algn="l" rtl="0">
              <a:lnSpc>
                <a:spcPct val="90000"/>
              </a:lnSpc>
              <a:spcBef>
                <a:spcPts val="1000"/>
              </a:spcBef>
              <a:spcAft>
                <a:spcPts val="0"/>
              </a:spcAft>
              <a:buClr>
                <a:schemeClr val="dk1"/>
              </a:buClr>
              <a:buSzPts val="2400"/>
              <a:buChar char="•"/>
            </a:pPr>
            <a:r>
              <a:rPr lang="en-US"/>
              <a:t>Indexes also require disk space. </a:t>
            </a:r>
            <a:endParaRPr/>
          </a:p>
        </p:txBody>
      </p:sp>
      <p:graphicFrame>
        <p:nvGraphicFramePr>
          <p:cNvPr id="229" name="Google Shape;229;p12"/>
          <p:cNvGraphicFramePr/>
          <p:nvPr/>
        </p:nvGraphicFramePr>
        <p:xfrm>
          <a:off x="6854742" y="5145883"/>
          <a:ext cx="3143200" cy="1557700"/>
        </p:xfrm>
        <a:graphic>
          <a:graphicData uri="http://schemas.openxmlformats.org/drawingml/2006/table">
            <a:tbl>
              <a:tblPr firstRow="1" bandRow="1">
                <a:noFill/>
                <a:tableStyleId>{563E70FF-3B2D-46C4-A98C-9AE733A9FB03}</a:tableStyleId>
              </a:tblPr>
              <a:tblGrid>
                <a:gridCol w="785800">
                  <a:extLst>
                    <a:ext uri="{9D8B030D-6E8A-4147-A177-3AD203B41FA5}">
                      <a16:colId xmlns:a16="http://schemas.microsoft.com/office/drawing/2014/main" val="20000"/>
                    </a:ext>
                  </a:extLst>
                </a:gridCol>
                <a:gridCol w="785800">
                  <a:extLst>
                    <a:ext uri="{9D8B030D-6E8A-4147-A177-3AD203B41FA5}">
                      <a16:colId xmlns:a16="http://schemas.microsoft.com/office/drawing/2014/main" val="20001"/>
                    </a:ext>
                  </a:extLst>
                </a:gridCol>
                <a:gridCol w="785800">
                  <a:extLst>
                    <a:ext uri="{9D8B030D-6E8A-4147-A177-3AD203B41FA5}">
                      <a16:colId xmlns:a16="http://schemas.microsoft.com/office/drawing/2014/main" val="20002"/>
                    </a:ext>
                  </a:extLst>
                </a:gridCol>
                <a:gridCol w="785800">
                  <a:extLst>
                    <a:ext uri="{9D8B030D-6E8A-4147-A177-3AD203B41FA5}">
                      <a16:colId xmlns:a16="http://schemas.microsoft.com/office/drawing/2014/main" val="20003"/>
                    </a:ext>
                  </a:extLst>
                </a:gridCol>
              </a:tblGrid>
              <a:tr h="389425">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extLst>
                  <a:ext uri="{0D108BD9-81ED-4DB2-BD59-A6C34878D82A}">
                    <a16:rowId xmlns:a16="http://schemas.microsoft.com/office/drawing/2014/main" val="10000"/>
                  </a:ext>
                </a:extLst>
              </a:tr>
              <a:tr h="389425">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extLst>
                  <a:ext uri="{0D108BD9-81ED-4DB2-BD59-A6C34878D82A}">
                    <a16:rowId xmlns:a16="http://schemas.microsoft.com/office/drawing/2014/main" val="10001"/>
                  </a:ext>
                </a:extLst>
              </a:tr>
              <a:tr h="389425">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extLst>
                  <a:ext uri="{0D108BD9-81ED-4DB2-BD59-A6C34878D82A}">
                    <a16:rowId xmlns:a16="http://schemas.microsoft.com/office/drawing/2014/main" val="10002"/>
                  </a:ext>
                </a:extLst>
              </a:tr>
              <a:tr h="389425">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tc>
                  <a:txBody>
                    <a:bodyPr/>
                    <a:lstStyle/>
                    <a:p>
                      <a:pPr marL="0" marR="0" lvl="0" indent="0" algn="l" rtl="0">
                        <a:spcBef>
                          <a:spcPts val="0"/>
                        </a:spcBef>
                        <a:spcAft>
                          <a:spcPts val="0"/>
                        </a:spcAft>
                        <a:buNone/>
                      </a:pPr>
                      <a:endParaRPr sz="1300"/>
                    </a:p>
                  </a:txBody>
                  <a:tcPr marL="64400" marR="64400" marT="32200" marB="32200"/>
                </a:tc>
                <a:extLst>
                  <a:ext uri="{0D108BD9-81ED-4DB2-BD59-A6C34878D82A}">
                    <a16:rowId xmlns:a16="http://schemas.microsoft.com/office/drawing/2014/main" val="10003"/>
                  </a:ext>
                </a:extLst>
              </a:tr>
            </a:tbl>
          </a:graphicData>
        </a:graphic>
      </p:graphicFrame>
      <p:graphicFrame>
        <p:nvGraphicFramePr>
          <p:cNvPr id="230" name="Google Shape;230;p12"/>
          <p:cNvGraphicFramePr/>
          <p:nvPr/>
        </p:nvGraphicFramePr>
        <p:xfrm>
          <a:off x="6741893" y="3583634"/>
          <a:ext cx="554275" cy="1098700"/>
        </p:xfrm>
        <a:graphic>
          <a:graphicData uri="http://schemas.openxmlformats.org/drawingml/2006/table">
            <a:tbl>
              <a:tblPr firstRow="1" bandRow="1">
                <a:noFill/>
                <a:tableStyleId>{57735D69-CFF9-4D1D-AD73-4BBD9CF8C6CB}</a:tableStyleId>
              </a:tblPr>
              <a:tblGrid>
                <a:gridCol w="554275">
                  <a:extLst>
                    <a:ext uri="{9D8B030D-6E8A-4147-A177-3AD203B41FA5}">
                      <a16:colId xmlns:a16="http://schemas.microsoft.com/office/drawing/2014/main" val="20000"/>
                    </a:ext>
                  </a:extLst>
                </a:gridCol>
              </a:tblGrid>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0"/>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1"/>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2"/>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3"/>
                  </a:ext>
                </a:extLst>
              </a:tr>
            </a:tbl>
          </a:graphicData>
        </a:graphic>
      </p:graphicFrame>
      <p:graphicFrame>
        <p:nvGraphicFramePr>
          <p:cNvPr id="231" name="Google Shape;231;p12"/>
          <p:cNvGraphicFramePr/>
          <p:nvPr/>
        </p:nvGraphicFramePr>
        <p:xfrm>
          <a:off x="7682569" y="3589088"/>
          <a:ext cx="554275" cy="1098700"/>
        </p:xfrm>
        <a:graphic>
          <a:graphicData uri="http://schemas.openxmlformats.org/drawingml/2006/table">
            <a:tbl>
              <a:tblPr firstRow="1" bandRow="1">
                <a:noFill/>
                <a:tableStyleId>{57735D69-CFF9-4D1D-AD73-4BBD9CF8C6CB}</a:tableStyleId>
              </a:tblPr>
              <a:tblGrid>
                <a:gridCol w="554275">
                  <a:extLst>
                    <a:ext uri="{9D8B030D-6E8A-4147-A177-3AD203B41FA5}">
                      <a16:colId xmlns:a16="http://schemas.microsoft.com/office/drawing/2014/main" val="20000"/>
                    </a:ext>
                  </a:extLst>
                </a:gridCol>
              </a:tblGrid>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0"/>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1"/>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2"/>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3"/>
                  </a:ext>
                </a:extLst>
              </a:tr>
            </a:tbl>
          </a:graphicData>
        </a:graphic>
      </p:graphicFrame>
      <p:graphicFrame>
        <p:nvGraphicFramePr>
          <p:cNvPr id="232" name="Google Shape;232;p12"/>
          <p:cNvGraphicFramePr/>
          <p:nvPr/>
        </p:nvGraphicFramePr>
        <p:xfrm>
          <a:off x="8623245" y="3594542"/>
          <a:ext cx="554275" cy="1098700"/>
        </p:xfrm>
        <a:graphic>
          <a:graphicData uri="http://schemas.openxmlformats.org/drawingml/2006/table">
            <a:tbl>
              <a:tblPr firstRow="1" bandRow="1">
                <a:noFill/>
                <a:tableStyleId>{57735D69-CFF9-4D1D-AD73-4BBD9CF8C6CB}</a:tableStyleId>
              </a:tblPr>
              <a:tblGrid>
                <a:gridCol w="554275">
                  <a:extLst>
                    <a:ext uri="{9D8B030D-6E8A-4147-A177-3AD203B41FA5}">
                      <a16:colId xmlns:a16="http://schemas.microsoft.com/office/drawing/2014/main" val="20000"/>
                    </a:ext>
                  </a:extLst>
                </a:gridCol>
              </a:tblGrid>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0"/>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1"/>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2"/>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3"/>
                  </a:ext>
                </a:extLst>
              </a:tr>
            </a:tbl>
          </a:graphicData>
        </a:graphic>
      </p:graphicFrame>
      <p:graphicFrame>
        <p:nvGraphicFramePr>
          <p:cNvPr id="233" name="Google Shape;233;p12"/>
          <p:cNvGraphicFramePr/>
          <p:nvPr/>
        </p:nvGraphicFramePr>
        <p:xfrm>
          <a:off x="9563921" y="3599996"/>
          <a:ext cx="554275" cy="1098700"/>
        </p:xfrm>
        <a:graphic>
          <a:graphicData uri="http://schemas.openxmlformats.org/drawingml/2006/table">
            <a:tbl>
              <a:tblPr firstRow="1" bandRow="1">
                <a:noFill/>
                <a:tableStyleId>{57735D69-CFF9-4D1D-AD73-4BBD9CF8C6CB}</a:tableStyleId>
              </a:tblPr>
              <a:tblGrid>
                <a:gridCol w="554275">
                  <a:extLst>
                    <a:ext uri="{9D8B030D-6E8A-4147-A177-3AD203B41FA5}">
                      <a16:colId xmlns:a16="http://schemas.microsoft.com/office/drawing/2014/main" val="20000"/>
                    </a:ext>
                  </a:extLst>
                </a:gridCol>
              </a:tblGrid>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0"/>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1"/>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2"/>
                  </a:ext>
                </a:extLst>
              </a:tr>
              <a:tr h="274675">
                <a:tc>
                  <a:txBody>
                    <a:bodyPr/>
                    <a:lstStyle/>
                    <a:p>
                      <a:pPr marL="0" marR="0" lvl="0" indent="0" algn="l" rtl="0">
                        <a:spcBef>
                          <a:spcPts val="0"/>
                        </a:spcBef>
                        <a:spcAft>
                          <a:spcPts val="0"/>
                        </a:spcAft>
                        <a:buNone/>
                      </a:pPr>
                      <a:endParaRPr sz="900"/>
                    </a:p>
                  </a:txBody>
                  <a:tcPr marL="45425" marR="45425" marT="22700" marB="22700"/>
                </a:tc>
                <a:extLst>
                  <a:ext uri="{0D108BD9-81ED-4DB2-BD59-A6C34878D82A}">
                    <a16:rowId xmlns:a16="http://schemas.microsoft.com/office/drawing/2014/main" val="10003"/>
                  </a:ext>
                </a:extLst>
              </a:tr>
            </a:tbl>
          </a:graphicData>
        </a:graphic>
      </p:graphicFrame>
      <p:cxnSp>
        <p:nvCxnSpPr>
          <p:cNvPr id="234" name="Google Shape;234;p12"/>
          <p:cNvCxnSpPr/>
          <p:nvPr/>
        </p:nvCxnSpPr>
        <p:spPr>
          <a:xfrm rot="-5400000" flipH="1">
            <a:off x="6925885" y="4775512"/>
            <a:ext cx="463500" cy="277200"/>
          </a:xfrm>
          <a:prstGeom prst="curvedConnector3">
            <a:avLst>
              <a:gd name="adj1" fmla="val 50002"/>
            </a:avLst>
          </a:prstGeom>
          <a:noFill/>
          <a:ln w="19050" cap="flat" cmpd="sng">
            <a:solidFill>
              <a:schemeClr val="accent1"/>
            </a:solidFill>
            <a:prstDash val="solid"/>
            <a:miter lim="800000"/>
            <a:headEnd type="none" w="sm" len="sm"/>
            <a:tailEnd type="triangle" w="med" len="med"/>
          </a:ln>
        </p:spPr>
      </p:cxnSp>
      <p:cxnSp>
        <p:nvCxnSpPr>
          <p:cNvPr id="235" name="Google Shape;235;p12"/>
          <p:cNvCxnSpPr/>
          <p:nvPr/>
        </p:nvCxnSpPr>
        <p:spPr>
          <a:xfrm rot="5400000">
            <a:off x="7730711" y="4916916"/>
            <a:ext cx="458100" cy="12600"/>
          </a:xfrm>
          <a:prstGeom prst="curvedConnector3">
            <a:avLst>
              <a:gd name="adj1" fmla="val 49996"/>
            </a:avLst>
          </a:prstGeom>
          <a:noFill/>
          <a:ln w="19050" cap="flat" cmpd="sng">
            <a:solidFill>
              <a:schemeClr val="accent1"/>
            </a:solidFill>
            <a:prstDash val="solid"/>
            <a:miter lim="800000"/>
            <a:headEnd type="none" w="sm" len="sm"/>
            <a:tailEnd type="triangle" w="med" len="med"/>
          </a:ln>
        </p:spPr>
      </p:cxnSp>
      <p:cxnSp>
        <p:nvCxnSpPr>
          <p:cNvPr id="236" name="Google Shape;236;p12"/>
          <p:cNvCxnSpPr/>
          <p:nvPr/>
        </p:nvCxnSpPr>
        <p:spPr>
          <a:xfrm rot="-5400000" flipH="1">
            <a:off x="8674336" y="4919319"/>
            <a:ext cx="452700" cy="600"/>
          </a:xfrm>
          <a:prstGeom prst="curvedConnector3">
            <a:avLst>
              <a:gd name="adj1" fmla="val 49991"/>
            </a:avLst>
          </a:prstGeom>
          <a:noFill/>
          <a:ln w="19050" cap="flat" cmpd="sng">
            <a:solidFill>
              <a:schemeClr val="accent1"/>
            </a:solidFill>
            <a:prstDash val="solid"/>
            <a:miter lim="800000"/>
            <a:headEnd type="none" w="sm" len="sm"/>
            <a:tailEnd type="triangle" w="med" len="med"/>
          </a:ln>
        </p:spPr>
      </p:cxnSp>
      <p:cxnSp>
        <p:nvCxnSpPr>
          <p:cNvPr id="237" name="Google Shape;237;p12"/>
          <p:cNvCxnSpPr/>
          <p:nvPr/>
        </p:nvCxnSpPr>
        <p:spPr>
          <a:xfrm rot="5400000">
            <a:off x="9533713" y="4844974"/>
            <a:ext cx="453600" cy="161100"/>
          </a:xfrm>
          <a:prstGeom prst="curvedConnector3">
            <a:avLst>
              <a:gd name="adj1" fmla="val 49990"/>
            </a:avLst>
          </a:prstGeom>
          <a:noFill/>
          <a:ln w="19050" cap="flat" cmpd="sng">
            <a:solidFill>
              <a:schemeClr val="accent1"/>
            </a:solidFill>
            <a:prstDash val="solid"/>
            <a:miter lim="800000"/>
            <a:headEnd type="none" w="sm" len="sm"/>
            <a:tailEnd type="triangle" w="med" len="med"/>
          </a:ln>
        </p:spPr>
      </p:cxnSp>
      <p:sp>
        <p:nvSpPr>
          <p:cNvPr id="238" name="Google Shape;238;p12"/>
          <p:cNvSpPr txBox="1"/>
          <p:nvPr/>
        </p:nvSpPr>
        <p:spPr>
          <a:xfrm>
            <a:off x="7966061" y="3204918"/>
            <a:ext cx="10079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Indexes</a:t>
            </a:r>
            <a:endParaRPr/>
          </a:p>
        </p:txBody>
      </p:sp>
      <p:graphicFrame>
        <p:nvGraphicFramePr>
          <p:cNvPr id="239" name="Google Shape;239;p12"/>
          <p:cNvGraphicFramePr/>
          <p:nvPr/>
        </p:nvGraphicFramePr>
        <p:xfrm>
          <a:off x="3263248" y="6381760"/>
          <a:ext cx="2435100" cy="301675"/>
        </p:xfrm>
        <a:graphic>
          <a:graphicData uri="http://schemas.openxmlformats.org/drawingml/2006/table">
            <a:tbl>
              <a:tblPr firstRow="1" bandRow="1">
                <a:noFill/>
                <a:tableStyleId>{563E70FF-3B2D-46C4-A98C-9AE733A9FB03}</a:tableStyleId>
              </a:tblPr>
              <a:tblGrid>
                <a:gridCol w="608775">
                  <a:extLst>
                    <a:ext uri="{9D8B030D-6E8A-4147-A177-3AD203B41FA5}">
                      <a16:colId xmlns:a16="http://schemas.microsoft.com/office/drawing/2014/main" val="20000"/>
                    </a:ext>
                  </a:extLst>
                </a:gridCol>
                <a:gridCol w="608775">
                  <a:extLst>
                    <a:ext uri="{9D8B030D-6E8A-4147-A177-3AD203B41FA5}">
                      <a16:colId xmlns:a16="http://schemas.microsoft.com/office/drawing/2014/main" val="20001"/>
                    </a:ext>
                  </a:extLst>
                </a:gridCol>
                <a:gridCol w="608775">
                  <a:extLst>
                    <a:ext uri="{9D8B030D-6E8A-4147-A177-3AD203B41FA5}">
                      <a16:colId xmlns:a16="http://schemas.microsoft.com/office/drawing/2014/main" val="20002"/>
                    </a:ext>
                  </a:extLst>
                </a:gridCol>
                <a:gridCol w="608775">
                  <a:extLst>
                    <a:ext uri="{9D8B030D-6E8A-4147-A177-3AD203B41FA5}">
                      <a16:colId xmlns:a16="http://schemas.microsoft.com/office/drawing/2014/main" val="20003"/>
                    </a:ext>
                  </a:extLst>
                </a:gridCol>
              </a:tblGrid>
              <a:tr h="301675">
                <a:tc>
                  <a:txBody>
                    <a:bodyPr/>
                    <a:lstStyle/>
                    <a:p>
                      <a:pPr marL="0" marR="0" lvl="0" indent="0" algn="l" rtl="0">
                        <a:spcBef>
                          <a:spcPts val="0"/>
                        </a:spcBef>
                        <a:spcAft>
                          <a:spcPts val="0"/>
                        </a:spcAft>
                        <a:buNone/>
                      </a:pPr>
                      <a:endParaRPr sz="1000"/>
                    </a:p>
                  </a:txBody>
                  <a:tcPr marL="49875" marR="49875" marT="24950" marB="24950">
                    <a:solidFill>
                      <a:srgbClr val="D0D0D0"/>
                    </a:solidFill>
                  </a:tcPr>
                </a:tc>
                <a:tc>
                  <a:txBody>
                    <a:bodyPr/>
                    <a:lstStyle/>
                    <a:p>
                      <a:pPr marL="0" marR="0" lvl="0" indent="0" algn="l" rtl="0">
                        <a:spcBef>
                          <a:spcPts val="0"/>
                        </a:spcBef>
                        <a:spcAft>
                          <a:spcPts val="0"/>
                        </a:spcAft>
                        <a:buNone/>
                      </a:pPr>
                      <a:endParaRPr sz="1000"/>
                    </a:p>
                  </a:txBody>
                  <a:tcPr marL="49875" marR="49875" marT="24950" marB="24950">
                    <a:solidFill>
                      <a:srgbClr val="D0D0D0"/>
                    </a:solidFill>
                  </a:tcPr>
                </a:tc>
                <a:tc>
                  <a:txBody>
                    <a:bodyPr/>
                    <a:lstStyle/>
                    <a:p>
                      <a:pPr marL="0" marR="0" lvl="0" indent="0" algn="l" rtl="0">
                        <a:spcBef>
                          <a:spcPts val="0"/>
                        </a:spcBef>
                        <a:spcAft>
                          <a:spcPts val="0"/>
                        </a:spcAft>
                        <a:buNone/>
                      </a:pPr>
                      <a:endParaRPr sz="1000"/>
                    </a:p>
                  </a:txBody>
                  <a:tcPr marL="49875" marR="49875" marT="24950" marB="24950">
                    <a:solidFill>
                      <a:srgbClr val="D0D0D0"/>
                    </a:solidFill>
                  </a:tcPr>
                </a:tc>
                <a:tc>
                  <a:txBody>
                    <a:bodyPr/>
                    <a:lstStyle/>
                    <a:p>
                      <a:pPr marL="0" marR="0" lvl="0" indent="0" algn="l" rtl="0">
                        <a:spcBef>
                          <a:spcPts val="0"/>
                        </a:spcBef>
                        <a:spcAft>
                          <a:spcPts val="0"/>
                        </a:spcAft>
                        <a:buNone/>
                      </a:pPr>
                      <a:endParaRPr sz="1000"/>
                    </a:p>
                  </a:txBody>
                  <a:tcPr marL="49875" marR="49875" marT="24950" marB="24950">
                    <a:solidFill>
                      <a:srgbClr val="D0D0D0"/>
                    </a:solidFill>
                  </a:tcPr>
                </a:tc>
                <a:extLst>
                  <a:ext uri="{0D108BD9-81ED-4DB2-BD59-A6C34878D82A}">
                    <a16:rowId xmlns:a16="http://schemas.microsoft.com/office/drawing/2014/main" val="10000"/>
                  </a:ext>
                </a:extLst>
              </a:tr>
            </a:tbl>
          </a:graphicData>
        </a:graphic>
      </p:graphicFrame>
      <p:sp>
        <p:nvSpPr>
          <p:cNvPr id="240" name="Google Shape;240;p12"/>
          <p:cNvSpPr/>
          <p:nvPr/>
        </p:nvSpPr>
        <p:spPr>
          <a:xfrm>
            <a:off x="5958832" y="6351641"/>
            <a:ext cx="687934" cy="361921"/>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12"/>
          <p:cNvSpPr/>
          <p:nvPr/>
        </p:nvSpPr>
        <p:spPr>
          <a:xfrm>
            <a:off x="10321901" y="3979149"/>
            <a:ext cx="459837" cy="372134"/>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2"/>
          <p:cNvSpPr txBox="1"/>
          <p:nvPr/>
        </p:nvSpPr>
        <p:spPr>
          <a:xfrm>
            <a:off x="3508459" y="5972294"/>
            <a:ext cx="20960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Arial"/>
                <a:ea typeface="Arial"/>
                <a:cs typeface="Arial"/>
                <a:sym typeface="Arial"/>
              </a:rPr>
              <a:t>New data inserted </a:t>
            </a:r>
            <a:endParaRPr/>
          </a:p>
        </p:txBody>
      </p:sp>
      <p:sp>
        <p:nvSpPr>
          <p:cNvPr id="243" name="Google Shape;243;p12"/>
          <p:cNvSpPr/>
          <p:nvPr/>
        </p:nvSpPr>
        <p:spPr>
          <a:xfrm>
            <a:off x="6741893" y="5924715"/>
            <a:ext cx="3300111" cy="457045"/>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12"/>
          <p:cNvSpPr txBox="1"/>
          <p:nvPr/>
        </p:nvSpPr>
        <p:spPr>
          <a:xfrm>
            <a:off x="9886268" y="5830071"/>
            <a:ext cx="120139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C00000"/>
                </a:solidFill>
                <a:latin typeface="Arial"/>
                <a:ea typeface="Arial"/>
                <a:cs typeface="Arial"/>
                <a:sym typeface="Arial"/>
              </a:rPr>
              <a:t>update row</a:t>
            </a:r>
            <a:endParaRPr/>
          </a:p>
        </p:txBody>
      </p:sp>
      <p:sp>
        <p:nvSpPr>
          <p:cNvPr id="245" name="Google Shape;245;p12"/>
          <p:cNvSpPr/>
          <p:nvPr/>
        </p:nvSpPr>
        <p:spPr>
          <a:xfrm rot="-5400000">
            <a:off x="6061454" y="4731653"/>
            <a:ext cx="687934" cy="361921"/>
          </a:xfrm>
          <a:prstGeom prst="rightArrow">
            <a:avLst>
              <a:gd name="adj1" fmla="val 50000"/>
              <a:gd name="adj2" fmla="val 50000"/>
            </a:avLst>
          </a:prstGeom>
          <a:solidFill>
            <a:srgbClr val="8F01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12"/>
          <p:cNvSpPr txBox="1"/>
          <p:nvPr/>
        </p:nvSpPr>
        <p:spPr>
          <a:xfrm>
            <a:off x="5653351" y="3836945"/>
            <a:ext cx="120139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C00000"/>
                </a:solidFill>
                <a:latin typeface="Arial"/>
                <a:ea typeface="Arial"/>
                <a:cs typeface="Arial"/>
                <a:sym typeface="Arial"/>
              </a:rPr>
              <a:t>update index</a:t>
            </a:r>
            <a:endParaRPr/>
          </a:p>
        </p:txBody>
      </p:sp>
      <p:sp>
        <p:nvSpPr>
          <p:cNvPr id="247" name="Google Shape;247;p12"/>
          <p:cNvSpPr/>
          <p:nvPr/>
        </p:nvSpPr>
        <p:spPr>
          <a:xfrm>
            <a:off x="11036000" y="3836945"/>
            <a:ext cx="646386" cy="646331"/>
          </a:xfrm>
          <a:prstGeom prst="can">
            <a:avLst>
              <a:gd name="adj" fmla="val 25000"/>
            </a:avLst>
          </a:prstGeom>
          <a:solidFill>
            <a:srgbClr val="C7EDFC"/>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12"/>
          <p:cNvSpPr txBox="1"/>
          <p:nvPr/>
        </p:nvSpPr>
        <p:spPr>
          <a:xfrm>
            <a:off x="10753104" y="4596410"/>
            <a:ext cx="120139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C00000"/>
                </a:solidFill>
                <a:latin typeface="Arial"/>
                <a:ea typeface="Arial"/>
                <a:cs typeface="Arial"/>
                <a:sym typeface="Arial"/>
              </a:rPr>
              <a:t>disk space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3"/>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Guidelines to help you strategize…</a:t>
            </a:r>
            <a:endParaRPr/>
          </a:p>
        </p:txBody>
      </p:sp>
      <p:sp>
        <p:nvSpPr>
          <p:cNvPr id="254" name="Google Shape;254;p13"/>
          <p:cNvSpPr txBox="1">
            <a:spLocks noGrp="1"/>
          </p:cNvSpPr>
          <p:nvPr>
            <p:ph type="body" idx="1"/>
          </p:nvPr>
        </p:nvSpPr>
        <p:spPr>
          <a:xfrm>
            <a:off x="838200" y="1229360"/>
            <a:ext cx="10515600" cy="4947603"/>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400"/>
              <a:buFont typeface="Play"/>
              <a:buAutoNum type="arabicPeriod"/>
            </a:pPr>
            <a:r>
              <a:rPr lang="en-US"/>
              <a:t>Make sure all primary key columns are indexed (most servers automatically create unique indexes when you create primary key constraints). For multicolumn primary keys, consider building additional indexes on a subset of the primary key columns or on all the primary key columns but in a different order than the primary key constraint definition.</a:t>
            </a:r>
            <a:endParaRPr/>
          </a:p>
          <a:p>
            <a:pPr marL="457200" lvl="0" indent="-457200" algn="l" rtl="0">
              <a:lnSpc>
                <a:spcPct val="90000"/>
              </a:lnSpc>
              <a:spcBef>
                <a:spcPts val="1000"/>
              </a:spcBef>
              <a:spcAft>
                <a:spcPts val="0"/>
              </a:spcAft>
              <a:buClr>
                <a:schemeClr val="dk1"/>
              </a:buClr>
              <a:buSzPts val="2400"/>
              <a:buFont typeface="Play"/>
              <a:buAutoNum type="arabicPeriod"/>
            </a:pPr>
            <a:r>
              <a:rPr lang="en-US"/>
              <a:t>Build indexes on all columns that are referenced in foreign key constraints. Keep in mind that the server checks to make sure there are no child rows when a parent is deleted, so it must issue a query to search for a particular value in the column. If there’s no index on the column, the entire table must be scanned.</a:t>
            </a:r>
            <a:endParaRPr/>
          </a:p>
          <a:p>
            <a:pPr marL="457200" lvl="0" indent="-457200" algn="l" rtl="0">
              <a:lnSpc>
                <a:spcPct val="90000"/>
              </a:lnSpc>
              <a:spcBef>
                <a:spcPts val="1000"/>
              </a:spcBef>
              <a:spcAft>
                <a:spcPts val="0"/>
              </a:spcAft>
              <a:buClr>
                <a:schemeClr val="dk1"/>
              </a:buClr>
              <a:buSzPts val="2400"/>
              <a:buFont typeface="Play"/>
              <a:buAutoNum type="arabicPeriod"/>
            </a:pPr>
            <a:r>
              <a:rPr lang="en-US"/>
              <a:t>Index any columns that will frequently be used to retrieve data. Most date columns are good candidates, along with short (2- to 50-character) string columns.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5AC0-ADD1-6989-720C-BD402644B751}"/>
              </a:ext>
            </a:extLst>
          </p:cNvPr>
          <p:cNvSpPr>
            <a:spLocks noGrp="1"/>
          </p:cNvSpPr>
          <p:nvPr>
            <p:ph type="title"/>
          </p:nvPr>
        </p:nvSpPr>
        <p:spPr/>
        <p:txBody>
          <a:bodyPr/>
          <a:lstStyle/>
          <a:p>
            <a:r>
              <a:rPr lang="en-US" dirty="0"/>
              <a:t>Exercise - Indexes</a:t>
            </a:r>
            <a:endParaRPr lang="en-MY" dirty="0"/>
          </a:p>
        </p:txBody>
      </p:sp>
      <p:sp>
        <p:nvSpPr>
          <p:cNvPr id="5" name="TextBox 4">
            <a:extLst>
              <a:ext uri="{FF2B5EF4-FFF2-40B4-BE49-F238E27FC236}">
                <a16:creationId xmlns:a16="http://schemas.microsoft.com/office/drawing/2014/main" id="{A7D256D7-E048-F939-8A38-8FD1A240CD25}"/>
              </a:ext>
            </a:extLst>
          </p:cNvPr>
          <p:cNvSpPr txBox="1"/>
          <p:nvPr/>
        </p:nvSpPr>
        <p:spPr>
          <a:xfrm>
            <a:off x="757084" y="3090446"/>
            <a:ext cx="6096000" cy="1815882"/>
          </a:xfrm>
          <a:prstGeom prst="rect">
            <a:avLst/>
          </a:prstGeom>
          <a:noFill/>
        </p:spPr>
        <p:txBody>
          <a:bodyPr wrap="square">
            <a:spAutoFit/>
          </a:bodyPr>
          <a:lstStyle/>
          <a:p>
            <a:pPr>
              <a:buNone/>
            </a:pPr>
            <a:r>
              <a:rPr lang="en-US" sz="1600" dirty="0"/>
              <a:t>2. Add an index on the</a:t>
            </a:r>
            <a:r>
              <a:rPr lang="en-US" sz="1600"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email</a:t>
            </a:r>
            <a:r>
              <a:rPr lang="en-US" sz="1600" dirty="0">
                <a:latin typeface="Courier New" panose="02070309020205020404" pitchFamily="49" charset="0"/>
                <a:cs typeface="Courier New" panose="02070309020205020404" pitchFamily="49" charset="0"/>
              </a:rPr>
              <a:t> </a:t>
            </a:r>
            <a:r>
              <a:rPr lang="en-US" sz="1600" dirty="0"/>
              <a:t>column of the existing </a:t>
            </a:r>
            <a:r>
              <a:rPr lang="en-US" dirty="0">
                <a:latin typeface="Courier New" panose="02070309020205020404" pitchFamily="49" charset="0"/>
                <a:cs typeface="Courier New" panose="02070309020205020404" pitchFamily="49" charset="0"/>
              </a:rPr>
              <a:t>customer</a:t>
            </a:r>
            <a:r>
              <a:rPr lang="en-US" sz="1600" dirty="0"/>
              <a:t> table.</a:t>
            </a:r>
          </a:p>
          <a:p>
            <a:pPr>
              <a:buNone/>
            </a:pPr>
            <a:endParaRPr lang="en-US" sz="1600" dirty="0"/>
          </a:p>
          <a:p>
            <a:endParaRPr lang="en-US" sz="1600" dirty="0"/>
          </a:p>
          <a:p>
            <a:r>
              <a:rPr lang="en-US" sz="1600" dirty="0"/>
              <a:t>3. You often search for customers using both </a:t>
            </a:r>
            <a:r>
              <a:rPr lang="en-US" dirty="0" err="1">
                <a:latin typeface="Courier New" panose="02070309020205020404" pitchFamily="49" charset="0"/>
                <a:cs typeface="Courier New" panose="02070309020205020404" pitchFamily="49" charset="0"/>
              </a:rPr>
              <a:t>first_name</a:t>
            </a:r>
            <a:r>
              <a:rPr lang="en-US" sz="1600" dirty="0">
                <a:latin typeface="Courier New" panose="02070309020205020404" pitchFamily="49" charset="0"/>
                <a:cs typeface="Courier New" panose="02070309020205020404" pitchFamily="49" charset="0"/>
              </a:rPr>
              <a:t> </a:t>
            </a:r>
            <a:r>
              <a:rPr lang="en-US" sz="1600" dirty="0"/>
              <a:t>and </a:t>
            </a:r>
            <a:r>
              <a:rPr lang="en-US" dirty="0" err="1">
                <a:latin typeface="Courier New" panose="02070309020205020404" pitchFamily="49" charset="0"/>
                <a:cs typeface="Courier New" panose="02070309020205020404" pitchFamily="49" charset="0"/>
              </a:rPr>
              <a:t>last_name</a:t>
            </a:r>
            <a:r>
              <a:rPr lang="en-US" sz="1600" dirty="0"/>
              <a:t>. Create a </a:t>
            </a:r>
            <a:r>
              <a:rPr lang="en-US" sz="1600" b="1" dirty="0"/>
              <a:t>multi-column index</a:t>
            </a:r>
            <a:r>
              <a:rPr lang="en-US" sz="1600" dirty="0"/>
              <a:t> to optimize this query:</a:t>
            </a:r>
          </a:p>
          <a:p>
            <a:pPr>
              <a:buNone/>
            </a:pPr>
            <a:endParaRPr lang="en-US" sz="1600" dirty="0"/>
          </a:p>
        </p:txBody>
      </p:sp>
      <p:sp>
        <p:nvSpPr>
          <p:cNvPr id="9" name="TextBox 8">
            <a:extLst>
              <a:ext uri="{FF2B5EF4-FFF2-40B4-BE49-F238E27FC236}">
                <a16:creationId xmlns:a16="http://schemas.microsoft.com/office/drawing/2014/main" id="{79C579C7-FEE1-9249-392A-F3CF65286812}"/>
              </a:ext>
            </a:extLst>
          </p:cNvPr>
          <p:cNvSpPr txBox="1"/>
          <p:nvPr/>
        </p:nvSpPr>
        <p:spPr>
          <a:xfrm>
            <a:off x="6626942" y="1127760"/>
            <a:ext cx="6096000" cy="1600438"/>
          </a:xfrm>
          <a:prstGeom prst="rect">
            <a:avLst/>
          </a:prstGeom>
          <a:noFill/>
        </p:spPr>
        <p:txBody>
          <a:bodyPr wrap="square">
            <a:spAutoFit/>
          </a:bodyPr>
          <a:lstStyle/>
          <a:p>
            <a:r>
              <a:rPr lang="en-US" dirty="0">
                <a:solidFill>
                  <a:srgbClr val="C00000"/>
                </a:solidFill>
                <a:latin typeface="Courier New" panose="02070309020205020404" pitchFamily="49" charset="0"/>
                <a:cs typeface="Courier New" panose="02070309020205020404" pitchFamily="49" charset="0"/>
              </a:rPr>
              <a:t>CREATE TABLE</a:t>
            </a:r>
            <a:r>
              <a:rPr lang="en-US" dirty="0">
                <a:latin typeface="Courier New" panose="02070309020205020404" pitchFamily="49" charset="0"/>
                <a:cs typeface="Courier New" panose="02070309020205020404" pitchFamily="49" charset="0"/>
              </a:rPr>
              <a:t> customer (</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customer_id</a:t>
            </a:r>
            <a:r>
              <a:rPr lang="en-US" dirty="0">
                <a:latin typeface="Courier New" panose="02070309020205020404" pitchFamily="49" charset="0"/>
                <a:cs typeface="Courier New" panose="02070309020205020404" pitchFamily="49" charset="0"/>
              </a:rPr>
              <a:t> INT PRIMARY KEY,</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first_name</a:t>
            </a:r>
            <a:r>
              <a:rPr lang="en-US" dirty="0">
                <a:latin typeface="Courier New" panose="02070309020205020404" pitchFamily="49" charset="0"/>
                <a:cs typeface="Courier New" panose="02070309020205020404" pitchFamily="49" charset="0"/>
              </a:rPr>
              <a:t> VARCHAR(50),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last_name</a:t>
            </a:r>
            <a:r>
              <a:rPr lang="en-US" dirty="0">
                <a:latin typeface="Courier New" panose="02070309020205020404" pitchFamily="49" charset="0"/>
                <a:cs typeface="Courier New" panose="02070309020205020404" pitchFamily="49" charset="0"/>
              </a:rPr>
              <a:t> VARCHAR(50),</a:t>
            </a:r>
          </a:p>
          <a:p>
            <a:r>
              <a:rPr lang="en-US" dirty="0">
                <a:latin typeface="Courier New" panose="02070309020205020404" pitchFamily="49" charset="0"/>
                <a:cs typeface="Courier New" panose="02070309020205020404" pitchFamily="49" charset="0"/>
              </a:rPr>
              <a:t>    email VARCHAR(100),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store_id</a:t>
            </a:r>
            <a:r>
              <a:rPr lang="en-US" dirty="0">
                <a:latin typeface="Courier New" panose="02070309020205020404" pitchFamily="49" charset="0"/>
                <a:cs typeface="Courier New" panose="02070309020205020404" pitchFamily="49" charset="0"/>
              </a:rPr>
              <a:t> INT</a:t>
            </a:r>
          </a:p>
          <a:p>
            <a:r>
              <a:rPr lang="en-US" dirty="0">
                <a:latin typeface="Courier New" panose="02070309020205020404" pitchFamily="49" charset="0"/>
                <a:cs typeface="Courier New" panose="02070309020205020404" pitchFamily="49" charset="0"/>
              </a:rPr>
              <a:t>);</a:t>
            </a:r>
          </a:p>
        </p:txBody>
      </p:sp>
      <p:sp>
        <p:nvSpPr>
          <p:cNvPr id="11" name="TextBox 10">
            <a:extLst>
              <a:ext uri="{FF2B5EF4-FFF2-40B4-BE49-F238E27FC236}">
                <a16:creationId xmlns:a16="http://schemas.microsoft.com/office/drawing/2014/main" id="{4B278B52-6C44-6CEA-BF02-135D82668DE2}"/>
              </a:ext>
            </a:extLst>
          </p:cNvPr>
          <p:cNvSpPr txBox="1"/>
          <p:nvPr/>
        </p:nvSpPr>
        <p:spPr>
          <a:xfrm>
            <a:off x="757084" y="1747967"/>
            <a:ext cx="6096000" cy="584775"/>
          </a:xfrm>
          <a:prstGeom prst="rect">
            <a:avLst/>
          </a:prstGeom>
          <a:noFill/>
        </p:spPr>
        <p:txBody>
          <a:bodyPr wrap="square">
            <a:spAutoFit/>
          </a:bodyPr>
          <a:lstStyle/>
          <a:p>
            <a:r>
              <a:rPr lang="en-US" sz="1600" dirty="0"/>
              <a:t>Create an index on the </a:t>
            </a:r>
            <a:r>
              <a:rPr lang="en-US" sz="1600" dirty="0" err="1">
                <a:latin typeface="Courier New" panose="02070309020205020404" pitchFamily="49" charset="0"/>
              </a:rPr>
              <a:t>last_name</a:t>
            </a:r>
            <a:r>
              <a:rPr lang="en-US" sz="1600" dirty="0"/>
              <a:t> column to speed up search operations.</a:t>
            </a:r>
            <a:endParaRPr lang="en-MY" sz="1600" dirty="0"/>
          </a:p>
        </p:txBody>
      </p:sp>
      <p:sp>
        <p:nvSpPr>
          <p:cNvPr id="12" name="TextBox 11">
            <a:extLst>
              <a:ext uri="{FF2B5EF4-FFF2-40B4-BE49-F238E27FC236}">
                <a16:creationId xmlns:a16="http://schemas.microsoft.com/office/drawing/2014/main" id="{41624FB4-6D5A-2B16-378A-DE1D31BC271F}"/>
              </a:ext>
            </a:extLst>
          </p:cNvPr>
          <p:cNvSpPr txBox="1"/>
          <p:nvPr/>
        </p:nvSpPr>
        <p:spPr>
          <a:xfrm>
            <a:off x="683342" y="1517595"/>
            <a:ext cx="6096000" cy="338554"/>
          </a:xfrm>
          <a:prstGeom prst="rect">
            <a:avLst/>
          </a:prstGeom>
          <a:noFill/>
        </p:spPr>
        <p:txBody>
          <a:bodyPr wrap="square">
            <a:spAutoFit/>
          </a:bodyPr>
          <a:lstStyle/>
          <a:p>
            <a:pPr>
              <a:buNone/>
            </a:pPr>
            <a:r>
              <a:rPr lang="en-US" sz="1600" dirty="0"/>
              <a:t>1. Create a table </a:t>
            </a:r>
            <a:r>
              <a:rPr lang="en-US" sz="1600" dirty="0">
                <a:latin typeface="Courier New" panose="02070309020205020404" pitchFamily="49" charset="0"/>
              </a:rPr>
              <a:t>customer</a:t>
            </a:r>
            <a:r>
              <a:rPr lang="en-US" sz="1600" dirty="0"/>
              <a:t> with the following columns:</a:t>
            </a:r>
          </a:p>
        </p:txBody>
      </p:sp>
      <p:sp>
        <p:nvSpPr>
          <p:cNvPr id="14" name="TextBox 13">
            <a:extLst>
              <a:ext uri="{FF2B5EF4-FFF2-40B4-BE49-F238E27FC236}">
                <a16:creationId xmlns:a16="http://schemas.microsoft.com/office/drawing/2014/main" id="{06A0CA1D-D3A9-AF95-5417-A6DB50B667D6}"/>
              </a:ext>
            </a:extLst>
          </p:cNvPr>
          <p:cNvSpPr txBox="1"/>
          <p:nvPr/>
        </p:nvSpPr>
        <p:spPr>
          <a:xfrm>
            <a:off x="6853084" y="3083177"/>
            <a:ext cx="3932903" cy="523220"/>
          </a:xfrm>
          <a:prstGeom prst="rect">
            <a:avLst/>
          </a:prstGeom>
          <a:noFill/>
        </p:spPr>
        <p:txBody>
          <a:bodyPr wrap="square">
            <a:spAutoFit/>
          </a:bodyPr>
          <a:lstStyle/>
          <a:p>
            <a:r>
              <a:rPr lang="en-MY" dirty="0">
                <a:solidFill>
                  <a:srgbClr val="C00000"/>
                </a:solidFill>
                <a:latin typeface="Courier New" panose="02070309020205020404" pitchFamily="49" charset="0"/>
                <a:cs typeface="Courier New" panose="02070309020205020404" pitchFamily="49" charset="0"/>
              </a:rPr>
              <a:t>ALTER TABLE </a:t>
            </a:r>
            <a:r>
              <a:rPr lang="en-MY" dirty="0">
                <a:latin typeface="Courier New" panose="02070309020205020404" pitchFamily="49" charset="0"/>
                <a:cs typeface="Courier New" panose="02070309020205020404" pitchFamily="49" charset="0"/>
              </a:rPr>
              <a:t>customer</a:t>
            </a:r>
          </a:p>
          <a:p>
            <a:r>
              <a:rPr lang="en-MY" dirty="0">
                <a:solidFill>
                  <a:srgbClr val="C00000"/>
                </a:solidFill>
                <a:latin typeface="Courier New" panose="02070309020205020404" pitchFamily="49" charset="0"/>
                <a:cs typeface="Courier New" panose="02070309020205020404" pitchFamily="49" charset="0"/>
              </a:rPr>
              <a:t>ADD </a:t>
            </a:r>
            <a:r>
              <a:rPr lang="en-MY" dirty="0">
                <a:latin typeface="Courier New" panose="02070309020205020404" pitchFamily="49" charset="0"/>
                <a:cs typeface="Courier New" panose="02070309020205020404" pitchFamily="49" charset="0"/>
              </a:rPr>
              <a:t>INDEX </a:t>
            </a:r>
            <a:r>
              <a:rPr lang="en-MY" dirty="0" err="1">
                <a:latin typeface="Courier New" panose="02070309020205020404" pitchFamily="49" charset="0"/>
                <a:cs typeface="Courier New" panose="02070309020205020404" pitchFamily="49" charset="0"/>
              </a:rPr>
              <a:t>idx_email</a:t>
            </a:r>
            <a:r>
              <a:rPr lang="en-MY" dirty="0">
                <a:latin typeface="Courier New" panose="02070309020205020404" pitchFamily="49" charset="0"/>
                <a:cs typeface="Courier New" panose="02070309020205020404" pitchFamily="49" charset="0"/>
              </a:rPr>
              <a:t> (email);</a:t>
            </a:r>
          </a:p>
        </p:txBody>
      </p:sp>
      <p:sp>
        <p:nvSpPr>
          <p:cNvPr id="16" name="TextBox 15">
            <a:extLst>
              <a:ext uri="{FF2B5EF4-FFF2-40B4-BE49-F238E27FC236}">
                <a16:creationId xmlns:a16="http://schemas.microsoft.com/office/drawing/2014/main" id="{D912BA4E-6295-5542-EBEF-787F1FAB8423}"/>
              </a:ext>
            </a:extLst>
          </p:cNvPr>
          <p:cNvSpPr txBox="1"/>
          <p:nvPr/>
        </p:nvSpPr>
        <p:spPr>
          <a:xfrm>
            <a:off x="6813754" y="4099024"/>
            <a:ext cx="5289755" cy="523220"/>
          </a:xfrm>
          <a:prstGeom prst="rect">
            <a:avLst/>
          </a:prstGeom>
          <a:noFill/>
        </p:spPr>
        <p:txBody>
          <a:bodyPr wrap="square">
            <a:spAutoFit/>
          </a:bodyPr>
          <a:lstStyle/>
          <a:p>
            <a:r>
              <a:rPr lang="en-MY" dirty="0">
                <a:solidFill>
                  <a:srgbClr val="C00000"/>
                </a:solidFill>
                <a:latin typeface="Courier New" panose="02070309020205020404" pitchFamily="49" charset="0"/>
                <a:cs typeface="Courier New" panose="02070309020205020404" pitchFamily="49" charset="0"/>
              </a:rPr>
              <a:t>SELECT * </a:t>
            </a:r>
            <a:r>
              <a:rPr lang="en-MY" dirty="0">
                <a:latin typeface="Courier New" panose="02070309020205020404" pitchFamily="49" charset="0"/>
                <a:cs typeface="Courier New" panose="02070309020205020404" pitchFamily="49" charset="0"/>
              </a:rPr>
              <a:t>FROM customer</a:t>
            </a:r>
          </a:p>
          <a:p>
            <a:r>
              <a:rPr lang="en-MY" dirty="0">
                <a:latin typeface="Courier New" panose="02070309020205020404" pitchFamily="49" charset="0"/>
                <a:cs typeface="Courier New" panose="02070309020205020404" pitchFamily="49" charset="0"/>
              </a:rPr>
              <a:t>WHERE </a:t>
            </a:r>
            <a:r>
              <a:rPr lang="en-MY" dirty="0" err="1">
                <a:latin typeface="Courier New" panose="02070309020205020404" pitchFamily="49" charset="0"/>
                <a:cs typeface="Courier New" panose="02070309020205020404" pitchFamily="49" charset="0"/>
              </a:rPr>
              <a:t>first_name</a:t>
            </a:r>
            <a:r>
              <a:rPr lang="en-MY" dirty="0">
                <a:latin typeface="Courier New" panose="02070309020205020404" pitchFamily="49" charset="0"/>
                <a:cs typeface="Courier New" panose="02070309020205020404" pitchFamily="49" charset="0"/>
              </a:rPr>
              <a:t> = 'Ali' AND </a:t>
            </a:r>
            <a:r>
              <a:rPr lang="en-MY" dirty="0" err="1">
                <a:latin typeface="Courier New" panose="02070309020205020404" pitchFamily="49" charset="0"/>
                <a:cs typeface="Courier New" panose="02070309020205020404" pitchFamily="49" charset="0"/>
              </a:rPr>
              <a:t>last_name</a:t>
            </a:r>
            <a:r>
              <a:rPr lang="en-MY" dirty="0">
                <a:latin typeface="Courier New" panose="02070309020205020404" pitchFamily="49" charset="0"/>
                <a:cs typeface="Courier New" panose="02070309020205020404" pitchFamily="49" charset="0"/>
              </a:rPr>
              <a:t> = ‘Din';</a:t>
            </a:r>
          </a:p>
        </p:txBody>
      </p:sp>
      <p:sp>
        <p:nvSpPr>
          <p:cNvPr id="18" name="TextBox 17">
            <a:extLst>
              <a:ext uri="{FF2B5EF4-FFF2-40B4-BE49-F238E27FC236}">
                <a16:creationId xmlns:a16="http://schemas.microsoft.com/office/drawing/2014/main" id="{C921C6FD-8195-B538-A443-FA4BA5BF2CCC}"/>
              </a:ext>
            </a:extLst>
          </p:cNvPr>
          <p:cNvSpPr txBox="1"/>
          <p:nvPr/>
        </p:nvSpPr>
        <p:spPr>
          <a:xfrm>
            <a:off x="838200" y="5019667"/>
            <a:ext cx="5788742" cy="584775"/>
          </a:xfrm>
          <a:prstGeom prst="rect">
            <a:avLst/>
          </a:prstGeom>
          <a:noFill/>
        </p:spPr>
        <p:txBody>
          <a:bodyPr wrap="square">
            <a:spAutoFit/>
          </a:bodyPr>
          <a:lstStyle/>
          <a:p>
            <a:pPr>
              <a:buNone/>
            </a:pPr>
            <a:r>
              <a:rPr lang="en-US" sz="1600" dirty="0"/>
              <a:t>4. For a </a:t>
            </a:r>
            <a:r>
              <a:rPr lang="en-US" sz="1600" dirty="0">
                <a:latin typeface="Courier New" panose="02070309020205020404" pitchFamily="49" charset="0"/>
              </a:rPr>
              <a:t>product</a:t>
            </a:r>
            <a:r>
              <a:rPr lang="en-US" sz="1600" dirty="0"/>
              <a:t> table with a </a:t>
            </a:r>
            <a:r>
              <a:rPr lang="en-US" sz="1600" dirty="0">
                <a:latin typeface="Courier New" panose="02070309020205020404" pitchFamily="49" charset="0"/>
              </a:rPr>
              <a:t>description</a:t>
            </a:r>
            <a:r>
              <a:rPr lang="en-US" sz="1600" dirty="0"/>
              <a:t> column, create a </a:t>
            </a:r>
            <a:r>
              <a:rPr lang="en-US" sz="1600" b="1" dirty="0"/>
              <a:t>text index</a:t>
            </a:r>
            <a:r>
              <a:rPr lang="en-US" sz="1600" dirty="0"/>
              <a:t> to allow keyword searches:</a:t>
            </a:r>
          </a:p>
        </p:txBody>
      </p:sp>
      <p:sp>
        <p:nvSpPr>
          <p:cNvPr id="20" name="TextBox 19">
            <a:extLst>
              <a:ext uri="{FF2B5EF4-FFF2-40B4-BE49-F238E27FC236}">
                <a16:creationId xmlns:a16="http://schemas.microsoft.com/office/drawing/2014/main" id="{FBB79311-6192-6330-848B-BB1B1BF1B4C5}"/>
              </a:ext>
            </a:extLst>
          </p:cNvPr>
          <p:cNvSpPr txBox="1"/>
          <p:nvPr/>
        </p:nvSpPr>
        <p:spPr>
          <a:xfrm>
            <a:off x="6813754" y="5046047"/>
            <a:ext cx="5024285" cy="954107"/>
          </a:xfrm>
          <a:prstGeom prst="rect">
            <a:avLst/>
          </a:prstGeom>
          <a:noFill/>
        </p:spPr>
        <p:txBody>
          <a:bodyPr wrap="square">
            <a:spAutoFit/>
          </a:bodyPr>
          <a:lstStyle/>
          <a:p>
            <a:r>
              <a:rPr lang="en-MY" dirty="0">
                <a:solidFill>
                  <a:srgbClr val="C00000"/>
                </a:solidFill>
                <a:latin typeface="Courier New" panose="02070309020205020404" pitchFamily="49" charset="0"/>
                <a:cs typeface="Courier New" panose="02070309020205020404" pitchFamily="49" charset="0"/>
              </a:rPr>
              <a:t>CREATE TABLE </a:t>
            </a:r>
            <a:r>
              <a:rPr lang="en-MY" dirty="0">
                <a:latin typeface="Courier New" panose="02070309020205020404" pitchFamily="49" charset="0"/>
                <a:cs typeface="Courier New" panose="02070309020205020404" pitchFamily="49" charset="0"/>
              </a:rPr>
              <a:t>product (</a:t>
            </a:r>
          </a:p>
          <a:p>
            <a:r>
              <a:rPr lang="en-MY" dirty="0">
                <a:latin typeface="Courier New" panose="02070309020205020404" pitchFamily="49" charset="0"/>
                <a:cs typeface="Courier New" panose="02070309020205020404" pitchFamily="49" charset="0"/>
              </a:rPr>
              <a:t>    </a:t>
            </a:r>
            <a:r>
              <a:rPr lang="en-MY" dirty="0" err="1">
                <a:latin typeface="Courier New" panose="02070309020205020404" pitchFamily="49" charset="0"/>
                <a:cs typeface="Courier New" panose="02070309020205020404" pitchFamily="49" charset="0"/>
              </a:rPr>
              <a:t>product_id</a:t>
            </a:r>
            <a:r>
              <a:rPr lang="en-MY" dirty="0">
                <a:latin typeface="Courier New" panose="02070309020205020404" pitchFamily="49" charset="0"/>
                <a:cs typeface="Courier New" panose="02070309020205020404" pitchFamily="49" charset="0"/>
              </a:rPr>
              <a:t> INT PRIMARY KEY,</a:t>
            </a:r>
          </a:p>
          <a:p>
            <a:r>
              <a:rPr lang="en-MY" dirty="0">
                <a:latin typeface="Courier New" panose="02070309020205020404" pitchFamily="49" charset="0"/>
                <a:cs typeface="Courier New" panose="02070309020205020404" pitchFamily="49" charset="0"/>
              </a:rPr>
              <a:t>    description TEXT</a:t>
            </a:r>
          </a:p>
          <a:p>
            <a:r>
              <a:rPr lang="en-MY"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88430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Play"/>
              <a:buNone/>
            </a:pPr>
            <a:r>
              <a:rPr lang="en-US"/>
              <a:t>Constraints</a:t>
            </a:r>
            <a:endParaRPr/>
          </a:p>
        </p:txBody>
      </p:sp>
      <p:sp>
        <p:nvSpPr>
          <p:cNvPr id="260" name="Google Shape;260;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Setting restrictions on tables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5"/>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Types of Constraints</a:t>
            </a:r>
            <a:endParaRPr/>
          </a:p>
        </p:txBody>
      </p:sp>
      <p:sp>
        <p:nvSpPr>
          <p:cNvPr id="267" name="Google Shape;267;p15"/>
          <p:cNvSpPr/>
          <p:nvPr/>
        </p:nvSpPr>
        <p:spPr>
          <a:xfrm>
            <a:off x="838200" y="1592319"/>
            <a:ext cx="3058510" cy="851338"/>
          </a:xfrm>
          <a:prstGeom prst="roundRect">
            <a:avLst>
              <a:gd name="adj" fmla="val 16667"/>
            </a:avLst>
          </a:prstGeom>
          <a:gradFill>
            <a:gsLst>
              <a:gs pos="0">
                <a:srgbClr val="9BADBE"/>
              </a:gs>
              <a:gs pos="50000">
                <a:srgbClr val="8DA1B2"/>
              </a:gs>
              <a:gs pos="100000">
                <a:srgbClr val="7893AA"/>
              </a:gs>
            </a:gsLst>
            <a:lin ang="5400000" scaled="0"/>
          </a:gra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PRIMARY KEY</a:t>
            </a:r>
            <a:endParaRPr/>
          </a:p>
        </p:txBody>
      </p:sp>
      <p:sp>
        <p:nvSpPr>
          <p:cNvPr id="268" name="Google Shape;268;p15"/>
          <p:cNvSpPr/>
          <p:nvPr/>
        </p:nvSpPr>
        <p:spPr>
          <a:xfrm>
            <a:off x="838200" y="2861442"/>
            <a:ext cx="3058510" cy="851338"/>
          </a:xfrm>
          <a:prstGeom prst="roundRect">
            <a:avLst>
              <a:gd name="adj" fmla="val 16667"/>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FOREIGN KEY</a:t>
            </a:r>
            <a:endParaRPr/>
          </a:p>
        </p:txBody>
      </p:sp>
      <p:sp>
        <p:nvSpPr>
          <p:cNvPr id="269" name="Google Shape;269;p15"/>
          <p:cNvSpPr/>
          <p:nvPr/>
        </p:nvSpPr>
        <p:spPr>
          <a:xfrm>
            <a:off x="838200" y="4130565"/>
            <a:ext cx="3058510" cy="851338"/>
          </a:xfrm>
          <a:prstGeom prst="roundRect">
            <a:avLst>
              <a:gd name="adj" fmla="val 16667"/>
            </a:avLst>
          </a:prstGeom>
          <a:gradFill>
            <a:gsLst>
              <a:gs pos="0">
                <a:srgbClr val="9BB29C"/>
              </a:gs>
              <a:gs pos="50000">
                <a:srgbClr val="8EA78F"/>
              </a:gs>
              <a:gs pos="100000">
                <a:srgbClr val="799A7B"/>
              </a:gs>
            </a:gsLst>
            <a:lin ang="5400000" scaled="0"/>
          </a:gra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UNIQUE</a:t>
            </a:r>
            <a:endParaRPr/>
          </a:p>
        </p:txBody>
      </p:sp>
      <p:sp>
        <p:nvSpPr>
          <p:cNvPr id="270" name="Google Shape;270;p15"/>
          <p:cNvSpPr/>
          <p:nvPr/>
        </p:nvSpPr>
        <p:spPr>
          <a:xfrm>
            <a:off x="838200" y="5399688"/>
            <a:ext cx="3058510" cy="851338"/>
          </a:xfrm>
          <a:prstGeom prst="roundRect">
            <a:avLst>
              <a:gd name="adj" fmla="val 16667"/>
            </a:avLst>
          </a:prstGeom>
          <a:gradFill>
            <a:gsLst>
              <a:gs pos="0">
                <a:srgbClr val="9ACEF4"/>
              </a:gs>
              <a:gs pos="50000">
                <a:srgbClr val="8DC3EA"/>
              </a:gs>
              <a:gs pos="100000">
                <a:srgbClr val="78BDED"/>
              </a:gs>
            </a:gsLst>
            <a:lin ang="5400000" scaled="0"/>
          </a:gra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CHECK</a:t>
            </a:r>
            <a:endParaRPr/>
          </a:p>
        </p:txBody>
      </p:sp>
      <p:sp>
        <p:nvSpPr>
          <p:cNvPr id="271" name="Google Shape;271;p15"/>
          <p:cNvSpPr txBox="1"/>
          <p:nvPr/>
        </p:nvSpPr>
        <p:spPr>
          <a:xfrm>
            <a:off x="4330592" y="1664045"/>
            <a:ext cx="702320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Identify the column or columns that guarantee uniqueness within a table</a:t>
            </a:r>
            <a:endParaRPr/>
          </a:p>
        </p:txBody>
      </p:sp>
      <p:sp>
        <p:nvSpPr>
          <p:cNvPr id="272" name="Google Shape;272;p15"/>
          <p:cNvSpPr txBox="1"/>
          <p:nvPr/>
        </p:nvSpPr>
        <p:spPr>
          <a:xfrm>
            <a:off x="4330592" y="2625391"/>
            <a:ext cx="7023208"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Restrict one or more columns to contain only values found in another table’s primary key columns (may also restrict the allowable values in other tables if update cascade or delete cascade rules are established)</a:t>
            </a:r>
            <a:endParaRPr/>
          </a:p>
        </p:txBody>
      </p:sp>
      <p:sp>
        <p:nvSpPr>
          <p:cNvPr id="273" name="Google Shape;273;p15"/>
          <p:cNvSpPr txBox="1"/>
          <p:nvPr/>
        </p:nvSpPr>
        <p:spPr>
          <a:xfrm>
            <a:off x="4330592" y="4130565"/>
            <a:ext cx="702320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Restrict one or more columns to contain unique values within a table (primary key constraints are a special type of unique constraint)</a:t>
            </a:r>
            <a:endParaRPr/>
          </a:p>
        </p:txBody>
      </p:sp>
      <p:sp>
        <p:nvSpPr>
          <p:cNvPr id="274" name="Google Shape;274;p15"/>
          <p:cNvSpPr txBox="1"/>
          <p:nvPr/>
        </p:nvSpPr>
        <p:spPr>
          <a:xfrm>
            <a:off x="4330592" y="5625302"/>
            <a:ext cx="70232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Restrict the allowable values for a column</a:t>
            </a:r>
            <a:endParaRPr/>
          </a:p>
        </p:txBody>
      </p:sp>
      <p:cxnSp>
        <p:nvCxnSpPr>
          <p:cNvPr id="275" name="Google Shape;275;p15"/>
          <p:cNvCxnSpPr/>
          <p:nvPr/>
        </p:nvCxnSpPr>
        <p:spPr>
          <a:xfrm>
            <a:off x="838200" y="2625391"/>
            <a:ext cx="10515600" cy="0"/>
          </a:xfrm>
          <a:prstGeom prst="straightConnector1">
            <a:avLst/>
          </a:prstGeom>
          <a:noFill/>
          <a:ln w="19050" cap="flat" cmpd="sng">
            <a:solidFill>
              <a:srgbClr val="8F0100"/>
            </a:solidFill>
            <a:prstDash val="dash"/>
            <a:miter lim="800000"/>
            <a:headEnd type="none" w="sm" len="sm"/>
            <a:tailEnd type="none" w="sm" len="sm"/>
          </a:ln>
        </p:spPr>
      </p:cxnSp>
      <p:cxnSp>
        <p:nvCxnSpPr>
          <p:cNvPr id="276" name="Google Shape;276;p15"/>
          <p:cNvCxnSpPr/>
          <p:nvPr/>
        </p:nvCxnSpPr>
        <p:spPr>
          <a:xfrm>
            <a:off x="838200" y="3936124"/>
            <a:ext cx="10515600" cy="0"/>
          </a:xfrm>
          <a:prstGeom prst="straightConnector1">
            <a:avLst/>
          </a:prstGeom>
          <a:noFill/>
          <a:ln w="19050" cap="flat" cmpd="sng">
            <a:solidFill>
              <a:srgbClr val="8F0100"/>
            </a:solidFill>
            <a:prstDash val="dash"/>
            <a:miter lim="800000"/>
            <a:headEnd type="none" w="sm" len="sm"/>
            <a:tailEnd type="none" w="sm" len="sm"/>
          </a:ln>
        </p:spPr>
      </p:cxnSp>
      <p:cxnSp>
        <p:nvCxnSpPr>
          <p:cNvPr id="277" name="Google Shape;277;p15"/>
          <p:cNvCxnSpPr/>
          <p:nvPr/>
        </p:nvCxnSpPr>
        <p:spPr>
          <a:xfrm>
            <a:off x="838200" y="5246857"/>
            <a:ext cx="10515600" cy="0"/>
          </a:xfrm>
          <a:prstGeom prst="straightConnector1">
            <a:avLst/>
          </a:prstGeom>
          <a:noFill/>
          <a:ln w="19050" cap="flat" cmpd="sng">
            <a:solidFill>
              <a:srgbClr val="8F0100"/>
            </a:solidFill>
            <a:prstDash val="dash"/>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6"/>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Creation of Constraints</a:t>
            </a:r>
            <a:endParaRPr/>
          </a:p>
        </p:txBody>
      </p:sp>
      <p:pic>
        <p:nvPicPr>
          <p:cNvPr id="284" name="Google Shape;284;p16" descr="A computer code with black text&#10;&#10;Description automatically generated"/>
          <p:cNvPicPr preferRelativeResize="0">
            <a:picLocks noGrp="1"/>
          </p:cNvPicPr>
          <p:nvPr>
            <p:ph type="body" idx="1"/>
          </p:nvPr>
        </p:nvPicPr>
        <p:blipFill rotWithShape="1">
          <a:blip r:embed="rId3">
            <a:alphaModFix/>
          </a:blip>
          <a:srcRect/>
          <a:stretch/>
        </p:blipFill>
        <p:spPr>
          <a:xfrm>
            <a:off x="454273" y="1382411"/>
            <a:ext cx="7647909" cy="5110464"/>
          </a:xfrm>
          <a:prstGeom prst="rect">
            <a:avLst/>
          </a:prstGeom>
          <a:noFill/>
          <a:ln>
            <a:noFill/>
          </a:ln>
        </p:spPr>
      </p:pic>
      <p:sp>
        <p:nvSpPr>
          <p:cNvPr id="285" name="Google Shape;285;p16"/>
          <p:cNvSpPr txBox="1"/>
          <p:nvPr/>
        </p:nvSpPr>
        <p:spPr>
          <a:xfrm>
            <a:off x="4882386" y="1055031"/>
            <a:ext cx="7023208" cy="400110"/>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Constraints are generally created when creating tables.</a:t>
            </a:r>
            <a:endParaRPr/>
          </a:p>
        </p:txBody>
      </p:sp>
      <p:sp>
        <p:nvSpPr>
          <p:cNvPr id="286" name="Google Shape;286;p16"/>
          <p:cNvSpPr/>
          <p:nvPr/>
        </p:nvSpPr>
        <p:spPr>
          <a:xfrm>
            <a:off x="687935" y="4130566"/>
            <a:ext cx="3300111" cy="283780"/>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16"/>
          <p:cNvSpPr/>
          <p:nvPr/>
        </p:nvSpPr>
        <p:spPr>
          <a:xfrm>
            <a:off x="687935" y="5069983"/>
            <a:ext cx="7414247" cy="1047037"/>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288" name="Google Shape;288;p16"/>
          <p:cNvCxnSpPr>
            <a:stCxn id="289" idx="1"/>
            <a:endCxn id="286" idx="3"/>
          </p:cNvCxnSpPr>
          <p:nvPr/>
        </p:nvCxnSpPr>
        <p:spPr>
          <a:xfrm rot="10800000">
            <a:off x="3987968" y="4272507"/>
            <a:ext cx="536100" cy="600"/>
          </a:xfrm>
          <a:prstGeom prst="curvedConnector3">
            <a:avLst>
              <a:gd name="adj1" fmla="val 49993"/>
            </a:avLst>
          </a:prstGeom>
          <a:noFill/>
          <a:ln w="19050" cap="flat" cmpd="sng">
            <a:solidFill>
              <a:schemeClr val="accent1"/>
            </a:solidFill>
            <a:prstDash val="solid"/>
            <a:miter lim="800000"/>
            <a:headEnd type="none" w="sm" len="sm"/>
            <a:tailEnd type="triangle" w="med" len="med"/>
          </a:ln>
        </p:spPr>
      </p:cxnSp>
      <p:sp>
        <p:nvSpPr>
          <p:cNvPr id="289" name="Google Shape;289;p16"/>
          <p:cNvSpPr txBox="1"/>
          <p:nvPr/>
        </p:nvSpPr>
        <p:spPr>
          <a:xfrm>
            <a:off x="4524068" y="4088441"/>
            <a:ext cx="136568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B0F0"/>
                </a:solidFill>
                <a:latin typeface="Arial"/>
                <a:ea typeface="Arial"/>
                <a:cs typeface="Arial"/>
                <a:sym typeface="Arial"/>
              </a:rPr>
              <a:t>primary key</a:t>
            </a:r>
            <a:endParaRPr/>
          </a:p>
        </p:txBody>
      </p:sp>
      <p:sp>
        <p:nvSpPr>
          <p:cNvPr id="290" name="Google Shape;290;p16"/>
          <p:cNvSpPr txBox="1"/>
          <p:nvPr/>
        </p:nvSpPr>
        <p:spPr>
          <a:xfrm>
            <a:off x="6095359" y="4509462"/>
            <a:ext cx="136568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B0F0"/>
                </a:solidFill>
                <a:latin typeface="Arial"/>
                <a:ea typeface="Arial"/>
                <a:cs typeface="Arial"/>
                <a:sym typeface="Arial"/>
              </a:rPr>
              <a:t>foreign key</a:t>
            </a:r>
            <a:endParaRPr/>
          </a:p>
        </p:txBody>
      </p:sp>
      <p:cxnSp>
        <p:nvCxnSpPr>
          <p:cNvPr id="291" name="Google Shape;291;p16"/>
          <p:cNvCxnSpPr>
            <a:stCxn id="290" idx="1"/>
          </p:cNvCxnSpPr>
          <p:nvPr/>
        </p:nvCxnSpPr>
        <p:spPr>
          <a:xfrm flipH="1">
            <a:off x="5770159" y="4694128"/>
            <a:ext cx="325200" cy="375900"/>
          </a:xfrm>
          <a:prstGeom prst="curvedConnector2">
            <a:avLst/>
          </a:prstGeom>
          <a:noFill/>
          <a:ln w="19050" cap="flat" cmpd="sng">
            <a:solidFill>
              <a:schemeClr val="accent1"/>
            </a:solidFill>
            <a:prstDash val="solid"/>
            <a:miter lim="800000"/>
            <a:headEnd type="none" w="sm" len="sm"/>
            <a:tailEnd type="triangle" w="med" len="med"/>
          </a:ln>
        </p:spPr>
      </p:cxnSp>
      <p:sp>
        <p:nvSpPr>
          <p:cNvPr id="292" name="Google Shape;292;p16"/>
          <p:cNvSpPr txBox="1"/>
          <p:nvPr/>
        </p:nvSpPr>
        <p:spPr>
          <a:xfrm>
            <a:off x="6373495" y="1642519"/>
            <a:ext cx="5739273" cy="2585323"/>
          </a:xfrm>
          <a:prstGeom prst="rect">
            <a:avLst/>
          </a:prstGeom>
          <a:solidFill>
            <a:srgbClr val="D8F2CF"/>
          </a:solid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8F0100"/>
              </a:buClr>
              <a:buSzPts val="1800"/>
              <a:buFont typeface="Arial"/>
              <a:buChar char="•"/>
            </a:pPr>
            <a:r>
              <a:rPr lang="en-US" sz="1800" b="1">
                <a:solidFill>
                  <a:srgbClr val="8F0100"/>
                </a:solidFill>
                <a:latin typeface="Arial"/>
                <a:ea typeface="Arial"/>
                <a:cs typeface="Arial"/>
                <a:sym typeface="Arial"/>
              </a:rPr>
              <a:t>on delete restrict</a:t>
            </a:r>
            <a:r>
              <a:rPr lang="en-US" sz="1800">
                <a:solidFill>
                  <a:schemeClr val="dk1"/>
                </a:solidFill>
                <a:latin typeface="Arial"/>
                <a:ea typeface="Arial"/>
                <a:cs typeface="Arial"/>
                <a:sym typeface="Arial"/>
              </a:rPr>
              <a:t>, which will cause the server to raise an error if a row is deleted in the parent table (address or store) that is referenced in the child table (customer)</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285750" marR="0" lvl="0" indent="-285750" algn="l" rtl="0">
              <a:spcBef>
                <a:spcPts val="0"/>
              </a:spcBef>
              <a:spcAft>
                <a:spcPts val="0"/>
              </a:spcAft>
              <a:buClr>
                <a:srgbClr val="8F0100"/>
              </a:buClr>
              <a:buSzPts val="1800"/>
              <a:buFont typeface="Arial"/>
              <a:buChar char="•"/>
            </a:pPr>
            <a:r>
              <a:rPr lang="en-US" sz="1800" b="1">
                <a:solidFill>
                  <a:srgbClr val="8F0100"/>
                </a:solidFill>
                <a:latin typeface="Arial"/>
                <a:ea typeface="Arial"/>
                <a:cs typeface="Arial"/>
                <a:sym typeface="Arial"/>
              </a:rPr>
              <a:t>on update cascade</a:t>
            </a:r>
            <a:r>
              <a:rPr lang="en-US" sz="1800">
                <a:solidFill>
                  <a:schemeClr val="dk1"/>
                </a:solidFill>
                <a:latin typeface="Arial"/>
                <a:ea typeface="Arial"/>
                <a:cs typeface="Arial"/>
                <a:sym typeface="Arial"/>
              </a:rPr>
              <a:t>, which will cause the server to propagate a change to the primary key value of a parent table (address or store) to the child table (customer)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7"/>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Examples</a:t>
            </a:r>
            <a:endParaRPr/>
          </a:p>
        </p:txBody>
      </p:sp>
      <p:sp>
        <p:nvSpPr>
          <p:cNvPr id="298" name="Google Shape;298;p17"/>
          <p:cNvSpPr txBox="1"/>
          <p:nvPr/>
        </p:nvSpPr>
        <p:spPr>
          <a:xfrm>
            <a:off x="248207" y="1547926"/>
            <a:ext cx="5317021" cy="2585323"/>
          </a:xfrm>
          <a:prstGeom prst="rect">
            <a:avLst/>
          </a:prstGeom>
          <a:solidFill>
            <a:srgbClr val="D8F2CF"/>
          </a:solid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8F0100"/>
              </a:buClr>
              <a:buSzPts val="1800"/>
              <a:buFont typeface="Arial"/>
              <a:buChar char="•"/>
            </a:pPr>
            <a:r>
              <a:rPr lang="en-US" sz="1800" b="1">
                <a:solidFill>
                  <a:srgbClr val="8F0100"/>
                </a:solidFill>
                <a:latin typeface="Arial"/>
                <a:ea typeface="Arial"/>
                <a:cs typeface="Arial"/>
                <a:sym typeface="Arial"/>
              </a:rPr>
              <a:t>on delete restrict</a:t>
            </a:r>
            <a:r>
              <a:rPr lang="en-US" sz="1800">
                <a:solidFill>
                  <a:schemeClr val="dk1"/>
                </a:solidFill>
                <a:latin typeface="Arial"/>
                <a:ea typeface="Arial"/>
                <a:cs typeface="Arial"/>
                <a:sym typeface="Arial"/>
              </a:rPr>
              <a:t>, which will cause the server to raise an error if a row is deleted in the parent table (address or store) that is referenced in the child table (customer)</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285750" marR="0" lvl="0" indent="-285750" algn="l" rtl="0">
              <a:spcBef>
                <a:spcPts val="0"/>
              </a:spcBef>
              <a:spcAft>
                <a:spcPts val="0"/>
              </a:spcAft>
              <a:buClr>
                <a:srgbClr val="8F0100"/>
              </a:buClr>
              <a:buSzPts val="1800"/>
              <a:buFont typeface="Arial"/>
              <a:buChar char="•"/>
            </a:pPr>
            <a:r>
              <a:rPr lang="en-US" sz="1800" b="1">
                <a:solidFill>
                  <a:srgbClr val="8F0100"/>
                </a:solidFill>
                <a:latin typeface="Arial"/>
                <a:ea typeface="Arial"/>
                <a:cs typeface="Arial"/>
                <a:sym typeface="Arial"/>
              </a:rPr>
              <a:t>on update cascade</a:t>
            </a:r>
            <a:r>
              <a:rPr lang="en-US" sz="1800">
                <a:solidFill>
                  <a:schemeClr val="dk1"/>
                </a:solidFill>
                <a:latin typeface="Arial"/>
                <a:ea typeface="Arial"/>
                <a:cs typeface="Arial"/>
                <a:sym typeface="Arial"/>
              </a:rPr>
              <a:t>, which will cause the server to propagate a change to the primary key value of a parent table (address or store) to the child table (customer)</a:t>
            </a:r>
            <a:endParaRPr/>
          </a:p>
        </p:txBody>
      </p:sp>
      <p:pic>
        <p:nvPicPr>
          <p:cNvPr id="299" name="Google Shape;299;p17" descr="A close up of text&#10;&#10;Description automatically generated"/>
          <p:cNvPicPr preferRelativeResize="0"/>
          <p:nvPr/>
        </p:nvPicPr>
        <p:blipFill rotWithShape="1">
          <a:blip r:embed="rId3">
            <a:alphaModFix/>
          </a:blip>
          <a:srcRect/>
          <a:stretch/>
        </p:blipFill>
        <p:spPr>
          <a:xfrm>
            <a:off x="5744823" y="1547926"/>
            <a:ext cx="6238366" cy="1510584"/>
          </a:xfrm>
          <a:prstGeom prst="rect">
            <a:avLst/>
          </a:prstGeom>
          <a:noFill/>
          <a:ln w="9525" cap="flat" cmpd="sng">
            <a:solidFill>
              <a:srgbClr val="8F0100"/>
            </a:solidFill>
            <a:prstDash val="solid"/>
            <a:round/>
            <a:headEnd type="none" w="sm" len="sm"/>
            <a:tailEnd type="none" w="sm" len="sm"/>
          </a:ln>
        </p:spPr>
      </p:pic>
      <p:sp>
        <p:nvSpPr>
          <p:cNvPr id="300" name="Google Shape;300;p17"/>
          <p:cNvSpPr txBox="1"/>
          <p:nvPr/>
        </p:nvSpPr>
        <p:spPr>
          <a:xfrm>
            <a:off x="5744822" y="3150036"/>
            <a:ext cx="6238367"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Error will raise when deleting row in parent table.</a:t>
            </a:r>
            <a:endParaRPr/>
          </a:p>
        </p:txBody>
      </p:sp>
      <p:pic>
        <p:nvPicPr>
          <p:cNvPr id="301" name="Google Shape;301;p17" descr="A black text on a white background&#10;&#10;Description automatically generated"/>
          <p:cNvPicPr preferRelativeResize="0"/>
          <p:nvPr/>
        </p:nvPicPr>
        <p:blipFill rotWithShape="1">
          <a:blip r:embed="rId4">
            <a:alphaModFix/>
          </a:blip>
          <a:srcRect/>
          <a:stretch/>
        </p:blipFill>
        <p:spPr>
          <a:xfrm>
            <a:off x="248207" y="4288392"/>
            <a:ext cx="4487479" cy="1280546"/>
          </a:xfrm>
          <a:prstGeom prst="rect">
            <a:avLst/>
          </a:prstGeom>
          <a:noFill/>
          <a:ln w="9525" cap="flat" cmpd="sng">
            <a:solidFill>
              <a:srgbClr val="8F0100"/>
            </a:solidFill>
            <a:prstDash val="solid"/>
            <a:round/>
            <a:headEnd type="none" w="sm" len="sm"/>
            <a:tailEnd type="none" w="sm" len="sm"/>
          </a:ln>
        </p:spPr>
      </p:pic>
      <p:pic>
        <p:nvPicPr>
          <p:cNvPr id="302" name="Google Shape;302;p17" descr="A computer screen shot of a computer code&#10;&#10;Description automatically generated"/>
          <p:cNvPicPr preferRelativeResize="0"/>
          <p:nvPr/>
        </p:nvPicPr>
        <p:blipFill rotWithShape="1">
          <a:blip r:embed="rId5">
            <a:alphaModFix/>
          </a:blip>
          <a:srcRect/>
          <a:stretch/>
        </p:blipFill>
        <p:spPr>
          <a:xfrm>
            <a:off x="5055475" y="4301252"/>
            <a:ext cx="5847793" cy="2069084"/>
          </a:xfrm>
          <a:prstGeom prst="rect">
            <a:avLst/>
          </a:prstGeom>
          <a:noFill/>
          <a:ln w="9525" cap="flat" cmpd="sng">
            <a:solidFill>
              <a:srgbClr val="8F0100"/>
            </a:solidFill>
            <a:prstDash val="solid"/>
            <a:round/>
            <a:headEnd type="none" w="sm" len="sm"/>
            <a:tailEnd type="none" w="sm" len="sm"/>
          </a:ln>
        </p:spPr>
      </p:pic>
      <p:sp>
        <p:nvSpPr>
          <p:cNvPr id="303" name="Google Shape;303;p17"/>
          <p:cNvSpPr txBox="1"/>
          <p:nvPr/>
        </p:nvSpPr>
        <p:spPr>
          <a:xfrm>
            <a:off x="248207" y="5582190"/>
            <a:ext cx="448748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Update of values in parent table (address table)</a:t>
            </a:r>
            <a:endParaRPr/>
          </a:p>
        </p:txBody>
      </p:sp>
      <p:sp>
        <p:nvSpPr>
          <p:cNvPr id="304" name="Google Shape;304;p17"/>
          <p:cNvSpPr txBox="1"/>
          <p:nvPr/>
        </p:nvSpPr>
        <p:spPr>
          <a:xfrm>
            <a:off x="3988677" y="6402356"/>
            <a:ext cx="799451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a:solidFill>
                  <a:schemeClr val="dk1"/>
                </a:solidFill>
                <a:latin typeface="Arial"/>
                <a:ea typeface="Arial"/>
                <a:cs typeface="Arial"/>
                <a:sym typeface="Arial"/>
              </a:rPr>
              <a:t>the updated value will be cascaded to the child table (customer table)</a:t>
            </a:r>
            <a:endParaRPr/>
          </a:p>
        </p:txBody>
      </p:sp>
      <p:sp>
        <p:nvSpPr>
          <p:cNvPr id="305" name="Google Shape;305;p17"/>
          <p:cNvSpPr/>
          <p:nvPr/>
        </p:nvSpPr>
        <p:spPr>
          <a:xfrm>
            <a:off x="8213835" y="4360837"/>
            <a:ext cx="993228" cy="242694"/>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17"/>
          <p:cNvSpPr/>
          <p:nvPr/>
        </p:nvSpPr>
        <p:spPr>
          <a:xfrm>
            <a:off x="1681656" y="4371347"/>
            <a:ext cx="793530" cy="232184"/>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17"/>
          <p:cNvSpPr/>
          <p:nvPr/>
        </p:nvSpPr>
        <p:spPr>
          <a:xfrm>
            <a:off x="7583213" y="5789373"/>
            <a:ext cx="402719" cy="233055"/>
          </a:xfrm>
          <a:prstGeom prst="rect">
            <a:avLst/>
          </a:prstGeom>
          <a:noFill/>
          <a:ln w="28575" cap="flat" cmpd="sng">
            <a:solidFill>
              <a:srgbClr val="8F0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17"/>
          <p:cNvSpPr/>
          <p:nvPr/>
        </p:nvSpPr>
        <p:spPr>
          <a:xfrm>
            <a:off x="4524703" y="4603531"/>
            <a:ext cx="662152" cy="37837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8"/>
          <p:cNvSpPr txBox="1">
            <a:spLocks noGrp="1"/>
          </p:cNvSpPr>
          <p:nvPr>
            <p:ph type="title"/>
          </p:nvPr>
        </p:nvSpPr>
        <p:spPr>
          <a:xfrm>
            <a:off x="838200" y="365125"/>
            <a:ext cx="10515600" cy="7626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F0100"/>
              </a:buClr>
              <a:buSzPts val="3200"/>
              <a:buFont typeface="Play"/>
              <a:buNone/>
            </a:pPr>
            <a:r>
              <a:rPr lang="en-US"/>
              <a:t>Options in foreign key constraints</a:t>
            </a:r>
            <a:endParaRPr/>
          </a:p>
        </p:txBody>
      </p:sp>
      <p:sp>
        <p:nvSpPr>
          <p:cNvPr id="314" name="Google Shape;314;p18"/>
          <p:cNvSpPr txBox="1"/>
          <p:nvPr/>
        </p:nvSpPr>
        <p:spPr>
          <a:xfrm>
            <a:off x="595050" y="2533023"/>
            <a:ext cx="1943200" cy="369332"/>
          </a:xfrm>
          <a:prstGeom prst="rect">
            <a:avLst/>
          </a:prstGeom>
          <a:solidFill>
            <a:srgbClr val="D8F2C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on delete</a:t>
            </a:r>
            <a:endParaRPr sz="1800">
              <a:solidFill>
                <a:schemeClr val="dk1"/>
              </a:solidFill>
              <a:latin typeface="Arial"/>
              <a:ea typeface="Arial"/>
              <a:cs typeface="Arial"/>
              <a:sym typeface="Arial"/>
            </a:endParaRPr>
          </a:p>
        </p:txBody>
      </p:sp>
      <p:sp>
        <p:nvSpPr>
          <p:cNvPr id="315" name="Google Shape;315;p18"/>
          <p:cNvSpPr txBox="1"/>
          <p:nvPr/>
        </p:nvSpPr>
        <p:spPr>
          <a:xfrm>
            <a:off x="595050" y="4975653"/>
            <a:ext cx="1943200" cy="369332"/>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on update</a:t>
            </a:r>
            <a:endParaRPr sz="1800">
              <a:solidFill>
                <a:schemeClr val="dk1"/>
              </a:solidFill>
              <a:latin typeface="Arial"/>
              <a:ea typeface="Arial"/>
              <a:cs typeface="Arial"/>
              <a:sym typeface="Arial"/>
            </a:endParaRPr>
          </a:p>
        </p:txBody>
      </p:sp>
      <p:sp>
        <p:nvSpPr>
          <p:cNvPr id="316" name="Google Shape;316;p18"/>
          <p:cNvSpPr txBox="1"/>
          <p:nvPr/>
        </p:nvSpPr>
        <p:spPr>
          <a:xfrm>
            <a:off x="3565636" y="1518080"/>
            <a:ext cx="1943200" cy="369332"/>
          </a:xfrm>
          <a:prstGeom prst="rect">
            <a:avLst/>
          </a:prstGeom>
          <a:solidFill>
            <a:srgbClr val="D8F2C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restrict</a:t>
            </a:r>
            <a:endParaRPr sz="1800">
              <a:solidFill>
                <a:schemeClr val="dk1"/>
              </a:solidFill>
              <a:latin typeface="Arial"/>
              <a:ea typeface="Arial"/>
              <a:cs typeface="Arial"/>
              <a:sym typeface="Arial"/>
            </a:endParaRPr>
          </a:p>
        </p:txBody>
      </p:sp>
      <p:sp>
        <p:nvSpPr>
          <p:cNvPr id="317" name="Google Shape;317;p18"/>
          <p:cNvSpPr txBox="1"/>
          <p:nvPr/>
        </p:nvSpPr>
        <p:spPr>
          <a:xfrm>
            <a:off x="3565636" y="2407770"/>
            <a:ext cx="1943200" cy="369332"/>
          </a:xfrm>
          <a:prstGeom prst="rect">
            <a:avLst/>
          </a:prstGeom>
          <a:solidFill>
            <a:srgbClr val="D8F2C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cascade</a:t>
            </a:r>
            <a:endParaRPr sz="1800">
              <a:solidFill>
                <a:schemeClr val="dk1"/>
              </a:solidFill>
              <a:latin typeface="Arial"/>
              <a:ea typeface="Arial"/>
              <a:cs typeface="Arial"/>
              <a:sym typeface="Arial"/>
            </a:endParaRPr>
          </a:p>
        </p:txBody>
      </p:sp>
      <p:sp>
        <p:nvSpPr>
          <p:cNvPr id="318" name="Google Shape;318;p18"/>
          <p:cNvSpPr txBox="1"/>
          <p:nvPr/>
        </p:nvSpPr>
        <p:spPr>
          <a:xfrm>
            <a:off x="3565636" y="3243349"/>
            <a:ext cx="1943200" cy="369332"/>
          </a:xfrm>
          <a:prstGeom prst="rect">
            <a:avLst/>
          </a:prstGeom>
          <a:solidFill>
            <a:srgbClr val="D8F2C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set null</a:t>
            </a:r>
            <a:endParaRPr sz="1800">
              <a:solidFill>
                <a:schemeClr val="dk1"/>
              </a:solidFill>
              <a:latin typeface="Arial"/>
              <a:ea typeface="Arial"/>
              <a:cs typeface="Arial"/>
              <a:sym typeface="Arial"/>
            </a:endParaRPr>
          </a:p>
        </p:txBody>
      </p:sp>
      <p:sp>
        <p:nvSpPr>
          <p:cNvPr id="319" name="Google Shape;319;p18"/>
          <p:cNvSpPr txBox="1"/>
          <p:nvPr/>
        </p:nvSpPr>
        <p:spPr>
          <a:xfrm>
            <a:off x="3565636" y="4138341"/>
            <a:ext cx="1943200" cy="369332"/>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restrict</a:t>
            </a:r>
            <a:endParaRPr sz="1800">
              <a:solidFill>
                <a:schemeClr val="dk1"/>
              </a:solidFill>
              <a:latin typeface="Arial"/>
              <a:ea typeface="Arial"/>
              <a:cs typeface="Arial"/>
              <a:sym typeface="Arial"/>
            </a:endParaRPr>
          </a:p>
        </p:txBody>
      </p:sp>
      <p:sp>
        <p:nvSpPr>
          <p:cNvPr id="320" name="Google Shape;320;p18"/>
          <p:cNvSpPr txBox="1"/>
          <p:nvPr/>
        </p:nvSpPr>
        <p:spPr>
          <a:xfrm>
            <a:off x="3565636" y="4975653"/>
            <a:ext cx="1943200" cy="369332"/>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cascade</a:t>
            </a:r>
            <a:endParaRPr sz="1800">
              <a:solidFill>
                <a:schemeClr val="dk1"/>
              </a:solidFill>
              <a:latin typeface="Arial"/>
              <a:ea typeface="Arial"/>
              <a:cs typeface="Arial"/>
              <a:sym typeface="Arial"/>
            </a:endParaRPr>
          </a:p>
        </p:txBody>
      </p:sp>
      <p:sp>
        <p:nvSpPr>
          <p:cNvPr id="321" name="Google Shape;321;p18"/>
          <p:cNvSpPr txBox="1"/>
          <p:nvPr/>
        </p:nvSpPr>
        <p:spPr>
          <a:xfrm>
            <a:off x="3565636" y="5817667"/>
            <a:ext cx="1943200" cy="369332"/>
          </a:xfrm>
          <a:prstGeom prst="rect">
            <a:avLst/>
          </a:prstGeom>
          <a:solidFill>
            <a:srgbClr val="FAE2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8F0100"/>
                </a:solidFill>
                <a:latin typeface="Arial"/>
                <a:ea typeface="Arial"/>
                <a:cs typeface="Arial"/>
                <a:sym typeface="Arial"/>
              </a:rPr>
              <a:t>set null</a:t>
            </a:r>
            <a:endParaRPr sz="1800">
              <a:solidFill>
                <a:schemeClr val="dk1"/>
              </a:solidFill>
              <a:latin typeface="Arial"/>
              <a:ea typeface="Arial"/>
              <a:cs typeface="Arial"/>
              <a:sym typeface="Arial"/>
            </a:endParaRPr>
          </a:p>
        </p:txBody>
      </p:sp>
      <p:cxnSp>
        <p:nvCxnSpPr>
          <p:cNvPr id="322" name="Google Shape;322;p18"/>
          <p:cNvCxnSpPr>
            <a:stCxn id="314" idx="3"/>
            <a:endCxn id="316" idx="1"/>
          </p:cNvCxnSpPr>
          <p:nvPr/>
        </p:nvCxnSpPr>
        <p:spPr>
          <a:xfrm rot="10800000" flipH="1">
            <a:off x="2538250" y="1702789"/>
            <a:ext cx="1027500" cy="1014900"/>
          </a:xfrm>
          <a:prstGeom prst="curvedConnector3">
            <a:avLst>
              <a:gd name="adj1" fmla="val 50000"/>
            </a:avLst>
          </a:prstGeom>
          <a:noFill/>
          <a:ln w="19050" cap="flat" cmpd="sng">
            <a:solidFill>
              <a:schemeClr val="accent1"/>
            </a:solidFill>
            <a:prstDash val="solid"/>
            <a:miter lim="800000"/>
            <a:headEnd type="none" w="sm" len="sm"/>
            <a:tailEnd type="triangle" w="med" len="med"/>
          </a:ln>
        </p:spPr>
      </p:cxnSp>
      <p:cxnSp>
        <p:nvCxnSpPr>
          <p:cNvPr id="323" name="Google Shape;323;p18"/>
          <p:cNvCxnSpPr>
            <a:stCxn id="314" idx="3"/>
            <a:endCxn id="318" idx="1"/>
          </p:cNvCxnSpPr>
          <p:nvPr/>
        </p:nvCxnSpPr>
        <p:spPr>
          <a:xfrm>
            <a:off x="2538250" y="2717689"/>
            <a:ext cx="1027500" cy="710400"/>
          </a:xfrm>
          <a:prstGeom prst="curvedConnector3">
            <a:avLst>
              <a:gd name="adj1" fmla="val 50000"/>
            </a:avLst>
          </a:prstGeom>
          <a:noFill/>
          <a:ln w="19050" cap="flat" cmpd="sng">
            <a:solidFill>
              <a:schemeClr val="accent1"/>
            </a:solidFill>
            <a:prstDash val="solid"/>
            <a:miter lim="800000"/>
            <a:headEnd type="none" w="sm" len="sm"/>
            <a:tailEnd type="triangle" w="med" len="med"/>
          </a:ln>
        </p:spPr>
      </p:cxnSp>
      <p:cxnSp>
        <p:nvCxnSpPr>
          <p:cNvPr id="324" name="Google Shape;324;p18"/>
          <p:cNvCxnSpPr>
            <a:stCxn id="314" idx="3"/>
            <a:endCxn id="317" idx="1"/>
          </p:cNvCxnSpPr>
          <p:nvPr/>
        </p:nvCxnSpPr>
        <p:spPr>
          <a:xfrm rot="10800000" flipH="1">
            <a:off x="2538250" y="2592289"/>
            <a:ext cx="1027500" cy="125400"/>
          </a:xfrm>
          <a:prstGeom prst="curvedConnector3">
            <a:avLst>
              <a:gd name="adj1" fmla="val 50000"/>
            </a:avLst>
          </a:prstGeom>
          <a:noFill/>
          <a:ln w="19050" cap="flat" cmpd="sng">
            <a:solidFill>
              <a:schemeClr val="accent1"/>
            </a:solidFill>
            <a:prstDash val="solid"/>
            <a:miter lim="800000"/>
            <a:headEnd type="none" w="sm" len="sm"/>
            <a:tailEnd type="triangle" w="med" len="med"/>
          </a:ln>
        </p:spPr>
      </p:cxnSp>
      <p:cxnSp>
        <p:nvCxnSpPr>
          <p:cNvPr id="325" name="Google Shape;325;p18"/>
          <p:cNvCxnSpPr>
            <a:stCxn id="315" idx="3"/>
            <a:endCxn id="321" idx="1"/>
          </p:cNvCxnSpPr>
          <p:nvPr/>
        </p:nvCxnSpPr>
        <p:spPr>
          <a:xfrm>
            <a:off x="2538250" y="5160319"/>
            <a:ext cx="1027500" cy="842100"/>
          </a:xfrm>
          <a:prstGeom prst="curvedConnector3">
            <a:avLst>
              <a:gd name="adj1" fmla="val 49994"/>
            </a:avLst>
          </a:prstGeom>
          <a:noFill/>
          <a:ln w="19050" cap="flat" cmpd="sng">
            <a:solidFill>
              <a:schemeClr val="accent1"/>
            </a:solidFill>
            <a:prstDash val="solid"/>
            <a:miter lim="800000"/>
            <a:headEnd type="none" w="sm" len="sm"/>
            <a:tailEnd type="triangle" w="med" len="med"/>
          </a:ln>
        </p:spPr>
      </p:cxnSp>
      <p:cxnSp>
        <p:nvCxnSpPr>
          <p:cNvPr id="326" name="Google Shape;326;p18"/>
          <p:cNvCxnSpPr>
            <a:stCxn id="315" idx="3"/>
            <a:endCxn id="319" idx="1"/>
          </p:cNvCxnSpPr>
          <p:nvPr/>
        </p:nvCxnSpPr>
        <p:spPr>
          <a:xfrm rot="10800000" flipH="1">
            <a:off x="2538250" y="4323019"/>
            <a:ext cx="1027500" cy="837300"/>
          </a:xfrm>
          <a:prstGeom prst="curvedConnector3">
            <a:avLst>
              <a:gd name="adj1" fmla="val 49994"/>
            </a:avLst>
          </a:prstGeom>
          <a:noFill/>
          <a:ln w="19050" cap="flat" cmpd="sng">
            <a:solidFill>
              <a:schemeClr val="accent1"/>
            </a:solidFill>
            <a:prstDash val="solid"/>
            <a:miter lim="800000"/>
            <a:headEnd type="none" w="sm" len="sm"/>
            <a:tailEnd type="triangle" w="med" len="med"/>
          </a:ln>
        </p:spPr>
      </p:cxnSp>
      <p:cxnSp>
        <p:nvCxnSpPr>
          <p:cNvPr id="327" name="Google Shape;327;p18"/>
          <p:cNvCxnSpPr>
            <a:stCxn id="315" idx="3"/>
            <a:endCxn id="320" idx="1"/>
          </p:cNvCxnSpPr>
          <p:nvPr/>
        </p:nvCxnSpPr>
        <p:spPr>
          <a:xfrm>
            <a:off x="2538250" y="5160319"/>
            <a:ext cx="1027500" cy="600"/>
          </a:xfrm>
          <a:prstGeom prst="curvedConnector3">
            <a:avLst>
              <a:gd name="adj1" fmla="val 49994"/>
            </a:avLst>
          </a:prstGeom>
          <a:noFill/>
          <a:ln w="19050" cap="flat" cmpd="sng">
            <a:solidFill>
              <a:schemeClr val="accent1"/>
            </a:solidFill>
            <a:prstDash val="solid"/>
            <a:miter lim="800000"/>
            <a:headEnd type="none" w="sm" len="sm"/>
            <a:tailEnd type="triangle" w="med" len="med"/>
          </a:ln>
        </p:spPr>
      </p:cxnSp>
      <p:sp>
        <p:nvSpPr>
          <p:cNvPr id="328" name="Google Shape;328;p18"/>
          <p:cNvSpPr txBox="1"/>
          <p:nvPr/>
        </p:nvSpPr>
        <p:spPr>
          <a:xfrm>
            <a:off x="5669117" y="1486040"/>
            <a:ext cx="635350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restrict the deletion of row in parent table</a:t>
            </a:r>
            <a:endParaRPr/>
          </a:p>
        </p:txBody>
      </p:sp>
      <p:sp>
        <p:nvSpPr>
          <p:cNvPr id="329" name="Google Shape;329;p18"/>
          <p:cNvSpPr txBox="1"/>
          <p:nvPr/>
        </p:nvSpPr>
        <p:spPr>
          <a:xfrm>
            <a:off x="5669117" y="4122952"/>
            <a:ext cx="6353505"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restrict the update of row in parent table</a:t>
            </a:r>
            <a:endParaRPr/>
          </a:p>
        </p:txBody>
      </p:sp>
      <p:sp>
        <p:nvSpPr>
          <p:cNvPr id="330" name="Google Shape;330;p18"/>
          <p:cNvSpPr txBox="1"/>
          <p:nvPr/>
        </p:nvSpPr>
        <p:spPr>
          <a:xfrm>
            <a:off x="5644054" y="4812726"/>
            <a:ext cx="635350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ensure the updated of primary key in parent table is cascaded to foreign key in child table</a:t>
            </a:r>
            <a:endParaRPr/>
          </a:p>
        </p:txBody>
      </p:sp>
      <p:sp>
        <p:nvSpPr>
          <p:cNvPr id="331" name="Google Shape;331;p18"/>
          <p:cNvSpPr txBox="1"/>
          <p:nvPr/>
        </p:nvSpPr>
        <p:spPr>
          <a:xfrm>
            <a:off x="5644054" y="5649683"/>
            <a:ext cx="635350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when row updated in parent table, child table’s foreign key value set to null</a:t>
            </a:r>
            <a:endParaRPr/>
          </a:p>
        </p:txBody>
      </p:sp>
      <p:sp>
        <p:nvSpPr>
          <p:cNvPr id="332" name="Google Shape;332;p18"/>
          <p:cNvSpPr txBox="1"/>
          <p:nvPr/>
        </p:nvSpPr>
        <p:spPr>
          <a:xfrm>
            <a:off x="5669117" y="2244430"/>
            <a:ext cx="635350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ensure the deletion of primary key in parent table is cascaded to foreign key in child table</a:t>
            </a:r>
            <a:endParaRPr/>
          </a:p>
        </p:txBody>
      </p:sp>
      <p:sp>
        <p:nvSpPr>
          <p:cNvPr id="333" name="Google Shape;333;p18"/>
          <p:cNvSpPr txBox="1"/>
          <p:nvPr/>
        </p:nvSpPr>
        <p:spPr>
          <a:xfrm>
            <a:off x="5669117" y="3081387"/>
            <a:ext cx="6353505"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when row deleted in parent table, child table’s foreign key value set to null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EC8DD-CB54-B4E2-CF4F-E7C1A4AA5A15}"/>
              </a:ext>
            </a:extLst>
          </p:cNvPr>
          <p:cNvSpPr>
            <a:spLocks noGrp="1"/>
          </p:cNvSpPr>
          <p:nvPr>
            <p:ph type="title"/>
          </p:nvPr>
        </p:nvSpPr>
        <p:spPr/>
        <p:txBody>
          <a:bodyPr/>
          <a:lstStyle/>
          <a:p>
            <a:r>
              <a:rPr lang="en-US" dirty="0"/>
              <a:t>Exercise - Constraints</a:t>
            </a:r>
            <a:endParaRPr lang="en-MY" dirty="0"/>
          </a:p>
        </p:txBody>
      </p:sp>
      <p:sp>
        <p:nvSpPr>
          <p:cNvPr id="3" name="Text Placeholder 2">
            <a:extLst>
              <a:ext uri="{FF2B5EF4-FFF2-40B4-BE49-F238E27FC236}">
                <a16:creationId xmlns:a16="http://schemas.microsoft.com/office/drawing/2014/main" id="{AF80C658-91DC-EEDF-7F5D-2181FC187757}"/>
              </a:ext>
            </a:extLst>
          </p:cNvPr>
          <p:cNvSpPr>
            <a:spLocks noGrp="1"/>
          </p:cNvSpPr>
          <p:nvPr>
            <p:ph type="body" idx="1"/>
          </p:nvPr>
        </p:nvSpPr>
        <p:spPr>
          <a:xfrm>
            <a:off x="277762" y="1363058"/>
            <a:ext cx="10515600" cy="628937"/>
          </a:xfrm>
        </p:spPr>
        <p:txBody>
          <a:bodyPr>
            <a:noAutofit/>
          </a:bodyPr>
          <a:lstStyle/>
          <a:p>
            <a:pPr marL="76200" indent="0">
              <a:buNone/>
            </a:pPr>
            <a:r>
              <a:rPr lang="en-US" sz="1600" dirty="0"/>
              <a:t>1. Create a table named department with the following structure:</a:t>
            </a:r>
          </a:p>
          <a:p>
            <a:pPr marL="76200" indent="0">
              <a:buNone/>
            </a:pPr>
            <a:r>
              <a:rPr lang="en-US" sz="1600" dirty="0"/>
              <a:t>Add a </a:t>
            </a:r>
            <a:r>
              <a:rPr lang="en-US" sz="1600" b="1" dirty="0"/>
              <a:t>Primary Key</a:t>
            </a:r>
            <a:r>
              <a:rPr lang="en-US" sz="1600" dirty="0"/>
              <a:t> constraint to ensure each department is unique.</a:t>
            </a:r>
          </a:p>
          <a:p>
            <a:pPr marL="76200" indent="0">
              <a:buNone/>
            </a:pPr>
            <a:endParaRPr lang="en-US" sz="1600" dirty="0"/>
          </a:p>
          <a:p>
            <a:pPr marL="76200" indent="0">
              <a:buNone/>
            </a:pPr>
            <a:endParaRPr lang="en-MY" sz="1600" dirty="0"/>
          </a:p>
        </p:txBody>
      </p:sp>
      <p:sp>
        <p:nvSpPr>
          <p:cNvPr id="7" name="TextBox 6">
            <a:extLst>
              <a:ext uri="{FF2B5EF4-FFF2-40B4-BE49-F238E27FC236}">
                <a16:creationId xmlns:a16="http://schemas.microsoft.com/office/drawing/2014/main" id="{7DD1AED9-E5F4-8FA3-BF5B-C7BF6F042E47}"/>
              </a:ext>
            </a:extLst>
          </p:cNvPr>
          <p:cNvSpPr txBox="1"/>
          <p:nvPr/>
        </p:nvSpPr>
        <p:spPr>
          <a:xfrm>
            <a:off x="6636774" y="1176921"/>
            <a:ext cx="3903407" cy="1323439"/>
          </a:xfrm>
          <a:prstGeom prst="rect">
            <a:avLst/>
          </a:prstGeom>
          <a:noFill/>
        </p:spPr>
        <p:txBody>
          <a:bodyPr wrap="square">
            <a:spAutoFit/>
          </a:bodyPr>
          <a:lstStyle/>
          <a:p>
            <a:r>
              <a:rPr lang="en-US" sz="1600" dirty="0">
                <a:solidFill>
                  <a:srgbClr val="C00000"/>
                </a:solidFill>
                <a:latin typeface="Courier New" panose="02070309020205020404" pitchFamily="49" charset="0"/>
                <a:cs typeface="Courier New" panose="02070309020205020404" pitchFamily="49" charset="0"/>
              </a:rPr>
              <a:t>CREATE TABLE </a:t>
            </a:r>
            <a:r>
              <a:rPr lang="en-US" sz="1600" dirty="0">
                <a:latin typeface="Courier New" panose="02070309020205020404" pitchFamily="49" charset="0"/>
                <a:cs typeface="Courier New" panose="02070309020205020404" pitchFamily="49" charset="0"/>
              </a:rPr>
              <a:t>department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dept_id</a:t>
            </a:r>
            <a:r>
              <a:rPr lang="en-US" sz="1600" dirty="0">
                <a:latin typeface="Courier New" panose="02070309020205020404" pitchFamily="49" charset="0"/>
                <a:cs typeface="Courier New" panose="02070309020205020404" pitchFamily="49" charset="0"/>
              </a:rPr>
              <a:t> INT,</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dept_name</a:t>
            </a:r>
            <a:r>
              <a:rPr lang="en-US" sz="1600" dirty="0">
                <a:latin typeface="Courier New" panose="02070309020205020404" pitchFamily="49" charset="0"/>
                <a:cs typeface="Courier New" panose="02070309020205020404" pitchFamily="49" charset="0"/>
              </a:rPr>
              <a:t> VARCHAR(50),</a:t>
            </a:r>
          </a:p>
          <a:p>
            <a:r>
              <a:rPr lang="en-US" sz="1600" dirty="0">
                <a:latin typeface="Courier New" panose="02070309020205020404" pitchFamily="49" charset="0"/>
                <a:cs typeface="Courier New" panose="02070309020205020404" pitchFamily="49" charset="0"/>
              </a:rPr>
              <a:t>    location VARCHAR(30)</a:t>
            </a:r>
          </a:p>
          <a:p>
            <a:r>
              <a:rPr lang="en-US" sz="1600" dirty="0">
                <a:latin typeface="Courier New" panose="02070309020205020404" pitchFamily="49" charset="0"/>
                <a:cs typeface="Courier New" panose="02070309020205020404" pitchFamily="49" charset="0"/>
              </a:rPr>
              <a:t>);</a:t>
            </a:r>
          </a:p>
        </p:txBody>
      </p:sp>
      <p:sp>
        <p:nvSpPr>
          <p:cNvPr id="8" name="Text Placeholder 2">
            <a:extLst>
              <a:ext uri="{FF2B5EF4-FFF2-40B4-BE49-F238E27FC236}">
                <a16:creationId xmlns:a16="http://schemas.microsoft.com/office/drawing/2014/main" id="{256F8033-BA81-4F1B-1172-B531EC1A532C}"/>
              </a:ext>
            </a:extLst>
          </p:cNvPr>
          <p:cNvSpPr txBox="1">
            <a:spLocks/>
          </p:cNvSpPr>
          <p:nvPr/>
        </p:nvSpPr>
        <p:spPr>
          <a:xfrm>
            <a:off x="277763" y="2500360"/>
            <a:ext cx="6840792" cy="6289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76200" indent="0">
              <a:buNone/>
            </a:pPr>
            <a:r>
              <a:rPr lang="en-US" sz="1600" dirty="0"/>
              <a:t>2. Create a table employee with these columns:</a:t>
            </a:r>
          </a:p>
          <a:p>
            <a:pPr marL="76200" indent="0">
              <a:buNone/>
            </a:pPr>
            <a:r>
              <a:rPr lang="en-US" sz="1600" dirty="0"/>
              <a:t>Then link it to the department table so that every </a:t>
            </a:r>
            <a:r>
              <a:rPr lang="en-US" sz="1600" dirty="0" err="1">
                <a:latin typeface="Courier New" panose="02070309020205020404" pitchFamily="49" charset="0"/>
                <a:cs typeface="Courier New" panose="02070309020205020404" pitchFamily="49" charset="0"/>
              </a:rPr>
              <a:t>dept_id</a:t>
            </a:r>
            <a:r>
              <a:rPr lang="en-US" sz="1600" dirty="0">
                <a:latin typeface="Courier New" panose="02070309020205020404" pitchFamily="49" charset="0"/>
                <a:cs typeface="Courier New" panose="02070309020205020404" pitchFamily="49" charset="0"/>
              </a:rPr>
              <a:t> </a:t>
            </a:r>
            <a:r>
              <a:rPr lang="en-US" sz="1600" dirty="0"/>
              <a:t>in employee must exist in department.</a:t>
            </a:r>
          </a:p>
          <a:p>
            <a:pPr marL="76200" indent="0">
              <a:buFont typeface="Arial"/>
              <a:buNone/>
            </a:pPr>
            <a:endParaRPr lang="en-MY" sz="1600" dirty="0"/>
          </a:p>
        </p:txBody>
      </p:sp>
      <p:sp>
        <p:nvSpPr>
          <p:cNvPr id="9" name="TextBox 8">
            <a:extLst>
              <a:ext uri="{FF2B5EF4-FFF2-40B4-BE49-F238E27FC236}">
                <a16:creationId xmlns:a16="http://schemas.microsoft.com/office/drawing/2014/main" id="{E3BFDA75-9317-DDC5-1EE0-53B17E330FFF}"/>
              </a:ext>
            </a:extLst>
          </p:cNvPr>
          <p:cNvSpPr txBox="1"/>
          <p:nvPr/>
        </p:nvSpPr>
        <p:spPr>
          <a:xfrm>
            <a:off x="7118555" y="2575392"/>
            <a:ext cx="3903407" cy="1323439"/>
          </a:xfrm>
          <a:prstGeom prst="rect">
            <a:avLst/>
          </a:prstGeom>
          <a:noFill/>
        </p:spPr>
        <p:txBody>
          <a:bodyPr wrap="square">
            <a:spAutoFit/>
          </a:bodyPr>
          <a:lstStyle/>
          <a:p>
            <a:r>
              <a:rPr lang="en-US" sz="1600" dirty="0">
                <a:solidFill>
                  <a:srgbClr val="C00000"/>
                </a:solidFill>
                <a:latin typeface="Courier New" panose="02070309020205020404" pitchFamily="49" charset="0"/>
                <a:cs typeface="Courier New" panose="02070309020205020404" pitchFamily="49" charset="0"/>
              </a:rPr>
              <a:t>CREATE TABLE </a:t>
            </a:r>
            <a:r>
              <a:rPr lang="en-US" sz="1600" dirty="0">
                <a:solidFill>
                  <a:schemeClr val="tx1"/>
                </a:solidFill>
                <a:latin typeface="Courier New" panose="02070309020205020404" pitchFamily="49" charset="0"/>
                <a:cs typeface="Courier New" panose="02070309020205020404" pitchFamily="49" charset="0"/>
              </a:rPr>
              <a:t>employee (</a:t>
            </a:r>
          </a:p>
          <a:p>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emp_id</a:t>
            </a:r>
            <a:r>
              <a:rPr lang="en-US" sz="1600" dirty="0">
                <a:solidFill>
                  <a:schemeClr val="tx1"/>
                </a:solidFill>
                <a:latin typeface="Courier New" panose="02070309020205020404" pitchFamily="49" charset="0"/>
                <a:cs typeface="Courier New" panose="02070309020205020404" pitchFamily="49" charset="0"/>
              </a:rPr>
              <a:t> INT PRIMARY KEY,</a:t>
            </a:r>
          </a:p>
          <a:p>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emp_name</a:t>
            </a:r>
            <a:r>
              <a:rPr lang="en-US" sz="1600" dirty="0">
                <a:solidFill>
                  <a:schemeClr val="tx1"/>
                </a:solidFill>
                <a:latin typeface="Courier New" panose="02070309020205020404" pitchFamily="49" charset="0"/>
                <a:cs typeface="Courier New" panose="02070309020205020404" pitchFamily="49" charset="0"/>
              </a:rPr>
              <a:t> VARCHAR(50),</a:t>
            </a:r>
          </a:p>
          <a:p>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dept_id</a:t>
            </a:r>
            <a:r>
              <a:rPr lang="en-US" sz="1600" dirty="0">
                <a:solidFill>
                  <a:schemeClr val="tx1"/>
                </a:solidFill>
                <a:latin typeface="Courier New" panose="02070309020205020404" pitchFamily="49" charset="0"/>
                <a:cs typeface="Courier New" panose="02070309020205020404" pitchFamily="49" charset="0"/>
              </a:rPr>
              <a:t> INT</a:t>
            </a:r>
          </a:p>
          <a:p>
            <a:r>
              <a:rPr lang="en-US" sz="1600" dirty="0">
                <a:solidFill>
                  <a:schemeClr val="tx1"/>
                </a:solidFill>
                <a:latin typeface="Courier New" panose="02070309020205020404" pitchFamily="49" charset="0"/>
                <a:cs typeface="Courier New" panose="02070309020205020404" pitchFamily="49" charset="0"/>
              </a:rPr>
              <a:t>);</a:t>
            </a:r>
          </a:p>
        </p:txBody>
      </p:sp>
      <p:sp>
        <p:nvSpPr>
          <p:cNvPr id="10" name="Text Placeholder 2">
            <a:extLst>
              <a:ext uri="{FF2B5EF4-FFF2-40B4-BE49-F238E27FC236}">
                <a16:creationId xmlns:a16="http://schemas.microsoft.com/office/drawing/2014/main" id="{36273157-CEAD-169C-11E1-75E2389C0174}"/>
              </a:ext>
            </a:extLst>
          </p:cNvPr>
          <p:cNvSpPr txBox="1">
            <a:spLocks/>
          </p:cNvSpPr>
          <p:nvPr/>
        </p:nvSpPr>
        <p:spPr>
          <a:xfrm>
            <a:off x="277763" y="3898831"/>
            <a:ext cx="6840792" cy="6289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76200" indent="0">
              <a:buNone/>
            </a:pPr>
            <a:r>
              <a:rPr lang="en-US" sz="1600" dirty="0"/>
              <a:t>3. Ensure that salary values in employee are always greater than 2000.</a:t>
            </a:r>
            <a:endParaRPr lang="en-MY" sz="1600" dirty="0"/>
          </a:p>
        </p:txBody>
      </p:sp>
      <p:sp>
        <p:nvSpPr>
          <p:cNvPr id="12" name="TextBox 11">
            <a:extLst>
              <a:ext uri="{FF2B5EF4-FFF2-40B4-BE49-F238E27FC236}">
                <a16:creationId xmlns:a16="http://schemas.microsoft.com/office/drawing/2014/main" id="{7B2484B5-FA28-082C-74AC-813387375801}"/>
              </a:ext>
            </a:extLst>
          </p:cNvPr>
          <p:cNvSpPr txBox="1"/>
          <p:nvPr/>
        </p:nvSpPr>
        <p:spPr>
          <a:xfrm>
            <a:off x="353961" y="4751855"/>
            <a:ext cx="8593394" cy="1323439"/>
          </a:xfrm>
          <a:prstGeom prst="rect">
            <a:avLst/>
          </a:prstGeom>
          <a:noFill/>
        </p:spPr>
        <p:txBody>
          <a:bodyPr wrap="square">
            <a:spAutoFit/>
          </a:bodyPr>
          <a:lstStyle/>
          <a:p>
            <a:pPr>
              <a:buNone/>
            </a:pPr>
            <a:r>
              <a:rPr lang="en-US" sz="1600" dirty="0"/>
              <a:t>4.  Create the </a:t>
            </a:r>
            <a:r>
              <a:rPr lang="en-US" sz="1600" dirty="0">
                <a:latin typeface="Courier New" panose="02070309020205020404" pitchFamily="49" charset="0"/>
              </a:rPr>
              <a:t>project</a:t>
            </a:r>
            <a:r>
              <a:rPr lang="en-US" sz="1600" dirty="0"/>
              <a:t> table with the following rules:</a:t>
            </a:r>
          </a:p>
          <a:p>
            <a:pPr>
              <a:buFont typeface="Arial" panose="020B0604020202020204" pitchFamily="34" charset="0"/>
              <a:buChar char="•"/>
            </a:pPr>
            <a:r>
              <a:rPr lang="en-US" sz="1600" dirty="0">
                <a:latin typeface="Courier New" panose="02070309020205020404" pitchFamily="49" charset="0"/>
              </a:rPr>
              <a:t> </a:t>
            </a:r>
            <a:r>
              <a:rPr lang="en-US" sz="1600" dirty="0" err="1">
                <a:latin typeface="Courier New" panose="02070309020205020404" pitchFamily="49" charset="0"/>
              </a:rPr>
              <a:t>project_id</a:t>
            </a:r>
            <a:r>
              <a:rPr lang="en-US" sz="1600" dirty="0"/>
              <a:t> is the primary key.</a:t>
            </a:r>
          </a:p>
          <a:p>
            <a:pPr>
              <a:buFont typeface="Arial" panose="020B0604020202020204" pitchFamily="34" charset="0"/>
              <a:buChar char="•"/>
            </a:pPr>
            <a:r>
              <a:rPr lang="en-US" sz="1600" dirty="0">
                <a:latin typeface="Courier New" panose="02070309020205020404" pitchFamily="49" charset="0"/>
              </a:rPr>
              <a:t> </a:t>
            </a:r>
            <a:r>
              <a:rPr lang="en-US" sz="1600" dirty="0" err="1">
                <a:latin typeface="Courier New" panose="02070309020205020404" pitchFamily="49" charset="0"/>
              </a:rPr>
              <a:t>project_name</a:t>
            </a:r>
            <a:r>
              <a:rPr lang="en-US" sz="1600" dirty="0"/>
              <a:t> must be unique.</a:t>
            </a:r>
          </a:p>
          <a:p>
            <a:pPr>
              <a:buFont typeface="Arial" panose="020B0604020202020204" pitchFamily="34" charset="0"/>
              <a:buChar char="•"/>
            </a:pPr>
            <a:r>
              <a:rPr lang="en-US" sz="1600" dirty="0">
                <a:latin typeface="Courier New" panose="02070309020205020404" pitchFamily="49" charset="0"/>
              </a:rPr>
              <a:t> budget</a:t>
            </a:r>
            <a:r>
              <a:rPr lang="en-US" sz="1600" dirty="0"/>
              <a:t> must be more than 10,000.</a:t>
            </a:r>
          </a:p>
          <a:p>
            <a:pPr>
              <a:buFont typeface="Arial" panose="020B0604020202020204" pitchFamily="34" charset="0"/>
              <a:buChar char="•"/>
            </a:pPr>
            <a:r>
              <a:rPr lang="en-US" sz="1600" dirty="0"/>
              <a:t>  Each project must be assigned to an existing </a:t>
            </a:r>
            <a:r>
              <a:rPr lang="en-US" sz="1600" dirty="0" err="1">
                <a:latin typeface="Courier New" panose="02070309020205020404" pitchFamily="49" charset="0"/>
              </a:rPr>
              <a:t>dept_id</a:t>
            </a:r>
            <a:r>
              <a:rPr lang="en-US" sz="1600" dirty="0"/>
              <a:t> from </a:t>
            </a:r>
            <a:r>
              <a:rPr lang="en-US" sz="1600" dirty="0">
                <a:latin typeface="Courier New" panose="02070309020205020404" pitchFamily="49" charset="0"/>
              </a:rPr>
              <a:t>department</a:t>
            </a:r>
            <a:r>
              <a:rPr lang="en-US" sz="1600" dirty="0"/>
              <a:t>.</a:t>
            </a:r>
          </a:p>
        </p:txBody>
      </p:sp>
    </p:spTree>
    <p:extLst>
      <p:ext uri="{BB962C8B-B14F-4D97-AF65-F5344CB8AC3E}">
        <p14:creationId xmlns:p14="http://schemas.microsoft.com/office/powerpoint/2010/main" val="262024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646EEAC3-7964-DD5B-42E9-9A15E83FD30F}"/>
            </a:ext>
          </a:extLst>
        </p:cNvPr>
        <p:cNvGrpSpPr/>
        <p:nvPr/>
      </p:nvGrpSpPr>
      <p:grpSpPr>
        <a:xfrm>
          <a:off x="0" y="0"/>
          <a:ext cx="0" cy="0"/>
          <a:chOff x="0" y="0"/>
          <a:chExt cx="0" cy="0"/>
        </a:xfrm>
      </p:grpSpPr>
      <p:sp>
        <p:nvSpPr>
          <p:cNvPr id="97" name="Google Shape;97;p1">
            <a:extLst>
              <a:ext uri="{FF2B5EF4-FFF2-40B4-BE49-F238E27FC236}">
                <a16:creationId xmlns:a16="http://schemas.microsoft.com/office/drawing/2014/main" id="{D014BADB-10F4-669A-2FB8-F3B1B6EAA860}"/>
              </a:ext>
            </a:extLst>
          </p:cNvPr>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Play"/>
              <a:buNone/>
            </a:pPr>
            <a:r>
              <a:rPr lang="en-US" dirty="0"/>
              <a:t>THANK YOU.</a:t>
            </a:r>
            <a:endParaRPr dirty="0"/>
          </a:p>
        </p:txBody>
      </p:sp>
    </p:spTree>
    <p:extLst>
      <p:ext uri="{BB962C8B-B14F-4D97-AF65-F5344CB8AC3E}">
        <p14:creationId xmlns:p14="http://schemas.microsoft.com/office/powerpoint/2010/main" val="311457634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TotalTime>
  <Words>3237</Words>
  <Application>Microsoft Office PowerPoint</Application>
  <PresentationFormat>Widescreen</PresentationFormat>
  <Paragraphs>309</Paragraphs>
  <Slides>28</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Courier New</vt:lpstr>
      <vt:lpstr>Arial</vt:lpstr>
      <vt:lpstr>Play</vt:lpstr>
      <vt:lpstr>Spectral</vt:lpstr>
      <vt:lpstr>Calibri</vt:lpstr>
      <vt:lpstr>Cambria Math</vt:lpstr>
      <vt:lpstr>Office Theme</vt:lpstr>
      <vt:lpstr>Topic 5 : Indexes</vt:lpstr>
      <vt:lpstr>Learning Outcomes</vt:lpstr>
      <vt:lpstr>Some limitations when query…</vt:lpstr>
      <vt:lpstr>What is Indexes?</vt:lpstr>
      <vt:lpstr>Index Creation</vt:lpstr>
      <vt:lpstr>Unique indexes</vt:lpstr>
      <vt:lpstr>Multicolumn indexes</vt:lpstr>
      <vt:lpstr>Types of Indexes</vt:lpstr>
      <vt:lpstr>B-tree index</vt:lpstr>
      <vt:lpstr>B-tree index</vt:lpstr>
      <vt:lpstr>Bitmap indexes</vt:lpstr>
      <vt:lpstr>Bitmap indexes</vt:lpstr>
      <vt:lpstr>Bitmap indexes</vt:lpstr>
      <vt:lpstr>Text indexes</vt:lpstr>
      <vt:lpstr>Text indexes</vt:lpstr>
      <vt:lpstr>How Indexes works in DB?</vt:lpstr>
      <vt:lpstr>How Indexes works in DB?</vt:lpstr>
      <vt:lpstr>Advantage of Indexes</vt:lpstr>
      <vt:lpstr>Limitation of Indexes</vt:lpstr>
      <vt:lpstr>Guidelines to help you strategize…</vt:lpstr>
      <vt:lpstr>Exercise - Indexes</vt:lpstr>
      <vt:lpstr>Constraints</vt:lpstr>
      <vt:lpstr>Types of Constraints</vt:lpstr>
      <vt:lpstr>Creation of Constraints</vt:lpstr>
      <vt:lpstr>Examples</vt:lpstr>
      <vt:lpstr>Options in foreign key constraints</vt:lpstr>
      <vt:lpstr>Exercise - Constraints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Chan Weng Howe</dc:creator>
  <cp:lastModifiedBy>SHAMINI A/P RAJA KUMARAN</cp:lastModifiedBy>
  <cp:revision>5</cp:revision>
  <dcterms:created xsi:type="dcterms:W3CDTF">2023-10-17T22:25:00Z</dcterms:created>
  <dcterms:modified xsi:type="dcterms:W3CDTF">2025-10-28T08:09:11Z</dcterms:modified>
</cp:coreProperties>
</file>