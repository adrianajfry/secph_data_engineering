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092F1F-6F0A-4EF8-9940-AD1757930329}">
  <a:tblStyle styleId="{10092F1F-6F0A-4EF8-9940-AD175793032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AE7E7"/>
          </a:solidFill>
        </a:fill>
      </a:tcStyle>
    </a:wholeTbl>
    <a:band1H>
      <a:tcTxStyle/>
      <a:tcStyle>
        <a:fill>
          <a:solidFill>
            <a:srgbClr val="D3CBCC"/>
          </a:solidFill>
        </a:fill>
      </a:tcStyle>
    </a:band1H>
    <a:band2H>
      <a:tcTxStyle/>
    </a:band2H>
    <a:band1V>
      <a:tcTxStyle/>
      <a:tcStyle>
        <a:fill>
          <a:solidFill>
            <a:srgbClr val="D3CBCC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90a8e193d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990a8e193d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90a8e193d_3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990a8e193d_3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990a8e193d_3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990a8e193d_3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90a8e193d_3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990a8e193d_3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990a8e193d_3_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990a8e193d_3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990a8e193d_3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990a8e193d_3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990a8e193d_3_1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990a8e193d_3_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7973" l="0" r="0" t="26333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rgbClr val="6C1D35">
                  <a:alpha val="67843"/>
                </a:srgbClr>
              </a:gs>
              <a:gs pos="12000">
                <a:srgbClr val="6C1D35">
                  <a:alpha val="67843"/>
                </a:srgbClr>
              </a:gs>
              <a:gs pos="77000">
                <a:srgbClr val="511527"/>
              </a:gs>
              <a:gs pos="100000">
                <a:srgbClr val="511527"/>
              </a:gs>
            </a:gsLst>
            <a:lin ang="13500000" scaled="0"/>
          </a:gradFill>
          <a:ln cap="flat" cmpd="sng" w="12700">
            <a:solidFill>
              <a:srgbClr val="2D0C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7112000" y="-35081"/>
            <a:ext cx="4917440" cy="6921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268262" y="349094"/>
            <a:ext cx="2010036" cy="2829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>
  <p:cSld name="cover pag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3"/>
          <p:cNvPicPr preferRelativeResize="0"/>
          <p:nvPr/>
        </p:nvPicPr>
        <p:blipFill rotWithShape="1">
          <a:blip r:embed="rId2">
            <a:alphaModFix amt="34000"/>
          </a:blip>
          <a:srcRect b="0" l="0" r="0" t="0"/>
          <a:stretch/>
        </p:blipFill>
        <p:spPr>
          <a:xfrm rot="-5400000">
            <a:off x="1428041" y="-1428041"/>
            <a:ext cx="6880030" cy="9736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3">
            <a:alphaModFix amt="99000"/>
          </a:blip>
          <a:srcRect b="0" l="0" r="0" t="0"/>
          <a:stretch/>
        </p:blipFill>
        <p:spPr>
          <a:xfrm flipH="1">
            <a:off x="59093" y="0"/>
            <a:ext cx="12073813" cy="310918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/>
          <p:nvPr/>
        </p:nvSpPr>
        <p:spPr>
          <a:xfrm rot="5400000">
            <a:off x="5953544" y="641578"/>
            <a:ext cx="28490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5479363" y="6595121"/>
            <a:ext cx="137730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www.utm.my</a:t>
            </a:r>
            <a:endParaRPr b="1" i="0" sz="11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2" name="Google Shape;32;p4"/>
          <p:cNvGrpSpPr/>
          <p:nvPr/>
        </p:nvGrpSpPr>
        <p:grpSpPr>
          <a:xfrm>
            <a:off x="0" y="0"/>
            <a:ext cx="4736144" cy="7783867"/>
            <a:chOff x="0" y="0"/>
            <a:chExt cx="4736144" cy="7783867"/>
          </a:xfrm>
        </p:grpSpPr>
        <p:pic>
          <p:nvPicPr>
            <p:cNvPr id="33" name="Google Shape;33;p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3118649" cy="44635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" name="Google Shape;34;p4"/>
            <p:cNvSpPr/>
            <p:nvPr/>
          </p:nvSpPr>
          <p:spPr>
            <a:xfrm rot="8446488">
              <a:off x="1155879" y="3069975"/>
              <a:ext cx="2214654" cy="3120244"/>
            </a:xfrm>
            <a:prstGeom prst="parallelogram">
              <a:avLst>
                <a:gd fmla="val 25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 rot="8446488">
              <a:off x="2539020" y="5497285"/>
              <a:ext cx="1784436" cy="1941063"/>
            </a:xfrm>
            <a:custGeom>
              <a:rect b="b" l="l" r="r" t="t"/>
              <a:pathLst>
                <a:path extrusionOk="0" h="1941063" w="1784436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126331" y="-1062392"/>
            <a:ext cx="2405080" cy="3385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 amt="99000"/>
          </a:blip>
          <a:srcRect b="0" l="0" r="0" t="0"/>
          <a:stretch/>
        </p:blipFill>
        <p:spPr>
          <a:xfrm flipH="1" rot="-5400000">
            <a:off x="-2602281" y="2616106"/>
            <a:ext cx="7046892" cy="181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283211" y="3743462"/>
            <a:ext cx="2080701" cy="2978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1830037" y="6046777"/>
            <a:ext cx="4191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6764" y="1270"/>
            <a:ext cx="12073813" cy="31091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oogle Shape;42;p5"/>
          <p:cNvGrpSpPr/>
          <p:nvPr/>
        </p:nvGrpSpPr>
        <p:grpSpPr>
          <a:xfrm>
            <a:off x="0" y="6438899"/>
            <a:ext cx="4425450" cy="419100"/>
            <a:chOff x="0" y="6438899"/>
            <a:chExt cx="4425450" cy="419100"/>
          </a:xfrm>
        </p:grpSpPr>
        <p:sp>
          <p:nvSpPr>
            <p:cNvPr id="43" name="Google Shape;43;p5"/>
            <p:cNvSpPr/>
            <p:nvPr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" name="Google Shape;45;p5"/>
          <p:cNvSpPr txBox="1"/>
          <p:nvPr>
            <p:ph type="title"/>
          </p:nvPr>
        </p:nvSpPr>
        <p:spPr>
          <a:xfrm>
            <a:off x="831850" y="1047751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831850" y="2814638"/>
            <a:ext cx="10515600" cy="335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" name="Google Shape;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5"/>
          <p:cNvGrpSpPr/>
          <p:nvPr/>
        </p:nvGrpSpPr>
        <p:grpSpPr>
          <a:xfrm>
            <a:off x="0" y="0"/>
            <a:ext cx="2135014" cy="390908"/>
            <a:chOff x="0" y="0"/>
            <a:chExt cx="2135014" cy="390908"/>
          </a:xfrm>
        </p:grpSpPr>
        <p:sp>
          <p:nvSpPr>
            <p:cNvPr id="52" name="Google Shape;52;p5"/>
            <p:cNvSpPr/>
            <p:nvPr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5"/>
            <p:cNvSpPr/>
            <p:nvPr/>
          </p:nvSpPr>
          <p:spPr>
            <a:xfrm flipH="1" rot="10800000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" name="Google Shape;54;p5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55" name="Google Shape;55;p5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5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6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6764" y="1270"/>
            <a:ext cx="12073813" cy="310918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/>
          <p:nvPr>
            <p:ph type="ctrTitle"/>
          </p:nvPr>
        </p:nvSpPr>
        <p:spPr>
          <a:xfrm>
            <a:off x="1524000" y="1122363"/>
            <a:ext cx="91440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" type="subTitle"/>
          </p:nvPr>
        </p:nvSpPr>
        <p:spPr>
          <a:xfrm>
            <a:off x="1524000" y="2601118"/>
            <a:ext cx="9144000" cy="3461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1" name="Google Shape;6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" name="Google Shape;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6"/>
          <p:cNvGrpSpPr/>
          <p:nvPr/>
        </p:nvGrpSpPr>
        <p:grpSpPr>
          <a:xfrm>
            <a:off x="0" y="336866"/>
            <a:ext cx="838200" cy="390908"/>
            <a:chOff x="0" y="585597"/>
            <a:chExt cx="838200" cy="390908"/>
          </a:xfrm>
        </p:grpSpPr>
        <p:sp>
          <p:nvSpPr>
            <p:cNvPr id="66" name="Google Shape;66;p6"/>
            <p:cNvSpPr/>
            <p:nvPr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6"/>
            <p:cNvSpPr/>
            <p:nvPr/>
          </p:nvSpPr>
          <p:spPr>
            <a:xfrm flipH="1" rot="10800000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" name="Google Shape;68;p6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69" name="Google Shape;69;p6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6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765" y="1270"/>
            <a:ext cx="7112053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3894421" y="21431"/>
            <a:ext cx="4460168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7"/>
          <p:cNvSpPr/>
          <p:nvPr/>
        </p:nvSpPr>
        <p:spPr>
          <a:xfrm>
            <a:off x="-1" y="6808662"/>
            <a:ext cx="12249013" cy="10897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" name="Google Shape;81;p7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82" name="Google Shape;82;p7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7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765" y="1270"/>
            <a:ext cx="7112053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8"/>
          <p:cNvSpPr/>
          <p:nvPr/>
        </p:nvSpPr>
        <p:spPr>
          <a:xfrm>
            <a:off x="-38100" y="1690688"/>
            <a:ext cx="12230100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8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5" name="Google Shape;95;p8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8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9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6764" y="1270"/>
            <a:ext cx="12073813" cy="310918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3" name="Google Shape;103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7" name="Google Shape;1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9"/>
          <p:cNvSpPr/>
          <p:nvPr/>
        </p:nvSpPr>
        <p:spPr>
          <a:xfrm>
            <a:off x="6764" y="342265"/>
            <a:ext cx="1026963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" name="Google Shape;109;p9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10" name="Google Shape;110;p9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9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0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6764" y="1270"/>
            <a:ext cx="12073813" cy="31091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10"/>
          <p:cNvGrpSpPr/>
          <p:nvPr/>
        </p:nvGrpSpPr>
        <p:grpSpPr>
          <a:xfrm flipH="1">
            <a:off x="8896479" y="6438899"/>
            <a:ext cx="3295521" cy="419101"/>
            <a:chOff x="0" y="6438899"/>
            <a:chExt cx="4425450" cy="419100"/>
          </a:xfrm>
        </p:grpSpPr>
        <p:sp>
          <p:nvSpPr>
            <p:cNvPr id="115" name="Google Shape;115;p10"/>
            <p:cNvSpPr/>
            <p:nvPr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0"/>
            <p:cNvSpPr/>
            <p:nvPr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10"/>
          <p:cNvSpPr txBox="1"/>
          <p:nvPr>
            <p:ph type="title"/>
          </p:nvPr>
        </p:nvSpPr>
        <p:spPr>
          <a:xfrm>
            <a:off x="1364974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1" name="Google Shape;12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0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23" name="Google Shape;123;p10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0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4713261" y="1270"/>
            <a:ext cx="7112053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1"/>
          <p:cNvSpPr/>
          <p:nvPr/>
        </p:nvSpPr>
        <p:spPr>
          <a:xfrm>
            <a:off x="-38099" y="0"/>
            <a:ext cx="4764088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 txBox="1"/>
          <p:nvPr>
            <p:ph type="title"/>
          </p:nvPr>
        </p:nvSpPr>
        <p:spPr>
          <a:xfrm>
            <a:off x="839788" y="457200"/>
            <a:ext cx="377196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0" name="Google Shape;130;p11"/>
          <p:cNvSpPr txBox="1"/>
          <p:nvPr>
            <p:ph idx="2" type="body"/>
          </p:nvPr>
        </p:nvSpPr>
        <p:spPr>
          <a:xfrm>
            <a:off x="839788" y="2057400"/>
            <a:ext cx="377196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1" name="Google Shape;13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4" name="Google Shape;1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1"/>
          <p:cNvSpPr/>
          <p:nvPr/>
        </p:nvSpPr>
        <p:spPr>
          <a:xfrm rot="5400000">
            <a:off x="1324286" y="3399184"/>
            <a:ext cx="6858000" cy="5963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" name="Google Shape;136;p11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37" name="Google Shape;137;p11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1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color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/>
          <p:nvPr/>
        </p:nvSpPr>
        <p:spPr>
          <a:xfrm>
            <a:off x="-38100" y="0"/>
            <a:ext cx="12230100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p12"/>
          <p:cNvGrpSpPr/>
          <p:nvPr/>
        </p:nvGrpSpPr>
        <p:grpSpPr>
          <a:xfrm>
            <a:off x="7180119" y="6473574"/>
            <a:ext cx="5011881" cy="390911"/>
            <a:chOff x="7180118" y="6489891"/>
            <a:chExt cx="5011881" cy="390911"/>
          </a:xfrm>
        </p:grpSpPr>
        <p:sp>
          <p:nvSpPr>
            <p:cNvPr id="142" name="Google Shape;142;p12"/>
            <p:cNvSpPr/>
            <p:nvPr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2"/>
            <p:cNvSpPr/>
            <p:nvPr/>
          </p:nvSpPr>
          <p:spPr>
            <a:xfrm flipH="1">
              <a:off x="7180118" y="6489895"/>
              <a:ext cx="213299" cy="390907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4" name="Google Shape;14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76220" y="283589"/>
            <a:ext cx="1470825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48" name="Google Shape;148;p12"/>
          <p:cNvGrpSpPr/>
          <p:nvPr/>
        </p:nvGrpSpPr>
        <p:grpSpPr>
          <a:xfrm>
            <a:off x="-58882" y="0"/>
            <a:ext cx="2130820" cy="390908"/>
            <a:chOff x="-58882" y="0"/>
            <a:chExt cx="2130820" cy="390908"/>
          </a:xfrm>
        </p:grpSpPr>
        <p:sp>
          <p:nvSpPr>
            <p:cNvPr id="149" name="Google Shape;149;p12"/>
            <p:cNvSpPr/>
            <p:nvPr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2"/>
            <p:cNvSpPr/>
            <p:nvPr/>
          </p:nvSpPr>
          <p:spPr>
            <a:xfrm flipH="1" rot="10800000">
              <a:off x="1858639" y="0"/>
              <a:ext cx="213299" cy="390907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2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52" name="Google Shape;152;p12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2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765" y="1270"/>
            <a:ext cx="7112053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9" name="Google Shape;1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" name="Google Shape;160;p13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61" name="Google Shape;161;p13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3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765" y="1270"/>
            <a:ext cx="7112053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8" name="Google Shape;1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14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70" name="Google Shape;170;p14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4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14"/>
          <p:cNvSpPr/>
          <p:nvPr/>
        </p:nvSpPr>
        <p:spPr>
          <a:xfrm rot="5400000">
            <a:off x="6079906" y="-6086095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4"/>
          <p:cNvSpPr txBox="1"/>
          <p:nvPr>
            <p:ph type="title"/>
          </p:nvPr>
        </p:nvSpPr>
        <p:spPr>
          <a:xfrm>
            <a:off x="838198" y="7810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765" y="1270"/>
            <a:ext cx="7112053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9" name="Google Shape;1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15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81" name="Google Shape;181;p15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5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15"/>
          <p:cNvSpPr/>
          <p:nvPr/>
        </p:nvSpPr>
        <p:spPr>
          <a:xfrm rot="5400000">
            <a:off x="6073139" y="761174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 txBox="1"/>
          <p:nvPr>
            <p:ph type="title"/>
          </p:nvPr>
        </p:nvSpPr>
        <p:spPr>
          <a:xfrm>
            <a:off x="838198" y="7810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0">
  <p:cSld name="Layout20">
    <p:bg>
      <p:bgPr>
        <a:solidFill>
          <a:srgbClr val="4B473E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8" name="Google Shape;188;p16"/>
          <p:cNvCxnSpPr/>
          <p:nvPr/>
        </p:nvCxnSpPr>
        <p:spPr>
          <a:xfrm>
            <a:off x="-12700" y="101600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3">
  <p:cSld name="Layout23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17"/>
          <p:cNvSpPr/>
          <p:nvPr/>
        </p:nvSpPr>
        <p:spPr>
          <a:xfrm rot="5400000">
            <a:off x="6070760" y="551563"/>
            <a:ext cx="45719" cy="1170146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page">
  <p:cSld name="end page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/>
          <p:nvPr/>
        </p:nvSpPr>
        <p:spPr>
          <a:xfrm>
            <a:off x="0" y="-2"/>
            <a:ext cx="12230100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 amt="32000"/>
          </a:blip>
          <a:srcRect b="0" l="20647" r="0" t="0"/>
          <a:stretch/>
        </p:blipFill>
        <p:spPr>
          <a:xfrm rot="-5400000">
            <a:off x="2686050" y="-2686050"/>
            <a:ext cx="6858000" cy="1223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8.pn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2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27.jpg"/><Relationship Id="rId5" Type="http://schemas.openxmlformats.org/officeDocument/2006/relationships/image" Target="../media/image23.jpg"/><Relationship Id="rId6" Type="http://schemas.openxmlformats.org/officeDocument/2006/relationships/image" Target="../media/image2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21.jpg"/><Relationship Id="rId5" Type="http://schemas.openxmlformats.org/officeDocument/2006/relationships/image" Target="../media/image30.jpg"/><Relationship Id="rId6" Type="http://schemas.openxmlformats.org/officeDocument/2006/relationships/image" Target="../media/image2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29.jpg"/><Relationship Id="rId5" Type="http://schemas.openxmlformats.org/officeDocument/2006/relationships/image" Target="../media/image2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25.jpg"/><Relationship Id="rId5" Type="http://schemas.openxmlformats.org/officeDocument/2006/relationships/image" Target="../media/image3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3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/>
        </p:nvSpPr>
        <p:spPr>
          <a:xfrm>
            <a:off x="3481411" y="3383801"/>
            <a:ext cx="59436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Lab Assignment 1 (5%) - Indexes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3349340" y="2468302"/>
            <a:ext cx="59436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SECP3623 - DATABASE PROGRAMMING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2025/2026 - SEM 1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2592028" y="1707711"/>
            <a:ext cx="772236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UNIVERSITI TEKNOLOGI MALAYSIA</a:t>
            </a:r>
            <a:endParaRPr/>
          </a:p>
        </p:txBody>
      </p:sp>
      <p:pic>
        <p:nvPicPr>
          <p:cNvPr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3127" y="806075"/>
            <a:ext cx="2139445" cy="72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p19"/>
          <p:cNvGrpSpPr/>
          <p:nvPr/>
        </p:nvGrpSpPr>
        <p:grpSpPr>
          <a:xfrm>
            <a:off x="243682" y="3008152"/>
            <a:ext cx="838200" cy="841694"/>
            <a:chOff x="0" y="585597"/>
            <a:chExt cx="838200" cy="390908"/>
          </a:xfrm>
        </p:grpSpPr>
        <p:sp>
          <p:nvSpPr>
            <p:cNvPr id="208" name="Google Shape;208;p19"/>
            <p:cNvSpPr/>
            <p:nvPr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9"/>
            <p:cNvSpPr/>
            <p:nvPr/>
          </p:nvSpPr>
          <p:spPr>
            <a:xfrm flipH="1" rot="10800000">
              <a:off x="624901" y="585597"/>
              <a:ext cx="213299" cy="390907"/>
            </a:xfrm>
            <a:prstGeom prst="rtTriangle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19"/>
          <p:cNvGrpSpPr/>
          <p:nvPr/>
        </p:nvGrpSpPr>
        <p:grpSpPr>
          <a:xfrm>
            <a:off x="0" y="3008153"/>
            <a:ext cx="838200" cy="841694"/>
            <a:chOff x="0" y="585597"/>
            <a:chExt cx="838200" cy="390908"/>
          </a:xfrm>
        </p:grpSpPr>
        <p:sp>
          <p:nvSpPr>
            <p:cNvPr id="211" name="Google Shape;211;p19"/>
            <p:cNvSpPr/>
            <p:nvPr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9"/>
            <p:cNvSpPr/>
            <p:nvPr/>
          </p:nvSpPr>
          <p:spPr>
            <a:xfrm flipH="1" rot="10800000">
              <a:off x="624901" y="585597"/>
              <a:ext cx="213299" cy="390907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3" name="Google Shape;21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66513" y="6383329"/>
            <a:ext cx="2525487" cy="1900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4" name="Google Shape;214;p19"/>
          <p:cNvCxnSpPr>
            <a:endCxn id="213" idx="1"/>
          </p:cNvCxnSpPr>
          <p:nvPr/>
        </p:nvCxnSpPr>
        <p:spPr>
          <a:xfrm>
            <a:off x="-46887" y="6448359"/>
            <a:ext cx="9713400" cy="300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215" name="Google Shape;215;p19"/>
          <p:cNvGraphicFramePr/>
          <p:nvPr/>
        </p:nvGraphicFramePr>
        <p:xfrm>
          <a:off x="3159390" y="423658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{10092F1F-6F0A-4EF8-9940-AD1757930329}</a:tableStyleId>
              </a:tblPr>
              <a:tblGrid>
                <a:gridCol w="944875"/>
                <a:gridCol w="297925"/>
                <a:gridCol w="4630425"/>
              </a:tblGrid>
              <a:tr h="231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: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 SYARIFAH DANIA BINTI SYED ABU BAKAR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</a:tr>
              <a:tr h="231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Matric Id 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: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 A23CS0183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6" name="Google Shape;216;p19"/>
          <p:cNvGraphicFramePr/>
          <p:nvPr/>
        </p:nvGraphicFramePr>
        <p:xfrm>
          <a:off x="3159389" y="4884686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{10092F1F-6F0A-4EF8-9940-AD1757930329}</a:tableStyleId>
              </a:tblPr>
              <a:tblGrid>
                <a:gridCol w="944875"/>
                <a:gridCol w="297925"/>
                <a:gridCol w="4630425"/>
              </a:tblGrid>
              <a:tr h="231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: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 AIN NURNABILA BINTI MOHD AZHA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R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</a:tr>
              <a:tr h="231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Matric Id 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: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 A23CS0207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7" name="Google Shape;217;p19"/>
          <p:cNvGraphicFramePr/>
          <p:nvPr/>
        </p:nvGraphicFramePr>
        <p:xfrm>
          <a:off x="3159389" y="5558024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{10092F1F-6F0A-4EF8-9940-AD1757930329}</a:tableStyleId>
              </a:tblPr>
              <a:tblGrid>
                <a:gridCol w="944875"/>
                <a:gridCol w="297925"/>
                <a:gridCol w="4630425"/>
              </a:tblGrid>
              <a:tr h="231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: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 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NURUL ADRIANA BINTI KAMAL JEFRI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</a:tr>
              <a:tr h="231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Matric Id 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: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 </a:t>
                      </a: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A23CS0258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 txBox="1"/>
          <p:nvPr/>
        </p:nvSpPr>
        <p:spPr>
          <a:xfrm>
            <a:off x="4246895" y="4790793"/>
            <a:ext cx="59436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Nabati Strawberry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4246895" y="4287638"/>
            <a:ext cx="5943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BITMAP INDEXES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4246895" y="2661180"/>
            <a:ext cx="513207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rPr>
              <a:t>UNIVERSITI TEKNOLOGI MALAYSIA</a:t>
            </a:r>
            <a:endParaRPr/>
          </a:p>
        </p:txBody>
      </p:sp>
      <p:pic>
        <p:nvPicPr>
          <p:cNvPr id="225" name="Google Shape;2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2795" y="344422"/>
            <a:ext cx="2249407" cy="751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23714" y="6529906"/>
            <a:ext cx="2060121" cy="155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7" name="Google Shape;227;p20"/>
          <p:cNvCxnSpPr/>
          <p:nvPr/>
        </p:nvCxnSpPr>
        <p:spPr>
          <a:xfrm>
            <a:off x="0" y="6626873"/>
            <a:ext cx="10286999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 txBox="1"/>
          <p:nvPr>
            <p:ph type="title"/>
          </p:nvPr>
        </p:nvSpPr>
        <p:spPr>
          <a:xfrm>
            <a:off x="831850" y="1047751"/>
            <a:ext cx="105156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  <a:p>
            <a:pPr indent="-271462" lvl="0" marL="533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6785"/>
              <a:buFont typeface="Arial"/>
              <a:buChar char="●"/>
            </a:pPr>
            <a:r>
              <a:t/>
            </a:r>
            <a:endParaRPr sz="2800">
              <a:highlight>
                <a:srgbClr val="F5F5F5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2857"/>
              <a:buFont typeface="Calibri"/>
              <a:buNone/>
            </a:pPr>
            <a:r>
              <a:rPr lang="en-US" sz="2800">
                <a:highlight>
                  <a:srgbClr val="F5F5F5"/>
                </a:highlight>
                <a:latin typeface="Arial"/>
                <a:ea typeface="Arial"/>
                <a:cs typeface="Arial"/>
                <a:sym typeface="Arial"/>
              </a:rPr>
              <a:t>​​</a:t>
            </a:r>
            <a:endParaRPr/>
          </a:p>
        </p:txBody>
      </p:sp>
      <p:pic>
        <p:nvPicPr>
          <p:cNvPr id="233" name="Google Shape;2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4018" y="6594272"/>
            <a:ext cx="1951264" cy="146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agram of a bitmap index&#10;&#10;AI-generated content may be incorrect." id="234" name="Google Shape;2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2350" y="1047750"/>
            <a:ext cx="3419315" cy="270034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831850" y="1982750"/>
            <a:ext cx="5889300" cy="22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●"/>
            </a:pPr>
            <a:r>
              <a:rPr lang="en-US" sz="2800">
                <a:solidFill>
                  <a:schemeClr val="dk1"/>
                </a:solidFill>
                <a:highlight>
                  <a:srgbClr val="F5F5F5"/>
                </a:highlight>
              </a:rPr>
              <a:t>MySQL  Workbench does not support bitmap indexes. Therefore,</a:t>
            </a:r>
            <a:endParaRPr sz="28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●"/>
            </a:pPr>
            <a:r>
              <a:rPr lang="en-US" sz="2800">
                <a:solidFill>
                  <a:schemeClr val="dk1"/>
                </a:solidFill>
                <a:highlight>
                  <a:srgbClr val="F5F5F5"/>
                </a:highlight>
              </a:rPr>
              <a:t>BTREE indexes were applied on low-cardinality columns which are 'gender', and 'status to simulate bitmap behavior.​</a:t>
            </a:r>
            <a:endParaRPr sz="28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6721150" y="3932813"/>
            <a:ext cx="51267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highlight>
                  <a:srgbClr val="F5F5F5"/>
                </a:highlight>
              </a:rPr>
              <a:t>Bitmap indexes are typically used in analytical databases such as in Oracle.</a:t>
            </a:r>
            <a:endParaRPr sz="2800">
              <a:solidFill>
                <a:schemeClr val="dk1"/>
              </a:solidFill>
              <a:highlight>
                <a:srgbClr val="F5F5F5"/>
              </a:highlight>
            </a:endParaRPr>
          </a:p>
        </p:txBody>
      </p:sp>
      <p:cxnSp>
        <p:nvCxnSpPr>
          <p:cNvPr id="237" name="Google Shape;237;p21"/>
          <p:cNvCxnSpPr/>
          <p:nvPr/>
        </p:nvCxnSpPr>
        <p:spPr>
          <a:xfrm flipH="1" rot="10800000">
            <a:off x="884475" y="1768825"/>
            <a:ext cx="5511000" cy="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/>
        </p:nvSpPr>
        <p:spPr>
          <a:xfrm>
            <a:off x="1524000" y="2395106"/>
            <a:ext cx="9144000" cy="17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This figure shows the creation of a new database named index_lab, which will store the student table and related indexes.</a:t>
            </a:r>
            <a:endParaRPr sz="2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 txBox="1"/>
          <p:nvPr>
            <p:ph type="ctrTitle"/>
          </p:nvPr>
        </p:nvSpPr>
        <p:spPr>
          <a:xfrm>
            <a:off x="1523988" y="1258449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Database Creation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4" name="Google Shape;2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4018" y="6594272"/>
            <a:ext cx="1951264" cy="146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1913" y="4159100"/>
            <a:ext cx="5888169" cy="104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2822282" y="4917682"/>
            <a:ext cx="5283600" cy="52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025" lIns="161025" spcFirstLastPara="1" rIns="161025" wrap="square" tIns="161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65"/>
              <a:t> </a:t>
            </a:r>
            <a:endParaRPr sz="2465"/>
          </a:p>
        </p:txBody>
      </p:sp>
      <p:cxnSp>
        <p:nvCxnSpPr>
          <p:cNvPr id="247" name="Google Shape;247;p22"/>
          <p:cNvCxnSpPr/>
          <p:nvPr/>
        </p:nvCxnSpPr>
        <p:spPr>
          <a:xfrm flipH="1" rot="10800000">
            <a:off x="3340500" y="1904950"/>
            <a:ext cx="5511000" cy="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Table Creation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3" name="Google Shape;2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4018" y="6594272"/>
            <a:ext cx="1951264" cy="14684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772500" y="1440450"/>
            <a:ext cx="10647000" cy="24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The student table is created with columns suitable for  testing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bitmap index concepts. The gender and status fields are low-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cardinality attributes, making them ideal for demonstrating bitmap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indexing. </a:t>
            </a:r>
            <a:endParaRPr sz="2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7663" y="3625292"/>
            <a:ext cx="6836681" cy="2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cxnSp>
        <p:nvCxnSpPr>
          <p:cNvPr id="257" name="Google Shape;257;p23"/>
          <p:cNvCxnSpPr/>
          <p:nvPr/>
        </p:nvCxnSpPr>
        <p:spPr>
          <a:xfrm flipH="1" rot="10800000">
            <a:off x="3340513" y="1343600"/>
            <a:ext cx="5511000" cy="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4018" y="6594272"/>
            <a:ext cx="1951264" cy="14684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2073600" y="624625"/>
            <a:ext cx="8044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highlight>
                  <a:srgbClr val="F5F5F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Insert Sample Data</a:t>
            </a:r>
            <a:r>
              <a:rPr lang="en-US" sz="4000">
                <a:solidFill>
                  <a:schemeClr val="dk1"/>
                </a:solidFill>
                <a:highlight>
                  <a:srgbClr val="F5F5F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572400" y="1456400"/>
            <a:ext cx="110472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Twenty sample rows are inserted with a mix of male/female and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active/inactive values. These records simulate real-world data where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bitmap indexes can optimize filtering on repeated categories.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265" name="Google Shape;26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5900" y="3252788"/>
            <a:ext cx="40100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266" name="Google Shape;26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0550" y="3778650"/>
            <a:ext cx="34290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1935050" y="36502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268" name="Google Shape;26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09975" y="3794825"/>
            <a:ext cx="3086100" cy="2609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4"/>
          <p:cNvCxnSpPr/>
          <p:nvPr/>
        </p:nvCxnSpPr>
        <p:spPr>
          <a:xfrm flipH="1" rot="10800000">
            <a:off x="3340500" y="1407925"/>
            <a:ext cx="5511000" cy="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4018" y="6594272"/>
            <a:ext cx="1951263" cy="14684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520350" y="369475"/>
            <a:ext cx="804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276" name="Google Shape;276;p25"/>
          <p:cNvSpPr txBox="1"/>
          <p:nvPr/>
        </p:nvSpPr>
        <p:spPr>
          <a:xfrm>
            <a:off x="150900" y="812350"/>
            <a:ext cx="11890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Bitmap-like Indexes</a:t>
            </a:r>
            <a:r>
              <a:rPr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 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572400" y="1794025"/>
            <a:ext cx="11047200" cy="21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highlight>
                  <a:srgbClr val="F5F5F5"/>
                </a:highlight>
              </a:rPr>
              <a:t>Two indexes are created on the gender and status columns. Although MySQL uses B-tree indexes, they behave similarly to bitmap indexes for low-cardinality data by enabling faster lookups on these attributes.​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descr="A black and white text&#10;&#10;AI-generated content may be incorrect." id="278" name="Google Shape;27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7025" y="3470188"/>
            <a:ext cx="51625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389875" y="-120597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descr="A close up of a computer screen&#10;&#10;AI-generated content may be incorrect." id="280" name="Google Shape;28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900" y="4211288"/>
            <a:ext cx="10544175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282" name="Google Shape;282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44500" y="5360650"/>
            <a:ext cx="73056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4783088" y="4811375"/>
            <a:ext cx="28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5F5F5"/>
                </a:highlight>
              </a:rPr>
              <a:t>Before Bitmap Indexing​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4884463" y="5702825"/>
            <a:ext cx="28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5F5F5"/>
                </a:highlight>
              </a:rPr>
              <a:t>Time taken to execute​</a:t>
            </a:r>
            <a:endParaRPr sz="2800">
              <a:solidFill>
                <a:schemeClr val="dk1"/>
              </a:solidFill>
            </a:endParaRPr>
          </a:p>
        </p:txBody>
      </p:sp>
      <p:cxnSp>
        <p:nvCxnSpPr>
          <p:cNvPr id="286" name="Google Shape;286;p25"/>
          <p:cNvCxnSpPr/>
          <p:nvPr/>
        </p:nvCxnSpPr>
        <p:spPr>
          <a:xfrm flipH="1" rot="10800000">
            <a:off x="3340500" y="1612750"/>
            <a:ext cx="5511000" cy="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4018" y="6594272"/>
            <a:ext cx="1951263" cy="14684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520350" y="369475"/>
            <a:ext cx="804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293" name="Google Shape;293;p26"/>
          <p:cNvSpPr txBox="1"/>
          <p:nvPr/>
        </p:nvSpPr>
        <p:spPr>
          <a:xfrm>
            <a:off x="389875" y="-120597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296" name="Google Shape;29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700" y="1428075"/>
            <a:ext cx="106299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6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298" name="Google Shape;29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41575" y="4051275"/>
            <a:ext cx="72961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6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300" name="Google Shape;300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27288" y="4373125"/>
            <a:ext cx="73247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6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4640638" y="2719300"/>
            <a:ext cx="28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5F5F5"/>
                </a:highlight>
              </a:rPr>
              <a:t>After </a:t>
            </a:r>
            <a:r>
              <a:rPr lang="en-US" sz="1800">
                <a:solidFill>
                  <a:schemeClr val="dk1"/>
                </a:solidFill>
                <a:highlight>
                  <a:srgbClr val="F5F5F5"/>
                </a:highlight>
              </a:rPr>
              <a:t>Bitmap Indexing​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03" name="Google Shape;303;p26"/>
          <p:cNvSpPr txBox="1"/>
          <p:nvPr/>
        </p:nvSpPr>
        <p:spPr>
          <a:xfrm>
            <a:off x="4646988" y="4793700"/>
            <a:ext cx="28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5F5F5"/>
                </a:highlight>
              </a:rPr>
              <a:t>Time taken to execute​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4018" y="6594272"/>
            <a:ext cx="1951263" cy="14684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7"/>
          <p:cNvSpPr txBox="1"/>
          <p:nvPr/>
        </p:nvSpPr>
        <p:spPr>
          <a:xfrm>
            <a:off x="520350" y="369475"/>
            <a:ext cx="804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310" name="Google Shape;310;p27"/>
          <p:cNvSpPr txBox="1"/>
          <p:nvPr/>
        </p:nvSpPr>
        <p:spPr>
          <a:xfrm>
            <a:off x="150900" y="812350"/>
            <a:ext cx="11890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highlight>
                  <a:srgbClr val="F5F5F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Run Query Using Index</a:t>
            </a:r>
            <a:r>
              <a:rPr lang="en-US" sz="4000">
                <a:solidFill>
                  <a:schemeClr val="dk1"/>
                </a:solidFill>
                <a:highlight>
                  <a:srgbClr val="F5F5F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27"/>
          <p:cNvSpPr txBox="1"/>
          <p:nvPr/>
        </p:nvSpPr>
        <p:spPr>
          <a:xfrm>
            <a:off x="572400" y="1794025"/>
            <a:ext cx="11047200" cy="21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highlight>
                  <a:srgbClr val="F5F5F5"/>
                </a:highlight>
              </a:rPr>
              <a:t>This query counts how many female students have active status. With indexes on both columns, MySQL can locate matching rows more efficiently, replicating the effect of bitmap-based filtering operations. ​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12" name="Google Shape;312;p27"/>
          <p:cNvSpPr txBox="1"/>
          <p:nvPr/>
        </p:nvSpPr>
        <p:spPr>
          <a:xfrm>
            <a:off x="389875" y="-120597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313" name="Google Shape;313;p27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cxnSp>
        <p:nvCxnSpPr>
          <p:cNvPr id="315" name="Google Shape;315;p27"/>
          <p:cNvCxnSpPr/>
          <p:nvPr/>
        </p:nvCxnSpPr>
        <p:spPr>
          <a:xfrm flipH="1" rot="10800000">
            <a:off x="3340500" y="1612750"/>
            <a:ext cx="5511000" cy="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 close up of text&#10;&#10;AI-generated content may be incorrect." id="316" name="Google Shape;31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675" y="4060900"/>
            <a:ext cx="6849575" cy="1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7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descr="A close up of a number&#10;&#10;AI-generated content may be incorrect." id="318" name="Google Shape;31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87425" y="3848300"/>
            <a:ext cx="3438475" cy="1571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7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4018" y="6594272"/>
            <a:ext cx="1951263" cy="14684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8"/>
          <p:cNvSpPr txBox="1"/>
          <p:nvPr/>
        </p:nvSpPr>
        <p:spPr>
          <a:xfrm>
            <a:off x="520350" y="369475"/>
            <a:ext cx="804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326" name="Google Shape;326;p28"/>
          <p:cNvSpPr txBox="1"/>
          <p:nvPr/>
        </p:nvSpPr>
        <p:spPr>
          <a:xfrm>
            <a:off x="150900" y="812350"/>
            <a:ext cx="11890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highlight>
                  <a:srgbClr val="F5F5F5"/>
                </a:highlight>
                <a:latin typeface="Angsana New"/>
                <a:ea typeface="Angsana New"/>
                <a:cs typeface="Angsana New"/>
                <a:sym typeface="Angsana New"/>
              </a:rPr>
              <a:t>Use Explain</a:t>
            </a:r>
            <a:r>
              <a:rPr lang="en-US" sz="4000">
                <a:solidFill>
                  <a:schemeClr val="dk1"/>
                </a:solidFill>
                <a:highlight>
                  <a:srgbClr val="F5F5F5"/>
                </a:highlight>
                <a:latin typeface="Angsana New"/>
                <a:ea typeface="Angsana New"/>
                <a:cs typeface="Angsana New"/>
                <a:sym typeface="Angsana New"/>
              </a:rPr>
              <a:t>​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28"/>
          <p:cNvSpPr txBox="1"/>
          <p:nvPr/>
        </p:nvSpPr>
        <p:spPr>
          <a:xfrm>
            <a:off x="572400" y="1794025"/>
            <a:ext cx="11047200" cy="21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highlight>
                  <a:srgbClr val="F5F5F5"/>
                </a:highlight>
              </a:rPr>
              <a:t>The EXPLAIN output shows how MySQL executes the query. The presence of idx_gender and idx_status in the plan confirms that the indexes are being used to limit the scanned rows, improving query performance.​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28" name="Google Shape;328;p28"/>
          <p:cNvSpPr txBox="1"/>
          <p:nvPr/>
        </p:nvSpPr>
        <p:spPr>
          <a:xfrm>
            <a:off x="389875" y="-120597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cxnSp>
        <p:nvCxnSpPr>
          <p:cNvPr id="331" name="Google Shape;331;p28"/>
          <p:cNvCxnSpPr/>
          <p:nvPr/>
        </p:nvCxnSpPr>
        <p:spPr>
          <a:xfrm flipH="1" rot="10800000">
            <a:off x="3340500" y="1612750"/>
            <a:ext cx="5511000" cy="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" name="Google Shape;332;p28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333" name="Google Shape;333;p28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descr="A close up of text&#10;&#10;AI-generated content may be incorrect." id="334" name="Google Shape;33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5750" y="3552138"/>
            <a:ext cx="5456969" cy="1102762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8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descr="A screen shot of a computer&#10;&#10;AI-generated content may be incorrect." id="336" name="Google Shape;33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88" y="5059675"/>
            <a:ext cx="10570426" cy="61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8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>
                <a:highlight>
                  <a:srgbClr val="F5F5F5"/>
                </a:highlight>
                <a:latin typeface="Angsana New"/>
                <a:ea typeface="Angsana New"/>
                <a:cs typeface="Angsana New"/>
                <a:sym typeface="Angsana New"/>
              </a:rPr>
              <a:t>Discussion &amp; Reflection</a:t>
            </a:r>
            <a:r>
              <a:rPr lang="en-US">
                <a:highlight>
                  <a:srgbClr val="F5F5F5"/>
                </a:highlight>
                <a:latin typeface="Angsana New"/>
                <a:ea typeface="Angsana New"/>
                <a:cs typeface="Angsana New"/>
                <a:sym typeface="Angsana New"/>
              </a:rPr>
              <a:t>​</a:t>
            </a:r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1712853" y="4901825"/>
            <a:ext cx="96012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Fast for low-cardinality columns (few distinct and unique values).​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Efficient for combining multiple conditions (AND, OR).​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Saves storage for analytical queries (OLAP systems).​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29"/>
          <p:cNvSpPr txBox="1"/>
          <p:nvPr/>
        </p:nvSpPr>
        <p:spPr>
          <a:xfrm>
            <a:off x="6588924" y="4748743"/>
            <a:ext cx="288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9"/>
          <p:cNvSpPr txBox="1"/>
          <p:nvPr/>
        </p:nvSpPr>
        <p:spPr>
          <a:xfrm>
            <a:off x="1553699" y="2006438"/>
            <a:ext cx="444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is a Bitmap Index?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9"/>
          <p:cNvSpPr txBox="1"/>
          <p:nvPr/>
        </p:nvSpPr>
        <p:spPr>
          <a:xfrm>
            <a:off x="1553699" y="2529650"/>
            <a:ext cx="99897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bitmap index uses bit arrays (0s and 1s) to represent the existence of a value in each row. It's efficient for columns with few unique values, such as gender or status.​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47" name="Google Shape;347;p29"/>
          <p:cNvGrpSpPr/>
          <p:nvPr/>
        </p:nvGrpSpPr>
        <p:grpSpPr>
          <a:xfrm>
            <a:off x="1114251" y="4439208"/>
            <a:ext cx="439450" cy="309538"/>
            <a:chOff x="-1199300" y="3279250"/>
            <a:chExt cx="293025" cy="206400"/>
          </a:xfrm>
        </p:grpSpPr>
        <p:sp>
          <p:nvSpPr>
            <p:cNvPr id="348" name="Google Shape;348;p29"/>
            <p:cNvSpPr/>
            <p:nvPr/>
          </p:nvSpPr>
          <p:spPr>
            <a:xfrm>
              <a:off x="-1183550" y="3395050"/>
              <a:ext cx="261525" cy="90600"/>
            </a:xfrm>
            <a:custGeom>
              <a:rect b="b" l="l" r="r" t="t"/>
              <a:pathLst>
                <a:path extrusionOk="0" h="3624" w="10461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9"/>
            <p:cNvSpPr/>
            <p:nvPr/>
          </p:nvSpPr>
          <p:spPr>
            <a:xfrm>
              <a:off x="-1184325" y="3279250"/>
              <a:ext cx="261500" cy="129400"/>
            </a:xfrm>
            <a:custGeom>
              <a:rect b="b" l="l" r="r" t="t"/>
              <a:pathLst>
                <a:path extrusionOk="0" h="5176" w="1046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9"/>
            <p:cNvSpPr/>
            <p:nvPr/>
          </p:nvSpPr>
          <p:spPr>
            <a:xfrm>
              <a:off x="-1199300" y="3294225"/>
              <a:ext cx="90600" cy="175650"/>
            </a:xfrm>
            <a:custGeom>
              <a:rect b="b" l="l" r="r" t="t"/>
              <a:pathLst>
                <a:path extrusionOk="0" h="7026" w="3624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9"/>
            <p:cNvSpPr/>
            <p:nvPr/>
          </p:nvSpPr>
          <p:spPr>
            <a:xfrm>
              <a:off x="-996875" y="3294225"/>
              <a:ext cx="90600" cy="177225"/>
            </a:xfrm>
            <a:custGeom>
              <a:rect b="b" l="l" r="r" t="t"/>
              <a:pathLst>
                <a:path extrusionOk="0" h="7089" w="3624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2" name="Google Shape;352;p29"/>
          <p:cNvSpPr/>
          <p:nvPr/>
        </p:nvSpPr>
        <p:spPr>
          <a:xfrm>
            <a:off x="999617" y="2060272"/>
            <a:ext cx="417036" cy="415536"/>
          </a:xfrm>
          <a:custGeom>
            <a:rect b="b" l="l" r="r" t="t"/>
            <a:pathLst>
              <a:path extrusionOk="0" h="277" w="278">
                <a:moveTo>
                  <a:pt x="3" y="111"/>
                </a:moveTo>
                <a:cubicBezTo>
                  <a:pt x="2" y="113"/>
                  <a:pt x="2" y="115"/>
                  <a:pt x="2" y="117"/>
                </a:cubicBezTo>
                <a:cubicBezTo>
                  <a:pt x="1" y="120"/>
                  <a:pt x="1" y="122"/>
                  <a:pt x="1" y="124"/>
                </a:cubicBezTo>
                <a:cubicBezTo>
                  <a:pt x="0" y="129"/>
                  <a:pt x="0" y="134"/>
                  <a:pt x="0" y="139"/>
                </a:cubicBezTo>
                <a:cubicBezTo>
                  <a:pt x="0" y="143"/>
                  <a:pt x="0" y="148"/>
                  <a:pt x="1" y="153"/>
                </a:cubicBezTo>
                <a:cubicBezTo>
                  <a:pt x="1" y="155"/>
                  <a:pt x="1" y="157"/>
                  <a:pt x="2" y="160"/>
                </a:cubicBezTo>
                <a:cubicBezTo>
                  <a:pt x="2" y="162"/>
                  <a:pt x="2" y="164"/>
                  <a:pt x="3" y="167"/>
                </a:cubicBezTo>
                <a:cubicBezTo>
                  <a:pt x="3" y="169"/>
                  <a:pt x="4" y="171"/>
                  <a:pt x="4" y="173"/>
                </a:cubicBezTo>
                <a:cubicBezTo>
                  <a:pt x="5" y="178"/>
                  <a:pt x="7" y="182"/>
                  <a:pt x="8" y="186"/>
                </a:cubicBezTo>
                <a:cubicBezTo>
                  <a:pt x="9" y="188"/>
                  <a:pt x="10" y="191"/>
                  <a:pt x="11" y="193"/>
                </a:cubicBezTo>
                <a:cubicBezTo>
                  <a:pt x="12" y="195"/>
                  <a:pt x="13" y="197"/>
                  <a:pt x="14" y="199"/>
                </a:cubicBezTo>
                <a:cubicBezTo>
                  <a:pt x="14" y="200"/>
                  <a:pt x="15" y="201"/>
                  <a:pt x="15" y="202"/>
                </a:cubicBezTo>
                <a:cubicBezTo>
                  <a:pt x="16" y="204"/>
                  <a:pt x="17" y="206"/>
                  <a:pt x="18" y="208"/>
                </a:cubicBezTo>
                <a:cubicBezTo>
                  <a:pt x="22" y="214"/>
                  <a:pt x="25" y="219"/>
                  <a:pt x="30" y="224"/>
                </a:cubicBezTo>
                <a:cubicBezTo>
                  <a:pt x="32" y="227"/>
                  <a:pt x="34" y="230"/>
                  <a:pt x="36" y="232"/>
                </a:cubicBezTo>
                <a:cubicBezTo>
                  <a:pt x="38" y="234"/>
                  <a:pt x="39" y="235"/>
                  <a:pt x="41" y="237"/>
                </a:cubicBezTo>
                <a:cubicBezTo>
                  <a:pt x="42" y="238"/>
                  <a:pt x="44" y="240"/>
                  <a:pt x="45" y="241"/>
                </a:cubicBezTo>
                <a:cubicBezTo>
                  <a:pt x="53" y="248"/>
                  <a:pt x="61" y="254"/>
                  <a:pt x="70" y="259"/>
                </a:cubicBezTo>
                <a:cubicBezTo>
                  <a:pt x="72" y="260"/>
                  <a:pt x="74" y="261"/>
                  <a:pt x="76" y="262"/>
                </a:cubicBezTo>
                <a:cubicBezTo>
                  <a:pt x="80" y="264"/>
                  <a:pt x="84" y="266"/>
                  <a:pt x="88" y="268"/>
                </a:cubicBezTo>
                <a:cubicBezTo>
                  <a:pt x="90" y="269"/>
                  <a:pt x="92" y="269"/>
                  <a:pt x="94" y="270"/>
                </a:cubicBezTo>
                <a:cubicBezTo>
                  <a:pt x="108" y="275"/>
                  <a:pt x="123" y="277"/>
                  <a:pt x="139" y="277"/>
                </a:cubicBezTo>
                <a:cubicBezTo>
                  <a:pt x="149" y="277"/>
                  <a:pt x="160" y="276"/>
                  <a:pt x="170" y="274"/>
                </a:cubicBezTo>
                <a:cubicBezTo>
                  <a:pt x="174" y="273"/>
                  <a:pt x="179" y="272"/>
                  <a:pt x="183" y="270"/>
                </a:cubicBezTo>
                <a:cubicBezTo>
                  <a:pt x="186" y="269"/>
                  <a:pt x="188" y="269"/>
                  <a:pt x="190" y="268"/>
                </a:cubicBezTo>
                <a:cubicBezTo>
                  <a:pt x="194" y="266"/>
                  <a:pt x="198" y="264"/>
                  <a:pt x="202" y="262"/>
                </a:cubicBezTo>
                <a:cubicBezTo>
                  <a:pt x="204" y="261"/>
                  <a:pt x="206" y="260"/>
                  <a:pt x="208" y="259"/>
                </a:cubicBezTo>
                <a:cubicBezTo>
                  <a:pt x="217" y="254"/>
                  <a:pt x="225" y="248"/>
                  <a:pt x="232" y="241"/>
                </a:cubicBezTo>
                <a:cubicBezTo>
                  <a:pt x="234" y="240"/>
                  <a:pt x="236" y="238"/>
                  <a:pt x="237" y="237"/>
                </a:cubicBezTo>
                <a:cubicBezTo>
                  <a:pt x="239" y="235"/>
                  <a:pt x="240" y="234"/>
                  <a:pt x="242" y="232"/>
                </a:cubicBezTo>
                <a:cubicBezTo>
                  <a:pt x="244" y="230"/>
                  <a:pt x="246" y="227"/>
                  <a:pt x="248" y="224"/>
                </a:cubicBezTo>
                <a:cubicBezTo>
                  <a:pt x="251" y="220"/>
                  <a:pt x="254" y="216"/>
                  <a:pt x="257" y="211"/>
                </a:cubicBezTo>
                <a:cubicBezTo>
                  <a:pt x="258" y="210"/>
                  <a:pt x="259" y="209"/>
                  <a:pt x="259" y="208"/>
                </a:cubicBezTo>
                <a:cubicBezTo>
                  <a:pt x="260" y="206"/>
                  <a:pt x="262" y="204"/>
                  <a:pt x="263" y="202"/>
                </a:cubicBezTo>
                <a:cubicBezTo>
                  <a:pt x="263" y="201"/>
                  <a:pt x="264" y="200"/>
                  <a:pt x="264" y="199"/>
                </a:cubicBezTo>
                <a:cubicBezTo>
                  <a:pt x="265" y="197"/>
                  <a:pt x="266" y="195"/>
                  <a:pt x="267" y="193"/>
                </a:cubicBezTo>
                <a:cubicBezTo>
                  <a:pt x="268" y="191"/>
                  <a:pt x="269" y="188"/>
                  <a:pt x="269" y="186"/>
                </a:cubicBezTo>
                <a:cubicBezTo>
                  <a:pt x="271" y="182"/>
                  <a:pt x="272" y="178"/>
                  <a:pt x="273" y="173"/>
                </a:cubicBezTo>
                <a:cubicBezTo>
                  <a:pt x="274" y="171"/>
                  <a:pt x="274" y="169"/>
                  <a:pt x="275" y="167"/>
                </a:cubicBezTo>
                <a:cubicBezTo>
                  <a:pt x="275" y="164"/>
                  <a:pt x="276" y="162"/>
                  <a:pt x="276" y="160"/>
                </a:cubicBezTo>
                <a:cubicBezTo>
                  <a:pt x="277" y="157"/>
                  <a:pt x="277" y="155"/>
                  <a:pt x="277" y="153"/>
                </a:cubicBezTo>
                <a:cubicBezTo>
                  <a:pt x="278" y="148"/>
                  <a:pt x="278" y="143"/>
                  <a:pt x="278" y="139"/>
                </a:cubicBezTo>
                <a:cubicBezTo>
                  <a:pt x="278" y="134"/>
                  <a:pt x="278" y="129"/>
                  <a:pt x="277" y="124"/>
                </a:cubicBezTo>
                <a:cubicBezTo>
                  <a:pt x="277" y="122"/>
                  <a:pt x="277" y="120"/>
                  <a:pt x="276" y="117"/>
                </a:cubicBezTo>
                <a:cubicBezTo>
                  <a:pt x="276" y="115"/>
                  <a:pt x="275" y="113"/>
                  <a:pt x="275" y="111"/>
                </a:cubicBezTo>
                <a:cubicBezTo>
                  <a:pt x="274" y="108"/>
                  <a:pt x="274" y="106"/>
                  <a:pt x="273" y="104"/>
                </a:cubicBezTo>
                <a:cubicBezTo>
                  <a:pt x="272" y="99"/>
                  <a:pt x="271" y="95"/>
                  <a:pt x="269" y="91"/>
                </a:cubicBezTo>
                <a:cubicBezTo>
                  <a:pt x="269" y="90"/>
                  <a:pt x="269" y="89"/>
                  <a:pt x="268" y="88"/>
                </a:cubicBezTo>
                <a:cubicBezTo>
                  <a:pt x="267" y="85"/>
                  <a:pt x="266" y="81"/>
                  <a:pt x="264" y="78"/>
                </a:cubicBezTo>
                <a:cubicBezTo>
                  <a:pt x="264" y="77"/>
                  <a:pt x="263" y="76"/>
                  <a:pt x="263" y="75"/>
                </a:cubicBezTo>
                <a:cubicBezTo>
                  <a:pt x="262" y="73"/>
                  <a:pt x="260" y="71"/>
                  <a:pt x="259" y="69"/>
                </a:cubicBezTo>
                <a:cubicBezTo>
                  <a:pt x="256" y="64"/>
                  <a:pt x="252" y="58"/>
                  <a:pt x="248" y="53"/>
                </a:cubicBezTo>
                <a:cubicBezTo>
                  <a:pt x="246" y="50"/>
                  <a:pt x="244" y="48"/>
                  <a:pt x="242" y="45"/>
                </a:cubicBezTo>
                <a:cubicBezTo>
                  <a:pt x="240" y="44"/>
                  <a:pt x="239" y="42"/>
                  <a:pt x="237" y="40"/>
                </a:cubicBezTo>
                <a:cubicBezTo>
                  <a:pt x="236" y="39"/>
                  <a:pt x="234" y="37"/>
                  <a:pt x="232" y="36"/>
                </a:cubicBezTo>
                <a:cubicBezTo>
                  <a:pt x="229" y="33"/>
                  <a:pt x="226" y="30"/>
                  <a:pt x="222" y="28"/>
                </a:cubicBezTo>
                <a:cubicBezTo>
                  <a:pt x="218" y="24"/>
                  <a:pt x="213" y="21"/>
                  <a:pt x="208" y="18"/>
                </a:cubicBezTo>
                <a:cubicBezTo>
                  <a:pt x="206" y="17"/>
                  <a:pt x="204" y="16"/>
                  <a:pt x="202" y="15"/>
                </a:cubicBezTo>
                <a:cubicBezTo>
                  <a:pt x="201" y="14"/>
                  <a:pt x="200" y="14"/>
                  <a:pt x="199" y="14"/>
                </a:cubicBezTo>
                <a:cubicBezTo>
                  <a:pt x="198" y="13"/>
                  <a:pt x="197" y="12"/>
                  <a:pt x="196" y="12"/>
                </a:cubicBezTo>
                <a:cubicBezTo>
                  <a:pt x="196" y="12"/>
                  <a:pt x="195" y="12"/>
                  <a:pt x="195" y="11"/>
                </a:cubicBezTo>
                <a:cubicBezTo>
                  <a:pt x="193" y="11"/>
                  <a:pt x="191" y="10"/>
                  <a:pt x="190" y="9"/>
                </a:cubicBezTo>
                <a:cubicBezTo>
                  <a:pt x="190" y="9"/>
                  <a:pt x="190" y="9"/>
                  <a:pt x="190" y="9"/>
                </a:cubicBezTo>
                <a:cubicBezTo>
                  <a:pt x="188" y="9"/>
                  <a:pt x="186" y="8"/>
                  <a:pt x="184" y="7"/>
                </a:cubicBezTo>
                <a:cubicBezTo>
                  <a:pt x="184" y="7"/>
                  <a:pt x="184" y="7"/>
                  <a:pt x="183" y="7"/>
                </a:cubicBezTo>
                <a:cubicBezTo>
                  <a:pt x="179" y="6"/>
                  <a:pt x="175" y="4"/>
                  <a:pt x="171" y="3"/>
                </a:cubicBezTo>
                <a:cubicBezTo>
                  <a:pt x="169" y="3"/>
                  <a:pt x="168" y="3"/>
                  <a:pt x="167" y="3"/>
                </a:cubicBezTo>
                <a:cubicBezTo>
                  <a:pt x="166" y="2"/>
                  <a:pt x="165" y="2"/>
                  <a:pt x="164" y="2"/>
                </a:cubicBezTo>
                <a:cubicBezTo>
                  <a:pt x="157" y="1"/>
                  <a:pt x="149" y="0"/>
                  <a:pt x="141" y="0"/>
                </a:cubicBezTo>
                <a:cubicBezTo>
                  <a:pt x="141" y="0"/>
                  <a:pt x="140" y="0"/>
                  <a:pt x="139" y="0"/>
                </a:cubicBezTo>
                <a:cubicBezTo>
                  <a:pt x="137" y="0"/>
                  <a:pt x="136" y="0"/>
                  <a:pt x="135" y="0"/>
                </a:cubicBezTo>
                <a:cubicBezTo>
                  <a:pt x="121" y="0"/>
                  <a:pt x="107" y="3"/>
                  <a:pt x="94" y="7"/>
                </a:cubicBezTo>
                <a:cubicBezTo>
                  <a:pt x="92" y="8"/>
                  <a:pt x="90" y="9"/>
                  <a:pt x="88" y="9"/>
                </a:cubicBezTo>
                <a:cubicBezTo>
                  <a:pt x="87" y="10"/>
                  <a:pt x="87" y="10"/>
                  <a:pt x="86" y="10"/>
                </a:cubicBezTo>
                <a:cubicBezTo>
                  <a:pt x="85" y="11"/>
                  <a:pt x="83" y="11"/>
                  <a:pt x="82" y="12"/>
                </a:cubicBezTo>
                <a:cubicBezTo>
                  <a:pt x="80" y="13"/>
                  <a:pt x="78" y="14"/>
                  <a:pt x="76" y="15"/>
                </a:cubicBezTo>
                <a:cubicBezTo>
                  <a:pt x="74" y="16"/>
                  <a:pt x="72" y="17"/>
                  <a:pt x="70" y="18"/>
                </a:cubicBezTo>
                <a:cubicBezTo>
                  <a:pt x="62" y="23"/>
                  <a:pt x="55" y="28"/>
                  <a:pt x="48" y="34"/>
                </a:cubicBezTo>
                <a:cubicBezTo>
                  <a:pt x="47" y="34"/>
                  <a:pt x="46" y="35"/>
                  <a:pt x="45" y="36"/>
                </a:cubicBezTo>
                <a:cubicBezTo>
                  <a:pt x="44" y="37"/>
                  <a:pt x="42" y="39"/>
                  <a:pt x="41" y="40"/>
                </a:cubicBezTo>
                <a:cubicBezTo>
                  <a:pt x="39" y="42"/>
                  <a:pt x="38" y="44"/>
                  <a:pt x="36" y="45"/>
                </a:cubicBezTo>
                <a:cubicBezTo>
                  <a:pt x="34" y="48"/>
                  <a:pt x="32" y="50"/>
                  <a:pt x="30" y="53"/>
                </a:cubicBezTo>
                <a:cubicBezTo>
                  <a:pt x="25" y="58"/>
                  <a:pt x="22" y="64"/>
                  <a:pt x="18" y="69"/>
                </a:cubicBezTo>
                <a:cubicBezTo>
                  <a:pt x="17" y="71"/>
                  <a:pt x="16" y="73"/>
                  <a:pt x="15" y="75"/>
                </a:cubicBezTo>
                <a:cubicBezTo>
                  <a:pt x="15" y="76"/>
                  <a:pt x="14" y="77"/>
                  <a:pt x="14" y="78"/>
                </a:cubicBezTo>
                <a:cubicBezTo>
                  <a:pt x="12" y="81"/>
                  <a:pt x="11" y="85"/>
                  <a:pt x="10" y="88"/>
                </a:cubicBezTo>
                <a:cubicBezTo>
                  <a:pt x="9" y="89"/>
                  <a:pt x="9" y="90"/>
                  <a:pt x="8" y="91"/>
                </a:cubicBezTo>
                <a:cubicBezTo>
                  <a:pt x="7" y="95"/>
                  <a:pt x="5" y="99"/>
                  <a:pt x="4" y="104"/>
                </a:cubicBezTo>
                <a:cubicBezTo>
                  <a:pt x="4" y="106"/>
                  <a:pt x="3" y="108"/>
                  <a:pt x="3" y="111"/>
                </a:cubicBezTo>
                <a:moveTo>
                  <a:pt x="115" y="9"/>
                </a:moveTo>
                <a:cubicBezTo>
                  <a:pt x="116" y="10"/>
                  <a:pt x="116" y="10"/>
                  <a:pt x="116" y="10"/>
                </a:cubicBezTo>
                <a:cubicBezTo>
                  <a:pt x="118" y="10"/>
                  <a:pt x="119" y="10"/>
                  <a:pt x="121" y="10"/>
                </a:cubicBezTo>
                <a:cubicBezTo>
                  <a:pt x="122" y="10"/>
                  <a:pt x="123" y="10"/>
                  <a:pt x="125" y="10"/>
                </a:cubicBezTo>
                <a:cubicBezTo>
                  <a:pt x="127" y="10"/>
                  <a:pt x="131" y="13"/>
                  <a:pt x="133" y="12"/>
                </a:cubicBezTo>
                <a:cubicBezTo>
                  <a:pt x="134" y="11"/>
                  <a:pt x="134" y="11"/>
                  <a:pt x="134" y="10"/>
                </a:cubicBezTo>
                <a:cubicBezTo>
                  <a:pt x="135" y="9"/>
                  <a:pt x="135" y="8"/>
                  <a:pt x="136" y="7"/>
                </a:cubicBezTo>
                <a:cubicBezTo>
                  <a:pt x="137" y="7"/>
                  <a:pt x="138" y="7"/>
                  <a:pt x="139" y="7"/>
                </a:cubicBezTo>
                <a:cubicBezTo>
                  <a:pt x="148" y="7"/>
                  <a:pt x="157" y="8"/>
                  <a:pt x="165" y="10"/>
                </a:cubicBezTo>
                <a:cubicBezTo>
                  <a:pt x="165" y="11"/>
                  <a:pt x="164" y="10"/>
                  <a:pt x="163" y="11"/>
                </a:cubicBezTo>
                <a:cubicBezTo>
                  <a:pt x="162" y="11"/>
                  <a:pt x="161" y="12"/>
                  <a:pt x="160" y="12"/>
                </a:cubicBezTo>
                <a:cubicBezTo>
                  <a:pt x="158" y="13"/>
                  <a:pt x="155" y="12"/>
                  <a:pt x="153" y="12"/>
                </a:cubicBezTo>
                <a:cubicBezTo>
                  <a:pt x="153" y="13"/>
                  <a:pt x="154" y="13"/>
                  <a:pt x="155" y="14"/>
                </a:cubicBezTo>
                <a:cubicBezTo>
                  <a:pt x="157" y="15"/>
                  <a:pt x="159" y="15"/>
                  <a:pt x="162" y="14"/>
                </a:cubicBezTo>
                <a:cubicBezTo>
                  <a:pt x="163" y="14"/>
                  <a:pt x="165" y="15"/>
                  <a:pt x="166" y="14"/>
                </a:cubicBezTo>
                <a:cubicBezTo>
                  <a:pt x="167" y="13"/>
                  <a:pt x="167" y="12"/>
                  <a:pt x="168" y="11"/>
                </a:cubicBezTo>
                <a:cubicBezTo>
                  <a:pt x="168" y="11"/>
                  <a:pt x="169" y="11"/>
                  <a:pt x="169" y="11"/>
                </a:cubicBezTo>
                <a:cubicBezTo>
                  <a:pt x="171" y="11"/>
                  <a:pt x="172" y="11"/>
                  <a:pt x="173" y="12"/>
                </a:cubicBezTo>
                <a:cubicBezTo>
                  <a:pt x="173" y="13"/>
                  <a:pt x="172" y="13"/>
                  <a:pt x="172" y="14"/>
                </a:cubicBezTo>
                <a:cubicBezTo>
                  <a:pt x="173" y="14"/>
                  <a:pt x="175" y="14"/>
                  <a:pt x="176" y="12"/>
                </a:cubicBezTo>
                <a:cubicBezTo>
                  <a:pt x="176" y="13"/>
                  <a:pt x="177" y="13"/>
                  <a:pt x="177" y="13"/>
                </a:cubicBezTo>
                <a:cubicBezTo>
                  <a:pt x="179" y="13"/>
                  <a:pt x="181" y="14"/>
                  <a:pt x="183" y="15"/>
                </a:cubicBezTo>
                <a:cubicBezTo>
                  <a:pt x="186" y="16"/>
                  <a:pt x="189" y="17"/>
                  <a:pt x="192" y="18"/>
                </a:cubicBezTo>
                <a:cubicBezTo>
                  <a:pt x="191" y="19"/>
                  <a:pt x="191" y="19"/>
                  <a:pt x="190" y="19"/>
                </a:cubicBezTo>
                <a:cubicBezTo>
                  <a:pt x="189" y="19"/>
                  <a:pt x="189" y="17"/>
                  <a:pt x="187" y="18"/>
                </a:cubicBezTo>
                <a:cubicBezTo>
                  <a:pt x="187" y="20"/>
                  <a:pt x="189" y="20"/>
                  <a:pt x="190" y="21"/>
                </a:cubicBezTo>
                <a:cubicBezTo>
                  <a:pt x="191" y="22"/>
                  <a:pt x="193" y="23"/>
                  <a:pt x="193" y="24"/>
                </a:cubicBezTo>
                <a:cubicBezTo>
                  <a:pt x="192" y="27"/>
                  <a:pt x="190" y="24"/>
                  <a:pt x="188" y="24"/>
                </a:cubicBezTo>
                <a:cubicBezTo>
                  <a:pt x="186" y="24"/>
                  <a:pt x="183" y="28"/>
                  <a:pt x="181" y="25"/>
                </a:cubicBezTo>
                <a:cubicBezTo>
                  <a:pt x="181" y="23"/>
                  <a:pt x="183" y="23"/>
                  <a:pt x="184" y="21"/>
                </a:cubicBezTo>
                <a:cubicBezTo>
                  <a:pt x="183" y="21"/>
                  <a:pt x="183" y="21"/>
                  <a:pt x="183" y="21"/>
                </a:cubicBezTo>
                <a:cubicBezTo>
                  <a:pt x="182" y="22"/>
                  <a:pt x="181" y="22"/>
                  <a:pt x="180" y="22"/>
                </a:cubicBezTo>
                <a:cubicBezTo>
                  <a:pt x="180" y="23"/>
                  <a:pt x="179" y="23"/>
                  <a:pt x="177" y="24"/>
                </a:cubicBezTo>
                <a:cubicBezTo>
                  <a:pt x="176" y="24"/>
                  <a:pt x="175" y="24"/>
                  <a:pt x="174" y="24"/>
                </a:cubicBezTo>
                <a:cubicBezTo>
                  <a:pt x="173" y="25"/>
                  <a:pt x="171" y="26"/>
                  <a:pt x="169" y="27"/>
                </a:cubicBezTo>
                <a:cubicBezTo>
                  <a:pt x="169" y="27"/>
                  <a:pt x="168" y="27"/>
                  <a:pt x="167" y="27"/>
                </a:cubicBezTo>
                <a:cubicBezTo>
                  <a:pt x="165" y="28"/>
                  <a:pt x="163" y="29"/>
                  <a:pt x="161" y="30"/>
                </a:cubicBezTo>
                <a:cubicBezTo>
                  <a:pt x="159" y="31"/>
                  <a:pt x="157" y="32"/>
                  <a:pt x="156" y="33"/>
                </a:cubicBezTo>
                <a:cubicBezTo>
                  <a:pt x="155" y="33"/>
                  <a:pt x="154" y="35"/>
                  <a:pt x="154" y="36"/>
                </a:cubicBezTo>
                <a:cubicBezTo>
                  <a:pt x="154" y="37"/>
                  <a:pt x="156" y="37"/>
                  <a:pt x="156" y="38"/>
                </a:cubicBezTo>
                <a:cubicBezTo>
                  <a:pt x="156" y="39"/>
                  <a:pt x="155" y="40"/>
                  <a:pt x="155" y="41"/>
                </a:cubicBezTo>
                <a:cubicBezTo>
                  <a:pt x="156" y="41"/>
                  <a:pt x="157" y="41"/>
                  <a:pt x="158" y="41"/>
                </a:cubicBezTo>
                <a:cubicBezTo>
                  <a:pt x="161" y="41"/>
                  <a:pt x="162" y="43"/>
                  <a:pt x="164" y="44"/>
                </a:cubicBezTo>
                <a:cubicBezTo>
                  <a:pt x="165" y="45"/>
                  <a:pt x="167" y="46"/>
                  <a:pt x="169" y="46"/>
                </a:cubicBezTo>
                <a:cubicBezTo>
                  <a:pt x="171" y="46"/>
                  <a:pt x="173" y="45"/>
                  <a:pt x="173" y="47"/>
                </a:cubicBezTo>
                <a:cubicBezTo>
                  <a:pt x="174" y="48"/>
                  <a:pt x="171" y="49"/>
                  <a:pt x="171" y="50"/>
                </a:cubicBezTo>
                <a:cubicBezTo>
                  <a:pt x="172" y="51"/>
                  <a:pt x="171" y="52"/>
                  <a:pt x="171" y="53"/>
                </a:cubicBezTo>
                <a:cubicBezTo>
                  <a:pt x="171" y="54"/>
                  <a:pt x="172" y="56"/>
                  <a:pt x="173" y="56"/>
                </a:cubicBezTo>
                <a:cubicBezTo>
                  <a:pt x="174" y="56"/>
                  <a:pt x="177" y="55"/>
                  <a:pt x="177" y="53"/>
                </a:cubicBezTo>
                <a:cubicBezTo>
                  <a:pt x="178" y="51"/>
                  <a:pt x="178" y="49"/>
                  <a:pt x="179" y="48"/>
                </a:cubicBezTo>
                <a:cubicBezTo>
                  <a:pt x="186" y="48"/>
                  <a:pt x="192" y="44"/>
                  <a:pt x="191" y="37"/>
                </a:cubicBezTo>
                <a:cubicBezTo>
                  <a:pt x="191" y="37"/>
                  <a:pt x="191" y="36"/>
                  <a:pt x="191" y="35"/>
                </a:cubicBezTo>
                <a:cubicBezTo>
                  <a:pt x="191" y="34"/>
                  <a:pt x="193" y="33"/>
                  <a:pt x="193" y="31"/>
                </a:cubicBezTo>
                <a:cubicBezTo>
                  <a:pt x="194" y="31"/>
                  <a:pt x="194" y="30"/>
                  <a:pt x="195" y="30"/>
                </a:cubicBezTo>
                <a:cubicBezTo>
                  <a:pt x="195" y="29"/>
                  <a:pt x="196" y="28"/>
                  <a:pt x="197" y="27"/>
                </a:cubicBezTo>
                <a:cubicBezTo>
                  <a:pt x="197" y="27"/>
                  <a:pt x="197" y="27"/>
                  <a:pt x="197" y="27"/>
                </a:cubicBezTo>
                <a:cubicBezTo>
                  <a:pt x="198" y="27"/>
                  <a:pt x="198" y="27"/>
                  <a:pt x="199" y="27"/>
                </a:cubicBezTo>
                <a:cubicBezTo>
                  <a:pt x="200" y="28"/>
                  <a:pt x="201" y="28"/>
                  <a:pt x="203" y="28"/>
                </a:cubicBezTo>
                <a:cubicBezTo>
                  <a:pt x="203" y="28"/>
                  <a:pt x="204" y="27"/>
                  <a:pt x="205" y="28"/>
                </a:cubicBezTo>
                <a:cubicBezTo>
                  <a:pt x="207" y="28"/>
                  <a:pt x="207" y="30"/>
                  <a:pt x="209" y="30"/>
                </a:cubicBezTo>
                <a:cubicBezTo>
                  <a:pt x="210" y="31"/>
                  <a:pt x="211" y="31"/>
                  <a:pt x="211" y="32"/>
                </a:cubicBezTo>
                <a:cubicBezTo>
                  <a:pt x="211" y="34"/>
                  <a:pt x="209" y="34"/>
                  <a:pt x="209" y="35"/>
                </a:cubicBezTo>
                <a:cubicBezTo>
                  <a:pt x="209" y="35"/>
                  <a:pt x="209" y="35"/>
                  <a:pt x="209" y="35"/>
                </a:cubicBezTo>
                <a:cubicBezTo>
                  <a:pt x="210" y="37"/>
                  <a:pt x="211" y="38"/>
                  <a:pt x="212" y="38"/>
                </a:cubicBezTo>
                <a:cubicBezTo>
                  <a:pt x="213" y="38"/>
                  <a:pt x="214" y="37"/>
                  <a:pt x="215" y="37"/>
                </a:cubicBezTo>
                <a:cubicBezTo>
                  <a:pt x="217" y="36"/>
                  <a:pt x="218" y="35"/>
                  <a:pt x="219" y="34"/>
                </a:cubicBezTo>
                <a:cubicBezTo>
                  <a:pt x="220" y="35"/>
                  <a:pt x="222" y="36"/>
                  <a:pt x="223" y="38"/>
                </a:cubicBezTo>
                <a:cubicBezTo>
                  <a:pt x="223" y="38"/>
                  <a:pt x="223" y="39"/>
                  <a:pt x="223" y="39"/>
                </a:cubicBezTo>
                <a:cubicBezTo>
                  <a:pt x="224" y="41"/>
                  <a:pt x="223" y="42"/>
                  <a:pt x="223" y="44"/>
                </a:cubicBezTo>
                <a:cubicBezTo>
                  <a:pt x="223" y="46"/>
                  <a:pt x="227" y="46"/>
                  <a:pt x="228" y="47"/>
                </a:cubicBezTo>
                <a:cubicBezTo>
                  <a:pt x="229" y="48"/>
                  <a:pt x="229" y="49"/>
                  <a:pt x="229" y="49"/>
                </a:cubicBezTo>
                <a:cubicBezTo>
                  <a:pt x="230" y="50"/>
                  <a:pt x="231" y="50"/>
                  <a:pt x="231" y="51"/>
                </a:cubicBezTo>
                <a:cubicBezTo>
                  <a:pt x="231" y="54"/>
                  <a:pt x="229" y="54"/>
                  <a:pt x="229" y="57"/>
                </a:cubicBezTo>
                <a:cubicBezTo>
                  <a:pt x="228" y="58"/>
                  <a:pt x="227" y="58"/>
                  <a:pt x="227" y="59"/>
                </a:cubicBezTo>
                <a:cubicBezTo>
                  <a:pt x="227" y="62"/>
                  <a:pt x="231" y="60"/>
                  <a:pt x="232" y="62"/>
                </a:cubicBezTo>
                <a:cubicBezTo>
                  <a:pt x="232" y="63"/>
                  <a:pt x="231" y="64"/>
                  <a:pt x="231" y="65"/>
                </a:cubicBezTo>
                <a:cubicBezTo>
                  <a:pt x="232" y="66"/>
                  <a:pt x="232" y="69"/>
                  <a:pt x="230" y="69"/>
                </a:cubicBezTo>
                <a:cubicBezTo>
                  <a:pt x="229" y="69"/>
                  <a:pt x="229" y="67"/>
                  <a:pt x="227" y="67"/>
                </a:cubicBezTo>
                <a:cubicBezTo>
                  <a:pt x="227" y="67"/>
                  <a:pt x="226" y="67"/>
                  <a:pt x="225" y="67"/>
                </a:cubicBezTo>
                <a:cubicBezTo>
                  <a:pt x="224" y="66"/>
                  <a:pt x="223" y="66"/>
                  <a:pt x="222" y="66"/>
                </a:cubicBezTo>
                <a:cubicBezTo>
                  <a:pt x="221" y="66"/>
                  <a:pt x="219" y="66"/>
                  <a:pt x="218" y="65"/>
                </a:cubicBezTo>
                <a:cubicBezTo>
                  <a:pt x="219" y="63"/>
                  <a:pt x="222" y="61"/>
                  <a:pt x="224" y="59"/>
                </a:cubicBezTo>
                <a:cubicBezTo>
                  <a:pt x="225" y="58"/>
                  <a:pt x="226" y="58"/>
                  <a:pt x="226" y="56"/>
                </a:cubicBezTo>
                <a:cubicBezTo>
                  <a:pt x="224" y="55"/>
                  <a:pt x="223" y="57"/>
                  <a:pt x="222" y="57"/>
                </a:cubicBezTo>
                <a:cubicBezTo>
                  <a:pt x="220" y="58"/>
                  <a:pt x="219" y="59"/>
                  <a:pt x="218" y="59"/>
                </a:cubicBezTo>
                <a:cubicBezTo>
                  <a:pt x="215" y="60"/>
                  <a:pt x="212" y="58"/>
                  <a:pt x="210" y="60"/>
                </a:cubicBezTo>
                <a:cubicBezTo>
                  <a:pt x="209" y="61"/>
                  <a:pt x="212" y="60"/>
                  <a:pt x="212" y="62"/>
                </a:cubicBezTo>
                <a:cubicBezTo>
                  <a:pt x="211" y="62"/>
                  <a:pt x="210" y="62"/>
                  <a:pt x="209" y="62"/>
                </a:cubicBezTo>
                <a:cubicBezTo>
                  <a:pt x="208" y="61"/>
                  <a:pt x="209" y="60"/>
                  <a:pt x="208" y="60"/>
                </a:cubicBezTo>
                <a:cubicBezTo>
                  <a:pt x="208" y="59"/>
                  <a:pt x="205" y="59"/>
                  <a:pt x="203" y="59"/>
                </a:cubicBezTo>
                <a:cubicBezTo>
                  <a:pt x="202" y="59"/>
                  <a:pt x="200" y="60"/>
                  <a:pt x="200" y="62"/>
                </a:cubicBezTo>
                <a:cubicBezTo>
                  <a:pt x="202" y="63"/>
                  <a:pt x="205" y="61"/>
                  <a:pt x="206" y="63"/>
                </a:cubicBezTo>
                <a:cubicBezTo>
                  <a:pt x="205" y="65"/>
                  <a:pt x="202" y="66"/>
                  <a:pt x="203" y="68"/>
                </a:cubicBezTo>
                <a:cubicBezTo>
                  <a:pt x="203" y="69"/>
                  <a:pt x="204" y="71"/>
                  <a:pt x="205" y="71"/>
                </a:cubicBezTo>
                <a:cubicBezTo>
                  <a:pt x="206" y="71"/>
                  <a:pt x="206" y="70"/>
                  <a:pt x="207" y="70"/>
                </a:cubicBezTo>
                <a:cubicBezTo>
                  <a:pt x="208" y="70"/>
                  <a:pt x="208" y="71"/>
                  <a:pt x="209" y="71"/>
                </a:cubicBezTo>
                <a:cubicBezTo>
                  <a:pt x="210" y="70"/>
                  <a:pt x="211" y="68"/>
                  <a:pt x="212" y="69"/>
                </a:cubicBezTo>
                <a:cubicBezTo>
                  <a:pt x="214" y="71"/>
                  <a:pt x="211" y="72"/>
                  <a:pt x="209" y="73"/>
                </a:cubicBezTo>
                <a:cubicBezTo>
                  <a:pt x="206" y="74"/>
                  <a:pt x="203" y="74"/>
                  <a:pt x="201" y="75"/>
                </a:cubicBezTo>
                <a:cubicBezTo>
                  <a:pt x="200" y="75"/>
                  <a:pt x="197" y="79"/>
                  <a:pt x="196" y="76"/>
                </a:cubicBezTo>
                <a:cubicBezTo>
                  <a:pt x="196" y="74"/>
                  <a:pt x="198" y="75"/>
                  <a:pt x="198" y="73"/>
                </a:cubicBezTo>
                <a:cubicBezTo>
                  <a:pt x="196" y="73"/>
                  <a:pt x="194" y="74"/>
                  <a:pt x="192" y="75"/>
                </a:cubicBezTo>
                <a:cubicBezTo>
                  <a:pt x="189" y="76"/>
                  <a:pt x="184" y="77"/>
                  <a:pt x="183" y="80"/>
                </a:cubicBezTo>
                <a:cubicBezTo>
                  <a:pt x="183" y="81"/>
                  <a:pt x="183" y="82"/>
                  <a:pt x="183" y="83"/>
                </a:cubicBezTo>
                <a:cubicBezTo>
                  <a:pt x="183" y="83"/>
                  <a:pt x="180" y="83"/>
                  <a:pt x="179" y="83"/>
                </a:cubicBezTo>
                <a:cubicBezTo>
                  <a:pt x="178" y="84"/>
                  <a:pt x="177" y="85"/>
                  <a:pt x="176" y="85"/>
                </a:cubicBezTo>
                <a:cubicBezTo>
                  <a:pt x="175" y="85"/>
                  <a:pt x="174" y="85"/>
                  <a:pt x="174" y="85"/>
                </a:cubicBezTo>
                <a:cubicBezTo>
                  <a:pt x="173" y="86"/>
                  <a:pt x="172" y="87"/>
                  <a:pt x="171" y="88"/>
                </a:cubicBezTo>
                <a:cubicBezTo>
                  <a:pt x="170" y="89"/>
                  <a:pt x="169" y="89"/>
                  <a:pt x="169" y="90"/>
                </a:cubicBezTo>
                <a:cubicBezTo>
                  <a:pt x="168" y="90"/>
                  <a:pt x="168" y="92"/>
                  <a:pt x="166" y="93"/>
                </a:cubicBezTo>
                <a:cubicBezTo>
                  <a:pt x="165" y="93"/>
                  <a:pt x="165" y="92"/>
                  <a:pt x="164" y="93"/>
                </a:cubicBezTo>
                <a:cubicBezTo>
                  <a:pt x="164" y="94"/>
                  <a:pt x="165" y="97"/>
                  <a:pt x="164" y="99"/>
                </a:cubicBezTo>
                <a:cubicBezTo>
                  <a:pt x="162" y="100"/>
                  <a:pt x="160" y="101"/>
                  <a:pt x="158" y="103"/>
                </a:cubicBezTo>
                <a:cubicBezTo>
                  <a:pt x="157" y="103"/>
                  <a:pt x="155" y="104"/>
                  <a:pt x="154" y="104"/>
                </a:cubicBezTo>
                <a:cubicBezTo>
                  <a:pt x="153" y="105"/>
                  <a:pt x="152" y="106"/>
                  <a:pt x="151" y="107"/>
                </a:cubicBezTo>
                <a:cubicBezTo>
                  <a:pt x="148" y="108"/>
                  <a:pt x="144" y="110"/>
                  <a:pt x="144" y="115"/>
                </a:cubicBezTo>
                <a:cubicBezTo>
                  <a:pt x="144" y="116"/>
                  <a:pt x="145" y="117"/>
                  <a:pt x="145" y="118"/>
                </a:cubicBezTo>
                <a:cubicBezTo>
                  <a:pt x="145" y="118"/>
                  <a:pt x="145" y="119"/>
                  <a:pt x="145" y="120"/>
                </a:cubicBezTo>
                <a:cubicBezTo>
                  <a:pt x="145" y="121"/>
                  <a:pt x="146" y="123"/>
                  <a:pt x="145" y="124"/>
                </a:cubicBezTo>
                <a:cubicBezTo>
                  <a:pt x="143" y="123"/>
                  <a:pt x="140" y="123"/>
                  <a:pt x="139" y="122"/>
                </a:cubicBezTo>
                <a:cubicBezTo>
                  <a:pt x="139" y="120"/>
                  <a:pt x="140" y="119"/>
                  <a:pt x="140" y="118"/>
                </a:cubicBezTo>
                <a:cubicBezTo>
                  <a:pt x="139" y="117"/>
                  <a:pt x="138" y="115"/>
                  <a:pt x="137" y="115"/>
                </a:cubicBezTo>
                <a:cubicBezTo>
                  <a:pt x="136" y="114"/>
                  <a:pt x="135" y="115"/>
                  <a:pt x="134" y="115"/>
                </a:cubicBezTo>
                <a:cubicBezTo>
                  <a:pt x="133" y="115"/>
                  <a:pt x="132" y="114"/>
                  <a:pt x="131" y="114"/>
                </a:cubicBezTo>
                <a:cubicBezTo>
                  <a:pt x="129" y="113"/>
                  <a:pt x="127" y="114"/>
                  <a:pt x="125" y="114"/>
                </a:cubicBezTo>
                <a:cubicBezTo>
                  <a:pt x="123" y="115"/>
                  <a:pt x="122" y="117"/>
                  <a:pt x="119" y="117"/>
                </a:cubicBezTo>
                <a:cubicBezTo>
                  <a:pt x="118" y="117"/>
                  <a:pt x="117" y="116"/>
                  <a:pt x="116" y="116"/>
                </a:cubicBezTo>
                <a:cubicBezTo>
                  <a:pt x="115" y="115"/>
                  <a:pt x="113" y="115"/>
                  <a:pt x="112" y="115"/>
                </a:cubicBezTo>
                <a:cubicBezTo>
                  <a:pt x="109" y="115"/>
                  <a:pt x="107" y="117"/>
                  <a:pt x="105" y="118"/>
                </a:cubicBezTo>
                <a:cubicBezTo>
                  <a:pt x="103" y="119"/>
                  <a:pt x="101" y="121"/>
                  <a:pt x="100" y="123"/>
                </a:cubicBezTo>
                <a:cubicBezTo>
                  <a:pt x="100" y="124"/>
                  <a:pt x="100" y="125"/>
                  <a:pt x="100" y="126"/>
                </a:cubicBezTo>
                <a:cubicBezTo>
                  <a:pt x="99" y="127"/>
                  <a:pt x="99" y="128"/>
                  <a:pt x="98" y="128"/>
                </a:cubicBezTo>
                <a:cubicBezTo>
                  <a:pt x="97" y="131"/>
                  <a:pt x="95" y="135"/>
                  <a:pt x="97" y="140"/>
                </a:cubicBezTo>
                <a:cubicBezTo>
                  <a:pt x="97" y="140"/>
                  <a:pt x="99" y="144"/>
                  <a:pt x="99" y="145"/>
                </a:cubicBezTo>
                <a:cubicBezTo>
                  <a:pt x="100" y="146"/>
                  <a:pt x="102" y="147"/>
                  <a:pt x="104" y="147"/>
                </a:cubicBezTo>
                <a:cubicBezTo>
                  <a:pt x="105" y="147"/>
                  <a:pt x="106" y="146"/>
                  <a:pt x="107" y="146"/>
                </a:cubicBezTo>
                <a:cubicBezTo>
                  <a:pt x="108" y="146"/>
                  <a:pt x="110" y="146"/>
                  <a:pt x="111" y="146"/>
                </a:cubicBezTo>
                <a:cubicBezTo>
                  <a:pt x="114" y="145"/>
                  <a:pt x="113" y="140"/>
                  <a:pt x="117" y="139"/>
                </a:cubicBezTo>
                <a:cubicBezTo>
                  <a:pt x="118" y="138"/>
                  <a:pt x="120" y="138"/>
                  <a:pt x="122" y="138"/>
                </a:cubicBezTo>
                <a:cubicBezTo>
                  <a:pt x="123" y="138"/>
                  <a:pt x="123" y="140"/>
                  <a:pt x="123" y="141"/>
                </a:cubicBezTo>
                <a:cubicBezTo>
                  <a:pt x="123" y="141"/>
                  <a:pt x="122" y="142"/>
                  <a:pt x="122" y="143"/>
                </a:cubicBezTo>
                <a:cubicBezTo>
                  <a:pt x="122" y="144"/>
                  <a:pt x="122" y="145"/>
                  <a:pt x="121" y="146"/>
                </a:cubicBezTo>
                <a:cubicBezTo>
                  <a:pt x="121" y="147"/>
                  <a:pt x="120" y="148"/>
                  <a:pt x="119" y="149"/>
                </a:cubicBezTo>
                <a:cubicBezTo>
                  <a:pt x="119" y="149"/>
                  <a:pt x="119" y="150"/>
                  <a:pt x="119" y="151"/>
                </a:cubicBezTo>
                <a:cubicBezTo>
                  <a:pt x="119" y="152"/>
                  <a:pt x="118" y="152"/>
                  <a:pt x="118" y="153"/>
                </a:cubicBezTo>
                <a:cubicBezTo>
                  <a:pt x="121" y="155"/>
                  <a:pt x="125" y="153"/>
                  <a:pt x="128" y="153"/>
                </a:cubicBezTo>
                <a:cubicBezTo>
                  <a:pt x="129" y="154"/>
                  <a:pt x="132" y="155"/>
                  <a:pt x="132" y="157"/>
                </a:cubicBezTo>
                <a:cubicBezTo>
                  <a:pt x="132" y="158"/>
                  <a:pt x="131" y="159"/>
                  <a:pt x="130" y="161"/>
                </a:cubicBezTo>
                <a:cubicBezTo>
                  <a:pt x="130" y="162"/>
                  <a:pt x="129" y="165"/>
                  <a:pt x="129" y="166"/>
                </a:cubicBezTo>
                <a:cubicBezTo>
                  <a:pt x="129" y="169"/>
                  <a:pt x="133" y="173"/>
                  <a:pt x="136" y="173"/>
                </a:cubicBezTo>
                <a:cubicBezTo>
                  <a:pt x="138" y="173"/>
                  <a:pt x="140" y="170"/>
                  <a:pt x="144" y="172"/>
                </a:cubicBezTo>
                <a:cubicBezTo>
                  <a:pt x="145" y="172"/>
                  <a:pt x="146" y="174"/>
                  <a:pt x="147" y="174"/>
                </a:cubicBezTo>
                <a:cubicBezTo>
                  <a:pt x="148" y="174"/>
                  <a:pt x="150" y="172"/>
                  <a:pt x="150" y="171"/>
                </a:cubicBezTo>
                <a:cubicBezTo>
                  <a:pt x="151" y="169"/>
                  <a:pt x="151" y="168"/>
                  <a:pt x="153" y="167"/>
                </a:cubicBezTo>
                <a:cubicBezTo>
                  <a:pt x="154" y="166"/>
                  <a:pt x="156" y="167"/>
                  <a:pt x="158" y="166"/>
                </a:cubicBezTo>
                <a:cubicBezTo>
                  <a:pt x="159" y="166"/>
                  <a:pt x="159" y="165"/>
                  <a:pt x="160" y="164"/>
                </a:cubicBezTo>
                <a:cubicBezTo>
                  <a:pt x="161" y="164"/>
                  <a:pt x="162" y="163"/>
                  <a:pt x="163" y="164"/>
                </a:cubicBezTo>
                <a:cubicBezTo>
                  <a:pt x="164" y="165"/>
                  <a:pt x="161" y="165"/>
                  <a:pt x="162" y="167"/>
                </a:cubicBezTo>
                <a:cubicBezTo>
                  <a:pt x="164" y="168"/>
                  <a:pt x="165" y="165"/>
                  <a:pt x="167" y="165"/>
                </a:cubicBezTo>
                <a:cubicBezTo>
                  <a:pt x="167" y="165"/>
                  <a:pt x="169" y="166"/>
                  <a:pt x="170" y="166"/>
                </a:cubicBezTo>
                <a:cubicBezTo>
                  <a:pt x="171" y="167"/>
                  <a:pt x="171" y="168"/>
                  <a:pt x="173" y="168"/>
                </a:cubicBezTo>
                <a:cubicBezTo>
                  <a:pt x="173" y="168"/>
                  <a:pt x="175" y="168"/>
                  <a:pt x="176" y="168"/>
                </a:cubicBezTo>
                <a:cubicBezTo>
                  <a:pt x="177" y="168"/>
                  <a:pt x="178" y="170"/>
                  <a:pt x="179" y="170"/>
                </a:cubicBezTo>
                <a:cubicBezTo>
                  <a:pt x="181" y="169"/>
                  <a:pt x="182" y="168"/>
                  <a:pt x="183" y="168"/>
                </a:cubicBezTo>
                <a:cubicBezTo>
                  <a:pt x="185" y="167"/>
                  <a:pt x="186" y="168"/>
                  <a:pt x="188" y="170"/>
                </a:cubicBezTo>
                <a:cubicBezTo>
                  <a:pt x="189" y="170"/>
                  <a:pt x="189" y="168"/>
                  <a:pt x="190" y="169"/>
                </a:cubicBezTo>
                <a:cubicBezTo>
                  <a:pt x="189" y="170"/>
                  <a:pt x="190" y="171"/>
                  <a:pt x="191" y="172"/>
                </a:cubicBezTo>
                <a:cubicBezTo>
                  <a:pt x="191" y="172"/>
                  <a:pt x="191" y="173"/>
                  <a:pt x="191" y="173"/>
                </a:cubicBezTo>
                <a:cubicBezTo>
                  <a:pt x="192" y="174"/>
                  <a:pt x="194" y="174"/>
                  <a:pt x="195" y="175"/>
                </a:cubicBezTo>
                <a:cubicBezTo>
                  <a:pt x="196" y="175"/>
                  <a:pt x="196" y="177"/>
                  <a:pt x="198" y="178"/>
                </a:cubicBezTo>
                <a:cubicBezTo>
                  <a:pt x="199" y="179"/>
                  <a:pt x="201" y="181"/>
                  <a:pt x="203" y="181"/>
                </a:cubicBezTo>
                <a:cubicBezTo>
                  <a:pt x="204" y="181"/>
                  <a:pt x="206" y="181"/>
                  <a:pt x="207" y="181"/>
                </a:cubicBezTo>
                <a:cubicBezTo>
                  <a:pt x="210" y="181"/>
                  <a:pt x="212" y="183"/>
                  <a:pt x="214" y="184"/>
                </a:cubicBezTo>
                <a:cubicBezTo>
                  <a:pt x="215" y="185"/>
                  <a:pt x="217" y="186"/>
                  <a:pt x="217" y="187"/>
                </a:cubicBezTo>
                <a:cubicBezTo>
                  <a:pt x="217" y="188"/>
                  <a:pt x="217" y="189"/>
                  <a:pt x="217" y="190"/>
                </a:cubicBezTo>
                <a:cubicBezTo>
                  <a:pt x="218" y="192"/>
                  <a:pt x="221" y="193"/>
                  <a:pt x="220" y="196"/>
                </a:cubicBezTo>
                <a:cubicBezTo>
                  <a:pt x="220" y="197"/>
                  <a:pt x="221" y="197"/>
                  <a:pt x="222" y="198"/>
                </a:cubicBezTo>
                <a:cubicBezTo>
                  <a:pt x="223" y="198"/>
                  <a:pt x="224" y="199"/>
                  <a:pt x="225" y="199"/>
                </a:cubicBezTo>
                <a:cubicBezTo>
                  <a:pt x="225" y="200"/>
                  <a:pt x="226" y="199"/>
                  <a:pt x="227" y="199"/>
                </a:cubicBezTo>
                <a:cubicBezTo>
                  <a:pt x="228" y="199"/>
                  <a:pt x="229" y="200"/>
                  <a:pt x="231" y="201"/>
                </a:cubicBezTo>
                <a:cubicBezTo>
                  <a:pt x="232" y="201"/>
                  <a:pt x="233" y="201"/>
                  <a:pt x="234" y="202"/>
                </a:cubicBezTo>
                <a:cubicBezTo>
                  <a:pt x="234" y="202"/>
                  <a:pt x="235" y="204"/>
                  <a:pt x="235" y="204"/>
                </a:cubicBezTo>
                <a:cubicBezTo>
                  <a:pt x="236" y="205"/>
                  <a:pt x="237" y="204"/>
                  <a:pt x="238" y="204"/>
                </a:cubicBezTo>
                <a:cubicBezTo>
                  <a:pt x="240" y="204"/>
                  <a:pt x="242" y="205"/>
                  <a:pt x="244" y="205"/>
                </a:cubicBezTo>
                <a:cubicBezTo>
                  <a:pt x="245" y="205"/>
                  <a:pt x="245" y="205"/>
                  <a:pt x="246" y="205"/>
                </a:cubicBezTo>
                <a:cubicBezTo>
                  <a:pt x="248" y="205"/>
                  <a:pt x="249" y="206"/>
                  <a:pt x="251" y="208"/>
                </a:cubicBezTo>
                <a:cubicBezTo>
                  <a:pt x="233" y="237"/>
                  <a:pt x="204" y="258"/>
                  <a:pt x="170" y="266"/>
                </a:cubicBezTo>
                <a:cubicBezTo>
                  <a:pt x="170" y="265"/>
                  <a:pt x="169" y="264"/>
                  <a:pt x="169" y="262"/>
                </a:cubicBezTo>
                <a:cubicBezTo>
                  <a:pt x="169" y="260"/>
                  <a:pt x="169" y="258"/>
                  <a:pt x="169" y="255"/>
                </a:cubicBezTo>
                <a:cubicBezTo>
                  <a:pt x="169" y="253"/>
                  <a:pt x="168" y="250"/>
                  <a:pt x="168" y="249"/>
                </a:cubicBezTo>
                <a:cubicBezTo>
                  <a:pt x="167" y="247"/>
                  <a:pt x="164" y="245"/>
                  <a:pt x="162" y="244"/>
                </a:cubicBezTo>
                <a:cubicBezTo>
                  <a:pt x="161" y="244"/>
                  <a:pt x="160" y="243"/>
                  <a:pt x="159" y="243"/>
                </a:cubicBezTo>
                <a:cubicBezTo>
                  <a:pt x="156" y="242"/>
                  <a:pt x="151" y="239"/>
                  <a:pt x="150" y="237"/>
                </a:cubicBezTo>
                <a:cubicBezTo>
                  <a:pt x="150" y="236"/>
                  <a:pt x="150" y="235"/>
                  <a:pt x="150" y="234"/>
                </a:cubicBezTo>
                <a:cubicBezTo>
                  <a:pt x="149" y="233"/>
                  <a:pt x="148" y="231"/>
                  <a:pt x="147" y="230"/>
                </a:cubicBezTo>
                <a:cubicBezTo>
                  <a:pt x="145" y="227"/>
                  <a:pt x="143" y="224"/>
                  <a:pt x="142" y="221"/>
                </a:cubicBezTo>
                <a:cubicBezTo>
                  <a:pt x="141" y="219"/>
                  <a:pt x="140" y="218"/>
                  <a:pt x="139" y="216"/>
                </a:cubicBezTo>
                <a:cubicBezTo>
                  <a:pt x="138" y="216"/>
                  <a:pt x="136" y="215"/>
                  <a:pt x="136" y="214"/>
                </a:cubicBezTo>
                <a:cubicBezTo>
                  <a:pt x="136" y="213"/>
                  <a:pt x="135" y="211"/>
                  <a:pt x="135" y="210"/>
                </a:cubicBezTo>
                <a:cubicBezTo>
                  <a:pt x="135" y="208"/>
                  <a:pt x="138" y="207"/>
                  <a:pt x="138" y="206"/>
                </a:cubicBezTo>
                <a:cubicBezTo>
                  <a:pt x="138" y="205"/>
                  <a:pt x="136" y="204"/>
                  <a:pt x="136" y="203"/>
                </a:cubicBezTo>
                <a:cubicBezTo>
                  <a:pt x="135" y="201"/>
                  <a:pt x="136" y="200"/>
                  <a:pt x="137" y="198"/>
                </a:cubicBezTo>
                <a:cubicBezTo>
                  <a:pt x="138" y="197"/>
                  <a:pt x="138" y="196"/>
                  <a:pt x="138" y="196"/>
                </a:cubicBezTo>
                <a:cubicBezTo>
                  <a:pt x="139" y="195"/>
                  <a:pt x="140" y="195"/>
                  <a:pt x="141" y="194"/>
                </a:cubicBezTo>
                <a:cubicBezTo>
                  <a:pt x="141" y="193"/>
                  <a:pt x="141" y="192"/>
                  <a:pt x="142" y="191"/>
                </a:cubicBezTo>
                <a:cubicBezTo>
                  <a:pt x="143" y="190"/>
                  <a:pt x="145" y="189"/>
                  <a:pt x="145" y="188"/>
                </a:cubicBezTo>
                <a:cubicBezTo>
                  <a:pt x="146" y="187"/>
                  <a:pt x="146" y="181"/>
                  <a:pt x="145" y="180"/>
                </a:cubicBezTo>
                <a:cubicBezTo>
                  <a:pt x="145" y="178"/>
                  <a:pt x="144" y="178"/>
                  <a:pt x="144" y="177"/>
                </a:cubicBezTo>
                <a:cubicBezTo>
                  <a:pt x="143" y="175"/>
                  <a:pt x="143" y="173"/>
                  <a:pt x="141" y="173"/>
                </a:cubicBezTo>
                <a:cubicBezTo>
                  <a:pt x="140" y="173"/>
                  <a:pt x="139" y="174"/>
                  <a:pt x="138" y="175"/>
                </a:cubicBezTo>
                <a:cubicBezTo>
                  <a:pt x="138" y="176"/>
                  <a:pt x="138" y="177"/>
                  <a:pt x="137" y="177"/>
                </a:cubicBezTo>
                <a:cubicBezTo>
                  <a:pt x="135" y="178"/>
                  <a:pt x="135" y="176"/>
                  <a:pt x="133" y="175"/>
                </a:cubicBezTo>
                <a:cubicBezTo>
                  <a:pt x="132" y="175"/>
                  <a:pt x="131" y="175"/>
                  <a:pt x="130" y="175"/>
                </a:cubicBezTo>
                <a:cubicBezTo>
                  <a:pt x="129" y="174"/>
                  <a:pt x="128" y="172"/>
                  <a:pt x="127" y="171"/>
                </a:cubicBezTo>
                <a:cubicBezTo>
                  <a:pt x="126" y="170"/>
                  <a:pt x="124" y="171"/>
                  <a:pt x="124" y="170"/>
                </a:cubicBezTo>
                <a:cubicBezTo>
                  <a:pt x="123" y="169"/>
                  <a:pt x="124" y="168"/>
                  <a:pt x="124" y="167"/>
                </a:cubicBezTo>
                <a:cubicBezTo>
                  <a:pt x="122" y="166"/>
                  <a:pt x="120" y="162"/>
                  <a:pt x="119" y="161"/>
                </a:cubicBezTo>
                <a:cubicBezTo>
                  <a:pt x="117" y="161"/>
                  <a:pt x="115" y="161"/>
                  <a:pt x="114" y="160"/>
                </a:cubicBezTo>
                <a:cubicBezTo>
                  <a:pt x="113" y="160"/>
                  <a:pt x="112" y="160"/>
                  <a:pt x="112" y="159"/>
                </a:cubicBezTo>
                <a:cubicBezTo>
                  <a:pt x="111" y="159"/>
                  <a:pt x="110" y="159"/>
                  <a:pt x="109" y="159"/>
                </a:cubicBezTo>
                <a:cubicBezTo>
                  <a:pt x="106" y="157"/>
                  <a:pt x="104" y="153"/>
                  <a:pt x="101" y="153"/>
                </a:cubicBezTo>
                <a:cubicBezTo>
                  <a:pt x="99" y="153"/>
                  <a:pt x="98" y="154"/>
                  <a:pt x="96" y="154"/>
                </a:cubicBezTo>
                <a:cubicBezTo>
                  <a:pt x="95" y="154"/>
                  <a:pt x="93" y="153"/>
                  <a:pt x="91" y="152"/>
                </a:cubicBezTo>
                <a:cubicBezTo>
                  <a:pt x="89" y="151"/>
                  <a:pt x="87" y="151"/>
                  <a:pt x="85" y="150"/>
                </a:cubicBezTo>
                <a:cubicBezTo>
                  <a:pt x="84" y="150"/>
                  <a:pt x="83" y="148"/>
                  <a:pt x="82" y="148"/>
                </a:cubicBezTo>
                <a:cubicBezTo>
                  <a:pt x="82" y="148"/>
                  <a:pt x="80" y="147"/>
                  <a:pt x="80" y="147"/>
                </a:cubicBezTo>
                <a:cubicBezTo>
                  <a:pt x="79" y="147"/>
                  <a:pt x="78" y="146"/>
                  <a:pt x="77" y="145"/>
                </a:cubicBezTo>
                <a:cubicBezTo>
                  <a:pt x="75" y="144"/>
                  <a:pt x="74" y="143"/>
                  <a:pt x="74" y="142"/>
                </a:cubicBezTo>
                <a:cubicBezTo>
                  <a:pt x="74" y="141"/>
                  <a:pt x="75" y="140"/>
                  <a:pt x="75" y="139"/>
                </a:cubicBezTo>
                <a:cubicBezTo>
                  <a:pt x="76" y="135"/>
                  <a:pt x="73" y="133"/>
                  <a:pt x="71" y="130"/>
                </a:cubicBezTo>
                <a:cubicBezTo>
                  <a:pt x="70" y="129"/>
                  <a:pt x="69" y="128"/>
                  <a:pt x="68" y="126"/>
                </a:cubicBezTo>
                <a:cubicBezTo>
                  <a:pt x="68" y="125"/>
                  <a:pt x="68" y="125"/>
                  <a:pt x="68" y="124"/>
                </a:cubicBezTo>
                <a:cubicBezTo>
                  <a:pt x="67" y="123"/>
                  <a:pt x="66" y="122"/>
                  <a:pt x="65" y="121"/>
                </a:cubicBezTo>
                <a:cubicBezTo>
                  <a:pt x="64" y="119"/>
                  <a:pt x="62" y="118"/>
                  <a:pt x="62" y="117"/>
                </a:cubicBezTo>
                <a:cubicBezTo>
                  <a:pt x="62" y="115"/>
                  <a:pt x="63" y="113"/>
                  <a:pt x="62" y="112"/>
                </a:cubicBezTo>
                <a:cubicBezTo>
                  <a:pt x="61" y="109"/>
                  <a:pt x="57" y="110"/>
                  <a:pt x="58" y="114"/>
                </a:cubicBezTo>
                <a:cubicBezTo>
                  <a:pt x="58" y="115"/>
                  <a:pt x="59" y="116"/>
                  <a:pt x="60" y="117"/>
                </a:cubicBezTo>
                <a:cubicBezTo>
                  <a:pt x="60" y="118"/>
                  <a:pt x="60" y="119"/>
                  <a:pt x="60" y="121"/>
                </a:cubicBezTo>
                <a:cubicBezTo>
                  <a:pt x="61" y="122"/>
                  <a:pt x="62" y="123"/>
                  <a:pt x="62" y="124"/>
                </a:cubicBezTo>
                <a:cubicBezTo>
                  <a:pt x="63" y="126"/>
                  <a:pt x="63" y="128"/>
                  <a:pt x="64" y="130"/>
                </a:cubicBezTo>
                <a:cubicBezTo>
                  <a:pt x="64" y="131"/>
                  <a:pt x="66" y="132"/>
                  <a:pt x="65" y="133"/>
                </a:cubicBezTo>
                <a:cubicBezTo>
                  <a:pt x="63" y="133"/>
                  <a:pt x="63" y="132"/>
                  <a:pt x="62" y="131"/>
                </a:cubicBezTo>
                <a:cubicBezTo>
                  <a:pt x="62" y="131"/>
                  <a:pt x="60" y="130"/>
                  <a:pt x="60" y="129"/>
                </a:cubicBezTo>
                <a:cubicBezTo>
                  <a:pt x="59" y="128"/>
                  <a:pt x="60" y="127"/>
                  <a:pt x="60" y="126"/>
                </a:cubicBezTo>
                <a:cubicBezTo>
                  <a:pt x="59" y="124"/>
                  <a:pt x="55" y="124"/>
                  <a:pt x="55" y="121"/>
                </a:cubicBezTo>
                <a:cubicBezTo>
                  <a:pt x="55" y="120"/>
                  <a:pt x="57" y="120"/>
                  <a:pt x="57" y="119"/>
                </a:cubicBezTo>
                <a:cubicBezTo>
                  <a:pt x="57" y="117"/>
                  <a:pt x="55" y="116"/>
                  <a:pt x="54" y="115"/>
                </a:cubicBezTo>
                <a:cubicBezTo>
                  <a:pt x="54" y="114"/>
                  <a:pt x="54" y="112"/>
                  <a:pt x="54" y="110"/>
                </a:cubicBezTo>
                <a:cubicBezTo>
                  <a:pt x="54" y="109"/>
                  <a:pt x="54" y="107"/>
                  <a:pt x="54" y="106"/>
                </a:cubicBezTo>
                <a:cubicBezTo>
                  <a:pt x="53" y="105"/>
                  <a:pt x="52" y="103"/>
                  <a:pt x="51" y="103"/>
                </a:cubicBezTo>
                <a:cubicBezTo>
                  <a:pt x="49" y="102"/>
                  <a:pt x="48" y="103"/>
                  <a:pt x="48" y="101"/>
                </a:cubicBezTo>
                <a:cubicBezTo>
                  <a:pt x="47" y="101"/>
                  <a:pt x="47" y="99"/>
                  <a:pt x="47" y="98"/>
                </a:cubicBezTo>
                <a:cubicBezTo>
                  <a:pt x="46" y="96"/>
                  <a:pt x="47" y="94"/>
                  <a:pt x="47" y="92"/>
                </a:cubicBezTo>
                <a:cubicBezTo>
                  <a:pt x="46" y="90"/>
                  <a:pt x="46" y="88"/>
                  <a:pt x="47" y="86"/>
                </a:cubicBezTo>
                <a:cubicBezTo>
                  <a:pt x="47" y="85"/>
                  <a:pt x="49" y="84"/>
                  <a:pt x="49" y="83"/>
                </a:cubicBezTo>
                <a:cubicBezTo>
                  <a:pt x="50" y="82"/>
                  <a:pt x="50" y="80"/>
                  <a:pt x="51" y="79"/>
                </a:cubicBezTo>
                <a:cubicBezTo>
                  <a:pt x="52" y="77"/>
                  <a:pt x="54" y="76"/>
                  <a:pt x="56" y="74"/>
                </a:cubicBezTo>
                <a:cubicBezTo>
                  <a:pt x="57" y="72"/>
                  <a:pt x="59" y="70"/>
                  <a:pt x="60" y="67"/>
                </a:cubicBezTo>
                <a:cubicBezTo>
                  <a:pt x="60" y="66"/>
                  <a:pt x="61" y="64"/>
                  <a:pt x="61" y="63"/>
                </a:cubicBezTo>
                <a:cubicBezTo>
                  <a:pt x="61" y="62"/>
                  <a:pt x="58" y="61"/>
                  <a:pt x="58" y="59"/>
                </a:cubicBezTo>
                <a:cubicBezTo>
                  <a:pt x="59" y="58"/>
                  <a:pt x="60" y="58"/>
                  <a:pt x="61" y="57"/>
                </a:cubicBezTo>
                <a:cubicBezTo>
                  <a:pt x="61" y="57"/>
                  <a:pt x="61" y="55"/>
                  <a:pt x="61" y="54"/>
                </a:cubicBezTo>
                <a:cubicBezTo>
                  <a:pt x="61" y="53"/>
                  <a:pt x="60" y="51"/>
                  <a:pt x="61" y="50"/>
                </a:cubicBezTo>
                <a:cubicBezTo>
                  <a:pt x="61" y="49"/>
                  <a:pt x="63" y="48"/>
                  <a:pt x="62" y="47"/>
                </a:cubicBezTo>
                <a:cubicBezTo>
                  <a:pt x="61" y="45"/>
                  <a:pt x="59" y="47"/>
                  <a:pt x="58" y="46"/>
                </a:cubicBezTo>
                <a:cubicBezTo>
                  <a:pt x="57" y="46"/>
                  <a:pt x="58" y="45"/>
                  <a:pt x="58" y="43"/>
                </a:cubicBezTo>
                <a:cubicBezTo>
                  <a:pt x="58" y="42"/>
                  <a:pt x="58" y="42"/>
                  <a:pt x="58" y="41"/>
                </a:cubicBezTo>
                <a:cubicBezTo>
                  <a:pt x="58" y="41"/>
                  <a:pt x="59" y="39"/>
                  <a:pt x="59" y="39"/>
                </a:cubicBezTo>
                <a:cubicBezTo>
                  <a:pt x="58" y="38"/>
                  <a:pt x="58" y="37"/>
                  <a:pt x="57" y="36"/>
                </a:cubicBezTo>
                <a:cubicBezTo>
                  <a:pt x="74" y="23"/>
                  <a:pt x="94" y="13"/>
                  <a:pt x="115" y="9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4448" y="6560382"/>
            <a:ext cx="1943103" cy="146231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9"/>
          <p:cNvSpPr txBox="1"/>
          <p:nvPr/>
        </p:nvSpPr>
        <p:spPr>
          <a:xfrm>
            <a:off x="1712822" y="4332375"/>
            <a:ext cx="5663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Advantages of Bitmap Index</a:t>
            </a: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29"/>
          <p:cNvCxnSpPr/>
          <p:nvPr/>
        </p:nvCxnSpPr>
        <p:spPr>
          <a:xfrm flipH="1" rot="10800000">
            <a:off x="3340500" y="1315100"/>
            <a:ext cx="5511000" cy="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>
                <a:highlight>
                  <a:srgbClr val="F5F5F5"/>
                </a:highlight>
                <a:latin typeface="Angsana New"/>
                <a:ea typeface="Angsana New"/>
                <a:cs typeface="Angsana New"/>
                <a:sym typeface="Angsana New"/>
              </a:rPr>
              <a:t>Discussion &amp; Reflection</a:t>
            </a:r>
            <a:r>
              <a:rPr lang="en-US">
                <a:highlight>
                  <a:srgbClr val="F5F5F5"/>
                </a:highlight>
                <a:latin typeface="Angsana New"/>
                <a:ea typeface="Angsana New"/>
                <a:cs typeface="Angsana New"/>
                <a:sym typeface="Angsana New"/>
              </a:rPr>
              <a:t>​</a:t>
            </a:r>
            <a:endParaRPr/>
          </a:p>
        </p:txBody>
      </p:sp>
      <p:sp>
        <p:nvSpPr>
          <p:cNvPr id="361" name="Google Shape;361;p30"/>
          <p:cNvSpPr txBox="1"/>
          <p:nvPr/>
        </p:nvSpPr>
        <p:spPr>
          <a:xfrm>
            <a:off x="1712853" y="2506550"/>
            <a:ext cx="96012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Not ideal for columns that are frequently updated/deleted.​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Inefficient for high-cardinality data (many unique values).​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Slower performance in OLTP systems with many writes.​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p30"/>
          <p:cNvSpPr txBox="1"/>
          <p:nvPr/>
        </p:nvSpPr>
        <p:spPr>
          <a:xfrm>
            <a:off x="1712850" y="4332371"/>
            <a:ext cx="6601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Reflection regarding Bitmap Index​</a:t>
            </a:r>
            <a:endParaRPr b="1"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0"/>
          <p:cNvSpPr txBox="1"/>
          <p:nvPr/>
        </p:nvSpPr>
        <p:spPr>
          <a:xfrm>
            <a:off x="1712849" y="4809375"/>
            <a:ext cx="99897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5625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Bitmap indexes are best suited for </a:t>
            </a:r>
            <a:r>
              <a:rPr b="1"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warehouses (OLAP)</a:t>
            </a: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read-heavy environments</a:t>
            </a: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low-cardinality columns.​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 </a:t>
            </a:r>
            <a:r>
              <a:rPr b="1"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recommended</a:t>
            </a: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transaction-heavy databases (OLTP).​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64" name="Google Shape;364;p30"/>
          <p:cNvGrpSpPr/>
          <p:nvPr/>
        </p:nvGrpSpPr>
        <p:grpSpPr>
          <a:xfrm>
            <a:off x="1114251" y="4439208"/>
            <a:ext cx="439450" cy="309538"/>
            <a:chOff x="-1199300" y="3279250"/>
            <a:chExt cx="293025" cy="206400"/>
          </a:xfrm>
        </p:grpSpPr>
        <p:sp>
          <p:nvSpPr>
            <p:cNvPr id="365" name="Google Shape;365;p30"/>
            <p:cNvSpPr/>
            <p:nvPr/>
          </p:nvSpPr>
          <p:spPr>
            <a:xfrm>
              <a:off x="-1183550" y="3395050"/>
              <a:ext cx="261525" cy="90600"/>
            </a:xfrm>
            <a:custGeom>
              <a:rect b="b" l="l" r="r" t="t"/>
              <a:pathLst>
                <a:path extrusionOk="0" h="3624" w="10461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-1184325" y="3279250"/>
              <a:ext cx="261500" cy="129400"/>
            </a:xfrm>
            <a:custGeom>
              <a:rect b="b" l="l" r="r" t="t"/>
              <a:pathLst>
                <a:path extrusionOk="0" h="5176" w="1046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-1199300" y="3294225"/>
              <a:ext cx="90600" cy="175650"/>
            </a:xfrm>
            <a:custGeom>
              <a:rect b="b" l="l" r="r" t="t"/>
              <a:pathLst>
                <a:path extrusionOk="0" h="7026" w="3624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30"/>
            <p:cNvSpPr/>
            <p:nvPr/>
          </p:nvSpPr>
          <p:spPr>
            <a:xfrm>
              <a:off x="-996875" y="3294225"/>
              <a:ext cx="90600" cy="177225"/>
            </a:xfrm>
            <a:custGeom>
              <a:rect b="b" l="l" r="r" t="t"/>
              <a:pathLst>
                <a:path extrusionOk="0" h="7089" w="3624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9" name="Google Shape;369;p30"/>
          <p:cNvSpPr/>
          <p:nvPr/>
        </p:nvSpPr>
        <p:spPr>
          <a:xfrm>
            <a:off x="999617" y="2060272"/>
            <a:ext cx="417036" cy="415536"/>
          </a:xfrm>
          <a:custGeom>
            <a:rect b="b" l="l" r="r" t="t"/>
            <a:pathLst>
              <a:path extrusionOk="0" h="277" w="278">
                <a:moveTo>
                  <a:pt x="3" y="111"/>
                </a:moveTo>
                <a:cubicBezTo>
                  <a:pt x="2" y="113"/>
                  <a:pt x="2" y="115"/>
                  <a:pt x="2" y="117"/>
                </a:cubicBezTo>
                <a:cubicBezTo>
                  <a:pt x="1" y="120"/>
                  <a:pt x="1" y="122"/>
                  <a:pt x="1" y="124"/>
                </a:cubicBezTo>
                <a:cubicBezTo>
                  <a:pt x="0" y="129"/>
                  <a:pt x="0" y="134"/>
                  <a:pt x="0" y="139"/>
                </a:cubicBezTo>
                <a:cubicBezTo>
                  <a:pt x="0" y="143"/>
                  <a:pt x="0" y="148"/>
                  <a:pt x="1" y="153"/>
                </a:cubicBezTo>
                <a:cubicBezTo>
                  <a:pt x="1" y="155"/>
                  <a:pt x="1" y="157"/>
                  <a:pt x="2" y="160"/>
                </a:cubicBezTo>
                <a:cubicBezTo>
                  <a:pt x="2" y="162"/>
                  <a:pt x="2" y="164"/>
                  <a:pt x="3" y="167"/>
                </a:cubicBezTo>
                <a:cubicBezTo>
                  <a:pt x="3" y="169"/>
                  <a:pt x="4" y="171"/>
                  <a:pt x="4" y="173"/>
                </a:cubicBezTo>
                <a:cubicBezTo>
                  <a:pt x="5" y="178"/>
                  <a:pt x="7" y="182"/>
                  <a:pt x="8" y="186"/>
                </a:cubicBezTo>
                <a:cubicBezTo>
                  <a:pt x="9" y="188"/>
                  <a:pt x="10" y="191"/>
                  <a:pt x="11" y="193"/>
                </a:cubicBezTo>
                <a:cubicBezTo>
                  <a:pt x="12" y="195"/>
                  <a:pt x="13" y="197"/>
                  <a:pt x="14" y="199"/>
                </a:cubicBezTo>
                <a:cubicBezTo>
                  <a:pt x="14" y="200"/>
                  <a:pt x="15" y="201"/>
                  <a:pt x="15" y="202"/>
                </a:cubicBezTo>
                <a:cubicBezTo>
                  <a:pt x="16" y="204"/>
                  <a:pt x="17" y="206"/>
                  <a:pt x="18" y="208"/>
                </a:cubicBezTo>
                <a:cubicBezTo>
                  <a:pt x="22" y="214"/>
                  <a:pt x="25" y="219"/>
                  <a:pt x="30" y="224"/>
                </a:cubicBezTo>
                <a:cubicBezTo>
                  <a:pt x="32" y="227"/>
                  <a:pt x="34" y="230"/>
                  <a:pt x="36" y="232"/>
                </a:cubicBezTo>
                <a:cubicBezTo>
                  <a:pt x="38" y="234"/>
                  <a:pt x="39" y="235"/>
                  <a:pt x="41" y="237"/>
                </a:cubicBezTo>
                <a:cubicBezTo>
                  <a:pt x="42" y="238"/>
                  <a:pt x="44" y="240"/>
                  <a:pt x="45" y="241"/>
                </a:cubicBezTo>
                <a:cubicBezTo>
                  <a:pt x="53" y="248"/>
                  <a:pt x="61" y="254"/>
                  <a:pt x="70" y="259"/>
                </a:cubicBezTo>
                <a:cubicBezTo>
                  <a:pt x="72" y="260"/>
                  <a:pt x="74" y="261"/>
                  <a:pt x="76" y="262"/>
                </a:cubicBezTo>
                <a:cubicBezTo>
                  <a:pt x="80" y="264"/>
                  <a:pt x="84" y="266"/>
                  <a:pt x="88" y="268"/>
                </a:cubicBezTo>
                <a:cubicBezTo>
                  <a:pt x="90" y="269"/>
                  <a:pt x="92" y="269"/>
                  <a:pt x="94" y="270"/>
                </a:cubicBezTo>
                <a:cubicBezTo>
                  <a:pt x="108" y="275"/>
                  <a:pt x="123" y="277"/>
                  <a:pt x="139" y="277"/>
                </a:cubicBezTo>
                <a:cubicBezTo>
                  <a:pt x="149" y="277"/>
                  <a:pt x="160" y="276"/>
                  <a:pt x="170" y="274"/>
                </a:cubicBezTo>
                <a:cubicBezTo>
                  <a:pt x="174" y="273"/>
                  <a:pt x="179" y="272"/>
                  <a:pt x="183" y="270"/>
                </a:cubicBezTo>
                <a:cubicBezTo>
                  <a:pt x="186" y="269"/>
                  <a:pt x="188" y="269"/>
                  <a:pt x="190" y="268"/>
                </a:cubicBezTo>
                <a:cubicBezTo>
                  <a:pt x="194" y="266"/>
                  <a:pt x="198" y="264"/>
                  <a:pt x="202" y="262"/>
                </a:cubicBezTo>
                <a:cubicBezTo>
                  <a:pt x="204" y="261"/>
                  <a:pt x="206" y="260"/>
                  <a:pt x="208" y="259"/>
                </a:cubicBezTo>
                <a:cubicBezTo>
                  <a:pt x="217" y="254"/>
                  <a:pt x="225" y="248"/>
                  <a:pt x="232" y="241"/>
                </a:cubicBezTo>
                <a:cubicBezTo>
                  <a:pt x="234" y="240"/>
                  <a:pt x="236" y="238"/>
                  <a:pt x="237" y="237"/>
                </a:cubicBezTo>
                <a:cubicBezTo>
                  <a:pt x="239" y="235"/>
                  <a:pt x="240" y="234"/>
                  <a:pt x="242" y="232"/>
                </a:cubicBezTo>
                <a:cubicBezTo>
                  <a:pt x="244" y="230"/>
                  <a:pt x="246" y="227"/>
                  <a:pt x="248" y="224"/>
                </a:cubicBezTo>
                <a:cubicBezTo>
                  <a:pt x="251" y="220"/>
                  <a:pt x="254" y="216"/>
                  <a:pt x="257" y="211"/>
                </a:cubicBezTo>
                <a:cubicBezTo>
                  <a:pt x="258" y="210"/>
                  <a:pt x="259" y="209"/>
                  <a:pt x="259" y="208"/>
                </a:cubicBezTo>
                <a:cubicBezTo>
                  <a:pt x="260" y="206"/>
                  <a:pt x="262" y="204"/>
                  <a:pt x="263" y="202"/>
                </a:cubicBezTo>
                <a:cubicBezTo>
                  <a:pt x="263" y="201"/>
                  <a:pt x="264" y="200"/>
                  <a:pt x="264" y="199"/>
                </a:cubicBezTo>
                <a:cubicBezTo>
                  <a:pt x="265" y="197"/>
                  <a:pt x="266" y="195"/>
                  <a:pt x="267" y="193"/>
                </a:cubicBezTo>
                <a:cubicBezTo>
                  <a:pt x="268" y="191"/>
                  <a:pt x="269" y="188"/>
                  <a:pt x="269" y="186"/>
                </a:cubicBezTo>
                <a:cubicBezTo>
                  <a:pt x="271" y="182"/>
                  <a:pt x="272" y="178"/>
                  <a:pt x="273" y="173"/>
                </a:cubicBezTo>
                <a:cubicBezTo>
                  <a:pt x="274" y="171"/>
                  <a:pt x="274" y="169"/>
                  <a:pt x="275" y="167"/>
                </a:cubicBezTo>
                <a:cubicBezTo>
                  <a:pt x="275" y="164"/>
                  <a:pt x="276" y="162"/>
                  <a:pt x="276" y="160"/>
                </a:cubicBezTo>
                <a:cubicBezTo>
                  <a:pt x="277" y="157"/>
                  <a:pt x="277" y="155"/>
                  <a:pt x="277" y="153"/>
                </a:cubicBezTo>
                <a:cubicBezTo>
                  <a:pt x="278" y="148"/>
                  <a:pt x="278" y="143"/>
                  <a:pt x="278" y="139"/>
                </a:cubicBezTo>
                <a:cubicBezTo>
                  <a:pt x="278" y="134"/>
                  <a:pt x="278" y="129"/>
                  <a:pt x="277" y="124"/>
                </a:cubicBezTo>
                <a:cubicBezTo>
                  <a:pt x="277" y="122"/>
                  <a:pt x="277" y="120"/>
                  <a:pt x="276" y="117"/>
                </a:cubicBezTo>
                <a:cubicBezTo>
                  <a:pt x="276" y="115"/>
                  <a:pt x="275" y="113"/>
                  <a:pt x="275" y="111"/>
                </a:cubicBezTo>
                <a:cubicBezTo>
                  <a:pt x="274" y="108"/>
                  <a:pt x="274" y="106"/>
                  <a:pt x="273" y="104"/>
                </a:cubicBezTo>
                <a:cubicBezTo>
                  <a:pt x="272" y="99"/>
                  <a:pt x="271" y="95"/>
                  <a:pt x="269" y="91"/>
                </a:cubicBezTo>
                <a:cubicBezTo>
                  <a:pt x="269" y="90"/>
                  <a:pt x="269" y="89"/>
                  <a:pt x="268" y="88"/>
                </a:cubicBezTo>
                <a:cubicBezTo>
                  <a:pt x="267" y="85"/>
                  <a:pt x="266" y="81"/>
                  <a:pt x="264" y="78"/>
                </a:cubicBezTo>
                <a:cubicBezTo>
                  <a:pt x="264" y="77"/>
                  <a:pt x="263" y="76"/>
                  <a:pt x="263" y="75"/>
                </a:cubicBezTo>
                <a:cubicBezTo>
                  <a:pt x="262" y="73"/>
                  <a:pt x="260" y="71"/>
                  <a:pt x="259" y="69"/>
                </a:cubicBezTo>
                <a:cubicBezTo>
                  <a:pt x="256" y="64"/>
                  <a:pt x="252" y="58"/>
                  <a:pt x="248" y="53"/>
                </a:cubicBezTo>
                <a:cubicBezTo>
                  <a:pt x="246" y="50"/>
                  <a:pt x="244" y="48"/>
                  <a:pt x="242" y="45"/>
                </a:cubicBezTo>
                <a:cubicBezTo>
                  <a:pt x="240" y="44"/>
                  <a:pt x="239" y="42"/>
                  <a:pt x="237" y="40"/>
                </a:cubicBezTo>
                <a:cubicBezTo>
                  <a:pt x="236" y="39"/>
                  <a:pt x="234" y="37"/>
                  <a:pt x="232" y="36"/>
                </a:cubicBezTo>
                <a:cubicBezTo>
                  <a:pt x="229" y="33"/>
                  <a:pt x="226" y="30"/>
                  <a:pt x="222" y="28"/>
                </a:cubicBezTo>
                <a:cubicBezTo>
                  <a:pt x="218" y="24"/>
                  <a:pt x="213" y="21"/>
                  <a:pt x="208" y="18"/>
                </a:cubicBezTo>
                <a:cubicBezTo>
                  <a:pt x="206" y="17"/>
                  <a:pt x="204" y="16"/>
                  <a:pt x="202" y="15"/>
                </a:cubicBezTo>
                <a:cubicBezTo>
                  <a:pt x="201" y="14"/>
                  <a:pt x="200" y="14"/>
                  <a:pt x="199" y="14"/>
                </a:cubicBezTo>
                <a:cubicBezTo>
                  <a:pt x="198" y="13"/>
                  <a:pt x="197" y="12"/>
                  <a:pt x="196" y="12"/>
                </a:cubicBezTo>
                <a:cubicBezTo>
                  <a:pt x="196" y="12"/>
                  <a:pt x="195" y="12"/>
                  <a:pt x="195" y="11"/>
                </a:cubicBezTo>
                <a:cubicBezTo>
                  <a:pt x="193" y="11"/>
                  <a:pt x="191" y="10"/>
                  <a:pt x="190" y="9"/>
                </a:cubicBezTo>
                <a:cubicBezTo>
                  <a:pt x="190" y="9"/>
                  <a:pt x="190" y="9"/>
                  <a:pt x="190" y="9"/>
                </a:cubicBezTo>
                <a:cubicBezTo>
                  <a:pt x="188" y="9"/>
                  <a:pt x="186" y="8"/>
                  <a:pt x="184" y="7"/>
                </a:cubicBezTo>
                <a:cubicBezTo>
                  <a:pt x="184" y="7"/>
                  <a:pt x="184" y="7"/>
                  <a:pt x="183" y="7"/>
                </a:cubicBezTo>
                <a:cubicBezTo>
                  <a:pt x="179" y="6"/>
                  <a:pt x="175" y="4"/>
                  <a:pt x="171" y="3"/>
                </a:cubicBezTo>
                <a:cubicBezTo>
                  <a:pt x="169" y="3"/>
                  <a:pt x="168" y="3"/>
                  <a:pt x="167" y="3"/>
                </a:cubicBezTo>
                <a:cubicBezTo>
                  <a:pt x="166" y="2"/>
                  <a:pt x="165" y="2"/>
                  <a:pt x="164" y="2"/>
                </a:cubicBezTo>
                <a:cubicBezTo>
                  <a:pt x="157" y="1"/>
                  <a:pt x="149" y="0"/>
                  <a:pt x="141" y="0"/>
                </a:cubicBezTo>
                <a:cubicBezTo>
                  <a:pt x="141" y="0"/>
                  <a:pt x="140" y="0"/>
                  <a:pt x="139" y="0"/>
                </a:cubicBezTo>
                <a:cubicBezTo>
                  <a:pt x="137" y="0"/>
                  <a:pt x="136" y="0"/>
                  <a:pt x="135" y="0"/>
                </a:cubicBezTo>
                <a:cubicBezTo>
                  <a:pt x="121" y="0"/>
                  <a:pt x="107" y="3"/>
                  <a:pt x="94" y="7"/>
                </a:cubicBezTo>
                <a:cubicBezTo>
                  <a:pt x="92" y="8"/>
                  <a:pt x="90" y="9"/>
                  <a:pt x="88" y="9"/>
                </a:cubicBezTo>
                <a:cubicBezTo>
                  <a:pt x="87" y="10"/>
                  <a:pt x="87" y="10"/>
                  <a:pt x="86" y="10"/>
                </a:cubicBezTo>
                <a:cubicBezTo>
                  <a:pt x="85" y="11"/>
                  <a:pt x="83" y="11"/>
                  <a:pt x="82" y="12"/>
                </a:cubicBezTo>
                <a:cubicBezTo>
                  <a:pt x="80" y="13"/>
                  <a:pt x="78" y="14"/>
                  <a:pt x="76" y="15"/>
                </a:cubicBezTo>
                <a:cubicBezTo>
                  <a:pt x="74" y="16"/>
                  <a:pt x="72" y="17"/>
                  <a:pt x="70" y="18"/>
                </a:cubicBezTo>
                <a:cubicBezTo>
                  <a:pt x="62" y="23"/>
                  <a:pt x="55" y="28"/>
                  <a:pt x="48" y="34"/>
                </a:cubicBezTo>
                <a:cubicBezTo>
                  <a:pt x="47" y="34"/>
                  <a:pt x="46" y="35"/>
                  <a:pt x="45" y="36"/>
                </a:cubicBezTo>
                <a:cubicBezTo>
                  <a:pt x="44" y="37"/>
                  <a:pt x="42" y="39"/>
                  <a:pt x="41" y="40"/>
                </a:cubicBezTo>
                <a:cubicBezTo>
                  <a:pt x="39" y="42"/>
                  <a:pt x="38" y="44"/>
                  <a:pt x="36" y="45"/>
                </a:cubicBezTo>
                <a:cubicBezTo>
                  <a:pt x="34" y="48"/>
                  <a:pt x="32" y="50"/>
                  <a:pt x="30" y="53"/>
                </a:cubicBezTo>
                <a:cubicBezTo>
                  <a:pt x="25" y="58"/>
                  <a:pt x="22" y="64"/>
                  <a:pt x="18" y="69"/>
                </a:cubicBezTo>
                <a:cubicBezTo>
                  <a:pt x="17" y="71"/>
                  <a:pt x="16" y="73"/>
                  <a:pt x="15" y="75"/>
                </a:cubicBezTo>
                <a:cubicBezTo>
                  <a:pt x="15" y="76"/>
                  <a:pt x="14" y="77"/>
                  <a:pt x="14" y="78"/>
                </a:cubicBezTo>
                <a:cubicBezTo>
                  <a:pt x="12" y="81"/>
                  <a:pt x="11" y="85"/>
                  <a:pt x="10" y="88"/>
                </a:cubicBezTo>
                <a:cubicBezTo>
                  <a:pt x="9" y="89"/>
                  <a:pt x="9" y="90"/>
                  <a:pt x="8" y="91"/>
                </a:cubicBezTo>
                <a:cubicBezTo>
                  <a:pt x="7" y="95"/>
                  <a:pt x="5" y="99"/>
                  <a:pt x="4" y="104"/>
                </a:cubicBezTo>
                <a:cubicBezTo>
                  <a:pt x="4" y="106"/>
                  <a:pt x="3" y="108"/>
                  <a:pt x="3" y="111"/>
                </a:cubicBezTo>
                <a:moveTo>
                  <a:pt x="115" y="9"/>
                </a:moveTo>
                <a:cubicBezTo>
                  <a:pt x="116" y="10"/>
                  <a:pt x="116" y="10"/>
                  <a:pt x="116" y="10"/>
                </a:cubicBezTo>
                <a:cubicBezTo>
                  <a:pt x="118" y="10"/>
                  <a:pt x="119" y="10"/>
                  <a:pt x="121" y="10"/>
                </a:cubicBezTo>
                <a:cubicBezTo>
                  <a:pt x="122" y="10"/>
                  <a:pt x="123" y="10"/>
                  <a:pt x="125" y="10"/>
                </a:cubicBezTo>
                <a:cubicBezTo>
                  <a:pt x="127" y="10"/>
                  <a:pt x="131" y="13"/>
                  <a:pt x="133" y="12"/>
                </a:cubicBezTo>
                <a:cubicBezTo>
                  <a:pt x="134" y="11"/>
                  <a:pt x="134" y="11"/>
                  <a:pt x="134" y="10"/>
                </a:cubicBezTo>
                <a:cubicBezTo>
                  <a:pt x="135" y="9"/>
                  <a:pt x="135" y="8"/>
                  <a:pt x="136" y="7"/>
                </a:cubicBezTo>
                <a:cubicBezTo>
                  <a:pt x="137" y="7"/>
                  <a:pt x="138" y="7"/>
                  <a:pt x="139" y="7"/>
                </a:cubicBezTo>
                <a:cubicBezTo>
                  <a:pt x="148" y="7"/>
                  <a:pt x="157" y="8"/>
                  <a:pt x="165" y="10"/>
                </a:cubicBezTo>
                <a:cubicBezTo>
                  <a:pt x="165" y="11"/>
                  <a:pt x="164" y="10"/>
                  <a:pt x="163" y="11"/>
                </a:cubicBezTo>
                <a:cubicBezTo>
                  <a:pt x="162" y="11"/>
                  <a:pt x="161" y="12"/>
                  <a:pt x="160" y="12"/>
                </a:cubicBezTo>
                <a:cubicBezTo>
                  <a:pt x="158" y="13"/>
                  <a:pt x="155" y="12"/>
                  <a:pt x="153" y="12"/>
                </a:cubicBezTo>
                <a:cubicBezTo>
                  <a:pt x="153" y="13"/>
                  <a:pt x="154" y="13"/>
                  <a:pt x="155" y="14"/>
                </a:cubicBezTo>
                <a:cubicBezTo>
                  <a:pt x="157" y="15"/>
                  <a:pt x="159" y="15"/>
                  <a:pt x="162" y="14"/>
                </a:cubicBezTo>
                <a:cubicBezTo>
                  <a:pt x="163" y="14"/>
                  <a:pt x="165" y="15"/>
                  <a:pt x="166" y="14"/>
                </a:cubicBezTo>
                <a:cubicBezTo>
                  <a:pt x="167" y="13"/>
                  <a:pt x="167" y="12"/>
                  <a:pt x="168" y="11"/>
                </a:cubicBezTo>
                <a:cubicBezTo>
                  <a:pt x="168" y="11"/>
                  <a:pt x="169" y="11"/>
                  <a:pt x="169" y="11"/>
                </a:cubicBezTo>
                <a:cubicBezTo>
                  <a:pt x="171" y="11"/>
                  <a:pt x="172" y="11"/>
                  <a:pt x="173" y="12"/>
                </a:cubicBezTo>
                <a:cubicBezTo>
                  <a:pt x="173" y="13"/>
                  <a:pt x="172" y="13"/>
                  <a:pt x="172" y="14"/>
                </a:cubicBezTo>
                <a:cubicBezTo>
                  <a:pt x="173" y="14"/>
                  <a:pt x="175" y="14"/>
                  <a:pt x="176" y="12"/>
                </a:cubicBezTo>
                <a:cubicBezTo>
                  <a:pt x="176" y="13"/>
                  <a:pt x="177" y="13"/>
                  <a:pt x="177" y="13"/>
                </a:cubicBezTo>
                <a:cubicBezTo>
                  <a:pt x="179" y="13"/>
                  <a:pt x="181" y="14"/>
                  <a:pt x="183" y="15"/>
                </a:cubicBezTo>
                <a:cubicBezTo>
                  <a:pt x="186" y="16"/>
                  <a:pt x="189" y="17"/>
                  <a:pt x="192" y="18"/>
                </a:cubicBezTo>
                <a:cubicBezTo>
                  <a:pt x="191" y="19"/>
                  <a:pt x="191" y="19"/>
                  <a:pt x="190" y="19"/>
                </a:cubicBezTo>
                <a:cubicBezTo>
                  <a:pt x="189" y="19"/>
                  <a:pt x="189" y="17"/>
                  <a:pt x="187" y="18"/>
                </a:cubicBezTo>
                <a:cubicBezTo>
                  <a:pt x="187" y="20"/>
                  <a:pt x="189" y="20"/>
                  <a:pt x="190" y="21"/>
                </a:cubicBezTo>
                <a:cubicBezTo>
                  <a:pt x="191" y="22"/>
                  <a:pt x="193" y="23"/>
                  <a:pt x="193" y="24"/>
                </a:cubicBezTo>
                <a:cubicBezTo>
                  <a:pt x="192" y="27"/>
                  <a:pt x="190" y="24"/>
                  <a:pt x="188" y="24"/>
                </a:cubicBezTo>
                <a:cubicBezTo>
                  <a:pt x="186" y="24"/>
                  <a:pt x="183" y="28"/>
                  <a:pt x="181" y="25"/>
                </a:cubicBezTo>
                <a:cubicBezTo>
                  <a:pt x="181" y="23"/>
                  <a:pt x="183" y="23"/>
                  <a:pt x="184" y="21"/>
                </a:cubicBezTo>
                <a:cubicBezTo>
                  <a:pt x="183" y="21"/>
                  <a:pt x="183" y="21"/>
                  <a:pt x="183" y="21"/>
                </a:cubicBezTo>
                <a:cubicBezTo>
                  <a:pt x="182" y="22"/>
                  <a:pt x="181" y="22"/>
                  <a:pt x="180" y="22"/>
                </a:cubicBezTo>
                <a:cubicBezTo>
                  <a:pt x="180" y="23"/>
                  <a:pt x="179" y="23"/>
                  <a:pt x="177" y="24"/>
                </a:cubicBezTo>
                <a:cubicBezTo>
                  <a:pt x="176" y="24"/>
                  <a:pt x="175" y="24"/>
                  <a:pt x="174" y="24"/>
                </a:cubicBezTo>
                <a:cubicBezTo>
                  <a:pt x="173" y="25"/>
                  <a:pt x="171" y="26"/>
                  <a:pt x="169" y="27"/>
                </a:cubicBezTo>
                <a:cubicBezTo>
                  <a:pt x="169" y="27"/>
                  <a:pt x="168" y="27"/>
                  <a:pt x="167" y="27"/>
                </a:cubicBezTo>
                <a:cubicBezTo>
                  <a:pt x="165" y="28"/>
                  <a:pt x="163" y="29"/>
                  <a:pt x="161" y="30"/>
                </a:cubicBezTo>
                <a:cubicBezTo>
                  <a:pt x="159" y="31"/>
                  <a:pt x="157" y="32"/>
                  <a:pt x="156" y="33"/>
                </a:cubicBezTo>
                <a:cubicBezTo>
                  <a:pt x="155" y="33"/>
                  <a:pt x="154" y="35"/>
                  <a:pt x="154" y="36"/>
                </a:cubicBezTo>
                <a:cubicBezTo>
                  <a:pt x="154" y="37"/>
                  <a:pt x="156" y="37"/>
                  <a:pt x="156" y="38"/>
                </a:cubicBezTo>
                <a:cubicBezTo>
                  <a:pt x="156" y="39"/>
                  <a:pt x="155" y="40"/>
                  <a:pt x="155" y="41"/>
                </a:cubicBezTo>
                <a:cubicBezTo>
                  <a:pt x="156" y="41"/>
                  <a:pt x="157" y="41"/>
                  <a:pt x="158" y="41"/>
                </a:cubicBezTo>
                <a:cubicBezTo>
                  <a:pt x="161" y="41"/>
                  <a:pt x="162" y="43"/>
                  <a:pt x="164" y="44"/>
                </a:cubicBezTo>
                <a:cubicBezTo>
                  <a:pt x="165" y="45"/>
                  <a:pt x="167" y="46"/>
                  <a:pt x="169" y="46"/>
                </a:cubicBezTo>
                <a:cubicBezTo>
                  <a:pt x="171" y="46"/>
                  <a:pt x="173" y="45"/>
                  <a:pt x="173" y="47"/>
                </a:cubicBezTo>
                <a:cubicBezTo>
                  <a:pt x="174" y="48"/>
                  <a:pt x="171" y="49"/>
                  <a:pt x="171" y="50"/>
                </a:cubicBezTo>
                <a:cubicBezTo>
                  <a:pt x="172" y="51"/>
                  <a:pt x="171" y="52"/>
                  <a:pt x="171" y="53"/>
                </a:cubicBezTo>
                <a:cubicBezTo>
                  <a:pt x="171" y="54"/>
                  <a:pt x="172" y="56"/>
                  <a:pt x="173" y="56"/>
                </a:cubicBezTo>
                <a:cubicBezTo>
                  <a:pt x="174" y="56"/>
                  <a:pt x="177" y="55"/>
                  <a:pt x="177" y="53"/>
                </a:cubicBezTo>
                <a:cubicBezTo>
                  <a:pt x="178" y="51"/>
                  <a:pt x="178" y="49"/>
                  <a:pt x="179" y="48"/>
                </a:cubicBezTo>
                <a:cubicBezTo>
                  <a:pt x="186" y="48"/>
                  <a:pt x="192" y="44"/>
                  <a:pt x="191" y="37"/>
                </a:cubicBezTo>
                <a:cubicBezTo>
                  <a:pt x="191" y="37"/>
                  <a:pt x="191" y="36"/>
                  <a:pt x="191" y="35"/>
                </a:cubicBezTo>
                <a:cubicBezTo>
                  <a:pt x="191" y="34"/>
                  <a:pt x="193" y="33"/>
                  <a:pt x="193" y="31"/>
                </a:cubicBezTo>
                <a:cubicBezTo>
                  <a:pt x="194" y="31"/>
                  <a:pt x="194" y="30"/>
                  <a:pt x="195" y="30"/>
                </a:cubicBezTo>
                <a:cubicBezTo>
                  <a:pt x="195" y="29"/>
                  <a:pt x="196" y="28"/>
                  <a:pt x="197" y="27"/>
                </a:cubicBezTo>
                <a:cubicBezTo>
                  <a:pt x="197" y="27"/>
                  <a:pt x="197" y="27"/>
                  <a:pt x="197" y="27"/>
                </a:cubicBezTo>
                <a:cubicBezTo>
                  <a:pt x="198" y="27"/>
                  <a:pt x="198" y="27"/>
                  <a:pt x="199" y="27"/>
                </a:cubicBezTo>
                <a:cubicBezTo>
                  <a:pt x="200" y="28"/>
                  <a:pt x="201" y="28"/>
                  <a:pt x="203" y="28"/>
                </a:cubicBezTo>
                <a:cubicBezTo>
                  <a:pt x="203" y="28"/>
                  <a:pt x="204" y="27"/>
                  <a:pt x="205" y="28"/>
                </a:cubicBezTo>
                <a:cubicBezTo>
                  <a:pt x="207" y="28"/>
                  <a:pt x="207" y="30"/>
                  <a:pt x="209" y="30"/>
                </a:cubicBezTo>
                <a:cubicBezTo>
                  <a:pt x="210" y="31"/>
                  <a:pt x="211" y="31"/>
                  <a:pt x="211" y="32"/>
                </a:cubicBezTo>
                <a:cubicBezTo>
                  <a:pt x="211" y="34"/>
                  <a:pt x="209" y="34"/>
                  <a:pt x="209" y="35"/>
                </a:cubicBezTo>
                <a:cubicBezTo>
                  <a:pt x="209" y="35"/>
                  <a:pt x="209" y="35"/>
                  <a:pt x="209" y="35"/>
                </a:cubicBezTo>
                <a:cubicBezTo>
                  <a:pt x="210" y="37"/>
                  <a:pt x="211" y="38"/>
                  <a:pt x="212" y="38"/>
                </a:cubicBezTo>
                <a:cubicBezTo>
                  <a:pt x="213" y="38"/>
                  <a:pt x="214" y="37"/>
                  <a:pt x="215" y="37"/>
                </a:cubicBezTo>
                <a:cubicBezTo>
                  <a:pt x="217" y="36"/>
                  <a:pt x="218" y="35"/>
                  <a:pt x="219" y="34"/>
                </a:cubicBezTo>
                <a:cubicBezTo>
                  <a:pt x="220" y="35"/>
                  <a:pt x="222" y="36"/>
                  <a:pt x="223" y="38"/>
                </a:cubicBezTo>
                <a:cubicBezTo>
                  <a:pt x="223" y="38"/>
                  <a:pt x="223" y="39"/>
                  <a:pt x="223" y="39"/>
                </a:cubicBezTo>
                <a:cubicBezTo>
                  <a:pt x="224" y="41"/>
                  <a:pt x="223" y="42"/>
                  <a:pt x="223" y="44"/>
                </a:cubicBezTo>
                <a:cubicBezTo>
                  <a:pt x="223" y="46"/>
                  <a:pt x="227" y="46"/>
                  <a:pt x="228" y="47"/>
                </a:cubicBezTo>
                <a:cubicBezTo>
                  <a:pt x="229" y="48"/>
                  <a:pt x="229" y="49"/>
                  <a:pt x="229" y="49"/>
                </a:cubicBezTo>
                <a:cubicBezTo>
                  <a:pt x="230" y="50"/>
                  <a:pt x="231" y="50"/>
                  <a:pt x="231" y="51"/>
                </a:cubicBezTo>
                <a:cubicBezTo>
                  <a:pt x="231" y="54"/>
                  <a:pt x="229" y="54"/>
                  <a:pt x="229" y="57"/>
                </a:cubicBezTo>
                <a:cubicBezTo>
                  <a:pt x="228" y="58"/>
                  <a:pt x="227" y="58"/>
                  <a:pt x="227" y="59"/>
                </a:cubicBezTo>
                <a:cubicBezTo>
                  <a:pt x="227" y="62"/>
                  <a:pt x="231" y="60"/>
                  <a:pt x="232" y="62"/>
                </a:cubicBezTo>
                <a:cubicBezTo>
                  <a:pt x="232" y="63"/>
                  <a:pt x="231" y="64"/>
                  <a:pt x="231" y="65"/>
                </a:cubicBezTo>
                <a:cubicBezTo>
                  <a:pt x="232" y="66"/>
                  <a:pt x="232" y="69"/>
                  <a:pt x="230" y="69"/>
                </a:cubicBezTo>
                <a:cubicBezTo>
                  <a:pt x="229" y="69"/>
                  <a:pt x="229" y="67"/>
                  <a:pt x="227" y="67"/>
                </a:cubicBezTo>
                <a:cubicBezTo>
                  <a:pt x="227" y="67"/>
                  <a:pt x="226" y="67"/>
                  <a:pt x="225" y="67"/>
                </a:cubicBezTo>
                <a:cubicBezTo>
                  <a:pt x="224" y="66"/>
                  <a:pt x="223" y="66"/>
                  <a:pt x="222" y="66"/>
                </a:cubicBezTo>
                <a:cubicBezTo>
                  <a:pt x="221" y="66"/>
                  <a:pt x="219" y="66"/>
                  <a:pt x="218" y="65"/>
                </a:cubicBezTo>
                <a:cubicBezTo>
                  <a:pt x="219" y="63"/>
                  <a:pt x="222" y="61"/>
                  <a:pt x="224" y="59"/>
                </a:cubicBezTo>
                <a:cubicBezTo>
                  <a:pt x="225" y="58"/>
                  <a:pt x="226" y="58"/>
                  <a:pt x="226" y="56"/>
                </a:cubicBezTo>
                <a:cubicBezTo>
                  <a:pt x="224" y="55"/>
                  <a:pt x="223" y="57"/>
                  <a:pt x="222" y="57"/>
                </a:cubicBezTo>
                <a:cubicBezTo>
                  <a:pt x="220" y="58"/>
                  <a:pt x="219" y="59"/>
                  <a:pt x="218" y="59"/>
                </a:cubicBezTo>
                <a:cubicBezTo>
                  <a:pt x="215" y="60"/>
                  <a:pt x="212" y="58"/>
                  <a:pt x="210" y="60"/>
                </a:cubicBezTo>
                <a:cubicBezTo>
                  <a:pt x="209" y="61"/>
                  <a:pt x="212" y="60"/>
                  <a:pt x="212" y="62"/>
                </a:cubicBezTo>
                <a:cubicBezTo>
                  <a:pt x="211" y="62"/>
                  <a:pt x="210" y="62"/>
                  <a:pt x="209" y="62"/>
                </a:cubicBezTo>
                <a:cubicBezTo>
                  <a:pt x="208" y="61"/>
                  <a:pt x="209" y="60"/>
                  <a:pt x="208" y="60"/>
                </a:cubicBezTo>
                <a:cubicBezTo>
                  <a:pt x="208" y="59"/>
                  <a:pt x="205" y="59"/>
                  <a:pt x="203" y="59"/>
                </a:cubicBezTo>
                <a:cubicBezTo>
                  <a:pt x="202" y="59"/>
                  <a:pt x="200" y="60"/>
                  <a:pt x="200" y="62"/>
                </a:cubicBezTo>
                <a:cubicBezTo>
                  <a:pt x="202" y="63"/>
                  <a:pt x="205" y="61"/>
                  <a:pt x="206" y="63"/>
                </a:cubicBezTo>
                <a:cubicBezTo>
                  <a:pt x="205" y="65"/>
                  <a:pt x="202" y="66"/>
                  <a:pt x="203" y="68"/>
                </a:cubicBezTo>
                <a:cubicBezTo>
                  <a:pt x="203" y="69"/>
                  <a:pt x="204" y="71"/>
                  <a:pt x="205" y="71"/>
                </a:cubicBezTo>
                <a:cubicBezTo>
                  <a:pt x="206" y="71"/>
                  <a:pt x="206" y="70"/>
                  <a:pt x="207" y="70"/>
                </a:cubicBezTo>
                <a:cubicBezTo>
                  <a:pt x="208" y="70"/>
                  <a:pt x="208" y="71"/>
                  <a:pt x="209" y="71"/>
                </a:cubicBezTo>
                <a:cubicBezTo>
                  <a:pt x="210" y="70"/>
                  <a:pt x="211" y="68"/>
                  <a:pt x="212" y="69"/>
                </a:cubicBezTo>
                <a:cubicBezTo>
                  <a:pt x="214" y="71"/>
                  <a:pt x="211" y="72"/>
                  <a:pt x="209" y="73"/>
                </a:cubicBezTo>
                <a:cubicBezTo>
                  <a:pt x="206" y="74"/>
                  <a:pt x="203" y="74"/>
                  <a:pt x="201" y="75"/>
                </a:cubicBezTo>
                <a:cubicBezTo>
                  <a:pt x="200" y="75"/>
                  <a:pt x="197" y="79"/>
                  <a:pt x="196" y="76"/>
                </a:cubicBezTo>
                <a:cubicBezTo>
                  <a:pt x="196" y="74"/>
                  <a:pt x="198" y="75"/>
                  <a:pt x="198" y="73"/>
                </a:cubicBezTo>
                <a:cubicBezTo>
                  <a:pt x="196" y="73"/>
                  <a:pt x="194" y="74"/>
                  <a:pt x="192" y="75"/>
                </a:cubicBezTo>
                <a:cubicBezTo>
                  <a:pt x="189" y="76"/>
                  <a:pt x="184" y="77"/>
                  <a:pt x="183" y="80"/>
                </a:cubicBezTo>
                <a:cubicBezTo>
                  <a:pt x="183" y="81"/>
                  <a:pt x="183" y="82"/>
                  <a:pt x="183" y="83"/>
                </a:cubicBezTo>
                <a:cubicBezTo>
                  <a:pt x="183" y="83"/>
                  <a:pt x="180" y="83"/>
                  <a:pt x="179" y="83"/>
                </a:cubicBezTo>
                <a:cubicBezTo>
                  <a:pt x="178" y="84"/>
                  <a:pt x="177" y="85"/>
                  <a:pt x="176" y="85"/>
                </a:cubicBezTo>
                <a:cubicBezTo>
                  <a:pt x="175" y="85"/>
                  <a:pt x="174" y="85"/>
                  <a:pt x="174" y="85"/>
                </a:cubicBezTo>
                <a:cubicBezTo>
                  <a:pt x="173" y="86"/>
                  <a:pt x="172" y="87"/>
                  <a:pt x="171" y="88"/>
                </a:cubicBezTo>
                <a:cubicBezTo>
                  <a:pt x="170" y="89"/>
                  <a:pt x="169" y="89"/>
                  <a:pt x="169" y="90"/>
                </a:cubicBezTo>
                <a:cubicBezTo>
                  <a:pt x="168" y="90"/>
                  <a:pt x="168" y="92"/>
                  <a:pt x="166" y="93"/>
                </a:cubicBezTo>
                <a:cubicBezTo>
                  <a:pt x="165" y="93"/>
                  <a:pt x="165" y="92"/>
                  <a:pt x="164" y="93"/>
                </a:cubicBezTo>
                <a:cubicBezTo>
                  <a:pt x="164" y="94"/>
                  <a:pt x="165" y="97"/>
                  <a:pt x="164" y="99"/>
                </a:cubicBezTo>
                <a:cubicBezTo>
                  <a:pt x="162" y="100"/>
                  <a:pt x="160" y="101"/>
                  <a:pt x="158" y="103"/>
                </a:cubicBezTo>
                <a:cubicBezTo>
                  <a:pt x="157" y="103"/>
                  <a:pt x="155" y="104"/>
                  <a:pt x="154" y="104"/>
                </a:cubicBezTo>
                <a:cubicBezTo>
                  <a:pt x="153" y="105"/>
                  <a:pt x="152" y="106"/>
                  <a:pt x="151" y="107"/>
                </a:cubicBezTo>
                <a:cubicBezTo>
                  <a:pt x="148" y="108"/>
                  <a:pt x="144" y="110"/>
                  <a:pt x="144" y="115"/>
                </a:cubicBezTo>
                <a:cubicBezTo>
                  <a:pt x="144" y="116"/>
                  <a:pt x="145" y="117"/>
                  <a:pt x="145" y="118"/>
                </a:cubicBezTo>
                <a:cubicBezTo>
                  <a:pt x="145" y="118"/>
                  <a:pt x="145" y="119"/>
                  <a:pt x="145" y="120"/>
                </a:cubicBezTo>
                <a:cubicBezTo>
                  <a:pt x="145" y="121"/>
                  <a:pt x="146" y="123"/>
                  <a:pt x="145" y="124"/>
                </a:cubicBezTo>
                <a:cubicBezTo>
                  <a:pt x="143" y="123"/>
                  <a:pt x="140" y="123"/>
                  <a:pt x="139" y="122"/>
                </a:cubicBezTo>
                <a:cubicBezTo>
                  <a:pt x="139" y="120"/>
                  <a:pt x="140" y="119"/>
                  <a:pt x="140" y="118"/>
                </a:cubicBezTo>
                <a:cubicBezTo>
                  <a:pt x="139" y="117"/>
                  <a:pt x="138" y="115"/>
                  <a:pt x="137" y="115"/>
                </a:cubicBezTo>
                <a:cubicBezTo>
                  <a:pt x="136" y="114"/>
                  <a:pt x="135" y="115"/>
                  <a:pt x="134" y="115"/>
                </a:cubicBezTo>
                <a:cubicBezTo>
                  <a:pt x="133" y="115"/>
                  <a:pt x="132" y="114"/>
                  <a:pt x="131" y="114"/>
                </a:cubicBezTo>
                <a:cubicBezTo>
                  <a:pt x="129" y="113"/>
                  <a:pt x="127" y="114"/>
                  <a:pt x="125" y="114"/>
                </a:cubicBezTo>
                <a:cubicBezTo>
                  <a:pt x="123" y="115"/>
                  <a:pt x="122" y="117"/>
                  <a:pt x="119" y="117"/>
                </a:cubicBezTo>
                <a:cubicBezTo>
                  <a:pt x="118" y="117"/>
                  <a:pt x="117" y="116"/>
                  <a:pt x="116" y="116"/>
                </a:cubicBezTo>
                <a:cubicBezTo>
                  <a:pt x="115" y="115"/>
                  <a:pt x="113" y="115"/>
                  <a:pt x="112" y="115"/>
                </a:cubicBezTo>
                <a:cubicBezTo>
                  <a:pt x="109" y="115"/>
                  <a:pt x="107" y="117"/>
                  <a:pt x="105" y="118"/>
                </a:cubicBezTo>
                <a:cubicBezTo>
                  <a:pt x="103" y="119"/>
                  <a:pt x="101" y="121"/>
                  <a:pt x="100" y="123"/>
                </a:cubicBezTo>
                <a:cubicBezTo>
                  <a:pt x="100" y="124"/>
                  <a:pt x="100" y="125"/>
                  <a:pt x="100" y="126"/>
                </a:cubicBezTo>
                <a:cubicBezTo>
                  <a:pt x="99" y="127"/>
                  <a:pt x="99" y="128"/>
                  <a:pt x="98" y="128"/>
                </a:cubicBezTo>
                <a:cubicBezTo>
                  <a:pt x="97" y="131"/>
                  <a:pt x="95" y="135"/>
                  <a:pt x="97" y="140"/>
                </a:cubicBezTo>
                <a:cubicBezTo>
                  <a:pt x="97" y="140"/>
                  <a:pt x="99" y="144"/>
                  <a:pt x="99" y="145"/>
                </a:cubicBezTo>
                <a:cubicBezTo>
                  <a:pt x="100" y="146"/>
                  <a:pt x="102" y="147"/>
                  <a:pt x="104" y="147"/>
                </a:cubicBezTo>
                <a:cubicBezTo>
                  <a:pt x="105" y="147"/>
                  <a:pt x="106" y="146"/>
                  <a:pt x="107" y="146"/>
                </a:cubicBezTo>
                <a:cubicBezTo>
                  <a:pt x="108" y="146"/>
                  <a:pt x="110" y="146"/>
                  <a:pt x="111" y="146"/>
                </a:cubicBezTo>
                <a:cubicBezTo>
                  <a:pt x="114" y="145"/>
                  <a:pt x="113" y="140"/>
                  <a:pt x="117" y="139"/>
                </a:cubicBezTo>
                <a:cubicBezTo>
                  <a:pt x="118" y="138"/>
                  <a:pt x="120" y="138"/>
                  <a:pt x="122" y="138"/>
                </a:cubicBezTo>
                <a:cubicBezTo>
                  <a:pt x="123" y="138"/>
                  <a:pt x="123" y="140"/>
                  <a:pt x="123" y="141"/>
                </a:cubicBezTo>
                <a:cubicBezTo>
                  <a:pt x="123" y="141"/>
                  <a:pt x="122" y="142"/>
                  <a:pt x="122" y="143"/>
                </a:cubicBezTo>
                <a:cubicBezTo>
                  <a:pt x="122" y="144"/>
                  <a:pt x="122" y="145"/>
                  <a:pt x="121" y="146"/>
                </a:cubicBezTo>
                <a:cubicBezTo>
                  <a:pt x="121" y="147"/>
                  <a:pt x="120" y="148"/>
                  <a:pt x="119" y="149"/>
                </a:cubicBezTo>
                <a:cubicBezTo>
                  <a:pt x="119" y="149"/>
                  <a:pt x="119" y="150"/>
                  <a:pt x="119" y="151"/>
                </a:cubicBezTo>
                <a:cubicBezTo>
                  <a:pt x="119" y="152"/>
                  <a:pt x="118" y="152"/>
                  <a:pt x="118" y="153"/>
                </a:cubicBezTo>
                <a:cubicBezTo>
                  <a:pt x="121" y="155"/>
                  <a:pt x="125" y="153"/>
                  <a:pt x="128" y="153"/>
                </a:cubicBezTo>
                <a:cubicBezTo>
                  <a:pt x="129" y="154"/>
                  <a:pt x="132" y="155"/>
                  <a:pt x="132" y="157"/>
                </a:cubicBezTo>
                <a:cubicBezTo>
                  <a:pt x="132" y="158"/>
                  <a:pt x="131" y="159"/>
                  <a:pt x="130" y="161"/>
                </a:cubicBezTo>
                <a:cubicBezTo>
                  <a:pt x="130" y="162"/>
                  <a:pt x="129" y="165"/>
                  <a:pt x="129" y="166"/>
                </a:cubicBezTo>
                <a:cubicBezTo>
                  <a:pt x="129" y="169"/>
                  <a:pt x="133" y="173"/>
                  <a:pt x="136" y="173"/>
                </a:cubicBezTo>
                <a:cubicBezTo>
                  <a:pt x="138" y="173"/>
                  <a:pt x="140" y="170"/>
                  <a:pt x="144" y="172"/>
                </a:cubicBezTo>
                <a:cubicBezTo>
                  <a:pt x="145" y="172"/>
                  <a:pt x="146" y="174"/>
                  <a:pt x="147" y="174"/>
                </a:cubicBezTo>
                <a:cubicBezTo>
                  <a:pt x="148" y="174"/>
                  <a:pt x="150" y="172"/>
                  <a:pt x="150" y="171"/>
                </a:cubicBezTo>
                <a:cubicBezTo>
                  <a:pt x="151" y="169"/>
                  <a:pt x="151" y="168"/>
                  <a:pt x="153" y="167"/>
                </a:cubicBezTo>
                <a:cubicBezTo>
                  <a:pt x="154" y="166"/>
                  <a:pt x="156" y="167"/>
                  <a:pt x="158" y="166"/>
                </a:cubicBezTo>
                <a:cubicBezTo>
                  <a:pt x="159" y="166"/>
                  <a:pt x="159" y="165"/>
                  <a:pt x="160" y="164"/>
                </a:cubicBezTo>
                <a:cubicBezTo>
                  <a:pt x="161" y="164"/>
                  <a:pt x="162" y="163"/>
                  <a:pt x="163" y="164"/>
                </a:cubicBezTo>
                <a:cubicBezTo>
                  <a:pt x="164" y="165"/>
                  <a:pt x="161" y="165"/>
                  <a:pt x="162" y="167"/>
                </a:cubicBezTo>
                <a:cubicBezTo>
                  <a:pt x="164" y="168"/>
                  <a:pt x="165" y="165"/>
                  <a:pt x="167" y="165"/>
                </a:cubicBezTo>
                <a:cubicBezTo>
                  <a:pt x="167" y="165"/>
                  <a:pt x="169" y="166"/>
                  <a:pt x="170" y="166"/>
                </a:cubicBezTo>
                <a:cubicBezTo>
                  <a:pt x="171" y="167"/>
                  <a:pt x="171" y="168"/>
                  <a:pt x="173" y="168"/>
                </a:cubicBezTo>
                <a:cubicBezTo>
                  <a:pt x="173" y="168"/>
                  <a:pt x="175" y="168"/>
                  <a:pt x="176" y="168"/>
                </a:cubicBezTo>
                <a:cubicBezTo>
                  <a:pt x="177" y="168"/>
                  <a:pt x="178" y="170"/>
                  <a:pt x="179" y="170"/>
                </a:cubicBezTo>
                <a:cubicBezTo>
                  <a:pt x="181" y="169"/>
                  <a:pt x="182" y="168"/>
                  <a:pt x="183" y="168"/>
                </a:cubicBezTo>
                <a:cubicBezTo>
                  <a:pt x="185" y="167"/>
                  <a:pt x="186" y="168"/>
                  <a:pt x="188" y="170"/>
                </a:cubicBezTo>
                <a:cubicBezTo>
                  <a:pt x="189" y="170"/>
                  <a:pt x="189" y="168"/>
                  <a:pt x="190" y="169"/>
                </a:cubicBezTo>
                <a:cubicBezTo>
                  <a:pt x="189" y="170"/>
                  <a:pt x="190" y="171"/>
                  <a:pt x="191" y="172"/>
                </a:cubicBezTo>
                <a:cubicBezTo>
                  <a:pt x="191" y="172"/>
                  <a:pt x="191" y="173"/>
                  <a:pt x="191" y="173"/>
                </a:cubicBezTo>
                <a:cubicBezTo>
                  <a:pt x="192" y="174"/>
                  <a:pt x="194" y="174"/>
                  <a:pt x="195" y="175"/>
                </a:cubicBezTo>
                <a:cubicBezTo>
                  <a:pt x="196" y="175"/>
                  <a:pt x="196" y="177"/>
                  <a:pt x="198" y="178"/>
                </a:cubicBezTo>
                <a:cubicBezTo>
                  <a:pt x="199" y="179"/>
                  <a:pt x="201" y="181"/>
                  <a:pt x="203" y="181"/>
                </a:cubicBezTo>
                <a:cubicBezTo>
                  <a:pt x="204" y="181"/>
                  <a:pt x="206" y="181"/>
                  <a:pt x="207" y="181"/>
                </a:cubicBezTo>
                <a:cubicBezTo>
                  <a:pt x="210" y="181"/>
                  <a:pt x="212" y="183"/>
                  <a:pt x="214" y="184"/>
                </a:cubicBezTo>
                <a:cubicBezTo>
                  <a:pt x="215" y="185"/>
                  <a:pt x="217" y="186"/>
                  <a:pt x="217" y="187"/>
                </a:cubicBezTo>
                <a:cubicBezTo>
                  <a:pt x="217" y="188"/>
                  <a:pt x="217" y="189"/>
                  <a:pt x="217" y="190"/>
                </a:cubicBezTo>
                <a:cubicBezTo>
                  <a:pt x="218" y="192"/>
                  <a:pt x="221" y="193"/>
                  <a:pt x="220" y="196"/>
                </a:cubicBezTo>
                <a:cubicBezTo>
                  <a:pt x="220" y="197"/>
                  <a:pt x="221" y="197"/>
                  <a:pt x="222" y="198"/>
                </a:cubicBezTo>
                <a:cubicBezTo>
                  <a:pt x="223" y="198"/>
                  <a:pt x="224" y="199"/>
                  <a:pt x="225" y="199"/>
                </a:cubicBezTo>
                <a:cubicBezTo>
                  <a:pt x="225" y="200"/>
                  <a:pt x="226" y="199"/>
                  <a:pt x="227" y="199"/>
                </a:cubicBezTo>
                <a:cubicBezTo>
                  <a:pt x="228" y="199"/>
                  <a:pt x="229" y="200"/>
                  <a:pt x="231" y="201"/>
                </a:cubicBezTo>
                <a:cubicBezTo>
                  <a:pt x="232" y="201"/>
                  <a:pt x="233" y="201"/>
                  <a:pt x="234" y="202"/>
                </a:cubicBezTo>
                <a:cubicBezTo>
                  <a:pt x="234" y="202"/>
                  <a:pt x="235" y="204"/>
                  <a:pt x="235" y="204"/>
                </a:cubicBezTo>
                <a:cubicBezTo>
                  <a:pt x="236" y="205"/>
                  <a:pt x="237" y="204"/>
                  <a:pt x="238" y="204"/>
                </a:cubicBezTo>
                <a:cubicBezTo>
                  <a:pt x="240" y="204"/>
                  <a:pt x="242" y="205"/>
                  <a:pt x="244" y="205"/>
                </a:cubicBezTo>
                <a:cubicBezTo>
                  <a:pt x="245" y="205"/>
                  <a:pt x="245" y="205"/>
                  <a:pt x="246" y="205"/>
                </a:cubicBezTo>
                <a:cubicBezTo>
                  <a:pt x="248" y="205"/>
                  <a:pt x="249" y="206"/>
                  <a:pt x="251" y="208"/>
                </a:cubicBezTo>
                <a:cubicBezTo>
                  <a:pt x="233" y="237"/>
                  <a:pt x="204" y="258"/>
                  <a:pt x="170" y="266"/>
                </a:cubicBezTo>
                <a:cubicBezTo>
                  <a:pt x="170" y="265"/>
                  <a:pt x="169" y="264"/>
                  <a:pt x="169" y="262"/>
                </a:cubicBezTo>
                <a:cubicBezTo>
                  <a:pt x="169" y="260"/>
                  <a:pt x="169" y="258"/>
                  <a:pt x="169" y="255"/>
                </a:cubicBezTo>
                <a:cubicBezTo>
                  <a:pt x="169" y="253"/>
                  <a:pt x="168" y="250"/>
                  <a:pt x="168" y="249"/>
                </a:cubicBezTo>
                <a:cubicBezTo>
                  <a:pt x="167" y="247"/>
                  <a:pt x="164" y="245"/>
                  <a:pt x="162" y="244"/>
                </a:cubicBezTo>
                <a:cubicBezTo>
                  <a:pt x="161" y="244"/>
                  <a:pt x="160" y="243"/>
                  <a:pt x="159" y="243"/>
                </a:cubicBezTo>
                <a:cubicBezTo>
                  <a:pt x="156" y="242"/>
                  <a:pt x="151" y="239"/>
                  <a:pt x="150" y="237"/>
                </a:cubicBezTo>
                <a:cubicBezTo>
                  <a:pt x="150" y="236"/>
                  <a:pt x="150" y="235"/>
                  <a:pt x="150" y="234"/>
                </a:cubicBezTo>
                <a:cubicBezTo>
                  <a:pt x="149" y="233"/>
                  <a:pt x="148" y="231"/>
                  <a:pt x="147" y="230"/>
                </a:cubicBezTo>
                <a:cubicBezTo>
                  <a:pt x="145" y="227"/>
                  <a:pt x="143" y="224"/>
                  <a:pt x="142" y="221"/>
                </a:cubicBezTo>
                <a:cubicBezTo>
                  <a:pt x="141" y="219"/>
                  <a:pt x="140" y="218"/>
                  <a:pt x="139" y="216"/>
                </a:cubicBezTo>
                <a:cubicBezTo>
                  <a:pt x="138" y="216"/>
                  <a:pt x="136" y="215"/>
                  <a:pt x="136" y="214"/>
                </a:cubicBezTo>
                <a:cubicBezTo>
                  <a:pt x="136" y="213"/>
                  <a:pt x="135" y="211"/>
                  <a:pt x="135" y="210"/>
                </a:cubicBezTo>
                <a:cubicBezTo>
                  <a:pt x="135" y="208"/>
                  <a:pt x="138" y="207"/>
                  <a:pt x="138" y="206"/>
                </a:cubicBezTo>
                <a:cubicBezTo>
                  <a:pt x="138" y="205"/>
                  <a:pt x="136" y="204"/>
                  <a:pt x="136" y="203"/>
                </a:cubicBezTo>
                <a:cubicBezTo>
                  <a:pt x="135" y="201"/>
                  <a:pt x="136" y="200"/>
                  <a:pt x="137" y="198"/>
                </a:cubicBezTo>
                <a:cubicBezTo>
                  <a:pt x="138" y="197"/>
                  <a:pt x="138" y="196"/>
                  <a:pt x="138" y="196"/>
                </a:cubicBezTo>
                <a:cubicBezTo>
                  <a:pt x="139" y="195"/>
                  <a:pt x="140" y="195"/>
                  <a:pt x="141" y="194"/>
                </a:cubicBezTo>
                <a:cubicBezTo>
                  <a:pt x="141" y="193"/>
                  <a:pt x="141" y="192"/>
                  <a:pt x="142" y="191"/>
                </a:cubicBezTo>
                <a:cubicBezTo>
                  <a:pt x="143" y="190"/>
                  <a:pt x="145" y="189"/>
                  <a:pt x="145" y="188"/>
                </a:cubicBezTo>
                <a:cubicBezTo>
                  <a:pt x="146" y="187"/>
                  <a:pt x="146" y="181"/>
                  <a:pt x="145" y="180"/>
                </a:cubicBezTo>
                <a:cubicBezTo>
                  <a:pt x="145" y="178"/>
                  <a:pt x="144" y="178"/>
                  <a:pt x="144" y="177"/>
                </a:cubicBezTo>
                <a:cubicBezTo>
                  <a:pt x="143" y="175"/>
                  <a:pt x="143" y="173"/>
                  <a:pt x="141" y="173"/>
                </a:cubicBezTo>
                <a:cubicBezTo>
                  <a:pt x="140" y="173"/>
                  <a:pt x="139" y="174"/>
                  <a:pt x="138" y="175"/>
                </a:cubicBezTo>
                <a:cubicBezTo>
                  <a:pt x="138" y="176"/>
                  <a:pt x="138" y="177"/>
                  <a:pt x="137" y="177"/>
                </a:cubicBezTo>
                <a:cubicBezTo>
                  <a:pt x="135" y="178"/>
                  <a:pt x="135" y="176"/>
                  <a:pt x="133" y="175"/>
                </a:cubicBezTo>
                <a:cubicBezTo>
                  <a:pt x="132" y="175"/>
                  <a:pt x="131" y="175"/>
                  <a:pt x="130" y="175"/>
                </a:cubicBezTo>
                <a:cubicBezTo>
                  <a:pt x="129" y="174"/>
                  <a:pt x="128" y="172"/>
                  <a:pt x="127" y="171"/>
                </a:cubicBezTo>
                <a:cubicBezTo>
                  <a:pt x="126" y="170"/>
                  <a:pt x="124" y="171"/>
                  <a:pt x="124" y="170"/>
                </a:cubicBezTo>
                <a:cubicBezTo>
                  <a:pt x="123" y="169"/>
                  <a:pt x="124" y="168"/>
                  <a:pt x="124" y="167"/>
                </a:cubicBezTo>
                <a:cubicBezTo>
                  <a:pt x="122" y="166"/>
                  <a:pt x="120" y="162"/>
                  <a:pt x="119" y="161"/>
                </a:cubicBezTo>
                <a:cubicBezTo>
                  <a:pt x="117" y="161"/>
                  <a:pt x="115" y="161"/>
                  <a:pt x="114" y="160"/>
                </a:cubicBezTo>
                <a:cubicBezTo>
                  <a:pt x="113" y="160"/>
                  <a:pt x="112" y="160"/>
                  <a:pt x="112" y="159"/>
                </a:cubicBezTo>
                <a:cubicBezTo>
                  <a:pt x="111" y="159"/>
                  <a:pt x="110" y="159"/>
                  <a:pt x="109" y="159"/>
                </a:cubicBezTo>
                <a:cubicBezTo>
                  <a:pt x="106" y="157"/>
                  <a:pt x="104" y="153"/>
                  <a:pt x="101" y="153"/>
                </a:cubicBezTo>
                <a:cubicBezTo>
                  <a:pt x="99" y="153"/>
                  <a:pt x="98" y="154"/>
                  <a:pt x="96" y="154"/>
                </a:cubicBezTo>
                <a:cubicBezTo>
                  <a:pt x="95" y="154"/>
                  <a:pt x="93" y="153"/>
                  <a:pt x="91" y="152"/>
                </a:cubicBezTo>
                <a:cubicBezTo>
                  <a:pt x="89" y="151"/>
                  <a:pt x="87" y="151"/>
                  <a:pt x="85" y="150"/>
                </a:cubicBezTo>
                <a:cubicBezTo>
                  <a:pt x="84" y="150"/>
                  <a:pt x="83" y="148"/>
                  <a:pt x="82" y="148"/>
                </a:cubicBezTo>
                <a:cubicBezTo>
                  <a:pt x="82" y="148"/>
                  <a:pt x="80" y="147"/>
                  <a:pt x="80" y="147"/>
                </a:cubicBezTo>
                <a:cubicBezTo>
                  <a:pt x="79" y="147"/>
                  <a:pt x="78" y="146"/>
                  <a:pt x="77" y="145"/>
                </a:cubicBezTo>
                <a:cubicBezTo>
                  <a:pt x="75" y="144"/>
                  <a:pt x="74" y="143"/>
                  <a:pt x="74" y="142"/>
                </a:cubicBezTo>
                <a:cubicBezTo>
                  <a:pt x="74" y="141"/>
                  <a:pt x="75" y="140"/>
                  <a:pt x="75" y="139"/>
                </a:cubicBezTo>
                <a:cubicBezTo>
                  <a:pt x="76" y="135"/>
                  <a:pt x="73" y="133"/>
                  <a:pt x="71" y="130"/>
                </a:cubicBezTo>
                <a:cubicBezTo>
                  <a:pt x="70" y="129"/>
                  <a:pt x="69" y="128"/>
                  <a:pt x="68" y="126"/>
                </a:cubicBezTo>
                <a:cubicBezTo>
                  <a:pt x="68" y="125"/>
                  <a:pt x="68" y="125"/>
                  <a:pt x="68" y="124"/>
                </a:cubicBezTo>
                <a:cubicBezTo>
                  <a:pt x="67" y="123"/>
                  <a:pt x="66" y="122"/>
                  <a:pt x="65" y="121"/>
                </a:cubicBezTo>
                <a:cubicBezTo>
                  <a:pt x="64" y="119"/>
                  <a:pt x="62" y="118"/>
                  <a:pt x="62" y="117"/>
                </a:cubicBezTo>
                <a:cubicBezTo>
                  <a:pt x="62" y="115"/>
                  <a:pt x="63" y="113"/>
                  <a:pt x="62" y="112"/>
                </a:cubicBezTo>
                <a:cubicBezTo>
                  <a:pt x="61" y="109"/>
                  <a:pt x="57" y="110"/>
                  <a:pt x="58" y="114"/>
                </a:cubicBezTo>
                <a:cubicBezTo>
                  <a:pt x="58" y="115"/>
                  <a:pt x="59" y="116"/>
                  <a:pt x="60" y="117"/>
                </a:cubicBezTo>
                <a:cubicBezTo>
                  <a:pt x="60" y="118"/>
                  <a:pt x="60" y="119"/>
                  <a:pt x="60" y="121"/>
                </a:cubicBezTo>
                <a:cubicBezTo>
                  <a:pt x="61" y="122"/>
                  <a:pt x="62" y="123"/>
                  <a:pt x="62" y="124"/>
                </a:cubicBezTo>
                <a:cubicBezTo>
                  <a:pt x="63" y="126"/>
                  <a:pt x="63" y="128"/>
                  <a:pt x="64" y="130"/>
                </a:cubicBezTo>
                <a:cubicBezTo>
                  <a:pt x="64" y="131"/>
                  <a:pt x="66" y="132"/>
                  <a:pt x="65" y="133"/>
                </a:cubicBezTo>
                <a:cubicBezTo>
                  <a:pt x="63" y="133"/>
                  <a:pt x="63" y="132"/>
                  <a:pt x="62" y="131"/>
                </a:cubicBezTo>
                <a:cubicBezTo>
                  <a:pt x="62" y="131"/>
                  <a:pt x="60" y="130"/>
                  <a:pt x="60" y="129"/>
                </a:cubicBezTo>
                <a:cubicBezTo>
                  <a:pt x="59" y="128"/>
                  <a:pt x="60" y="127"/>
                  <a:pt x="60" y="126"/>
                </a:cubicBezTo>
                <a:cubicBezTo>
                  <a:pt x="59" y="124"/>
                  <a:pt x="55" y="124"/>
                  <a:pt x="55" y="121"/>
                </a:cubicBezTo>
                <a:cubicBezTo>
                  <a:pt x="55" y="120"/>
                  <a:pt x="57" y="120"/>
                  <a:pt x="57" y="119"/>
                </a:cubicBezTo>
                <a:cubicBezTo>
                  <a:pt x="57" y="117"/>
                  <a:pt x="55" y="116"/>
                  <a:pt x="54" y="115"/>
                </a:cubicBezTo>
                <a:cubicBezTo>
                  <a:pt x="54" y="114"/>
                  <a:pt x="54" y="112"/>
                  <a:pt x="54" y="110"/>
                </a:cubicBezTo>
                <a:cubicBezTo>
                  <a:pt x="54" y="109"/>
                  <a:pt x="54" y="107"/>
                  <a:pt x="54" y="106"/>
                </a:cubicBezTo>
                <a:cubicBezTo>
                  <a:pt x="53" y="105"/>
                  <a:pt x="52" y="103"/>
                  <a:pt x="51" y="103"/>
                </a:cubicBezTo>
                <a:cubicBezTo>
                  <a:pt x="49" y="102"/>
                  <a:pt x="48" y="103"/>
                  <a:pt x="48" y="101"/>
                </a:cubicBezTo>
                <a:cubicBezTo>
                  <a:pt x="47" y="101"/>
                  <a:pt x="47" y="99"/>
                  <a:pt x="47" y="98"/>
                </a:cubicBezTo>
                <a:cubicBezTo>
                  <a:pt x="46" y="96"/>
                  <a:pt x="47" y="94"/>
                  <a:pt x="47" y="92"/>
                </a:cubicBezTo>
                <a:cubicBezTo>
                  <a:pt x="46" y="90"/>
                  <a:pt x="46" y="88"/>
                  <a:pt x="47" y="86"/>
                </a:cubicBezTo>
                <a:cubicBezTo>
                  <a:pt x="47" y="85"/>
                  <a:pt x="49" y="84"/>
                  <a:pt x="49" y="83"/>
                </a:cubicBezTo>
                <a:cubicBezTo>
                  <a:pt x="50" y="82"/>
                  <a:pt x="50" y="80"/>
                  <a:pt x="51" y="79"/>
                </a:cubicBezTo>
                <a:cubicBezTo>
                  <a:pt x="52" y="77"/>
                  <a:pt x="54" y="76"/>
                  <a:pt x="56" y="74"/>
                </a:cubicBezTo>
                <a:cubicBezTo>
                  <a:pt x="57" y="72"/>
                  <a:pt x="59" y="70"/>
                  <a:pt x="60" y="67"/>
                </a:cubicBezTo>
                <a:cubicBezTo>
                  <a:pt x="60" y="66"/>
                  <a:pt x="61" y="64"/>
                  <a:pt x="61" y="63"/>
                </a:cubicBezTo>
                <a:cubicBezTo>
                  <a:pt x="61" y="62"/>
                  <a:pt x="58" y="61"/>
                  <a:pt x="58" y="59"/>
                </a:cubicBezTo>
                <a:cubicBezTo>
                  <a:pt x="59" y="58"/>
                  <a:pt x="60" y="58"/>
                  <a:pt x="61" y="57"/>
                </a:cubicBezTo>
                <a:cubicBezTo>
                  <a:pt x="61" y="57"/>
                  <a:pt x="61" y="55"/>
                  <a:pt x="61" y="54"/>
                </a:cubicBezTo>
                <a:cubicBezTo>
                  <a:pt x="61" y="53"/>
                  <a:pt x="60" y="51"/>
                  <a:pt x="61" y="50"/>
                </a:cubicBezTo>
                <a:cubicBezTo>
                  <a:pt x="61" y="49"/>
                  <a:pt x="63" y="48"/>
                  <a:pt x="62" y="47"/>
                </a:cubicBezTo>
                <a:cubicBezTo>
                  <a:pt x="61" y="45"/>
                  <a:pt x="59" y="47"/>
                  <a:pt x="58" y="46"/>
                </a:cubicBezTo>
                <a:cubicBezTo>
                  <a:pt x="57" y="46"/>
                  <a:pt x="58" y="45"/>
                  <a:pt x="58" y="43"/>
                </a:cubicBezTo>
                <a:cubicBezTo>
                  <a:pt x="58" y="42"/>
                  <a:pt x="58" y="42"/>
                  <a:pt x="58" y="41"/>
                </a:cubicBezTo>
                <a:cubicBezTo>
                  <a:pt x="58" y="41"/>
                  <a:pt x="59" y="39"/>
                  <a:pt x="59" y="39"/>
                </a:cubicBezTo>
                <a:cubicBezTo>
                  <a:pt x="58" y="38"/>
                  <a:pt x="58" y="37"/>
                  <a:pt x="57" y="36"/>
                </a:cubicBezTo>
                <a:cubicBezTo>
                  <a:pt x="74" y="23"/>
                  <a:pt x="94" y="13"/>
                  <a:pt x="115" y="9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4448" y="6560382"/>
            <a:ext cx="1943106" cy="146231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0"/>
          <p:cNvSpPr txBox="1"/>
          <p:nvPr/>
        </p:nvSpPr>
        <p:spPr>
          <a:xfrm>
            <a:off x="1712847" y="2029538"/>
            <a:ext cx="5663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Disa</a:t>
            </a:r>
            <a:r>
              <a:rPr b="1"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dvantages of Bitmap Index</a:t>
            </a: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" name="Google Shape;372;p30"/>
          <p:cNvCxnSpPr/>
          <p:nvPr/>
        </p:nvCxnSpPr>
        <p:spPr>
          <a:xfrm flipH="1" rot="10800000">
            <a:off x="3340500" y="1315100"/>
            <a:ext cx="5511000" cy="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>
                <a:highlight>
                  <a:srgbClr val="F5F5F5"/>
                </a:highlight>
                <a:latin typeface="Angsana New"/>
                <a:ea typeface="Angsana New"/>
                <a:cs typeface="Angsana New"/>
                <a:sym typeface="Angsana New"/>
              </a:rPr>
              <a:t>Discussion &amp; Reflection</a:t>
            </a:r>
            <a:r>
              <a:rPr lang="en-US">
                <a:highlight>
                  <a:srgbClr val="F5F5F5"/>
                </a:highlight>
                <a:latin typeface="Angsana New"/>
                <a:ea typeface="Angsana New"/>
                <a:cs typeface="Angsana New"/>
                <a:sym typeface="Angsana New"/>
              </a:rPr>
              <a:t>​</a:t>
            </a:r>
            <a:endParaRPr/>
          </a:p>
        </p:txBody>
      </p:sp>
      <p:sp>
        <p:nvSpPr>
          <p:cNvPr id="378" name="Google Shape;378;p31"/>
          <p:cNvSpPr txBox="1"/>
          <p:nvPr/>
        </p:nvSpPr>
        <p:spPr>
          <a:xfrm>
            <a:off x="6588924" y="4748743"/>
            <a:ext cx="288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1"/>
          <p:cNvSpPr txBox="1"/>
          <p:nvPr/>
        </p:nvSpPr>
        <p:spPr>
          <a:xfrm>
            <a:off x="1553700" y="2006450"/>
            <a:ext cx="10154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Why Bitmap Index are best for low-cardinality columns?</a:t>
            </a: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1"/>
          <p:cNvSpPr txBox="1"/>
          <p:nvPr/>
        </p:nvSpPr>
        <p:spPr>
          <a:xfrm>
            <a:off x="1553699" y="2529650"/>
            <a:ext cx="99897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bitmap indexes store values as compact bitmaps, allowing extremely fast filtering and combination of conditions with minimal storage overhead.​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81" name="Google Shape;381;p31"/>
          <p:cNvGrpSpPr/>
          <p:nvPr/>
        </p:nvGrpSpPr>
        <p:grpSpPr>
          <a:xfrm>
            <a:off x="1032518" y="2026407"/>
            <a:ext cx="439450" cy="437088"/>
            <a:chOff x="-6329100" y="3632100"/>
            <a:chExt cx="293025" cy="291450"/>
          </a:xfrm>
        </p:grpSpPr>
        <p:sp>
          <p:nvSpPr>
            <p:cNvPr id="382" name="Google Shape;382;p31"/>
            <p:cNvSpPr/>
            <p:nvPr/>
          </p:nvSpPr>
          <p:spPr>
            <a:xfrm>
              <a:off x="-6210700" y="3751600"/>
              <a:ext cx="174625" cy="171950"/>
            </a:xfrm>
            <a:custGeom>
              <a:rect b="b" l="l" r="r" t="t"/>
              <a:pathLst>
                <a:path extrusionOk="0" h="6878" w="6985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31"/>
            <p:cNvSpPr/>
            <p:nvPr/>
          </p:nvSpPr>
          <p:spPr>
            <a:xfrm>
              <a:off x="-6272400" y="3691975"/>
              <a:ext cx="136300" cy="135500"/>
            </a:xfrm>
            <a:custGeom>
              <a:rect b="b" l="l" r="r" t="t"/>
              <a:pathLst>
                <a:path extrusionOk="0" h="5420" w="5452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31"/>
            <p:cNvSpPr/>
            <p:nvPr/>
          </p:nvSpPr>
          <p:spPr>
            <a:xfrm>
              <a:off x="-6329100" y="3632100"/>
              <a:ext cx="257575" cy="256025"/>
            </a:xfrm>
            <a:custGeom>
              <a:rect b="b" l="l" r="r" t="t"/>
              <a:pathLst>
                <a:path extrusionOk="0" h="10241" w="10303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5" name="Google Shape;385;p31"/>
          <p:cNvSpPr/>
          <p:nvPr/>
        </p:nvSpPr>
        <p:spPr>
          <a:xfrm>
            <a:off x="1168177" y="4378852"/>
            <a:ext cx="385535" cy="384032"/>
          </a:xfrm>
          <a:custGeom>
            <a:rect b="b" l="l" r="r" t="t"/>
            <a:pathLst>
              <a:path extrusionOk="0" h="256" w="257">
                <a:moveTo>
                  <a:pt x="128" y="0"/>
                </a:moveTo>
                <a:cubicBezTo>
                  <a:pt x="58" y="0"/>
                  <a:pt x="0" y="57"/>
                  <a:pt x="0" y="128"/>
                </a:cubicBezTo>
                <a:cubicBezTo>
                  <a:pt x="0" y="199"/>
                  <a:pt x="58" y="256"/>
                  <a:pt x="128" y="256"/>
                </a:cubicBezTo>
                <a:cubicBezTo>
                  <a:pt x="199" y="256"/>
                  <a:pt x="257" y="199"/>
                  <a:pt x="257" y="128"/>
                </a:cubicBezTo>
                <a:cubicBezTo>
                  <a:pt x="257" y="57"/>
                  <a:pt x="199" y="0"/>
                  <a:pt x="128" y="0"/>
                </a:cubicBezTo>
                <a:moveTo>
                  <a:pt x="173" y="226"/>
                </a:moveTo>
                <a:cubicBezTo>
                  <a:pt x="175" y="223"/>
                  <a:pt x="177" y="220"/>
                  <a:pt x="179" y="216"/>
                </a:cubicBezTo>
                <a:cubicBezTo>
                  <a:pt x="183" y="208"/>
                  <a:pt x="186" y="198"/>
                  <a:pt x="189" y="189"/>
                </a:cubicBezTo>
                <a:cubicBezTo>
                  <a:pt x="199" y="186"/>
                  <a:pt x="208" y="182"/>
                  <a:pt x="216" y="178"/>
                </a:cubicBezTo>
                <a:cubicBezTo>
                  <a:pt x="220" y="176"/>
                  <a:pt x="223" y="175"/>
                  <a:pt x="227" y="173"/>
                </a:cubicBezTo>
                <a:cubicBezTo>
                  <a:pt x="216" y="196"/>
                  <a:pt x="197" y="215"/>
                  <a:pt x="173" y="226"/>
                </a:cubicBezTo>
                <a:moveTo>
                  <a:pt x="30" y="173"/>
                </a:moveTo>
                <a:cubicBezTo>
                  <a:pt x="33" y="175"/>
                  <a:pt x="37" y="176"/>
                  <a:pt x="40" y="178"/>
                </a:cubicBezTo>
                <a:cubicBezTo>
                  <a:pt x="49" y="182"/>
                  <a:pt x="58" y="186"/>
                  <a:pt x="68" y="189"/>
                </a:cubicBezTo>
                <a:cubicBezTo>
                  <a:pt x="70" y="198"/>
                  <a:pt x="74" y="208"/>
                  <a:pt x="78" y="216"/>
                </a:cubicBezTo>
                <a:cubicBezTo>
                  <a:pt x="80" y="220"/>
                  <a:pt x="82" y="223"/>
                  <a:pt x="84" y="226"/>
                </a:cubicBezTo>
                <a:cubicBezTo>
                  <a:pt x="60" y="215"/>
                  <a:pt x="41" y="196"/>
                  <a:pt x="30" y="173"/>
                </a:cubicBezTo>
                <a:moveTo>
                  <a:pt x="84" y="30"/>
                </a:moveTo>
                <a:cubicBezTo>
                  <a:pt x="82" y="33"/>
                  <a:pt x="80" y="36"/>
                  <a:pt x="78" y="40"/>
                </a:cubicBezTo>
                <a:cubicBezTo>
                  <a:pt x="74" y="48"/>
                  <a:pt x="70" y="57"/>
                  <a:pt x="68" y="67"/>
                </a:cubicBezTo>
                <a:cubicBezTo>
                  <a:pt x="58" y="70"/>
                  <a:pt x="49" y="73"/>
                  <a:pt x="40" y="77"/>
                </a:cubicBezTo>
                <a:cubicBezTo>
                  <a:pt x="37" y="79"/>
                  <a:pt x="33" y="81"/>
                  <a:pt x="30" y="83"/>
                </a:cubicBezTo>
                <a:cubicBezTo>
                  <a:pt x="41" y="59"/>
                  <a:pt x="60" y="40"/>
                  <a:pt x="84" y="30"/>
                </a:cubicBezTo>
                <a:moveTo>
                  <a:pt x="234" y="118"/>
                </a:moveTo>
                <a:cubicBezTo>
                  <a:pt x="197" y="118"/>
                  <a:pt x="197" y="118"/>
                  <a:pt x="197" y="118"/>
                </a:cubicBezTo>
                <a:cubicBezTo>
                  <a:pt x="196" y="108"/>
                  <a:pt x="195" y="99"/>
                  <a:pt x="194" y="90"/>
                </a:cubicBezTo>
                <a:cubicBezTo>
                  <a:pt x="213" y="97"/>
                  <a:pt x="228" y="107"/>
                  <a:pt x="234" y="118"/>
                </a:cubicBezTo>
                <a:moveTo>
                  <a:pt x="194" y="166"/>
                </a:moveTo>
                <a:cubicBezTo>
                  <a:pt x="195" y="157"/>
                  <a:pt x="196" y="147"/>
                  <a:pt x="197" y="138"/>
                </a:cubicBezTo>
                <a:cubicBezTo>
                  <a:pt x="234" y="138"/>
                  <a:pt x="234" y="138"/>
                  <a:pt x="234" y="138"/>
                </a:cubicBezTo>
                <a:cubicBezTo>
                  <a:pt x="228" y="149"/>
                  <a:pt x="213" y="159"/>
                  <a:pt x="194" y="166"/>
                </a:cubicBezTo>
                <a:moveTo>
                  <a:pt x="23" y="138"/>
                </a:moveTo>
                <a:cubicBezTo>
                  <a:pt x="60" y="138"/>
                  <a:pt x="60" y="138"/>
                  <a:pt x="60" y="138"/>
                </a:cubicBezTo>
                <a:cubicBezTo>
                  <a:pt x="60" y="147"/>
                  <a:pt x="61" y="157"/>
                  <a:pt x="63" y="166"/>
                </a:cubicBezTo>
                <a:cubicBezTo>
                  <a:pt x="43" y="159"/>
                  <a:pt x="29" y="149"/>
                  <a:pt x="23" y="138"/>
                </a:cubicBezTo>
                <a:moveTo>
                  <a:pt x="63" y="90"/>
                </a:moveTo>
                <a:cubicBezTo>
                  <a:pt x="61" y="99"/>
                  <a:pt x="60" y="108"/>
                  <a:pt x="60" y="118"/>
                </a:cubicBezTo>
                <a:cubicBezTo>
                  <a:pt x="23" y="118"/>
                  <a:pt x="23" y="118"/>
                  <a:pt x="23" y="118"/>
                </a:cubicBezTo>
                <a:cubicBezTo>
                  <a:pt x="29" y="107"/>
                  <a:pt x="43" y="97"/>
                  <a:pt x="63" y="90"/>
                </a:cubicBezTo>
                <a:moveTo>
                  <a:pt x="176" y="118"/>
                </a:moveTo>
                <a:cubicBezTo>
                  <a:pt x="138" y="118"/>
                  <a:pt x="138" y="118"/>
                  <a:pt x="138" y="118"/>
                </a:cubicBezTo>
                <a:cubicBezTo>
                  <a:pt x="138" y="80"/>
                  <a:pt x="138" y="80"/>
                  <a:pt x="138" y="80"/>
                </a:cubicBezTo>
                <a:cubicBezTo>
                  <a:pt x="150" y="80"/>
                  <a:pt x="162" y="82"/>
                  <a:pt x="172" y="84"/>
                </a:cubicBezTo>
                <a:cubicBezTo>
                  <a:pt x="174" y="95"/>
                  <a:pt x="176" y="106"/>
                  <a:pt x="176" y="118"/>
                </a:cubicBezTo>
                <a:moveTo>
                  <a:pt x="172" y="172"/>
                </a:moveTo>
                <a:cubicBezTo>
                  <a:pt x="162" y="174"/>
                  <a:pt x="150" y="175"/>
                  <a:pt x="138" y="176"/>
                </a:cubicBezTo>
                <a:cubicBezTo>
                  <a:pt x="138" y="138"/>
                  <a:pt x="138" y="138"/>
                  <a:pt x="138" y="138"/>
                </a:cubicBezTo>
                <a:cubicBezTo>
                  <a:pt x="176" y="138"/>
                  <a:pt x="176" y="138"/>
                  <a:pt x="176" y="138"/>
                </a:cubicBezTo>
                <a:cubicBezTo>
                  <a:pt x="176" y="150"/>
                  <a:pt x="174" y="161"/>
                  <a:pt x="172" y="172"/>
                </a:cubicBezTo>
                <a:moveTo>
                  <a:pt x="80" y="138"/>
                </a:moveTo>
                <a:cubicBezTo>
                  <a:pt x="118" y="138"/>
                  <a:pt x="118" y="138"/>
                  <a:pt x="118" y="138"/>
                </a:cubicBezTo>
                <a:cubicBezTo>
                  <a:pt x="118" y="176"/>
                  <a:pt x="118" y="176"/>
                  <a:pt x="118" y="176"/>
                </a:cubicBezTo>
                <a:cubicBezTo>
                  <a:pt x="106" y="175"/>
                  <a:pt x="95" y="174"/>
                  <a:pt x="85" y="172"/>
                </a:cubicBezTo>
                <a:cubicBezTo>
                  <a:pt x="82" y="161"/>
                  <a:pt x="81" y="150"/>
                  <a:pt x="80" y="138"/>
                </a:cubicBezTo>
                <a:moveTo>
                  <a:pt x="85" y="84"/>
                </a:moveTo>
                <a:cubicBezTo>
                  <a:pt x="95" y="82"/>
                  <a:pt x="106" y="80"/>
                  <a:pt x="118" y="80"/>
                </a:cubicBezTo>
                <a:cubicBezTo>
                  <a:pt x="118" y="118"/>
                  <a:pt x="118" y="118"/>
                  <a:pt x="118" y="118"/>
                </a:cubicBezTo>
                <a:cubicBezTo>
                  <a:pt x="80" y="118"/>
                  <a:pt x="80" y="118"/>
                  <a:pt x="80" y="118"/>
                </a:cubicBezTo>
                <a:cubicBezTo>
                  <a:pt x="81" y="106"/>
                  <a:pt x="82" y="95"/>
                  <a:pt x="85" y="84"/>
                </a:cubicBezTo>
                <a:moveTo>
                  <a:pt x="138" y="60"/>
                </a:moveTo>
                <a:cubicBezTo>
                  <a:pt x="138" y="22"/>
                  <a:pt x="138" y="22"/>
                  <a:pt x="138" y="22"/>
                </a:cubicBezTo>
                <a:cubicBezTo>
                  <a:pt x="149" y="28"/>
                  <a:pt x="159" y="43"/>
                  <a:pt x="166" y="62"/>
                </a:cubicBezTo>
                <a:cubicBezTo>
                  <a:pt x="157" y="61"/>
                  <a:pt x="148" y="60"/>
                  <a:pt x="138" y="60"/>
                </a:cubicBezTo>
                <a:moveTo>
                  <a:pt x="118" y="22"/>
                </a:moveTo>
                <a:cubicBezTo>
                  <a:pt x="118" y="60"/>
                  <a:pt x="118" y="60"/>
                  <a:pt x="118" y="60"/>
                </a:cubicBezTo>
                <a:cubicBezTo>
                  <a:pt x="109" y="60"/>
                  <a:pt x="99" y="61"/>
                  <a:pt x="91" y="62"/>
                </a:cubicBezTo>
                <a:cubicBezTo>
                  <a:pt x="97" y="43"/>
                  <a:pt x="107" y="28"/>
                  <a:pt x="118" y="22"/>
                </a:cubicBezTo>
                <a:moveTo>
                  <a:pt x="118" y="196"/>
                </a:moveTo>
                <a:cubicBezTo>
                  <a:pt x="118" y="233"/>
                  <a:pt x="118" y="233"/>
                  <a:pt x="118" y="233"/>
                </a:cubicBezTo>
                <a:cubicBezTo>
                  <a:pt x="107" y="228"/>
                  <a:pt x="97" y="213"/>
                  <a:pt x="91" y="193"/>
                </a:cubicBezTo>
                <a:cubicBezTo>
                  <a:pt x="99" y="195"/>
                  <a:pt x="109" y="196"/>
                  <a:pt x="118" y="196"/>
                </a:cubicBezTo>
                <a:moveTo>
                  <a:pt x="138" y="233"/>
                </a:moveTo>
                <a:cubicBezTo>
                  <a:pt x="138" y="196"/>
                  <a:pt x="138" y="196"/>
                  <a:pt x="138" y="196"/>
                </a:cubicBezTo>
                <a:cubicBezTo>
                  <a:pt x="148" y="196"/>
                  <a:pt x="157" y="195"/>
                  <a:pt x="166" y="193"/>
                </a:cubicBezTo>
                <a:cubicBezTo>
                  <a:pt x="159" y="213"/>
                  <a:pt x="149" y="228"/>
                  <a:pt x="138" y="233"/>
                </a:cubicBezTo>
                <a:moveTo>
                  <a:pt x="216" y="77"/>
                </a:moveTo>
                <a:cubicBezTo>
                  <a:pt x="208" y="73"/>
                  <a:pt x="199" y="70"/>
                  <a:pt x="189" y="67"/>
                </a:cubicBezTo>
                <a:cubicBezTo>
                  <a:pt x="186" y="57"/>
                  <a:pt x="183" y="48"/>
                  <a:pt x="179" y="40"/>
                </a:cubicBezTo>
                <a:cubicBezTo>
                  <a:pt x="177" y="36"/>
                  <a:pt x="175" y="33"/>
                  <a:pt x="173" y="30"/>
                </a:cubicBezTo>
                <a:cubicBezTo>
                  <a:pt x="197" y="40"/>
                  <a:pt x="216" y="59"/>
                  <a:pt x="227" y="83"/>
                </a:cubicBezTo>
                <a:cubicBezTo>
                  <a:pt x="223" y="81"/>
                  <a:pt x="220" y="79"/>
                  <a:pt x="216" y="77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6" name="Google Shape;38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4448" y="6560382"/>
            <a:ext cx="1943106" cy="14623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1"/>
          <p:cNvSpPr txBox="1"/>
          <p:nvPr/>
        </p:nvSpPr>
        <p:spPr>
          <a:xfrm>
            <a:off x="1712822" y="4332375"/>
            <a:ext cx="5663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 Example;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" name="Google Shape;388;p31"/>
          <p:cNvCxnSpPr/>
          <p:nvPr/>
        </p:nvCxnSpPr>
        <p:spPr>
          <a:xfrm flipH="1" rot="10800000">
            <a:off x="3340500" y="1334950"/>
            <a:ext cx="5511000" cy="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 screenshot of a computer&#10;&#10;AI-generated content may be incorrect." id="389" name="Google Shape;38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6750" y="3938150"/>
            <a:ext cx="3238500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>
                <a:highlight>
                  <a:srgbClr val="F5F5F5"/>
                </a:highlight>
                <a:latin typeface="Angsana New"/>
                <a:ea typeface="Angsana New"/>
                <a:cs typeface="Angsana New"/>
                <a:sym typeface="Angsana New"/>
              </a:rPr>
              <a:t>Discussion &amp; Reflection</a:t>
            </a:r>
            <a:r>
              <a:rPr lang="en-US">
                <a:highlight>
                  <a:srgbClr val="F5F5F5"/>
                </a:highlight>
                <a:latin typeface="Angsana New"/>
                <a:ea typeface="Angsana New"/>
                <a:cs typeface="Angsana New"/>
                <a:sym typeface="Angsana New"/>
              </a:rPr>
              <a:t>​</a:t>
            </a:r>
            <a:endParaRPr/>
          </a:p>
        </p:txBody>
      </p:sp>
      <p:sp>
        <p:nvSpPr>
          <p:cNvPr id="395" name="Google Shape;395;p32"/>
          <p:cNvSpPr txBox="1"/>
          <p:nvPr/>
        </p:nvSpPr>
        <p:spPr>
          <a:xfrm>
            <a:off x="6588924" y="4748743"/>
            <a:ext cx="288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2"/>
          <p:cNvSpPr txBox="1"/>
          <p:nvPr/>
        </p:nvSpPr>
        <p:spPr>
          <a:xfrm>
            <a:off x="1553700" y="2006450"/>
            <a:ext cx="10154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happens to Bitmap Indexes during frequent updates/deletes?</a:t>
            </a: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2"/>
          <p:cNvSpPr txBox="1"/>
          <p:nvPr/>
        </p:nvSpPr>
        <p:spPr>
          <a:xfrm>
            <a:off x="1553699" y="2529650"/>
            <a:ext cx="99897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Frequent updates or deletions can cause performance degradation because the database must modify large portions of the bitmap structure, leading to row-level or even table-level locks.​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98" name="Google Shape;398;p32"/>
          <p:cNvGrpSpPr/>
          <p:nvPr/>
        </p:nvGrpSpPr>
        <p:grpSpPr>
          <a:xfrm>
            <a:off x="1032518" y="2026407"/>
            <a:ext cx="439450" cy="437088"/>
            <a:chOff x="-6329100" y="3632100"/>
            <a:chExt cx="293025" cy="291450"/>
          </a:xfrm>
        </p:grpSpPr>
        <p:sp>
          <p:nvSpPr>
            <p:cNvPr id="399" name="Google Shape;399;p32"/>
            <p:cNvSpPr/>
            <p:nvPr/>
          </p:nvSpPr>
          <p:spPr>
            <a:xfrm>
              <a:off x="-6210700" y="3751600"/>
              <a:ext cx="174625" cy="171950"/>
            </a:xfrm>
            <a:custGeom>
              <a:rect b="b" l="l" r="r" t="t"/>
              <a:pathLst>
                <a:path extrusionOk="0" h="6878" w="6985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32"/>
            <p:cNvSpPr/>
            <p:nvPr/>
          </p:nvSpPr>
          <p:spPr>
            <a:xfrm>
              <a:off x="-6272400" y="3691975"/>
              <a:ext cx="136300" cy="135500"/>
            </a:xfrm>
            <a:custGeom>
              <a:rect b="b" l="l" r="r" t="t"/>
              <a:pathLst>
                <a:path extrusionOk="0" h="5420" w="5452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32"/>
            <p:cNvSpPr/>
            <p:nvPr/>
          </p:nvSpPr>
          <p:spPr>
            <a:xfrm>
              <a:off x="-6329100" y="3632100"/>
              <a:ext cx="257575" cy="256025"/>
            </a:xfrm>
            <a:custGeom>
              <a:rect b="b" l="l" r="r" t="t"/>
              <a:pathLst>
                <a:path extrusionOk="0" h="10241" w="10303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" name="Google Shape;402;p32"/>
          <p:cNvSpPr/>
          <p:nvPr/>
        </p:nvSpPr>
        <p:spPr>
          <a:xfrm>
            <a:off x="1168177" y="4378852"/>
            <a:ext cx="385535" cy="384032"/>
          </a:xfrm>
          <a:custGeom>
            <a:rect b="b" l="l" r="r" t="t"/>
            <a:pathLst>
              <a:path extrusionOk="0" h="256" w="257">
                <a:moveTo>
                  <a:pt x="128" y="0"/>
                </a:moveTo>
                <a:cubicBezTo>
                  <a:pt x="58" y="0"/>
                  <a:pt x="0" y="57"/>
                  <a:pt x="0" y="128"/>
                </a:cubicBezTo>
                <a:cubicBezTo>
                  <a:pt x="0" y="199"/>
                  <a:pt x="58" y="256"/>
                  <a:pt x="128" y="256"/>
                </a:cubicBezTo>
                <a:cubicBezTo>
                  <a:pt x="199" y="256"/>
                  <a:pt x="257" y="199"/>
                  <a:pt x="257" y="128"/>
                </a:cubicBezTo>
                <a:cubicBezTo>
                  <a:pt x="257" y="57"/>
                  <a:pt x="199" y="0"/>
                  <a:pt x="128" y="0"/>
                </a:cubicBezTo>
                <a:moveTo>
                  <a:pt x="173" y="226"/>
                </a:moveTo>
                <a:cubicBezTo>
                  <a:pt x="175" y="223"/>
                  <a:pt x="177" y="220"/>
                  <a:pt x="179" y="216"/>
                </a:cubicBezTo>
                <a:cubicBezTo>
                  <a:pt x="183" y="208"/>
                  <a:pt x="186" y="198"/>
                  <a:pt x="189" y="189"/>
                </a:cubicBezTo>
                <a:cubicBezTo>
                  <a:pt x="199" y="186"/>
                  <a:pt x="208" y="182"/>
                  <a:pt x="216" y="178"/>
                </a:cubicBezTo>
                <a:cubicBezTo>
                  <a:pt x="220" y="176"/>
                  <a:pt x="223" y="175"/>
                  <a:pt x="227" y="173"/>
                </a:cubicBezTo>
                <a:cubicBezTo>
                  <a:pt x="216" y="196"/>
                  <a:pt x="197" y="215"/>
                  <a:pt x="173" y="226"/>
                </a:cubicBezTo>
                <a:moveTo>
                  <a:pt x="30" y="173"/>
                </a:moveTo>
                <a:cubicBezTo>
                  <a:pt x="33" y="175"/>
                  <a:pt x="37" y="176"/>
                  <a:pt x="40" y="178"/>
                </a:cubicBezTo>
                <a:cubicBezTo>
                  <a:pt x="49" y="182"/>
                  <a:pt x="58" y="186"/>
                  <a:pt x="68" y="189"/>
                </a:cubicBezTo>
                <a:cubicBezTo>
                  <a:pt x="70" y="198"/>
                  <a:pt x="74" y="208"/>
                  <a:pt x="78" y="216"/>
                </a:cubicBezTo>
                <a:cubicBezTo>
                  <a:pt x="80" y="220"/>
                  <a:pt x="82" y="223"/>
                  <a:pt x="84" y="226"/>
                </a:cubicBezTo>
                <a:cubicBezTo>
                  <a:pt x="60" y="215"/>
                  <a:pt x="41" y="196"/>
                  <a:pt x="30" y="173"/>
                </a:cubicBezTo>
                <a:moveTo>
                  <a:pt x="84" y="30"/>
                </a:moveTo>
                <a:cubicBezTo>
                  <a:pt x="82" y="33"/>
                  <a:pt x="80" y="36"/>
                  <a:pt x="78" y="40"/>
                </a:cubicBezTo>
                <a:cubicBezTo>
                  <a:pt x="74" y="48"/>
                  <a:pt x="70" y="57"/>
                  <a:pt x="68" y="67"/>
                </a:cubicBezTo>
                <a:cubicBezTo>
                  <a:pt x="58" y="70"/>
                  <a:pt x="49" y="73"/>
                  <a:pt x="40" y="77"/>
                </a:cubicBezTo>
                <a:cubicBezTo>
                  <a:pt x="37" y="79"/>
                  <a:pt x="33" y="81"/>
                  <a:pt x="30" y="83"/>
                </a:cubicBezTo>
                <a:cubicBezTo>
                  <a:pt x="41" y="59"/>
                  <a:pt x="60" y="40"/>
                  <a:pt x="84" y="30"/>
                </a:cubicBezTo>
                <a:moveTo>
                  <a:pt x="234" y="118"/>
                </a:moveTo>
                <a:cubicBezTo>
                  <a:pt x="197" y="118"/>
                  <a:pt x="197" y="118"/>
                  <a:pt x="197" y="118"/>
                </a:cubicBezTo>
                <a:cubicBezTo>
                  <a:pt x="196" y="108"/>
                  <a:pt x="195" y="99"/>
                  <a:pt x="194" y="90"/>
                </a:cubicBezTo>
                <a:cubicBezTo>
                  <a:pt x="213" y="97"/>
                  <a:pt x="228" y="107"/>
                  <a:pt x="234" y="118"/>
                </a:cubicBezTo>
                <a:moveTo>
                  <a:pt x="194" y="166"/>
                </a:moveTo>
                <a:cubicBezTo>
                  <a:pt x="195" y="157"/>
                  <a:pt x="196" y="147"/>
                  <a:pt x="197" y="138"/>
                </a:cubicBezTo>
                <a:cubicBezTo>
                  <a:pt x="234" y="138"/>
                  <a:pt x="234" y="138"/>
                  <a:pt x="234" y="138"/>
                </a:cubicBezTo>
                <a:cubicBezTo>
                  <a:pt x="228" y="149"/>
                  <a:pt x="213" y="159"/>
                  <a:pt x="194" y="166"/>
                </a:cubicBezTo>
                <a:moveTo>
                  <a:pt x="23" y="138"/>
                </a:moveTo>
                <a:cubicBezTo>
                  <a:pt x="60" y="138"/>
                  <a:pt x="60" y="138"/>
                  <a:pt x="60" y="138"/>
                </a:cubicBezTo>
                <a:cubicBezTo>
                  <a:pt x="60" y="147"/>
                  <a:pt x="61" y="157"/>
                  <a:pt x="63" y="166"/>
                </a:cubicBezTo>
                <a:cubicBezTo>
                  <a:pt x="43" y="159"/>
                  <a:pt x="29" y="149"/>
                  <a:pt x="23" y="138"/>
                </a:cubicBezTo>
                <a:moveTo>
                  <a:pt x="63" y="90"/>
                </a:moveTo>
                <a:cubicBezTo>
                  <a:pt x="61" y="99"/>
                  <a:pt x="60" y="108"/>
                  <a:pt x="60" y="118"/>
                </a:cubicBezTo>
                <a:cubicBezTo>
                  <a:pt x="23" y="118"/>
                  <a:pt x="23" y="118"/>
                  <a:pt x="23" y="118"/>
                </a:cubicBezTo>
                <a:cubicBezTo>
                  <a:pt x="29" y="107"/>
                  <a:pt x="43" y="97"/>
                  <a:pt x="63" y="90"/>
                </a:cubicBezTo>
                <a:moveTo>
                  <a:pt x="176" y="118"/>
                </a:moveTo>
                <a:cubicBezTo>
                  <a:pt x="138" y="118"/>
                  <a:pt x="138" y="118"/>
                  <a:pt x="138" y="118"/>
                </a:cubicBezTo>
                <a:cubicBezTo>
                  <a:pt x="138" y="80"/>
                  <a:pt x="138" y="80"/>
                  <a:pt x="138" y="80"/>
                </a:cubicBezTo>
                <a:cubicBezTo>
                  <a:pt x="150" y="80"/>
                  <a:pt x="162" y="82"/>
                  <a:pt x="172" y="84"/>
                </a:cubicBezTo>
                <a:cubicBezTo>
                  <a:pt x="174" y="95"/>
                  <a:pt x="176" y="106"/>
                  <a:pt x="176" y="118"/>
                </a:cubicBezTo>
                <a:moveTo>
                  <a:pt x="172" y="172"/>
                </a:moveTo>
                <a:cubicBezTo>
                  <a:pt x="162" y="174"/>
                  <a:pt x="150" y="175"/>
                  <a:pt x="138" y="176"/>
                </a:cubicBezTo>
                <a:cubicBezTo>
                  <a:pt x="138" y="138"/>
                  <a:pt x="138" y="138"/>
                  <a:pt x="138" y="138"/>
                </a:cubicBezTo>
                <a:cubicBezTo>
                  <a:pt x="176" y="138"/>
                  <a:pt x="176" y="138"/>
                  <a:pt x="176" y="138"/>
                </a:cubicBezTo>
                <a:cubicBezTo>
                  <a:pt x="176" y="150"/>
                  <a:pt x="174" y="161"/>
                  <a:pt x="172" y="172"/>
                </a:cubicBezTo>
                <a:moveTo>
                  <a:pt x="80" y="138"/>
                </a:moveTo>
                <a:cubicBezTo>
                  <a:pt x="118" y="138"/>
                  <a:pt x="118" y="138"/>
                  <a:pt x="118" y="138"/>
                </a:cubicBezTo>
                <a:cubicBezTo>
                  <a:pt x="118" y="176"/>
                  <a:pt x="118" y="176"/>
                  <a:pt x="118" y="176"/>
                </a:cubicBezTo>
                <a:cubicBezTo>
                  <a:pt x="106" y="175"/>
                  <a:pt x="95" y="174"/>
                  <a:pt x="85" y="172"/>
                </a:cubicBezTo>
                <a:cubicBezTo>
                  <a:pt x="82" y="161"/>
                  <a:pt x="81" y="150"/>
                  <a:pt x="80" y="138"/>
                </a:cubicBezTo>
                <a:moveTo>
                  <a:pt x="85" y="84"/>
                </a:moveTo>
                <a:cubicBezTo>
                  <a:pt x="95" y="82"/>
                  <a:pt x="106" y="80"/>
                  <a:pt x="118" y="80"/>
                </a:cubicBezTo>
                <a:cubicBezTo>
                  <a:pt x="118" y="118"/>
                  <a:pt x="118" y="118"/>
                  <a:pt x="118" y="118"/>
                </a:cubicBezTo>
                <a:cubicBezTo>
                  <a:pt x="80" y="118"/>
                  <a:pt x="80" y="118"/>
                  <a:pt x="80" y="118"/>
                </a:cubicBezTo>
                <a:cubicBezTo>
                  <a:pt x="81" y="106"/>
                  <a:pt x="82" y="95"/>
                  <a:pt x="85" y="84"/>
                </a:cubicBezTo>
                <a:moveTo>
                  <a:pt x="138" y="60"/>
                </a:moveTo>
                <a:cubicBezTo>
                  <a:pt x="138" y="22"/>
                  <a:pt x="138" y="22"/>
                  <a:pt x="138" y="22"/>
                </a:cubicBezTo>
                <a:cubicBezTo>
                  <a:pt x="149" y="28"/>
                  <a:pt x="159" y="43"/>
                  <a:pt x="166" y="62"/>
                </a:cubicBezTo>
                <a:cubicBezTo>
                  <a:pt x="157" y="61"/>
                  <a:pt x="148" y="60"/>
                  <a:pt x="138" y="60"/>
                </a:cubicBezTo>
                <a:moveTo>
                  <a:pt x="118" y="22"/>
                </a:moveTo>
                <a:cubicBezTo>
                  <a:pt x="118" y="60"/>
                  <a:pt x="118" y="60"/>
                  <a:pt x="118" y="60"/>
                </a:cubicBezTo>
                <a:cubicBezTo>
                  <a:pt x="109" y="60"/>
                  <a:pt x="99" y="61"/>
                  <a:pt x="91" y="62"/>
                </a:cubicBezTo>
                <a:cubicBezTo>
                  <a:pt x="97" y="43"/>
                  <a:pt x="107" y="28"/>
                  <a:pt x="118" y="22"/>
                </a:cubicBezTo>
                <a:moveTo>
                  <a:pt x="118" y="196"/>
                </a:moveTo>
                <a:cubicBezTo>
                  <a:pt x="118" y="233"/>
                  <a:pt x="118" y="233"/>
                  <a:pt x="118" y="233"/>
                </a:cubicBezTo>
                <a:cubicBezTo>
                  <a:pt x="107" y="228"/>
                  <a:pt x="97" y="213"/>
                  <a:pt x="91" y="193"/>
                </a:cubicBezTo>
                <a:cubicBezTo>
                  <a:pt x="99" y="195"/>
                  <a:pt x="109" y="196"/>
                  <a:pt x="118" y="196"/>
                </a:cubicBezTo>
                <a:moveTo>
                  <a:pt x="138" y="233"/>
                </a:moveTo>
                <a:cubicBezTo>
                  <a:pt x="138" y="196"/>
                  <a:pt x="138" y="196"/>
                  <a:pt x="138" y="196"/>
                </a:cubicBezTo>
                <a:cubicBezTo>
                  <a:pt x="148" y="196"/>
                  <a:pt x="157" y="195"/>
                  <a:pt x="166" y="193"/>
                </a:cubicBezTo>
                <a:cubicBezTo>
                  <a:pt x="159" y="213"/>
                  <a:pt x="149" y="228"/>
                  <a:pt x="138" y="233"/>
                </a:cubicBezTo>
                <a:moveTo>
                  <a:pt x="216" y="77"/>
                </a:moveTo>
                <a:cubicBezTo>
                  <a:pt x="208" y="73"/>
                  <a:pt x="199" y="70"/>
                  <a:pt x="189" y="67"/>
                </a:cubicBezTo>
                <a:cubicBezTo>
                  <a:pt x="186" y="57"/>
                  <a:pt x="183" y="48"/>
                  <a:pt x="179" y="40"/>
                </a:cubicBezTo>
                <a:cubicBezTo>
                  <a:pt x="177" y="36"/>
                  <a:pt x="175" y="33"/>
                  <a:pt x="173" y="30"/>
                </a:cubicBezTo>
                <a:cubicBezTo>
                  <a:pt x="197" y="40"/>
                  <a:pt x="216" y="59"/>
                  <a:pt x="227" y="83"/>
                </a:cubicBezTo>
                <a:cubicBezTo>
                  <a:pt x="223" y="81"/>
                  <a:pt x="220" y="79"/>
                  <a:pt x="216" y="77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" name="Google Shape;40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4448" y="6560382"/>
            <a:ext cx="1943106" cy="146231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2"/>
          <p:cNvSpPr txBox="1"/>
          <p:nvPr/>
        </p:nvSpPr>
        <p:spPr>
          <a:xfrm>
            <a:off x="1712822" y="4332375"/>
            <a:ext cx="566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Resulting in;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5" name="Google Shape;405;p32"/>
          <p:cNvCxnSpPr/>
          <p:nvPr/>
        </p:nvCxnSpPr>
        <p:spPr>
          <a:xfrm flipH="1" rot="10800000">
            <a:off x="3340500" y="1334950"/>
            <a:ext cx="5511000" cy="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32"/>
          <p:cNvSpPr txBox="1"/>
          <p:nvPr/>
        </p:nvSpPr>
        <p:spPr>
          <a:xfrm>
            <a:off x="1964725" y="4855575"/>
            <a:ext cx="46242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performance in </a:t>
            </a:r>
            <a:r>
              <a:rPr b="1"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OLAP systems</a:t>
            </a: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(read-heavy environments).​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p32"/>
          <p:cNvSpPr txBox="1"/>
          <p:nvPr/>
        </p:nvSpPr>
        <p:spPr>
          <a:xfrm>
            <a:off x="6767525" y="4855575"/>
            <a:ext cx="41862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Slower performance in </a:t>
            </a:r>
            <a:r>
              <a:rPr b="1"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OLTP systems</a:t>
            </a: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(many write operations).​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3"/>
          <p:cNvSpPr txBox="1"/>
          <p:nvPr/>
        </p:nvSpPr>
        <p:spPr>
          <a:xfrm>
            <a:off x="3647115" y="2649752"/>
            <a:ext cx="470693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413" name="Google Shape;413;p33"/>
          <p:cNvSpPr txBox="1"/>
          <p:nvPr/>
        </p:nvSpPr>
        <p:spPr>
          <a:xfrm>
            <a:off x="4434467" y="4076956"/>
            <a:ext cx="16615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univteknologimalaysia</a:t>
            </a:r>
            <a:endParaRPr/>
          </a:p>
        </p:txBody>
      </p:sp>
      <p:grpSp>
        <p:nvGrpSpPr>
          <p:cNvPr id="414" name="Google Shape;414;p33"/>
          <p:cNvGrpSpPr/>
          <p:nvPr/>
        </p:nvGrpSpPr>
        <p:grpSpPr>
          <a:xfrm>
            <a:off x="3366240" y="4067101"/>
            <a:ext cx="280228" cy="281958"/>
            <a:chOff x="2163763" y="-1266825"/>
            <a:chExt cx="1028700" cy="1035050"/>
          </a:xfrm>
        </p:grpSpPr>
        <p:sp>
          <p:nvSpPr>
            <p:cNvPr id="415" name="Google Shape;415;p33"/>
            <p:cNvSpPr/>
            <p:nvPr/>
          </p:nvSpPr>
          <p:spPr>
            <a:xfrm>
              <a:off x="2163763" y="-1266825"/>
              <a:ext cx="1028700" cy="1035050"/>
            </a:xfrm>
            <a:custGeom>
              <a:rect b="b" l="l" r="r" t="t"/>
              <a:pathLst>
                <a:path extrusionOk="0" h="396" w="396">
                  <a:moveTo>
                    <a:pt x="198" y="0"/>
                  </a:moveTo>
                  <a:cubicBezTo>
                    <a:pt x="252" y="0"/>
                    <a:pt x="302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2" y="374"/>
                    <a:pt x="252" y="396"/>
                    <a:pt x="198" y="396"/>
                  </a:cubicBezTo>
                  <a:cubicBezTo>
                    <a:pt x="143" y="396"/>
                    <a:pt x="93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3" y="22"/>
                    <a:pt x="143" y="0"/>
                    <a:pt x="198" y="0"/>
                  </a:cubicBezTo>
                  <a:close/>
                  <a:moveTo>
                    <a:pt x="327" y="69"/>
                  </a:moveTo>
                  <a:cubicBezTo>
                    <a:pt x="294" y="36"/>
                    <a:pt x="248" y="15"/>
                    <a:pt x="198" y="15"/>
                  </a:cubicBezTo>
                  <a:cubicBezTo>
                    <a:pt x="147" y="15"/>
                    <a:pt x="102" y="36"/>
                    <a:pt x="69" y="69"/>
                  </a:cubicBezTo>
                  <a:cubicBezTo>
                    <a:pt x="36" y="102"/>
                    <a:pt x="15" y="147"/>
                    <a:pt x="15" y="198"/>
                  </a:cubicBezTo>
                  <a:cubicBezTo>
                    <a:pt x="15" y="248"/>
                    <a:pt x="36" y="294"/>
                    <a:pt x="69" y="327"/>
                  </a:cubicBezTo>
                  <a:cubicBezTo>
                    <a:pt x="102" y="360"/>
                    <a:pt x="147" y="380"/>
                    <a:pt x="198" y="380"/>
                  </a:cubicBezTo>
                  <a:cubicBezTo>
                    <a:pt x="248" y="380"/>
                    <a:pt x="294" y="360"/>
                    <a:pt x="327" y="327"/>
                  </a:cubicBezTo>
                  <a:cubicBezTo>
                    <a:pt x="360" y="294"/>
                    <a:pt x="380" y="248"/>
                    <a:pt x="380" y="198"/>
                  </a:cubicBezTo>
                  <a:cubicBezTo>
                    <a:pt x="380" y="147"/>
                    <a:pt x="360" y="102"/>
                    <a:pt x="327" y="69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33"/>
            <p:cNvSpPr/>
            <p:nvPr/>
          </p:nvSpPr>
          <p:spPr>
            <a:xfrm>
              <a:off x="2554288" y="-1014413"/>
              <a:ext cx="246063" cy="528638"/>
            </a:xfrm>
            <a:custGeom>
              <a:rect b="b" l="l" r="r" t="t"/>
              <a:pathLst>
                <a:path extrusionOk="0" h="202" w="95">
                  <a:moveTo>
                    <a:pt x="63" y="60"/>
                  </a:moveTo>
                  <a:cubicBezTo>
                    <a:pt x="63" y="44"/>
                    <a:pt x="63" y="44"/>
                    <a:pt x="63" y="44"/>
                  </a:cubicBezTo>
                  <a:cubicBezTo>
                    <a:pt x="63" y="36"/>
                    <a:pt x="68" y="34"/>
                    <a:pt x="72" y="34"/>
                  </a:cubicBezTo>
                  <a:cubicBezTo>
                    <a:pt x="75" y="34"/>
                    <a:pt x="94" y="34"/>
                    <a:pt x="94" y="34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21" y="25"/>
                    <a:pt x="21" y="42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21" y="101"/>
                    <a:pt x="21" y="101"/>
                    <a:pt x="21" y="101"/>
                  </a:cubicBezTo>
                  <a:cubicBezTo>
                    <a:pt x="21" y="147"/>
                    <a:pt x="21" y="202"/>
                    <a:pt x="21" y="202"/>
                  </a:cubicBezTo>
                  <a:cubicBezTo>
                    <a:pt x="61" y="202"/>
                    <a:pt x="61" y="202"/>
                    <a:pt x="61" y="202"/>
                  </a:cubicBezTo>
                  <a:cubicBezTo>
                    <a:pt x="61" y="202"/>
                    <a:pt x="61" y="146"/>
                    <a:pt x="61" y="101"/>
                  </a:cubicBezTo>
                  <a:cubicBezTo>
                    <a:pt x="91" y="101"/>
                    <a:pt x="91" y="101"/>
                    <a:pt x="91" y="101"/>
                  </a:cubicBezTo>
                  <a:cubicBezTo>
                    <a:pt x="92" y="85"/>
                    <a:pt x="92" y="85"/>
                    <a:pt x="92" y="85"/>
                  </a:cubicBezTo>
                  <a:cubicBezTo>
                    <a:pt x="95" y="60"/>
                    <a:pt x="95" y="60"/>
                    <a:pt x="95" y="60"/>
                  </a:cubicBezTo>
                  <a:lnTo>
                    <a:pt x="63" y="6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33"/>
          <p:cNvGrpSpPr/>
          <p:nvPr/>
        </p:nvGrpSpPr>
        <p:grpSpPr>
          <a:xfrm>
            <a:off x="7531144" y="4077067"/>
            <a:ext cx="279796" cy="281958"/>
            <a:chOff x="3470276" y="-1266825"/>
            <a:chExt cx="1027113" cy="1035050"/>
          </a:xfrm>
        </p:grpSpPr>
        <p:sp>
          <p:nvSpPr>
            <p:cNvPr id="418" name="Google Shape;418;p33"/>
            <p:cNvSpPr/>
            <p:nvPr/>
          </p:nvSpPr>
          <p:spPr>
            <a:xfrm>
              <a:off x="3470276" y="-1266825"/>
              <a:ext cx="1027113" cy="1035050"/>
            </a:xfrm>
            <a:custGeom>
              <a:rect b="b" l="l" r="r" t="t"/>
              <a:pathLst>
                <a:path extrusionOk="0" h="396" w="396">
                  <a:moveTo>
                    <a:pt x="198" y="0"/>
                  </a:moveTo>
                  <a:cubicBezTo>
                    <a:pt x="253" y="0"/>
                    <a:pt x="303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3" y="374"/>
                    <a:pt x="253" y="396"/>
                    <a:pt x="198" y="396"/>
                  </a:cubicBezTo>
                  <a:cubicBezTo>
                    <a:pt x="144" y="396"/>
                    <a:pt x="94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4" y="22"/>
                    <a:pt x="144" y="0"/>
                    <a:pt x="198" y="0"/>
                  </a:cubicBezTo>
                  <a:close/>
                  <a:moveTo>
                    <a:pt x="328" y="69"/>
                  </a:moveTo>
                  <a:cubicBezTo>
                    <a:pt x="294" y="36"/>
                    <a:pt x="249" y="15"/>
                    <a:pt x="198" y="15"/>
                  </a:cubicBezTo>
                  <a:cubicBezTo>
                    <a:pt x="148" y="15"/>
                    <a:pt x="102" y="36"/>
                    <a:pt x="69" y="69"/>
                  </a:cubicBezTo>
                  <a:cubicBezTo>
                    <a:pt x="36" y="102"/>
                    <a:pt x="16" y="147"/>
                    <a:pt x="16" y="198"/>
                  </a:cubicBezTo>
                  <a:cubicBezTo>
                    <a:pt x="16" y="248"/>
                    <a:pt x="36" y="294"/>
                    <a:pt x="69" y="327"/>
                  </a:cubicBezTo>
                  <a:cubicBezTo>
                    <a:pt x="102" y="360"/>
                    <a:pt x="148" y="380"/>
                    <a:pt x="198" y="380"/>
                  </a:cubicBezTo>
                  <a:cubicBezTo>
                    <a:pt x="249" y="380"/>
                    <a:pt x="294" y="360"/>
                    <a:pt x="328" y="327"/>
                  </a:cubicBezTo>
                  <a:cubicBezTo>
                    <a:pt x="361" y="294"/>
                    <a:pt x="381" y="248"/>
                    <a:pt x="381" y="198"/>
                  </a:cubicBezTo>
                  <a:cubicBezTo>
                    <a:pt x="381" y="147"/>
                    <a:pt x="361" y="102"/>
                    <a:pt x="328" y="69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33"/>
            <p:cNvSpPr/>
            <p:nvPr/>
          </p:nvSpPr>
          <p:spPr>
            <a:xfrm>
              <a:off x="3727451" y="-1011238"/>
              <a:ext cx="515938" cy="520700"/>
            </a:xfrm>
            <a:custGeom>
              <a:rect b="b" l="l" r="r" t="t"/>
              <a:pathLst>
                <a:path extrusionOk="0" h="199" w="199">
                  <a:moveTo>
                    <a:pt x="49" y="100"/>
                  </a:moveTo>
                  <a:cubicBezTo>
                    <a:pt x="49" y="72"/>
                    <a:pt x="71" y="49"/>
                    <a:pt x="99" y="49"/>
                  </a:cubicBezTo>
                  <a:cubicBezTo>
                    <a:pt x="127" y="49"/>
                    <a:pt x="150" y="72"/>
                    <a:pt x="150" y="100"/>
                  </a:cubicBezTo>
                  <a:cubicBezTo>
                    <a:pt x="150" y="128"/>
                    <a:pt x="127" y="150"/>
                    <a:pt x="99" y="150"/>
                  </a:cubicBezTo>
                  <a:cubicBezTo>
                    <a:pt x="71" y="150"/>
                    <a:pt x="49" y="128"/>
                    <a:pt x="49" y="100"/>
                  </a:cubicBezTo>
                  <a:close/>
                  <a:moveTo>
                    <a:pt x="152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78"/>
                    <a:pt x="21" y="199"/>
                    <a:pt x="47" y="199"/>
                  </a:cubicBezTo>
                  <a:cubicBezTo>
                    <a:pt x="152" y="199"/>
                    <a:pt x="152" y="199"/>
                    <a:pt x="152" y="199"/>
                  </a:cubicBezTo>
                  <a:cubicBezTo>
                    <a:pt x="178" y="199"/>
                    <a:pt x="199" y="178"/>
                    <a:pt x="199" y="152"/>
                  </a:cubicBezTo>
                  <a:cubicBezTo>
                    <a:pt x="199" y="47"/>
                    <a:pt x="199" y="47"/>
                    <a:pt x="199" y="47"/>
                  </a:cubicBezTo>
                  <a:cubicBezTo>
                    <a:pt x="199" y="21"/>
                    <a:pt x="178" y="0"/>
                    <a:pt x="152" y="0"/>
                  </a:cubicBezTo>
                  <a:close/>
                  <a:moveTo>
                    <a:pt x="47" y="12"/>
                  </a:moveTo>
                  <a:cubicBezTo>
                    <a:pt x="152" y="12"/>
                    <a:pt x="152" y="12"/>
                    <a:pt x="152" y="12"/>
                  </a:cubicBezTo>
                  <a:cubicBezTo>
                    <a:pt x="171" y="12"/>
                    <a:pt x="187" y="28"/>
                    <a:pt x="187" y="47"/>
                  </a:cubicBezTo>
                  <a:cubicBezTo>
                    <a:pt x="187" y="152"/>
                    <a:pt x="187" y="152"/>
                    <a:pt x="187" y="152"/>
                  </a:cubicBezTo>
                  <a:cubicBezTo>
                    <a:pt x="187" y="171"/>
                    <a:pt x="171" y="187"/>
                    <a:pt x="152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28" y="187"/>
                    <a:pt x="12" y="171"/>
                    <a:pt x="12" y="152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28"/>
                    <a:pt x="28" y="12"/>
                    <a:pt x="47" y="12"/>
                  </a:cubicBezTo>
                  <a:close/>
                  <a:moveTo>
                    <a:pt x="162" y="27"/>
                  </a:moveTo>
                  <a:cubicBezTo>
                    <a:pt x="156" y="27"/>
                    <a:pt x="152" y="32"/>
                    <a:pt x="152" y="37"/>
                  </a:cubicBezTo>
                  <a:cubicBezTo>
                    <a:pt x="152" y="43"/>
                    <a:pt x="156" y="48"/>
                    <a:pt x="162" y="48"/>
                  </a:cubicBezTo>
                  <a:cubicBezTo>
                    <a:pt x="168" y="48"/>
                    <a:pt x="173" y="43"/>
                    <a:pt x="173" y="37"/>
                  </a:cubicBezTo>
                  <a:cubicBezTo>
                    <a:pt x="173" y="32"/>
                    <a:pt x="168" y="27"/>
                    <a:pt x="162" y="27"/>
                  </a:cubicBezTo>
                  <a:close/>
                  <a:moveTo>
                    <a:pt x="163" y="100"/>
                  </a:moveTo>
                  <a:cubicBezTo>
                    <a:pt x="163" y="64"/>
                    <a:pt x="135" y="36"/>
                    <a:pt x="99" y="36"/>
                  </a:cubicBezTo>
                  <a:cubicBezTo>
                    <a:pt x="64" y="36"/>
                    <a:pt x="35" y="64"/>
                    <a:pt x="35" y="100"/>
                  </a:cubicBezTo>
                  <a:cubicBezTo>
                    <a:pt x="35" y="135"/>
                    <a:pt x="64" y="164"/>
                    <a:pt x="99" y="164"/>
                  </a:cubicBezTo>
                  <a:cubicBezTo>
                    <a:pt x="135" y="164"/>
                    <a:pt x="163" y="135"/>
                    <a:pt x="163" y="10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0" name="Google Shape;420;p33"/>
          <p:cNvSpPr txBox="1"/>
          <p:nvPr/>
        </p:nvSpPr>
        <p:spPr>
          <a:xfrm>
            <a:off x="6711844" y="4072060"/>
            <a:ext cx="30299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utm.my</a:t>
            </a:r>
            <a:endParaRPr/>
          </a:p>
        </p:txBody>
      </p:sp>
      <p:sp>
        <p:nvSpPr>
          <p:cNvPr id="421" name="Google Shape;421;p33"/>
          <p:cNvSpPr/>
          <p:nvPr/>
        </p:nvSpPr>
        <p:spPr>
          <a:xfrm>
            <a:off x="3720466" y="4076956"/>
            <a:ext cx="279328" cy="279328"/>
          </a:xfrm>
          <a:custGeom>
            <a:rect b="b" l="l" r="r" t="t"/>
            <a:pathLst>
              <a:path extrusionOk="0" h="21600" w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9025" lIns="19025" spcFirstLastPara="1" rIns="19025" wrap="square" tIns="19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3"/>
          <p:cNvSpPr/>
          <p:nvPr/>
        </p:nvSpPr>
        <p:spPr>
          <a:xfrm>
            <a:off x="4072196" y="4076956"/>
            <a:ext cx="279328" cy="279328"/>
          </a:xfrm>
          <a:custGeom>
            <a:rect b="b" l="l" r="r" t="t"/>
            <a:pathLst>
              <a:path extrusionOk="0" h="21600" w="21600">
                <a:moveTo>
                  <a:pt x="14324" y="12090"/>
                </a:moveTo>
                <a:cubicBezTo>
                  <a:pt x="14019" y="12090"/>
                  <a:pt x="14019" y="12428"/>
                  <a:pt x="14019" y="12428"/>
                </a:cubicBezTo>
                <a:lnTo>
                  <a:pt x="14019" y="12863"/>
                </a:lnTo>
                <a:lnTo>
                  <a:pt x="14628" y="12863"/>
                </a:lnTo>
                <a:lnTo>
                  <a:pt x="14628" y="12428"/>
                </a:lnTo>
                <a:cubicBezTo>
                  <a:pt x="14628" y="12428"/>
                  <a:pt x="14628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19" y="13348"/>
                </a:lnTo>
                <a:lnTo>
                  <a:pt x="14019" y="14072"/>
                </a:lnTo>
                <a:cubicBezTo>
                  <a:pt x="14019" y="14072"/>
                  <a:pt x="14019" y="14411"/>
                  <a:pt x="14324" y="14411"/>
                </a:cubicBezTo>
                <a:cubicBezTo>
                  <a:pt x="14628" y="14411"/>
                  <a:pt x="14628" y="14072"/>
                  <a:pt x="14628" y="14072"/>
                </a:cubicBezTo>
                <a:lnTo>
                  <a:pt x="14628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1" y="14266"/>
                  <a:pt x="13411" y="14266"/>
                </a:cubicBezTo>
                <a:lnTo>
                  <a:pt x="13411" y="12380"/>
                </a:lnTo>
                <a:cubicBezTo>
                  <a:pt x="13411" y="12380"/>
                  <a:pt x="13411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4" y="14169"/>
                </a:moveTo>
                <a:cubicBezTo>
                  <a:pt x="12904" y="14169"/>
                  <a:pt x="12904" y="14943"/>
                  <a:pt x="12347" y="14943"/>
                </a:cubicBezTo>
                <a:cubicBezTo>
                  <a:pt x="12005" y="14943"/>
                  <a:pt x="11798" y="14762"/>
                  <a:pt x="11687" y="14621"/>
                </a:cubicBezTo>
                <a:lnTo>
                  <a:pt x="11687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7" y="10446"/>
                </a:lnTo>
                <a:lnTo>
                  <a:pt x="11687" y="11888"/>
                </a:lnTo>
                <a:cubicBezTo>
                  <a:pt x="11788" y="11782"/>
                  <a:pt x="12036" y="11558"/>
                  <a:pt x="12347" y="11558"/>
                </a:cubicBezTo>
                <a:cubicBezTo>
                  <a:pt x="12752" y="11558"/>
                  <a:pt x="12904" y="11896"/>
                  <a:pt x="12904" y="12332"/>
                </a:cubicBezTo>
                <a:cubicBezTo>
                  <a:pt x="12904" y="12332"/>
                  <a:pt x="12904" y="14169"/>
                  <a:pt x="12904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3" y="11074"/>
                </a:lnTo>
                <a:lnTo>
                  <a:pt x="6363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0" y="9334"/>
                  <a:pt x="7074" y="9430"/>
                  <a:pt x="7074" y="9430"/>
                </a:cubicBezTo>
                <a:cubicBezTo>
                  <a:pt x="6233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3" y="16103"/>
                  <a:pt x="7074" y="16103"/>
                </a:cubicBezTo>
                <a:cubicBezTo>
                  <a:pt x="7074" y="16103"/>
                  <a:pt x="8905" y="16200"/>
                  <a:pt x="10800" y="16200"/>
                </a:cubicBezTo>
                <a:cubicBezTo>
                  <a:pt x="12630" y="16200"/>
                  <a:pt x="14527" y="16103"/>
                  <a:pt x="14527" y="16103"/>
                </a:cubicBezTo>
                <a:cubicBezTo>
                  <a:pt x="15367" y="16103"/>
                  <a:pt x="16048" y="15454"/>
                  <a:pt x="16048" y="14652"/>
                </a:cubicBezTo>
                <a:cubicBezTo>
                  <a:pt x="16048" y="14652"/>
                  <a:pt x="16200" y="13700"/>
                  <a:pt x="16200" y="12767"/>
                </a:cubicBezTo>
                <a:cubicBezTo>
                  <a:pt x="16200" y="11814"/>
                  <a:pt x="16048" y="10881"/>
                  <a:pt x="16048" y="10881"/>
                </a:cubicBezTo>
                <a:cubicBezTo>
                  <a:pt x="16048" y="10080"/>
                  <a:pt x="15367" y="9430"/>
                  <a:pt x="14527" y="943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992" y="12090"/>
                </a:moveTo>
                <a:cubicBezTo>
                  <a:pt x="11860" y="12090"/>
                  <a:pt x="11757" y="12168"/>
                  <a:pt x="11687" y="12243"/>
                </a:cubicBezTo>
                <a:lnTo>
                  <a:pt x="11687" y="14276"/>
                </a:lnTo>
                <a:cubicBezTo>
                  <a:pt x="11751" y="14345"/>
                  <a:pt x="11847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8"/>
                </a:lnTo>
                <a:cubicBezTo>
                  <a:pt x="12296" y="12428"/>
                  <a:pt x="12245" y="12090"/>
                  <a:pt x="11992" y="1209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2397" y="8801"/>
                </a:moveTo>
                <a:cubicBezTo>
                  <a:pt x="12802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6" y="8751"/>
                </a:lnTo>
                <a:lnTo>
                  <a:pt x="13766" y="5878"/>
                </a:lnTo>
                <a:lnTo>
                  <a:pt x="13158" y="5878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49" y="8348"/>
                  <a:pt x="12549" y="8196"/>
                  <a:pt x="12549" y="8196"/>
                </a:cubicBezTo>
                <a:lnTo>
                  <a:pt x="12549" y="5878"/>
                </a:lnTo>
                <a:lnTo>
                  <a:pt x="11941" y="5878"/>
                </a:lnTo>
                <a:lnTo>
                  <a:pt x="11941" y="8398"/>
                </a:lnTo>
                <a:cubicBezTo>
                  <a:pt x="11941" y="8398"/>
                  <a:pt x="11992" y="8801"/>
                  <a:pt x="12397" y="8801"/>
                </a:cubicBezTo>
                <a:moveTo>
                  <a:pt x="10166" y="6634"/>
                </a:moveTo>
                <a:cubicBezTo>
                  <a:pt x="10166" y="6467"/>
                  <a:pt x="10302" y="6332"/>
                  <a:pt x="10470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0" y="8348"/>
                </a:cubicBezTo>
                <a:cubicBezTo>
                  <a:pt x="10302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8"/>
                  <a:pt x="10572" y="5878"/>
                </a:cubicBezTo>
                <a:lnTo>
                  <a:pt x="10369" y="5878"/>
                </a:lnTo>
                <a:cubicBezTo>
                  <a:pt x="9921" y="5878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9025" lIns="19025" spcFirstLastPara="1" rIns="19025" wrap="square" tIns="19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3" name="Google Shape;42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3684" y="4070864"/>
            <a:ext cx="289182" cy="289182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3"/>
          <p:cNvSpPr txBox="1"/>
          <p:nvPr/>
        </p:nvSpPr>
        <p:spPr>
          <a:xfrm>
            <a:off x="7819166" y="4069364"/>
            <a:ext cx="186150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utmofficial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5" name="Google Shape;42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397" y="4076956"/>
            <a:ext cx="289182" cy="289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