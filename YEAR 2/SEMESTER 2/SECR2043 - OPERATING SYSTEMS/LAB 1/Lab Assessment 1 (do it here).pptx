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7556500" cy="10693400"/>
  <p:notesSz cx="7556500" cy="106934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vertBarState="minimized">
    <p:restoredLeft sz="14370" autoAdjust="0"/>
    <p:restoredTop sz="94660"/>
  </p:normalViewPr>
  <p:slideViewPr>
    <p:cSldViewPr>
      <p:cViewPr>
        <p:scale>
          <a:sx n="125" d="100"/>
          <a:sy n="125" d="100"/>
        </p:scale>
        <p:origin x="852" y="-4560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567213" y="3314954"/>
            <a:ext cx="6428422" cy="224561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134427" y="5988304"/>
            <a:ext cx="5293995" cy="2673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4/23/2025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4/23/2025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378142" y="2459482"/>
            <a:ext cx="3289839" cy="70576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3894867" y="2459482"/>
            <a:ext cx="3289839" cy="70576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4/23/2025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4/23/2025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4/23/2025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78142" y="427736"/>
            <a:ext cx="6806565" cy="17109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78142" y="2459482"/>
            <a:ext cx="6806565" cy="70576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2571369" y="9944862"/>
            <a:ext cx="2420112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378142" y="9944862"/>
            <a:ext cx="1739455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4/23/2025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5445252" y="9944862"/>
            <a:ext cx="1739455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image" Target="../media/image12.png"/><Relationship Id="rId7" Type="http://schemas.openxmlformats.org/officeDocument/2006/relationships/image" Target="../media/image16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20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7" Type="http://schemas.openxmlformats.org/officeDocument/2006/relationships/image" Target="../media/image26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25.png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30.png"/><Relationship Id="rId4" Type="http://schemas.openxmlformats.org/officeDocument/2006/relationships/image" Target="../media/image2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14704" y="914348"/>
            <a:ext cx="5412740" cy="186690"/>
          </a:xfrm>
          <a:prstGeom prst="rect">
            <a:avLst/>
          </a:prstGeom>
          <a:solidFill>
            <a:srgbClr val="D9D9D9"/>
          </a:solidFill>
        </p:spPr>
        <p:txBody>
          <a:bodyPr vert="horz" wrap="square" lIns="0" tIns="0" rIns="0" bIns="0" rtlCol="0">
            <a:spAutoFit/>
          </a:bodyPr>
          <a:lstStyle/>
          <a:p>
            <a:pPr algn="ctr">
              <a:lnSpc>
                <a:spcPts val="1380"/>
              </a:lnSpc>
            </a:pPr>
            <a:r>
              <a:rPr sz="1200" b="1" dirty="0">
                <a:latin typeface="Calibri"/>
                <a:cs typeface="Calibri"/>
              </a:rPr>
              <a:t>SECR2043</a:t>
            </a:r>
            <a:r>
              <a:rPr sz="1200" b="1" spc="-20" dirty="0">
                <a:latin typeface="Calibri"/>
                <a:cs typeface="Calibri"/>
              </a:rPr>
              <a:t> OPERATING</a:t>
            </a:r>
            <a:r>
              <a:rPr sz="1200" b="1" spc="-30" dirty="0">
                <a:latin typeface="Calibri"/>
                <a:cs typeface="Calibri"/>
              </a:rPr>
              <a:t> </a:t>
            </a:r>
            <a:r>
              <a:rPr sz="1200" b="1" spc="-10" dirty="0">
                <a:latin typeface="Calibri"/>
                <a:cs typeface="Calibri"/>
              </a:rPr>
              <a:t>SYSTEMS</a:t>
            </a:r>
            <a:endParaRPr sz="1200">
              <a:latin typeface="Calibri"/>
              <a:cs typeface="Calibri"/>
            </a:endParaRPr>
          </a:p>
        </p:txBody>
      </p:sp>
      <p:graphicFrame>
        <p:nvGraphicFramePr>
          <p:cNvPr id="3" name="object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77638792"/>
              </p:ext>
            </p:extLst>
          </p:nvPr>
        </p:nvGraphicFramePr>
        <p:xfrm>
          <a:off x="948486" y="1286509"/>
          <a:ext cx="5377180" cy="57658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76073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0459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118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10820">
                <a:tc>
                  <a:txBody>
                    <a:bodyPr/>
                    <a:lstStyle/>
                    <a:p>
                      <a:pPr marL="31750">
                        <a:lnSpc>
                          <a:spcPts val="1405"/>
                        </a:lnSpc>
                      </a:pPr>
                      <a:r>
                        <a:rPr sz="1200" spc="-20" dirty="0">
                          <a:latin typeface="Calibri"/>
                          <a:cs typeface="Calibri"/>
                        </a:rPr>
                        <a:t>Name</a:t>
                      </a:r>
                      <a:endParaRPr sz="1200" dirty="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74295" marR="0" lvl="0" indent="0" defTabSz="914400" eaLnBrk="1" fontAlgn="auto" latinLnBrk="0" hangingPunct="1">
                        <a:lnSpc>
                          <a:spcPts val="140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pos="2558415" algn="l"/>
                        </a:tabLst>
                        <a:defRPr/>
                      </a:pPr>
                      <a:r>
                        <a:rPr sz="1200" dirty="0">
                          <a:latin typeface="Calibri"/>
                          <a:cs typeface="Calibri"/>
                        </a:rPr>
                        <a:t>:</a:t>
                      </a:r>
                      <a:r>
                        <a:rPr sz="1200" spc="28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lang="en-MY" sz="1200" spc="-20" dirty="0">
                          <a:latin typeface="+mn-lt"/>
                          <a:cs typeface="Calibri"/>
                        </a:rPr>
                        <a:t>NURUL ADRIANA BINTI KAMAL JEFRI</a:t>
                      </a:r>
                      <a:endParaRPr lang="en-MY" sz="1200" dirty="0">
                        <a:latin typeface="+mn-lt"/>
                        <a:cs typeface="Calibri"/>
                      </a:endParaRPr>
                    </a:p>
                  </a:txBody>
                  <a:tcPr marL="0" marR="0" marT="0" marB="0">
                    <a:lnR w="635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263525">
                        <a:lnSpc>
                          <a:spcPts val="1405"/>
                        </a:lnSpc>
                      </a:pPr>
                      <a:r>
                        <a:rPr sz="1200" spc="-10" dirty="0">
                          <a:latin typeface="Calibri"/>
                          <a:cs typeface="Calibri"/>
                        </a:rPr>
                        <a:t>Marks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92405">
                <a:tc>
                  <a:txBody>
                    <a:bodyPr/>
                    <a:lstStyle/>
                    <a:p>
                      <a:pPr marL="31750">
                        <a:lnSpc>
                          <a:spcPts val="1265"/>
                        </a:lnSpc>
                      </a:pPr>
                      <a:r>
                        <a:rPr sz="1200" dirty="0">
                          <a:latin typeface="Calibri"/>
                          <a:cs typeface="Calibri"/>
                        </a:rPr>
                        <a:t>Student</a:t>
                      </a:r>
                      <a:r>
                        <a:rPr sz="1200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spc="-25" dirty="0">
                          <a:latin typeface="Calibri"/>
                          <a:cs typeface="Calibri"/>
                        </a:rPr>
                        <a:t>ID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74295">
                        <a:lnSpc>
                          <a:spcPts val="1265"/>
                        </a:lnSpc>
                        <a:tabLst>
                          <a:tab pos="2558415" algn="l"/>
                        </a:tabLst>
                      </a:pPr>
                      <a:r>
                        <a:rPr sz="1200" dirty="0">
                          <a:latin typeface="Calibri"/>
                          <a:cs typeface="Calibri"/>
                        </a:rPr>
                        <a:t>:</a:t>
                      </a:r>
                      <a:r>
                        <a:rPr lang="en-US" sz="1200" dirty="0">
                          <a:latin typeface="Calibri"/>
                          <a:cs typeface="Calibri"/>
                        </a:rPr>
                        <a:t> A23CS0258</a:t>
                      </a:r>
                      <a:endParaRPr sz="12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635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73355">
                <a:tc>
                  <a:txBody>
                    <a:bodyPr/>
                    <a:lstStyle/>
                    <a:p>
                      <a:pPr marL="31750">
                        <a:lnSpc>
                          <a:spcPts val="1260"/>
                        </a:lnSpc>
                      </a:pPr>
                      <a:r>
                        <a:rPr sz="1200" spc="-10" dirty="0">
                          <a:latin typeface="Calibri"/>
                          <a:cs typeface="Calibri"/>
                        </a:rPr>
                        <a:t>Section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74295" marR="0" lvl="0" indent="0" defTabSz="914400" eaLnBrk="1" fontAlgn="auto" latinLnBrk="0" hangingPunct="1">
                        <a:lnSpc>
                          <a:spcPts val="126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pos="2558415" algn="l"/>
                        </a:tabLst>
                        <a:defRPr/>
                      </a:pPr>
                      <a:r>
                        <a:rPr sz="1200" dirty="0">
                          <a:latin typeface="Calibri"/>
                          <a:cs typeface="Calibri"/>
                        </a:rPr>
                        <a:t>:</a:t>
                      </a:r>
                      <a:r>
                        <a:rPr sz="1200" spc="2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lang="en-MY" sz="1200" spc="-20" dirty="0">
                          <a:latin typeface="+mn-lt"/>
                          <a:cs typeface="Calibri"/>
                        </a:rPr>
                        <a:t>03</a:t>
                      </a:r>
                      <a:endParaRPr lang="en-MY" sz="1200" dirty="0">
                        <a:latin typeface="+mn-lt"/>
                        <a:cs typeface="Calibri"/>
                      </a:endParaRPr>
                    </a:p>
                  </a:txBody>
                  <a:tcPr marL="0" marR="0" marT="0" marB="0">
                    <a:lnR w="635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4" name="object 4"/>
          <p:cNvSpPr/>
          <p:nvPr/>
        </p:nvSpPr>
        <p:spPr>
          <a:xfrm>
            <a:off x="896416" y="2057653"/>
            <a:ext cx="5769610" cy="18415"/>
          </a:xfrm>
          <a:custGeom>
            <a:avLst/>
            <a:gdLst/>
            <a:ahLst/>
            <a:cxnLst/>
            <a:rect l="l" t="t" r="r" b="b"/>
            <a:pathLst>
              <a:path w="5769609" h="18414">
                <a:moveTo>
                  <a:pt x="5769229" y="0"/>
                </a:moveTo>
                <a:lnTo>
                  <a:pt x="0" y="0"/>
                </a:lnTo>
                <a:lnTo>
                  <a:pt x="0" y="18288"/>
                </a:lnTo>
                <a:lnTo>
                  <a:pt x="5769229" y="18288"/>
                </a:lnTo>
                <a:lnTo>
                  <a:pt x="5769229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936475" y="2106595"/>
            <a:ext cx="5624195" cy="535305"/>
          </a:xfrm>
          <a:prstGeom prst="rect">
            <a:avLst/>
          </a:prstGeom>
        </p:spPr>
        <p:txBody>
          <a:bodyPr vert="horz" wrap="square" lIns="0" tIns="10160" rIns="0" bIns="0" rtlCol="0">
            <a:spAutoFit/>
          </a:bodyPr>
          <a:lstStyle/>
          <a:p>
            <a:pPr marL="12700" marR="5080">
              <a:lnSpc>
                <a:spcPct val="101800"/>
              </a:lnSpc>
              <a:spcBef>
                <a:spcPts val="80"/>
              </a:spcBef>
            </a:pPr>
            <a:r>
              <a:rPr sz="1100" dirty="0">
                <a:latin typeface="Calibri"/>
                <a:cs typeface="Calibri"/>
              </a:rPr>
              <a:t>This</a:t>
            </a:r>
            <a:r>
              <a:rPr sz="1100" spc="-1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lab</a:t>
            </a:r>
            <a:r>
              <a:rPr sz="1100" spc="-2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assessment</a:t>
            </a:r>
            <a:r>
              <a:rPr sz="1100" spc="-1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is</a:t>
            </a:r>
            <a:r>
              <a:rPr sz="1100" spc="-2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designed</a:t>
            </a:r>
            <a:r>
              <a:rPr sz="1100" spc="-1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to</a:t>
            </a:r>
            <a:r>
              <a:rPr sz="1100" spc="-1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test</a:t>
            </a:r>
            <a:r>
              <a:rPr sz="1100" spc="-1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your</a:t>
            </a:r>
            <a:r>
              <a:rPr sz="1100" spc="-1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understanding</a:t>
            </a:r>
            <a:r>
              <a:rPr sz="1100" spc="-2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and</a:t>
            </a:r>
            <a:r>
              <a:rPr sz="1100" spc="-2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skills</a:t>
            </a:r>
            <a:r>
              <a:rPr sz="1100" spc="-1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on</a:t>
            </a:r>
            <a:r>
              <a:rPr sz="1100" spc="-1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some</a:t>
            </a:r>
            <a:r>
              <a:rPr sz="1100" spc="-1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basic</a:t>
            </a:r>
            <a:r>
              <a:rPr sz="1100" spc="-1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concepts</a:t>
            </a:r>
            <a:r>
              <a:rPr sz="1100" spc="-20" dirty="0">
                <a:latin typeface="Calibri"/>
                <a:cs typeface="Calibri"/>
              </a:rPr>
              <a:t> </a:t>
            </a:r>
            <a:r>
              <a:rPr sz="1100" spc="-25" dirty="0">
                <a:latin typeface="Calibri"/>
                <a:cs typeface="Calibri"/>
              </a:rPr>
              <a:t>and </a:t>
            </a:r>
            <a:r>
              <a:rPr sz="1100" dirty="0">
                <a:latin typeface="Calibri"/>
                <a:cs typeface="Calibri"/>
              </a:rPr>
              <a:t>tools</a:t>
            </a:r>
            <a:r>
              <a:rPr sz="1100" spc="-1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related</a:t>
            </a:r>
            <a:r>
              <a:rPr sz="1100" spc="-2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to</a:t>
            </a:r>
            <a:r>
              <a:rPr sz="1100" spc="-1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operating</a:t>
            </a:r>
            <a:r>
              <a:rPr sz="1100" spc="-2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system.</a:t>
            </a:r>
            <a:r>
              <a:rPr sz="1100" spc="-2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Please</a:t>
            </a:r>
            <a:r>
              <a:rPr sz="1100" spc="-1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follow</a:t>
            </a:r>
            <a:r>
              <a:rPr sz="1100" spc="-1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the</a:t>
            </a:r>
            <a:r>
              <a:rPr sz="1100" spc="-1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instructions</a:t>
            </a:r>
            <a:r>
              <a:rPr sz="1100" spc="-2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carefully</a:t>
            </a:r>
            <a:r>
              <a:rPr sz="1100" spc="-1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and</a:t>
            </a:r>
            <a:r>
              <a:rPr sz="1100" spc="-2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submit</a:t>
            </a:r>
            <a:r>
              <a:rPr sz="1100" spc="-2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your</a:t>
            </a:r>
            <a:r>
              <a:rPr sz="1100" spc="-20" dirty="0">
                <a:latin typeface="Calibri"/>
                <a:cs typeface="Calibri"/>
              </a:rPr>
              <a:t> </a:t>
            </a:r>
            <a:r>
              <a:rPr sz="1100" spc="-10" dirty="0">
                <a:latin typeface="Calibri"/>
                <a:cs typeface="Calibri"/>
              </a:rPr>
              <a:t>answers </a:t>
            </a:r>
            <a:r>
              <a:rPr sz="1100" dirty="0">
                <a:latin typeface="Calibri"/>
                <a:cs typeface="Calibri"/>
              </a:rPr>
              <a:t>in</a:t>
            </a:r>
            <a:r>
              <a:rPr sz="1100" spc="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this</a:t>
            </a:r>
            <a:r>
              <a:rPr sz="1100" spc="1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word</a:t>
            </a:r>
            <a:r>
              <a:rPr sz="1100" spc="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document</a:t>
            </a:r>
            <a:r>
              <a:rPr sz="1100" spc="1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and</a:t>
            </a:r>
            <a:r>
              <a:rPr sz="1100" spc="-1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rename</a:t>
            </a:r>
            <a:r>
              <a:rPr sz="1100" spc="1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the</a:t>
            </a:r>
            <a:r>
              <a:rPr sz="1100" spc="1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file as</a:t>
            </a:r>
            <a:r>
              <a:rPr sz="1100" spc="20" dirty="0">
                <a:latin typeface="Calibri"/>
                <a:cs typeface="Calibri"/>
              </a:rPr>
              <a:t> </a:t>
            </a:r>
            <a:r>
              <a:rPr sz="1100" b="1" spc="-10" dirty="0">
                <a:latin typeface="Calibri"/>
                <a:cs typeface="Calibri"/>
              </a:rPr>
              <a:t>os-lab-assessment01-studentname-matricno.docx</a:t>
            </a:r>
            <a:r>
              <a:rPr sz="1100" spc="-10" dirty="0">
                <a:latin typeface="Calibri"/>
                <a:cs typeface="Calibri"/>
              </a:rPr>
              <a:t>.</a:t>
            </a:r>
            <a:endParaRPr sz="1100" dirty="0">
              <a:latin typeface="Calibri"/>
              <a:cs typeface="Calibri"/>
            </a:endParaRPr>
          </a:p>
        </p:txBody>
      </p:sp>
      <p:graphicFrame>
        <p:nvGraphicFramePr>
          <p:cNvPr id="6" name="object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606401"/>
              </p:ext>
            </p:extLst>
          </p:nvPr>
        </p:nvGraphicFramePr>
        <p:xfrm>
          <a:off x="914249" y="2764697"/>
          <a:ext cx="2907030" cy="18542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17030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367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85420">
                <a:tc>
                  <a:txBody>
                    <a:bodyPr/>
                    <a:lstStyle/>
                    <a:p>
                      <a:pPr marL="68580">
                        <a:lnSpc>
                          <a:spcPts val="1365"/>
                        </a:lnSpc>
                      </a:pPr>
                      <a:r>
                        <a:rPr sz="120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ACTIVITY</a:t>
                      </a:r>
                      <a:r>
                        <a:rPr sz="1200" b="1" spc="-4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20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1</a:t>
                      </a:r>
                      <a:r>
                        <a:rPr sz="1200" b="1" spc="-4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200" b="1" spc="-5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: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67945">
                        <a:lnSpc>
                          <a:spcPts val="1365"/>
                        </a:lnSpc>
                      </a:pPr>
                      <a:r>
                        <a:rPr sz="1200" b="1" dirty="0">
                          <a:latin typeface="Calibri"/>
                          <a:cs typeface="Calibri"/>
                        </a:rPr>
                        <a:t>BASIC</a:t>
                      </a:r>
                      <a:r>
                        <a:rPr sz="1200" b="1" spc="-4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b="1" dirty="0">
                          <a:latin typeface="Calibri"/>
                          <a:cs typeface="Calibri"/>
                        </a:rPr>
                        <a:t>LINUX</a:t>
                      </a:r>
                      <a:r>
                        <a:rPr sz="1200" b="1" spc="-4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b="1" spc="-10" dirty="0">
                          <a:latin typeface="Calibri"/>
                          <a:cs typeface="Calibri"/>
                        </a:rPr>
                        <a:t>COMMANDS</a:t>
                      </a:r>
                      <a:endParaRPr sz="1200" dirty="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7" name="object 7"/>
          <p:cNvSpPr txBox="1"/>
          <p:nvPr/>
        </p:nvSpPr>
        <p:spPr>
          <a:xfrm>
            <a:off x="901549" y="3100994"/>
            <a:ext cx="5694045" cy="535305"/>
          </a:xfrm>
          <a:prstGeom prst="rect">
            <a:avLst/>
          </a:prstGeom>
        </p:spPr>
        <p:txBody>
          <a:bodyPr vert="horz" wrap="square" lIns="0" tIns="10160" rIns="0" bIns="0" rtlCol="0">
            <a:spAutoFit/>
          </a:bodyPr>
          <a:lstStyle/>
          <a:p>
            <a:pPr marL="12700" marR="5080">
              <a:lnSpc>
                <a:spcPct val="101800"/>
              </a:lnSpc>
              <a:spcBef>
                <a:spcPts val="80"/>
              </a:spcBef>
            </a:pPr>
            <a:r>
              <a:rPr sz="1100" dirty="0">
                <a:latin typeface="Calibri"/>
                <a:cs typeface="Calibri"/>
              </a:rPr>
              <a:t>In</a:t>
            </a:r>
            <a:r>
              <a:rPr sz="1100" spc="-2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this</a:t>
            </a:r>
            <a:r>
              <a:rPr sz="1100" spc="-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activity,</a:t>
            </a:r>
            <a:r>
              <a:rPr sz="1100" spc="-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you</a:t>
            </a:r>
            <a:r>
              <a:rPr sz="1100" spc="-2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will</a:t>
            </a:r>
            <a:r>
              <a:rPr sz="1100" spc="-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practice</a:t>
            </a:r>
            <a:r>
              <a:rPr sz="1100" spc="-1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some</a:t>
            </a:r>
            <a:r>
              <a:rPr sz="1100" spc="-1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basic</a:t>
            </a:r>
            <a:r>
              <a:rPr sz="1100" spc="-1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Linux</a:t>
            </a:r>
            <a:r>
              <a:rPr sz="1100" spc="-1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commands</a:t>
            </a:r>
            <a:r>
              <a:rPr sz="1100" spc="-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that</a:t>
            </a:r>
            <a:r>
              <a:rPr sz="1100" spc="-2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are</a:t>
            </a:r>
            <a:r>
              <a:rPr sz="1100" spc="-1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useful</a:t>
            </a:r>
            <a:r>
              <a:rPr sz="1100" spc="-1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for</a:t>
            </a:r>
            <a:r>
              <a:rPr sz="1100" spc="-1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operating</a:t>
            </a:r>
            <a:r>
              <a:rPr sz="1100" spc="-15" dirty="0">
                <a:latin typeface="Calibri"/>
                <a:cs typeface="Calibri"/>
              </a:rPr>
              <a:t> </a:t>
            </a:r>
            <a:r>
              <a:rPr sz="1100" spc="-10" dirty="0">
                <a:latin typeface="Calibri"/>
                <a:cs typeface="Calibri"/>
              </a:rPr>
              <a:t>system </a:t>
            </a:r>
            <a:r>
              <a:rPr sz="1100" dirty="0">
                <a:latin typeface="Calibri"/>
                <a:cs typeface="Calibri"/>
              </a:rPr>
              <a:t>tasks.</a:t>
            </a:r>
            <a:r>
              <a:rPr sz="1100" spc="-1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For</a:t>
            </a:r>
            <a:r>
              <a:rPr sz="1100" spc="-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each</a:t>
            </a:r>
            <a:r>
              <a:rPr sz="1100" spc="-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question,</a:t>
            </a:r>
            <a:r>
              <a:rPr sz="1100" spc="-1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write</a:t>
            </a:r>
            <a:r>
              <a:rPr sz="1100" spc="-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down</a:t>
            </a:r>
            <a:r>
              <a:rPr sz="1100" spc="-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the</a:t>
            </a:r>
            <a:r>
              <a:rPr sz="1100" spc="-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command</a:t>
            </a:r>
            <a:r>
              <a:rPr sz="1100" spc="-2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you</a:t>
            </a:r>
            <a:r>
              <a:rPr sz="1100" spc="-1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used</a:t>
            </a:r>
            <a:r>
              <a:rPr sz="1100" spc="-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and</a:t>
            </a:r>
            <a:r>
              <a:rPr sz="1100" spc="-1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the</a:t>
            </a:r>
            <a:r>
              <a:rPr sz="1100" spc="-1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output</a:t>
            </a:r>
            <a:r>
              <a:rPr sz="1100" spc="-1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you</a:t>
            </a:r>
            <a:r>
              <a:rPr sz="1100" spc="-2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got</a:t>
            </a:r>
            <a:r>
              <a:rPr sz="1100" spc="-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in</a:t>
            </a:r>
            <a:r>
              <a:rPr sz="1100" spc="-2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your</a:t>
            </a:r>
            <a:r>
              <a:rPr sz="1100" spc="-15" dirty="0">
                <a:latin typeface="Calibri"/>
                <a:cs typeface="Calibri"/>
              </a:rPr>
              <a:t> </a:t>
            </a:r>
            <a:r>
              <a:rPr sz="1100" spc="-10" dirty="0">
                <a:latin typeface="Calibri"/>
                <a:cs typeface="Calibri"/>
              </a:rPr>
              <a:t>answer </a:t>
            </a:r>
            <a:r>
              <a:rPr sz="1100" dirty="0">
                <a:latin typeface="Calibri"/>
                <a:cs typeface="Calibri"/>
              </a:rPr>
              <a:t>file.</a:t>
            </a:r>
            <a:r>
              <a:rPr sz="1100" spc="-1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If</a:t>
            </a:r>
            <a:r>
              <a:rPr sz="1100" spc="-1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the</a:t>
            </a:r>
            <a:r>
              <a:rPr sz="1100" spc="-2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command</a:t>
            </a:r>
            <a:r>
              <a:rPr sz="1100" spc="-1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does</a:t>
            </a:r>
            <a:r>
              <a:rPr sz="1100" spc="-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not</a:t>
            </a:r>
            <a:r>
              <a:rPr sz="1100" spc="-1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produce</a:t>
            </a:r>
            <a:r>
              <a:rPr sz="1100" spc="-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any</a:t>
            </a:r>
            <a:r>
              <a:rPr sz="1100" spc="-1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output,</a:t>
            </a:r>
            <a:r>
              <a:rPr sz="1100" spc="-2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write</a:t>
            </a:r>
            <a:r>
              <a:rPr sz="1100" spc="-1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"</a:t>
            </a:r>
            <a:r>
              <a:rPr sz="1100" b="1" dirty="0">
                <a:latin typeface="Calibri"/>
                <a:cs typeface="Calibri"/>
              </a:rPr>
              <a:t>No</a:t>
            </a:r>
            <a:r>
              <a:rPr sz="1100" b="1" spc="-15" dirty="0">
                <a:latin typeface="Calibri"/>
                <a:cs typeface="Calibri"/>
              </a:rPr>
              <a:t> </a:t>
            </a:r>
            <a:r>
              <a:rPr sz="1100" b="1" dirty="0">
                <a:latin typeface="Calibri"/>
                <a:cs typeface="Calibri"/>
              </a:rPr>
              <a:t>output</a:t>
            </a:r>
            <a:r>
              <a:rPr sz="1100" dirty="0">
                <a:latin typeface="Calibri"/>
                <a:cs typeface="Calibri"/>
              </a:rPr>
              <a:t>"</a:t>
            </a:r>
            <a:r>
              <a:rPr sz="1100" spc="-10" dirty="0">
                <a:latin typeface="Calibri"/>
                <a:cs typeface="Calibri"/>
              </a:rPr>
              <a:t> instead.</a:t>
            </a:r>
            <a:endParaRPr sz="1100">
              <a:latin typeface="Calibri"/>
              <a:cs typeface="Calibri"/>
            </a:endParaRPr>
          </a:p>
        </p:txBody>
      </p:sp>
      <p:graphicFrame>
        <p:nvGraphicFramePr>
          <p:cNvPr id="8" name="object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55322855"/>
              </p:ext>
            </p:extLst>
          </p:nvPr>
        </p:nvGraphicFramePr>
        <p:xfrm>
          <a:off x="896416" y="3701297"/>
          <a:ext cx="6207125" cy="6522203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1369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733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42011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47345">
                <a:tc rowSpan="3">
                  <a:txBody>
                    <a:bodyPr/>
                    <a:lstStyle/>
                    <a:p>
                      <a:pPr marL="103505">
                        <a:lnSpc>
                          <a:spcPts val="1290"/>
                        </a:lnSpc>
                      </a:pPr>
                      <a:r>
                        <a:rPr sz="1100" spc="-25" dirty="0">
                          <a:latin typeface="Calibri"/>
                          <a:cs typeface="Calibri"/>
                        </a:rPr>
                        <a:t>1.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 gridSpan="2">
                  <a:txBody>
                    <a:bodyPr/>
                    <a:lstStyle/>
                    <a:p>
                      <a:pPr marL="67945">
                        <a:lnSpc>
                          <a:spcPts val="1290"/>
                        </a:lnSpc>
                      </a:pPr>
                      <a:r>
                        <a:rPr sz="1100" dirty="0">
                          <a:latin typeface="Calibri"/>
                          <a:cs typeface="Calibri"/>
                        </a:rPr>
                        <a:t>Display</a:t>
                      </a:r>
                      <a:r>
                        <a:rPr sz="1100" spc="-4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100" dirty="0">
                          <a:latin typeface="Calibri"/>
                          <a:cs typeface="Calibri"/>
                        </a:rPr>
                        <a:t>your</a:t>
                      </a:r>
                      <a:r>
                        <a:rPr sz="1100" spc="-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100" dirty="0">
                          <a:latin typeface="Calibri"/>
                          <a:cs typeface="Calibri"/>
                        </a:rPr>
                        <a:t>current</a:t>
                      </a:r>
                      <a:r>
                        <a:rPr sz="1100" spc="-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100" dirty="0">
                          <a:latin typeface="Calibri"/>
                          <a:cs typeface="Calibri"/>
                        </a:rPr>
                        <a:t>working</a:t>
                      </a:r>
                      <a:r>
                        <a:rPr sz="1100" spc="-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100" spc="-10" dirty="0">
                          <a:latin typeface="Calibri"/>
                          <a:cs typeface="Calibri"/>
                        </a:rPr>
                        <a:t>directory.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76530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90"/>
                        </a:lnSpc>
                      </a:pPr>
                      <a:r>
                        <a:rPr sz="1100" b="1" spc="-10" dirty="0">
                          <a:latin typeface="Calibri"/>
                          <a:cs typeface="Calibri"/>
                        </a:rPr>
                        <a:t>Command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90"/>
                        </a:lnSpc>
                      </a:pPr>
                      <a:r>
                        <a:rPr sz="1100" b="1" spc="-10" dirty="0">
                          <a:latin typeface="Calibri"/>
                          <a:cs typeface="Calibri"/>
                        </a:rPr>
                        <a:t>Output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88128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1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lang="en-US" sz="1100" dirty="0" err="1">
                          <a:latin typeface="Times New Roman"/>
                          <a:cs typeface="Times New Roman"/>
                        </a:rPr>
                        <a:t>pwd</a:t>
                      </a:r>
                      <a:endParaRPr sz="11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100" dirty="0">
                          <a:latin typeface="Times New Roman"/>
                          <a:cs typeface="Times New Roman"/>
                        </a:rPr>
                        <a:t> </a:t>
                      </a:r>
                      <a:endParaRPr sz="11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7345">
                <a:tc rowSpan="3">
                  <a:txBody>
                    <a:bodyPr/>
                    <a:lstStyle/>
                    <a:p>
                      <a:pPr marL="103505">
                        <a:lnSpc>
                          <a:spcPts val="1290"/>
                        </a:lnSpc>
                      </a:pPr>
                      <a:r>
                        <a:rPr sz="1100" spc="-25" dirty="0">
                          <a:latin typeface="Calibri"/>
                          <a:cs typeface="Calibri"/>
                        </a:rPr>
                        <a:t>2.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 gridSpan="2">
                  <a:txBody>
                    <a:bodyPr/>
                    <a:lstStyle/>
                    <a:p>
                      <a:pPr marL="67945">
                        <a:lnSpc>
                          <a:spcPts val="1290"/>
                        </a:lnSpc>
                      </a:pPr>
                      <a:r>
                        <a:rPr sz="1100" dirty="0">
                          <a:latin typeface="Calibri"/>
                          <a:cs typeface="Calibri"/>
                        </a:rPr>
                        <a:t>List</a:t>
                      </a:r>
                      <a:r>
                        <a:rPr sz="1100" spc="-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100" dirty="0">
                          <a:latin typeface="Calibri"/>
                          <a:cs typeface="Calibri"/>
                        </a:rPr>
                        <a:t>all</a:t>
                      </a:r>
                      <a:r>
                        <a:rPr sz="11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100" dirty="0">
                          <a:latin typeface="Calibri"/>
                          <a:cs typeface="Calibri"/>
                        </a:rPr>
                        <a:t>the</a:t>
                      </a:r>
                      <a:r>
                        <a:rPr sz="1100" spc="-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100" dirty="0">
                          <a:latin typeface="Calibri"/>
                          <a:cs typeface="Calibri"/>
                        </a:rPr>
                        <a:t>files</a:t>
                      </a:r>
                      <a:r>
                        <a:rPr sz="1100" spc="-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100" dirty="0">
                          <a:latin typeface="Calibri"/>
                          <a:cs typeface="Calibri"/>
                        </a:rPr>
                        <a:t>and</a:t>
                      </a:r>
                      <a:r>
                        <a:rPr sz="1100" spc="-10" dirty="0">
                          <a:latin typeface="Calibri"/>
                          <a:cs typeface="Calibri"/>
                        </a:rPr>
                        <a:t> directories </a:t>
                      </a:r>
                      <a:r>
                        <a:rPr sz="1100" dirty="0">
                          <a:latin typeface="Calibri"/>
                          <a:cs typeface="Calibri"/>
                        </a:rPr>
                        <a:t>in</a:t>
                      </a:r>
                      <a:r>
                        <a:rPr sz="1100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100" dirty="0">
                          <a:latin typeface="Calibri"/>
                          <a:cs typeface="Calibri"/>
                        </a:rPr>
                        <a:t>your</a:t>
                      </a:r>
                      <a:r>
                        <a:rPr sz="1100" spc="-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100" dirty="0">
                          <a:latin typeface="Calibri"/>
                          <a:cs typeface="Calibri"/>
                        </a:rPr>
                        <a:t>home</a:t>
                      </a:r>
                      <a:r>
                        <a:rPr sz="1100" spc="-10" dirty="0">
                          <a:latin typeface="Calibri"/>
                          <a:cs typeface="Calibri"/>
                        </a:rPr>
                        <a:t> directory, </a:t>
                      </a:r>
                      <a:r>
                        <a:rPr sz="1100" dirty="0">
                          <a:latin typeface="Calibri"/>
                          <a:cs typeface="Calibri"/>
                        </a:rPr>
                        <a:t>including</a:t>
                      </a:r>
                      <a:r>
                        <a:rPr sz="1100" spc="-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100" dirty="0">
                          <a:latin typeface="Calibri"/>
                          <a:cs typeface="Calibri"/>
                        </a:rPr>
                        <a:t>hidden</a:t>
                      </a:r>
                      <a:r>
                        <a:rPr sz="1100" spc="-10" dirty="0">
                          <a:latin typeface="Calibri"/>
                          <a:cs typeface="Calibri"/>
                        </a:rPr>
                        <a:t> ones.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76530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90"/>
                        </a:lnSpc>
                      </a:pPr>
                      <a:r>
                        <a:rPr sz="1100" b="1" spc="-10" dirty="0">
                          <a:latin typeface="Calibri"/>
                          <a:cs typeface="Calibri"/>
                        </a:rPr>
                        <a:t>Command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90"/>
                        </a:lnSpc>
                      </a:pPr>
                      <a:r>
                        <a:rPr sz="1100" b="1" spc="-10" dirty="0">
                          <a:latin typeface="Calibri"/>
                          <a:cs typeface="Calibri"/>
                        </a:rPr>
                        <a:t>Output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174994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100" dirty="0">
                          <a:latin typeface="Times New Roman"/>
                          <a:cs typeface="Times New Roman"/>
                        </a:rPr>
                        <a:t> ls -a</a:t>
                      </a:r>
                      <a:endParaRPr sz="11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47345">
                <a:tc rowSpan="3">
                  <a:txBody>
                    <a:bodyPr/>
                    <a:lstStyle/>
                    <a:p>
                      <a:pPr marL="103505">
                        <a:lnSpc>
                          <a:spcPts val="1300"/>
                        </a:lnSpc>
                      </a:pPr>
                      <a:r>
                        <a:rPr sz="1100" spc="-25" dirty="0">
                          <a:latin typeface="Calibri"/>
                          <a:cs typeface="Calibri"/>
                        </a:rPr>
                        <a:t>3.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 gridSpan="2">
                  <a:txBody>
                    <a:bodyPr/>
                    <a:lstStyle/>
                    <a:p>
                      <a:pPr marL="67945">
                        <a:lnSpc>
                          <a:spcPts val="1300"/>
                        </a:lnSpc>
                      </a:pPr>
                      <a:r>
                        <a:rPr sz="1100" dirty="0">
                          <a:latin typeface="Calibri"/>
                          <a:cs typeface="Calibri"/>
                        </a:rPr>
                        <a:t>Create</a:t>
                      </a:r>
                      <a:r>
                        <a:rPr sz="110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100" dirty="0">
                          <a:latin typeface="Calibri"/>
                          <a:cs typeface="Calibri"/>
                        </a:rPr>
                        <a:t>a</a:t>
                      </a:r>
                      <a:r>
                        <a:rPr sz="1100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100" dirty="0">
                          <a:latin typeface="Calibri"/>
                          <a:cs typeface="Calibri"/>
                        </a:rPr>
                        <a:t>new</a:t>
                      </a:r>
                      <a:r>
                        <a:rPr sz="1100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100" dirty="0">
                          <a:latin typeface="Calibri"/>
                          <a:cs typeface="Calibri"/>
                        </a:rPr>
                        <a:t>directory</a:t>
                      </a:r>
                      <a:r>
                        <a:rPr sz="11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100" dirty="0">
                          <a:latin typeface="Calibri"/>
                          <a:cs typeface="Calibri"/>
                        </a:rPr>
                        <a:t>named</a:t>
                      </a:r>
                      <a:r>
                        <a:rPr sz="1100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100" dirty="0">
                          <a:latin typeface="Calibri"/>
                          <a:cs typeface="Calibri"/>
                        </a:rPr>
                        <a:t>"os_lab"</a:t>
                      </a:r>
                      <a:r>
                        <a:rPr sz="11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100" dirty="0">
                          <a:latin typeface="Calibri"/>
                          <a:cs typeface="Calibri"/>
                        </a:rPr>
                        <a:t>in</a:t>
                      </a:r>
                      <a:r>
                        <a:rPr sz="1100" spc="-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100" dirty="0">
                          <a:latin typeface="Calibri"/>
                          <a:cs typeface="Calibri"/>
                        </a:rPr>
                        <a:t>your</a:t>
                      </a:r>
                      <a:r>
                        <a:rPr sz="110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100" dirty="0">
                          <a:latin typeface="Calibri"/>
                          <a:cs typeface="Calibri"/>
                        </a:rPr>
                        <a:t>home</a:t>
                      </a:r>
                      <a:r>
                        <a:rPr sz="110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100" spc="-10" dirty="0">
                          <a:latin typeface="Calibri"/>
                          <a:cs typeface="Calibri"/>
                        </a:rPr>
                        <a:t>directory.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76530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90"/>
                        </a:lnSpc>
                      </a:pPr>
                      <a:r>
                        <a:rPr sz="1100" b="1" spc="-10" dirty="0">
                          <a:latin typeface="Calibri"/>
                          <a:cs typeface="Calibri"/>
                        </a:rPr>
                        <a:t>Command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90"/>
                        </a:lnSpc>
                      </a:pPr>
                      <a:r>
                        <a:rPr sz="1100" b="1" spc="-10" dirty="0">
                          <a:latin typeface="Calibri"/>
                          <a:cs typeface="Calibri"/>
                        </a:rPr>
                        <a:t>Output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977656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1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lang="en-US" sz="1100" dirty="0" err="1">
                          <a:latin typeface="Times New Roman"/>
                          <a:cs typeface="Times New Roman"/>
                        </a:rPr>
                        <a:t>mkdir</a:t>
                      </a:r>
                      <a:r>
                        <a:rPr lang="en-US" sz="11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lang="en-US" sz="1100" dirty="0" err="1">
                          <a:latin typeface="Times New Roman"/>
                          <a:cs typeface="Times New Roman"/>
                        </a:rPr>
                        <a:t>os_lab</a:t>
                      </a:r>
                      <a:endParaRPr lang="en-US" sz="1100" dirty="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100" dirty="0">
                          <a:latin typeface="Times New Roman"/>
                          <a:cs typeface="Times New Roman"/>
                        </a:rPr>
                        <a:t> ls</a:t>
                      </a:r>
                      <a:endParaRPr sz="11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47345">
                <a:tc rowSpan="3">
                  <a:txBody>
                    <a:bodyPr/>
                    <a:lstStyle/>
                    <a:p>
                      <a:pPr marL="103505">
                        <a:lnSpc>
                          <a:spcPts val="1290"/>
                        </a:lnSpc>
                      </a:pPr>
                      <a:r>
                        <a:rPr sz="1100" spc="-25" dirty="0">
                          <a:latin typeface="Calibri"/>
                          <a:cs typeface="Calibri"/>
                        </a:rPr>
                        <a:t>4.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 gridSpan="2">
                  <a:txBody>
                    <a:bodyPr/>
                    <a:lstStyle/>
                    <a:p>
                      <a:pPr marL="67945">
                        <a:lnSpc>
                          <a:spcPts val="1290"/>
                        </a:lnSpc>
                      </a:pPr>
                      <a:r>
                        <a:rPr sz="1100" dirty="0">
                          <a:latin typeface="Calibri"/>
                          <a:cs typeface="Calibri"/>
                        </a:rPr>
                        <a:t>Change</a:t>
                      </a:r>
                      <a:r>
                        <a:rPr sz="1100" spc="-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100" dirty="0">
                          <a:latin typeface="Calibri"/>
                          <a:cs typeface="Calibri"/>
                        </a:rPr>
                        <a:t>your</a:t>
                      </a:r>
                      <a:r>
                        <a:rPr sz="1100" spc="-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100" dirty="0">
                          <a:latin typeface="Calibri"/>
                          <a:cs typeface="Calibri"/>
                        </a:rPr>
                        <a:t>current</a:t>
                      </a:r>
                      <a:r>
                        <a:rPr sz="110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100" dirty="0">
                          <a:latin typeface="Calibri"/>
                          <a:cs typeface="Calibri"/>
                        </a:rPr>
                        <a:t>working</a:t>
                      </a:r>
                      <a:r>
                        <a:rPr sz="110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100" dirty="0">
                          <a:latin typeface="Calibri"/>
                          <a:cs typeface="Calibri"/>
                        </a:rPr>
                        <a:t>directory</a:t>
                      </a:r>
                      <a:r>
                        <a:rPr sz="11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100" dirty="0">
                          <a:latin typeface="Calibri"/>
                          <a:cs typeface="Calibri"/>
                        </a:rPr>
                        <a:t>to</a:t>
                      </a:r>
                      <a:r>
                        <a:rPr sz="1100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100" spc="-10" dirty="0">
                          <a:latin typeface="Calibri"/>
                          <a:cs typeface="Calibri"/>
                        </a:rPr>
                        <a:t>"os_lab".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176530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90"/>
                        </a:lnSpc>
                      </a:pPr>
                      <a:r>
                        <a:rPr sz="1100" b="1" spc="-10" dirty="0">
                          <a:latin typeface="Calibri"/>
                          <a:cs typeface="Calibri"/>
                        </a:rPr>
                        <a:t>Command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90"/>
                        </a:lnSpc>
                      </a:pPr>
                      <a:r>
                        <a:rPr sz="1100" b="1" spc="-10" dirty="0">
                          <a:latin typeface="Calibri"/>
                          <a:cs typeface="Calibri"/>
                        </a:rPr>
                        <a:t>Output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466725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100" dirty="0">
                          <a:latin typeface="Times New Roman"/>
                          <a:cs typeface="Times New Roman"/>
                        </a:rPr>
                        <a:t> cd </a:t>
                      </a:r>
                      <a:r>
                        <a:rPr lang="en-US" sz="1100" dirty="0" err="1">
                          <a:latin typeface="Times New Roman"/>
                          <a:cs typeface="Times New Roman"/>
                        </a:rPr>
                        <a:t>os_lab</a:t>
                      </a:r>
                      <a:endParaRPr sz="11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100" dirty="0">
                          <a:latin typeface="Times New Roman"/>
                          <a:cs typeface="Times New Roman"/>
                        </a:rPr>
                        <a:t> </a:t>
                      </a:r>
                      <a:endParaRPr sz="11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47345">
                <a:tc rowSpan="3">
                  <a:txBody>
                    <a:bodyPr/>
                    <a:lstStyle/>
                    <a:p>
                      <a:pPr marL="103505">
                        <a:lnSpc>
                          <a:spcPts val="1290"/>
                        </a:lnSpc>
                      </a:pPr>
                      <a:r>
                        <a:rPr sz="1100" spc="-25" dirty="0">
                          <a:latin typeface="Calibri"/>
                          <a:cs typeface="Calibri"/>
                        </a:rPr>
                        <a:t>5.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 gridSpan="2">
                  <a:txBody>
                    <a:bodyPr/>
                    <a:lstStyle/>
                    <a:p>
                      <a:pPr marL="67945">
                        <a:lnSpc>
                          <a:spcPts val="1290"/>
                        </a:lnSpc>
                      </a:pPr>
                      <a:r>
                        <a:rPr sz="1100" dirty="0">
                          <a:latin typeface="Calibri"/>
                          <a:cs typeface="Calibri"/>
                        </a:rPr>
                        <a:t>Create</a:t>
                      </a:r>
                      <a:r>
                        <a:rPr sz="110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100" dirty="0">
                          <a:latin typeface="Calibri"/>
                          <a:cs typeface="Calibri"/>
                        </a:rPr>
                        <a:t>a</a:t>
                      </a:r>
                      <a:r>
                        <a:rPr sz="1100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100" dirty="0">
                          <a:latin typeface="Calibri"/>
                          <a:cs typeface="Calibri"/>
                        </a:rPr>
                        <a:t>new</a:t>
                      </a:r>
                      <a:r>
                        <a:rPr sz="1100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100" dirty="0">
                          <a:latin typeface="Calibri"/>
                          <a:cs typeface="Calibri"/>
                        </a:rPr>
                        <a:t>file</a:t>
                      </a:r>
                      <a:r>
                        <a:rPr sz="11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100" dirty="0">
                          <a:latin typeface="Calibri"/>
                          <a:cs typeface="Calibri"/>
                        </a:rPr>
                        <a:t>named</a:t>
                      </a:r>
                      <a:r>
                        <a:rPr sz="1100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100" dirty="0">
                          <a:latin typeface="Calibri"/>
                          <a:cs typeface="Calibri"/>
                        </a:rPr>
                        <a:t>"hello.txt"</a:t>
                      </a:r>
                      <a:r>
                        <a:rPr sz="11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100" dirty="0">
                          <a:latin typeface="Calibri"/>
                          <a:cs typeface="Calibri"/>
                        </a:rPr>
                        <a:t>in</a:t>
                      </a:r>
                      <a:r>
                        <a:rPr sz="110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100" dirty="0">
                          <a:latin typeface="Calibri"/>
                          <a:cs typeface="Calibri"/>
                        </a:rPr>
                        <a:t>"os_lab"</a:t>
                      </a:r>
                      <a:r>
                        <a:rPr sz="11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100" dirty="0">
                          <a:latin typeface="Calibri"/>
                          <a:cs typeface="Calibri"/>
                        </a:rPr>
                        <a:t>and</a:t>
                      </a:r>
                      <a:r>
                        <a:rPr sz="11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100" dirty="0">
                          <a:latin typeface="Calibri"/>
                          <a:cs typeface="Calibri"/>
                        </a:rPr>
                        <a:t>write</a:t>
                      </a:r>
                      <a:r>
                        <a:rPr sz="11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100" dirty="0">
                          <a:latin typeface="Calibri"/>
                          <a:cs typeface="Calibri"/>
                        </a:rPr>
                        <a:t>"Hello,</a:t>
                      </a:r>
                      <a:r>
                        <a:rPr sz="1100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100" dirty="0">
                          <a:latin typeface="Calibri"/>
                          <a:cs typeface="Calibri"/>
                        </a:rPr>
                        <a:t>world!"</a:t>
                      </a:r>
                      <a:r>
                        <a:rPr sz="110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100" dirty="0">
                          <a:latin typeface="Calibri"/>
                          <a:cs typeface="Calibri"/>
                        </a:rPr>
                        <a:t>in</a:t>
                      </a:r>
                      <a:r>
                        <a:rPr sz="1100" spc="-25" dirty="0">
                          <a:latin typeface="Calibri"/>
                          <a:cs typeface="Calibri"/>
                        </a:rPr>
                        <a:t> it.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176530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90"/>
                        </a:lnSpc>
                      </a:pPr>
                      <a:r>
                        <a:rPr sz="1100" b="1" spc="-10" dirty="0">
                          <a:latin typeface="Calibri"/>
                          <a:cs typeface="Calibri"/>
                        </a:rPr>
                        <a:t>Command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90"/>
                        </a:lnSpc>
                      </a:pPr>
                      <a:r>
                        <a:rPr sz="1100" b="1" spc="-10" dirty="0">
                          <a:latin typeface="Calibri"/>
                          <a:cs typeface="Calibri"/>
                        </a:rPr>
                        <a:t>Output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695325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100" dirty="0">
                          <a:latin typeface="Times New Roman"/>
                          <a:cs typeface="Times New Roman"/>
                        </a:rPr>
                        <a:t> touch hello.txt</a:t>
                      </a:r>
                    </a:p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100" dirty="0">
                          <a:latin typeface="Times New Roman"/>
                          <a:cs typeface="Times New Roman"/>
                        </a:rPr>
                        <a:t> ls</a:t>
                      </a:r>
                    </a:p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100" dirty="0">
                          <a:latin typeface="Times New Roman"/>
                          <a:cs typeface="Times New Roman"/>
                        </a:rPr>
                        <a:t> echo “Hello, world!” &gt; hello.txt</a:t>
                      </a:r>
                      <a:endParaRPr sz="11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</a:tbl>
          </a:graphicData>
        </a:graphic>
      </p:graphicFrame>
      <p:pic>
        <p:nvPicPr>
          <p:cNvPr id="10" name="Picture 9">
            <a:extLst>
              <a:ext uri="{FF2B5EF4-FFF2-40B4-BE49-F238E27FC236}">
                <a16:creationId xmlns:a16="http://schemas.microsoft.com/office/drawing/2014/main" id="{FDA6B655-D663-44F6-9C6B-2B544B80F68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90611" y="4254156"/>
            <a:ext cx="1746848" cy="478589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7D1F30D6-A743-4179-8AA6-1C36681CBDE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56623" y="5388756"/>
            <a:ext cx="3279484" cy="952497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01169C7D-EEC7-4C99-A521-3161017DC72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39327" y="7121808"/>
            <a:ext cx="2803684" cy="817460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1BCC9986-5DB4-4F06-979D-4806C207769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31298" y="8586805"/>
            <a:ext cx="2619741" cy="371527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EB75E480-5D07-45F6-8FBF-B6D8A0AD2C9B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06525" y="9564497"/>
            <a:ext cx="3229582" cy="593674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73962397"/>
              </p:ext>
            </p:extLst>
          </p:nvPr>
        </p:nvGraphicFramePr>
        <p:xfrm>
          <a:off x="914704" y="914399"/>
          <a:ext cx="6207125" cy="7152006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1369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733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42011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47345">
                <a:tc rowSpan="3">
                  <a:txBody>
                    <a:bodyPr/>
                    <a:lstStyle/>
                    <a:p>
                      <a:pPr marL="103505">
                        <a:lnSpc>
                          <a:spcPts val="1290"/>
                        </a:lnSpc>
                      </a:pPr>
                      <a:r>
                        <a:rPr sz="1100" spc="-25" dirty="0">
                          <a:latin typeface="Calibri"/>
                          <a:cs typeface="Calibri"/>
                        </a:rPr>
                        <a:t>6.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 gridSpan="2">
                  <a:txBody>
                    <a:bodyPr/>
                    <a:lstStyle/>
                    <a:p>
                      <a:pPr marL="67945">
                        <a:lnSpc>
                          <a:spcPts val="1290"/>
                        </a:lnSpc>
                      </a:pPr>
                      <a:r>
                        <a:rPr sz="1100" dirty="0">
                          <a:latin typeface="Calibri"/>
                          <a:cs typeface="Calibri"/>
                        </a:rPr>
                        <a:t>Display</a:t>
                      </a:r>
                      <a:r>
                        <a:rPr sz="110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100" dirty="0">
                          <a:latin typeface="Calibri"/>
                          <a:cs typeface="Calibri"/>
                        </a:rPr>
                        <a:t>the</a:t>
                      </a:r>
                      <a:r>
                        <a:rPr sz="11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100" dirty="0">
                          <a:latin typeface="Calibri"/>
                          <a:cs typeface="Calibri"/>
                        </a:rPr>
                        <a:t>content</a:t>
                      </a:r>
                      <a:r>
                        <a:rPr sz="110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100" dirty="0">
                          <a:latin typeface="Calibri"/>
                          <a:cs typeface="Calibri"/>
                        </a:rPr>
                        <a:t>of</a:t>
                      </a:r>
                      <a:r>
                        <a:rPr sz="11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100" spc="-10" dirty="0">
                          <a:latin typeface="Calibri"/>
                          <a:cs typeface="Calibri"/>
                        </a:rPr>
                        <a:t>"hello.txt".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76530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930910" algn="r">
                        <a:lnSpc>
                          <a:spcPts val="1290"/>
                        </a:lnSpc>
                      </a:pPr>
                      <a:r>
                        <a:rPr sz="1100" b="1" spc="-10" dirty="0">
                          <a:latin typeface="Calibri"/>
                          <a:cs typeface="Calibri"/>
                        </a:rPr>
                        <a:t>Command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90"/>
                        </a:lnSpc>
                      </a:pPr>
                      <a:r>
                        <a:rPr sz="1100" b="1" spc="-10" dirty="0">
                          <a:latin typeface="Calibri"/>
                          <a:cs typeface="Calibri"/>
                        </a:rPr>
                        <a:t>Output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55626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100" dirty="0">
                          <a:latin typeface="Times New Roman"/>
                          <a:cs typeface="Times New Roman"/>
                        </a:rPr>
                        <a:t> cat hello.txt</a:t>
                      </a:r>
                      <a:endParaRPr sz="11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7345">
                <a:tc rowSpan="3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45"/>
                        </a:spcBef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 marL="103505">
                        <a:lnSpc>
                          <a:spcPct val="100000"/>
                        </a:lnSpc>
                      </a:pPr>
                      <a:r>
                        <a:rPr sz="1100" spc="-25" dirty="0">
                          <a:latin typeface="Calibri"/>
                          <a:cs typeface="Calibri"/>
                        </a:rPr>
                        <a:t>7.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571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 gridSpan="2">
                  <a:txBody>
                    <a:bodyPr/>
                    <a:lstStyle/>
                    <a:p>
                      <a:pPr marL="67945">
                        <a:lnSpc>
                          <a:spcPts val="1290"/>
                        </a:lnSpc>
                      </a:pPr>
                      <a:r>
                        <a:rPr sz="1100" dirty="0">
                          <a:latin typeface="Calibri"/>
                          <a:cs typeface="Calibri"/>
                        </a:rPr>
                        <a:t>Copy</a:t>
                      </a:r>
                      <a:r>
                        <a:rPr sz="1100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100" dirty="0">
                          <a:latin typeface="Calibri"/>
                          <a:cs typeface="Calibri"/>
                        </a:rPr>
                        <a:t>"hello.txt"</a:t>
                      </a:r>
                      <a:r>
                        <a:rPr sz="1100" spc="-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100" dirty="0">
                          <a:latin typeface="Calibri"/>
                          <a:cs typeface="Calibri"/>
                        </a:rPr>
                        <a:t>to</a:t>
                      </a:r>
                      <a:r>
                        <a:rPr sz="1100" spc="-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100" dirty="0">
                          <a:latin typeface="Calibri"/>
                          <a:cs typeface="Calibri"/>
                        </a:rPr>
                        <a:t>another</a:t>
                      </a:r>
                      <a:r>
                        <a:rPr sz="11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100" dirty="0">
                          <a:latin typeface="Calibri"/>
                          <a:cs typeface="Calibri"/>
                        </a:rPr>
                        <a:t>file</a:t>
                      </a:r>
                      <a:r>
                        <a:rPr sz="1100" spc="-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100" dirty="0">
                          <a:latin typeface="Calibri"/>
                          <a:cs typeface="Calibri"/>
                        </a:rPr>
                        <a:t>named</a:t>
                      </a:r>
                      <a:r>
                        <a:rPr sz="1100" spc="-10" dirty="0">
                          <a:latin typeface="Calibri"/>
                          <a:cs typeface="Calibri"/>
                        </a:rPr>
                        <a:t> "hello_copy.txt"</a:t>
                      </a:r>
                      <a:r>
                        <a:rPr sz="1100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100" dirty="0">
                          <a:latin typeface="Calibri"/>
                          <a:cs typeface="Calibri"/>
                        </a:rPr>
                        <a:t>in</a:t>
                      </a:r>
                      <a:r>
                        <a:rPr sz="1100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100" dirty="0">
                          <a:latin typeface="Calibri"/>
                          <a:cs typeface="Calibri"/>
                        </a:rPr>
                        <a:t>the</a:t>
                      </a:r>
                      <a:r>
                        <a:rPr sz="1100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100" dirty="0">
                          <a:latin typeface="Calibri"/>
                          <a:cs typeface="Calibri"/>
                        </a:rPr>
                        <a:t>same</a:t>
                      </a:r>
                      <a:r>
                        <a:rPr sz="1100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100" spc="-10" dirty="0">
                          <a:latin typeface="Calibri"/>
                          <a:cs typeface="Calibri"/>
                        </a:rPr>
                        <a:t>directory.</a:t>
                      </a:r>
                      <a:endParaRPr sz="1100" dirty="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76530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571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930910" algn="r">
                        <a:lnSpc>
                          <a:spcPts val="1290"/>
                        </a:lnSpc>
                      </a:pPr>
                      <a:r>
                        <a:rPr sz="1100" b="1" spc="-10" dirty="0">
                          <a:latin typeface="Calibri"/>
                          <a:cs typeface="Calibri"/>
                        </a:rPr>
                        <a:t>Command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90"/>
                        </a:lnSpc>
                      </a:pPr>
                      <a:r>
                        <a:rPr sz="1100" b="1" spc="-10" dirty="0">
                          <a:latin typeface="Calibri"/>
                          <a:cs typeface="Calibri"/>
                        </a:rPr>
                        <a:t>Output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19125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571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100" dirty="0">
                          <a:latin typeface="Times New Roman"/>
                          <a:cs typeface="Times New Roman"/>
                        </a:rPr>
                        <a:t> cp hello.txt hello_copy.txt</a:t>
                      </a:r>
                    </a:p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100" dirty="0">
                          <a:latin typeface="Times New Roman"/>
                          <a:cs typeface="Times New Roman"/>
                        </a:rPr>
                        <a:t> cat hello_copy.txt</a:t>
                      </a:r>
                      <a:endParaRPr sz="11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47345">
                <a:tc rowSpan="3">
                  <a:txBody>
                    <a:bodyPr/>
                    <a:lstStyle/>
                    <a:p>
                      <a:pPr marL="103505">
                        <a:lnSpc>
                          <a:spcPts val="1290"/>
                        </a:lnSpc>
                      </a:pPr>
                      <a:r>
                        <a:rPr sz="1100" spc="-25" dirty="0">
                          <a:latin typeface="Calibri"/>
                          <a:cs typeface="Calibri"/>
                        </a:rPr>
                        <a:t>8.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 gridSpan="2">
                  <a:txBody>
                    <a:bodyPr/>
                    <a:lstStyle/>
                    <a:p>
                      <a:pPr marL="67945">
                        <a:lnSpc>
                          <a:spcPts val="1290"/>
                        </a:lnSpc>
                      </a:pPr>
                      <a:r>
                        <a:rPr sz="1100" dirty="0">
                          <a:latin typeface="Calibri"/>
                          <a:cs typeface="Calibri"/>
                        </a:rPr>
                        <a:t>Rename</a:t>
                      </a:r>
                      <a:r>
                        <a:rPr sz="1100" spc="-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100" spc="-10" dirty="0">
                          <a:latin typeface="Calibri"/>
                          <a:cs typeface="Calibri"/>
                        </a:rPr>
                        <a:t>"hello_copy.txt"</a:t>
                      </a:r>
                      <a:r>
                        <a:rPr sz="1100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100" dirty="0">
                          <a:latin typeface="Calibri"/>
                          <a:cs typeface="Calibri"/>
                        </a:rPr>
                        <a:t>to </a:t>
                      </a:r>
                      <a:r>
                        <a:rPr sz="1100" spc="-10" dirty="0">
                          <a:latin typeface="Calibri"/>
                          <a:cs typeface="Calibri"/>
                        </a:rPr>
                        <a:t>"hello_bak.txt".</a:t>
                      </a:r>
                      <a:endParaRPr sz="1100" dirty="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76530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930910" algn="r">
                        <a:lnSpc>
                          <a:spcPts val="1290"/>
                        </a:lnSpc>
                      </a:pPr>
                      <a:r>
                        <a:rPr sz="1100" b="1" spc="-10" dirty="0">
                          <a:latin typeface="Calibri"/>
                          <a:cs typeface="Calibri"/>
                        </a:rPr>
                        <a:t>Command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90"/>
                        </a:lnSpc>
                      </a:pPr>
                      <a:r>
                        <a:rPr sz="1100" b="1" spc="-10" dirty="0">
                          <a:latin typeface="Calibri"/>
                          <a:cs typeface="Calibri"/>
                        </a:rPr>
                        <a:t>Output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619125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100" dirty="0">
                          <a:latin typeface="Times New Roman"/>
                          <a:cs typeface="Times New Roman"/>
                        </a:rPr>
                        <a:t> mv hello_copy.txt hello_bak.txt</a:t>
                      </a:r>
                    </a:p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100" dirty="0">
                          <a:latin typeface="Times New Roman"/>
                          <a:cs typeface="Times New Roman"/>
                        </a:rPr>
                        <a:t> cat hello_bak.txt</a:t>
                      </a:r>
                      <a:endParaRPr sz="11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47345">
                <a:tc rowSpan="3">
                  <a:txBody>
                    <a:bodyPr/>
                    <a:lstStyle/>
                    <a:p>
                      <a:pPr marL="103505">
                        <a:lnSpc>
                          <a:spcPts val="1290"/>
                        </a:lnSpc>
                      </a:pPr>
                      <a:r>
                        <a:rPr sz="1100" spc="-25" dirty="0">
                          <a:latin typeface="Calibri"/>
                          <a:cs typeface="Calibri"/>
                        </a:rPr>
                        <a:t>9.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 gridSpan="2">
                  <a:txBody>
                    <a:bodyPr/>
                    <a:lstStyle/>
                    <a:p>
                      <a:pPr marL="67945">
                        <a:lnSpc>
                          <a:spcPts val="1290"/>
                        </a:lnSpc>
                      </a:pPr>
                      <a:r>
                        <a:rPr sz="1100" dirty="0">
                          <a:latin typeface="Calibri"/>
                          <a:cs typeface="Calibri"/>
                        </a:rPr>
                        <a:t>Delete</a:t>
                      </a:r>
                      <a:r>
                        <a:rPr sz="110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100" spc="-10" dirty="0">
                          <a:latin typeface="Calibri"/>
                          <a:cs typeface="Calibri"/>
                        </a:rPr>
                        <a:t>"hello.txt".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176530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930910" algn="r">
                        <a:lnSpc>
                          <a:spcPts val="1290"/>
                        </a:lnSpc>
                      </a:pPr>
                      <a:r>
                        <a:rPr sz="1100" b="1" spc="-10" dirty="0">
                          <a:latin typeface="Calibri"/>
                          <a:cs typeface="Calibri"/>
                        </a:rPr>
                        <a:t>Command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90"/>
                        </a:lnSpc>
                      </a:pPr>
                      <a:r>
                        <a:rPr sz="1100" b="1" spc="-10" dirty="0">
                          <a:latin typeface="Calibri"/>
                          <a:cs typeface="Calibri"/>
                        </a:rPr>
                        <a:t>Output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518159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100" dirty="0">
                          <a:latin typeface="Times New Roman"/>
                          <a:cs typeface="Times New Roman"/>
                        </a:rPr>
                        <a:t> rm hello.txt</a:t>
                      </a:r>
                    </a:p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100" dirty="0">
                          <a:latin typeface="Times New Roman"/>
                          <a:cs typeface="Times New Roman"/>
                        </a:rPr>
                        <a:t> ls</a:t>
                      </a:r>
                      <a:endParaRPr sz="11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47345">
                <a:tc rowSpan="3">
                  <a:txBody>
                    <a:bodyPr/>
                    <a:lstStyle/>
                    <a:p>
                      <a:pPr marL="67945">
                        <a:lnSpc>
                          <a:spcPts val="1290"/>
                        </a:lnSpc>
                      </a:pPr>
                      <a:r>
                        <a:rPr sz="1100" spc="-25" dirty="0">
                          <a:latin typeface="Calibri"/>
                          <a:cs typeface="Calibri"/>
                        </a:rPr>
                        <a:t>10.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 gridSpan="2">
                  <a:txBody>
                    <a:bodyPr/>
                    <a:lstStyle/>
                    <a:p>
                      <a:pPr marL="67945">
                        <a:lnSpc>
                          <a:spcPts val="1290"/>
                        </a:lnSpc>
                      </a:pPr>
                      <a:r>
                        <a:rPr sz="1100" dirty="0">
                          <a:latin typeface="Calibri"/>
                          <a:cs typeface="Calibri"/>
                        </a:rPr>
                        <a:t>Display</a:t>
                      </a:r>
                      <a:r>
                        <a:rPr sz="110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100" dirty="0">
                          <a:latin typeface="Calibri"/>
                          <a:cs typeface="Calibri"/>
                        </a:rPr>
                        <a:t>your</a:t>
                      </a:r>
                      <a:r>
                        <a:rPr sz="1100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100" dirty="0">
                          <a:latin typeface="Calibri"/>
                          <a:cs typeface="Calibri"/>
                        </a:rPr>
                        <a:t>home</a:t>
                      </a:r>
                      <a:r>
                        <a:rPr sz="1100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100" dirty="0">
                          <a:latin typeface="Calibri"/>
                          <a:cs typeface="Calibri"/>
                        </a:rPr>
                        <a:t>directory</a:t>
                      </a:r>
                      <a:r>
                        <a:rPr sz="1100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100" dirty="0">
                          <a:latin typeface="Calibri"/>
                          <a:cs typeface="Calibri"/>
                        </a:rPr>
                        <a:t>with</a:t>
                      </a:r>
                      <a:r>
                        <a:rPr sz="11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100" dirty="0">
                          <a:latin typeface="Calibri"/>
                          <a:cs typeface="Calibri"/>
                        </a:rPr>
                        <a:t>additional</a:t>
                      </a:r>
                      <a:r>
                        <a:rPr sz="1100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100" spc="-10" dirty="0">
                          <a:latin typeface="Calibri"/>
                          <a:cs typeface="Calibri"/>
                        </a:rPr>
                        <a:t>information,</a:t>
                      </a:r>
                      <a:r>
                        <a:rPr sz="1100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100" dirty="0">
                          <a:latin typeface="Calibri"/>
                          <a:cs typeface="Calibri"/>
                        </a:rPr>
                        <a:t>together</a:t>
                      </a:r>
                      <a:r>
                        <a:rPr sz="110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100" dirty="0">
                          <a:latin typeface="Calibri"/>
                          <a:cs typeface="Calibri"/>
                        </a:rPr>
                        <a:t>with</a:t>
                      </a:r>
                      <a:r>
                        <a:rPr sz="11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100" dirty="0">
                          <a:latin typeface="Calibri"/>
                          <a:cs typeface="Calibri"/>
                        </a:rPr>
                        <a:t>subdirectories</a:t>
                      </a:r>
                      <a:r>
                        <a:rPr sz="1100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100" spc="-10" dirty="0">
                          <a:latin typeface="Calibri"/>
                          <a:cs typeface="Calibri"/>
                        </a:rPr>
                        <a:t>contents.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176530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930910" algn="r">
                        <a:lnSpc>
                          <a:spcPts val="1290"/>
                        </a:lnSpc>
                      </a:pPr>
                      <a:r>
                        <a:rPr sz="1100" b="1" spc="-10" dirty="0">
                          <a:latin typeface="Calibri"/>
                          <a:cs typeface="Calibri"/>
                        </a:rPr>
                        <a:t>Command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90"/>
                        </a:lnSpc>
                      </a:pPr>
                      <a:r>
                        <a:rPr sz="1100" b="1" spc="-10" dirty="0">
                          <a:latin typeface="Calibri"/>
                          <a:cs typeface="Calibri"/>
                        </a:rPr>
                        <a:t>Output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1863091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100" dirty="0">
                          <a:latin typeface="Times New Roman"/>
                          <a:cs typeface="Times New Roman"/>
                        </a:rPr>
                        <a:t> cd</a:t>
                      </a:r>
                    </a:p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100" dirty="0">
                          <a:latin typeface="Times New Roman"/>
                          <a:cs typeface="Times New Roman"/>
                        </a:rPr>
                        <a:t> ls -R</a:t>
                      </a:r>
                      <a:endParaRPr sz="11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35750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7945">
                        <a:lnSpc>
                          <a:spcPts val="1415"/>
                        </a:lnSpc>
                      </a:pPr>
                      <a:r>
                        <a:rPr sz="1200" b="1" spc="-20" dirty="0">
                          <a:latin typeface="Calibri"/>
                          <a:cs typeface="Calibri"/>
                        </a:rPr>
                        <a:t>Total</a:t>
                      </a:r>
                      <a:r>
                        <a:rPr sz="1200" b="1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b="1" spc="-10" dirty="0">
                          <a:latin typeface="Calibri"/>
                          <a:cs typeface="Calibri"/>
                        </a:rPr>
                        <a:t>Mark: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</a:tbl>
          </a:graphicData>
        </a:graphic>
      </p:graphicFrame>
      <p:pic>
        <p:nvPicPr>
          <p:cNvPr id="4" name="Picture 3">
            <a:extLst>
              <a:ext uri="{FF2B5EF4-FFF2-40B4-BE49-F238E27FC236}">
                <a16:creationId xmlns:a16="http://schemas.microsoft.com/office/drawing/2014/main" id="{4E080262-92E0-49D2-A31A-62FB687E8DC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30650" y="1460500"/>
            <a:ext cx="3028827" cy="489591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F40AA69A-20F4-4E83-90CA-27DB1ED6C3C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78250" y="2603500"/>
            <a:ext cx="3276600" cy="490509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6CF2CA31-FE85-4C0E-9547-F8899FA9187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78250" y="3712493"/>
            <a:ext cx="3276600" cy="504093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913344F5-9E11-4F43-89A6-3CDCE7AABCE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83050" y="4838245"/>
            <a:ext cx="2727325" cy="431021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E643C7C3-DF5B-4163-95DB-6DD1E3A99695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26721" y="5903625"/>
            <a:ext cx="3363358" cy="1708467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55076527"/>
              </p:ext>
            </p:extLst>
          </p:nvPr>
        </p:nvGraphicFramePr>
        <p:xfrm>
          <a:off x="902004" y="469900"/>
          <a:ext cx="2591435" cy="18605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08521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062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86055">
                <a:tc>
                  <a:txBody>
                    <a:bodyPr/>
                    <a:lstStyle/>
                    <a:p>
                      <a:pPr marL="68580">
                        <a:lnSpc>
                          <a:spcPts val="1365"/>
                        </a:lnSpc>
                      </a:pPr>
                      <a:r>
                        <a:rPr sz="120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ACTIVITY</a:t>
                      </a:r>
                      <a:r>
                        <a:rPr sz="1200" b="1" spc="-4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20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2</a:t>
                      </a:r>
                      <a:r>
                        <a:rPr sz="1200" b="1" spc="-4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200" b="1" spc="-5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: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67945">
                        <a:lnSpc>
                          <a:spcPts val="1365"/>
                        </a:lnSpc>
                      </a:pPr>
                      <a:r>
                        <a:rPr sz="1200" b="1" spc="-20" dirty="0">
                          <a:latin typeface="Calibri"/>
                          <a:cs typeface="Calibri"/>
                        </a:rPr>
                        <a:t>Text</a:t>
                      </a:r>
                      <a:r>
                        <a:rPr sz="1200" b="1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b="1" dirty="0">
                          <a:latin typeface="Calibri"/>
                          <a:cs typeface="Calibri"/>
                        </a:rPr>
                        <a:t>File</a:t>
                      </a:r>
                      <a:r>
                        <a:rPr sz="1200" b="1" spc="-4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b="1" spc="-10" dirty="0">
                          <a:latin typeface="Calibri"/>
                          <a:cs typeface="Calibri"/>
                        </a:rPr>
                        <a:t>Manipulation</a:t>
                      </a:r>
                      <a:endParaRPr sz="1200" dirty="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3" name="object 3"/>
          <p:cNvSpPr txBox="1"/>
          <p:nvPr/>
        </p:nvSpPr>
        <p:spPr>
          <a:xfrm>
            <a:off x="882954" y="774700"/>
            <a:ext cx="5663565" cy="706120"/>
          </a:xfrm>
          <a:prstGeom prst="rect">
            <a:avLst/>
          </a:prstGeom>
        </p:spPr>
        <p:txBody>
          <a:bodyPr vert="horz" wrap="square" lIns="0" tIns="10160" rIns="0" bIns="0" rtlCol="0">
            <a:spAutoFit/>
          </a:bodyPr>
          <a:lstStyle/>
          <a:p>
            <a:pPr marL="12700" marR="5080">
              <a:lnSpc>
                <a:spcPct val="101800"/>
              </a:lnSpc>
              <a:spcBef>
                <a:spcPts val="80"/>
              </a:spcBef>
            </a:pPr>
            <a:r>
              <a:rPr sz="1100" dirty="0">
                <a:latin typeface="Calibri"/>
                <a:cs typeface="Calibri"/>
              </a:rPr>
              <a:t>In</a:t>
            </a:r>
            <a:r>
              <a:rPr sz="1100" spc="-2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this</a:t>
            </a:r>
            <a:r>
              <a:rPr sz="1100" spc="-1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activity,</a:t>
            </a:r>
            <a:r>
              <a:rPr sz="1100" spc="-1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you</a:t>
            </a:r>
            <a:r>
              <a:rPr sz="1100" spc="-2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will</a:t>
            </a:r>
            <a:r>
              <a:rPr sz="1100" spc="-1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practice</a:t>
            </a:r>
            <a:r>
              <a:rPr sz="1100" spc="-2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some</a:t>
            </a:r>
            <a:r>
              <a:rPr sz="1100" spc="-2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commands</a:t>
            </a:r>
            <a:r>
              <a:rPr sz="1100" spc="-2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to</a:t>
            </a:r>
            <a:r>
              <a:rPr sz="1100" spc="-1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create</a:t>
            </a:r>
            <a:r>
              <a:rPr sz="1100" spc="-2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and</a:t>
            </a:r>
            <a:r>
              <a:rPr sz="1100" spc="-1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manipulate</a:t>
            </a:r>
            <a:r>
              <a:rPr sz="1100" spc="-1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text</a:t>
            </a:r>
            <a:r>
              <a:rPr sz="1100" spc="-1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files</a:t>
            </a:r>
            <a:r>
              <a:rPr sz="1100" spc="-1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using</a:t>
            </a:r>
            <a:r>
              <a:rPr sz="1100" spc="-1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echo,</a:t>
            </a:r>
            <a:r>
              <a:rPr sz="1100" spc="-10" dirty="0">
                <a:latin typeface="Calibri"/>
                <a:cs typeface="Calibri"/>
              </a:rPr>
              <a:t> </a:t>
            </a:r>
            <a:r>
              <a:rPr sz="1100" spc="-25" dirty="0">
                <a:latin typeface="Calibri"/>
                <a:cs typeface="Calibri"/>
              </a:rPr>
              <a:t>cat </a:t>
            </a:r>
            <a:r>
              <a:rPr sz="1100" dirty="0">
                <a:latin typeface="Calibri"/>
                <a:cs typeface="Calibri"/>
              </a:rPr>
              <a:t>and</a:t>
            </a:r>
            <a:r>
              <a:rPr sz="1100" spc="-15" dirty="0">
                <a:latin typeface="Calibri"/>
                <a:cs typeface="Calibri"/>
              </a:rPr>
              <a:t> </a:t>
            </a:r>
            <a:r>
              <a:rPr sz="1100" spc="-10" dirty="0">
                <a:latin typeface="Calibri"/>
                <a:cs typeface="Calibri"/>
              </a:rPr>
              <a:t>touch.</a:t>
            </a:r>
            <a:endParaRPr sz="1100" dirty="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1100" dirty="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1100" dirty="0">
                <a:latin typeface="Calibri"/>
                <a:cs typeface="Calibri"/>
              </a:rPr>
              <a:t>For</a:t>
            </a:r>
            <a:r>
              <a:rPr sz="1100" spc="-1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each</a:t>
            </a:r>
            <a:r>
              <a:rPr sz="1100" spc="-1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question,</a:t>
            </a:r>
            <a:r>
              <a:rPr sz="1100" spc="-1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write</a:t>
            </a:r>
            <a:r>
              <a:rPr sz="1100" spc="-1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down</a:t>
            </a:r>
            <a:r>
              <a:rPr sz="1100" spc="-1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the</a:t>
            </a:r>
            <a:r>
              <a:rPr sz="1100" spc="-2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command</a:t>
            </a:r>
            <a:r>
              <a:rPr sz="1100" spc="-1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and</a:t>
            </a:r>
            <a:r>
              <a:rPr sz="1100" spc="-1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the</a:t>
            </a:r>
            <a:r>
              <a:rPr sz="1100" spc="-3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output</a:t>
            </a:r>
            <a:r>
              <a:rPr sz="1100" spc="-1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(if</a:t>
            </a:r>
            <a:r>
              <a:rPr sz="1100" spc="-2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any)</a:t>
            </a:r>
            <a:r>
              <a:rPr sz="1100" spc="-1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in</a:t>
            </a:r>
            <a:r>
              <a:rPr sz="1100" spc="-3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the</a:t>
            </a:r>
            <a:r>
              <a:rPr sz="1100" spc="-1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answer</a:t>
            </a:r>
            <a:r>
              <a:rPr sz="1100" spc="-10" dirty="0">
                <a:latin typeface="Calibri"/>
                <a:cs typeface="Calibri"/>
              </a:rPr>
              <a:t> sheet.</a:t>
            </a:r>
            <a:endParaRPr sz="1100" dirty="0">
              <a:latin typeface="Calibri"/>
              <a:cs typeface="Calibri"/>
            </a:endParaRPr>
          </a:p>
        </p:txBody>
      </p:sp>
      <p:graphicFrame>
        <p:nvGraphicFramePr>
          <p:cNvPr id="4" name="object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72421992"/>
              </p:ext>
            </p:extLst>
          </p:nvPr>
        </p:nvGraphicFramePr>
        <p:xfrm>
          <a:off x="882954" y="1599565"/>
          <a:ext cx="6207125" cy="847153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1369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733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42011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47345">
                <a:tc rowSpan="3">
                  <a:txBody>
                    <a:bodyPr/>
                    <a:lstStyle/>
                    <a:p>
                      <a:pPr marL="103505">
                        <a:lnSpc>
                          <a:spcPts val="1300"/>
                        </a:lnSpc>
                      </a:pPr>
                      <a:r>
                        <a:rPr sz="1100" spc="-25" dirty="0">
                          <a:latin typeface="Calibri"/>
                          <a:cs typeface="Calibri"/>
                        </a:rPr>
                        <a:t>1.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 gridSpan="2">
                  <a:txBody>
                    <a:bodyPr/>
                    <a:lstStyle/>
                    <a:p>
                      <a:pPr marL="67945">
                        <a:lnSpc>
                          <a:spcPts val="1300"/>
                        </a:lnSpc>
                      </a:pPr>
                      <a:r>
                        <a:rPr sz="1100" dirty="0">
                          <a:latin typeface="Calibri"/>
                          <a:cs typeface="Calibri"/>
                        </a:rPr>
                        <a:t>Create</a:t>
                      </a:r>
                      <a:r>
                        <a:rPr sz="110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100" dirty="0">
                          <a:latin typeface="Calibri"/>
                          <a:cs typeface="Calibri"/>
                        </a:rPr>
                        <a:t>an</a:t>
                      </a:r>
                      <a:r>
                        <a:rPr sz="11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100" dirty="0">
                          <a:latin typeface="Calibri"/>
                          <a:cs typeface="Calibri"/>
                        </a:rPr>
                        <a:t>empty</a:t>
                      </a:r>
                      <a:r>
                        <a:rPr sz="1100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100" dirty="0">
                          <a:latin typeface="Calibri"/>
                          <a:cs typeface="Calibri"/>
                        </a:rPr>
                        <a:t>file</a:t>
                      </a:r>
                      <a:r>
                        <a:rPr sz="1100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100" dirty="0">
                          <a:latin typeface="Calibri"/>
                          <a:cs typeface="Calibri"/>
                        </a:rPr>
                        <a:t>named</a:t>
                      </a:r>
                      <a:r>
                        <a:rPr sz="110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100" dirty="0">
                          <a:latin typeface="Calibri"/>
                          <a:cs typeface="Calibri"/>
                        </a:rPr>
                        <a:t>"hello.txt"</a:t>
                      </a:r>
                      <a:r>
                        <a:rPr sz="11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100" dirty="0">
                          <a:latin typeface="Calibri"/>
                          <a:cs typeface="Calibri"/>
                        </a:rPr>
                        <a:t>in</a:t>
                      </a:r>
                      <a:r>
                        <a:rPr sz="11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100" dirty="0">
                          <a:latin typeface="Calibri"/>
                          <a:cs typeface="Calibri"/>
                        </a:rPr>
                        <a:t>the</a:t>
                      </a:r>
                      <a:r>
                        <a:rPr sz="11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100" dirty="0">
                          <a:latin typeface="Calibri"/>
                          <a:cs typeface="Calibri"/>
                        </a:rPr>
                        <a:t>current</a:t>
                      </a:r>
                      <a:r>
                        <a:rPr sz="110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100" dirty="0">
                          <a:latin typeface="Calibri"/>
                          <a:cs typeface="Calibri"/>
                        </a:rPr>
                        <a:t>working</a:t>
                      </a:r>
                      <a:r>
                        <a:rPr sz="110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100" spc="-10" dirty="0">
                          <a:latin typeface="Calibri"/>
                          <a:cs typeface="Calibri"/>
                        </a:rPr>
                        <a:t>directory.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76530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90"/>
                        </a:lnSpc>
                      </a:pPr>
                      <a:r>
                        <a:rPr sz="1100" b="1" spc="-10" dirty="0">
                          <a:latin typeface="Calibri"/>
                          <a:cs typeface="Calibri"/>
                        </a:rPr>
                        <a:t>Command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90"/>
                        </a:lnSpc>
                      </a:pPr>
                      <a:r>
                        <a:rPr sz="1100" b="1" spc="-10" dirty="0">
                          <a:latin typeface="Calibri"/>
                          <a:cs typeface="Calibri"/>
                        </a:rPr>
                        <a:t>Output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08660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100" dirty="0">
                          <a:latin typeface="Times New Roman"/>
                          <a:cs typeface="Times New Roman"/>
                        </a:rPr>
                        <a:t> touch hello.txt</a:t>
                      </a:r>
                    </a:p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100" dirty="0">
                          <a:latin typeface="Times New Roman"/>
                          <a:cs typeface="Times New Roman"/>
                        </a:rPr>
                        <a:t> ls</a:t>
                      </a:r>
                      <a:endParaRPr sz="11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7345">
                <a:tc rowSpan="3">
                  <a:txBody>
                    <a:bodyPr/>
                    <a:lstStyle/>
                    <a:p>
                      <a:pPr marL="103505">
                        <a:lnSpc>
                          <a:spcPts val="1290"/>
                        </a:lnSpc>
                      </a:pPr>
                      <a:r>
                        <a:rPr sz="1100" spc="-25" dirty="0">
                          <a:latin typeface="Calibri"/>
                          <a:cs typeface="Calibri"/>
                        </a:rPr>
                        <a:t>2.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 gridSpan="2">
                  <a:txBody>
                    <a:bodyPr/>
                    <a:lstStyle/>
                    <a:p>
                      <a:pPr marL="67945">
                        <a:lnSpc>
                          <a:spcPts val="1290"/>
                        </a:lnSpc>
                      </a:pPr>
                      <a:r>
                        <a:rPr sz="1100" dirty="0">
                          <a:latin typeface="Calibri"/>
                          <a:cs typeface="Calibri"/>
                        </a:rPr>
                        <a:t>Write</a:t>
                      </a:r>
                      <a:r>
                        <a:rPr sz="1100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100" dirty="0">
                          <a:latin typeface="Calibri"/>
                          <a:cs typeface="Calibri"/>
                        </a:rPr>
                        <a:t>the</a:t>
                      </a:r>
                      <a:r>
                        <a:rPr sz="1100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100" dirty="0">
                          <a:latin typeface="Calibri"/>
                          <a:cs typeface="Calibri"/>
                        </a:rPr>
                        <a:t>text</a:t>
                      </a:r>
                      <a:r>
                        <a:rPr sz="11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100" dirty="0">
                          <a:latin typeface="Calibri"/>
                          <a:cs typeface="Calibri"/>
                        </a:rPr>
                        <a:t>"Hello</a:t>
                      </a:r>
                      <a:r>
                        <a:rPr sz="1100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100" spc="-10" dirty="0">
                          <a:latin typeface="Calibri"/>
                          <a:cs typeface="Calibri"/>
                        </a:rPr>
                        <a:t>World"</a:t>
                      </a:r>
                      <a:r>
                        <a:rPr sz="1100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100" dirty="0">
                          <a:latin typeface="Calibri"/>
                          <a:cs typeface="Calibri"/>
                        </a:rPr>
                        <a:t>to</a:t>
                      </a:r>
                      <a:r>
                        <a:rPr sz="110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100" dirty="0">
                          <a:latin typeface="Calibri"/>
                          <a:cs typeface="Calibri"/>
                        </a:rPr>
                        <a:t>"hello.txt"</a:t>
                      </a:r>
                      <a:r>
                        <a:rPr sz="11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100" dirty="0">
                          <a:latin typeface="Calibri"/>
                          <a:cs typeface="Calibri"/>
                        </a:rPr>
                        <a:t>using</a:t>
                      </a:r>
                      <a:r>
                        <a:rPr sz="11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100" spc="-20" dirty="0">
                          <a:latin typeface="Calibri"/>
                          <a:cs typeface="Calibri"/>
                        </a:rPr>
                        <a:t>echo.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76530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90"/>
                        </a:lnSpc>
                      </a:pPr>
                      <a:r>
                        <a:rPr sz="1100" b="1" spc="-10" dirty="0">
                          <a:latin typeface="Calibri"/>
                          <a:cs typeface="Calibri"/>
                        </a:rPr>
                        <a:t>Command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90"/>
                        </a:lnSpc>
                      </a:pPr>
                      <a:r>
                        <a:rPr sz="1100" b="1" spc="-10" dirty="0">
                          <a:latin typeface="Calibri"/>
                          <a:cs typeface="Calibri"/>
                        </a:rPr>
                        <a:t>Output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19125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1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lang="en-US" sz="1100" dirty="0"/>
                        <a:t>echo "Hello World!" &gt; hello.txt </a:t>
                      </a:r>
                    </a:p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100" dirty="0"/>
                        <a:t> cat hello.txt </a:t>
                      </a:r>
                      <a:endParaRPr sz="11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47345">
                <a:tc rowSpan="3">
                  <a:txBody>
                    <a:bodyPr/>
                    <a:lstStyle/>
                    <a:p>
                      <a:pPr marL="103505">
                        <a:lnSpc>
                          <a:spcPts val="1290"/>
                        </a:lnSpc>
                      </a:pPr>
                      <a:r>
                        <a:rPr sz="1100" spc="-25" dirty="0">
                          <a:latin typeface="Calibri"/>
                          <a:cs typeface="Calibri"/>
                        </a:rPr>
                        <a:t>3.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 gridSpan="2">
                  <a:txBody>
                    <a:bodyPr/>
                    <a:lstStyle/>
                    <a:p>
                      <a:pPr marL="67945">
                        <a:lnSpc>
                          <a:spcPts val="1290"/>
                        </a:lnSpc>
                      </a:pPr>
                      <a:r>
                        <a:rPr sz="1100" dirty="0">
                          <a:latin typeface="Calibri"/>
                          <a:cs typeface="Calibri"/>
                        </a:rPr>
                        <a:t>Append</a:t>
                      </a:r>
                      <a:r>
                        <a:rPr sz="11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100" dirty="0">
                          <a:latin typeface="Calibri"/>
                          <a:cs typeface="Calibri"/>
                        </a:rPr>
                        <a:t>the</a:t>
                      </a:r>
                      <a:r>
                        <a:rPr sz="1100" spc="-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100" dirty="0">
                          <a:latin typeface="Calibri"/>
                          <a:cs typeface="Calibri"/>
                        </a:rPr>
                        <a:t>text</a:t>
                      </a:r>
                      <a:r>
                        <a:rPr sz="1100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100" dirty="0">
                          <a:latin typeface="Calibri"/>
                          <a:cs typeface="Calibri"/>
                        </a:rPr>
                        <a:t>"This</a:t>
                      </a:r>
                      <a:r>
                        <a:rPr sz="1100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100" dirty="0">
                          <a:latin typeface="Calibri"/>
                          <a:cs typeface="Calibri"/>
                        </a:rPr>
                        <a:t>is</a:t>
                      </a:r>
                      <a:r>
                        <a:rPr sz="11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100" dirty="0">
                          <a:latin typeface="Calibri"/>
                          <a:cs typeface="Calibri"/>
                        </a:rPr>
                        <a:t>a</a:t>
                      </a:r>
                      <a:r>
                        <a:rPr sz="1100" spc="-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100" dirty="0">
                          <a:latin typeface="Calibri"/>
                          <a:cs typeface="Calibri"/>
                        </a:rPr>
                        <a:t>test"</a:t>
                      </a:r>
                      <a:r>
                        <a:rPr sz="1100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100" dirty="0">
                          <a:latin typeface="Calibri"/>
                          <a:cs typeface="Calibri"/>
                        </a:rPr>
                        <a:t>to</a:t>
                      </a:r>
                      <a:r>
                        <a:rPr sz="1100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100" dirty="0">
                          <a:latin typeface="Calibri"/>
                          <a:cs typeface="Calibri"/>
                        </a:rPr>
                        <a:t>"hello.txt"</a:t>
                      </a:r>
                      <a:r>
                        <a:rPr sz="1100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100" dirty="0">
                          <a:latin typeface="Calibri"/>
                          <a:cs typeface="Calibri"/>
                        </a:rPr>
                        <a:t>using</a:t>
                      </a:r>
                      <a:r>
                        <a:rPr sz="1100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100" spc="-20" dirty="0">
                          <a:latin typeface="Calibri"/>
                          <a:cs typeface="Calibri"/>
                        </a:rPr>
                        <a:t>echo.</a:t>
                      </a:r>
                      <a:endParaRPr sz="1100" dirty="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76530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90"/>
                        </a:lnSpc>
                      </a:pPr>
                      <a:r>
                        <a:rPr sz="1100" b="1" spc="-10" dirty="0">
                          <a:latin typeface="Calibri"/>
                          <a:cs typeface="Calibri"/>
                        </a:rPr>
                        <a:t>Command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90"/>
                        </a:lnSpc>
                      </a:pPr>
                      <a:r>
                        <a:rPr sz="1100" b="1" spc="-10" dirty="0">
                          <a:latin typeface="Calibri"/>
                          <a:cs typeface="Calibri"/>
                        </a:rPr>
                        <a:t>Output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90525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1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lang="en-US" sz="1100" dirty="0"/>
                        <a:t>echo "This is a test" &gt;&gt; hello.txt </a:t>
                      </a:r>
                    </a:p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100" dirty="0"/>
                        <a:t> cat hello.txt </a:t>
                      </a:r>
                      <a:endParaRPr sz="11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47345">
                <a:tc rowSpan="3">
                  <a:txBody>
                    <a:bodyPr/>
                    <a:lstStyle/>
                    <a:p>
                      <a:pPr marL="103505">
                        <a:lnSpc>
                          <a:spcPts val="1290"/>
                        </a:lnSpc>
                      </a:pPr>
                      <a:r>
                        <a:rPr sz="1100" spc="-25" dirty="0">
                          <a:latin typeface="Calibri"/>
                          <a:cs typeface="Calibri"/>
                        </a:rPr>
                        <a:t>4.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 gridSpan="2">
                  <a:txBody>
                    <a:bodyPr/>
                    <a:lstStyle/>
                    <a:p>
                      <a:pPr marL="67945">
                        <a:lnSpc>
                          <a:spcPts val="1290"/>
                        </a:lnSpc>
                      </a:pPr>
                      <a:r>
                        <a:rPr sz="1100" dirty="0">
                          <a:latin typeface="Calibri"/>
                          <a:cs typeface="Calibri"/>
                        </a:rPr>
                        <a:t>Display</a:t>
                      </a:r>
                      <a:r>
                        <a:rPr sz="1100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100" dirty="0">
                          <a:latin typeface="Calibri"/>
                          <a:cs typeface="Calibri"/>
                        </a:rPr>
                        <a:t>the</a:t>
                      </a:r>
                      <a:r>
                        <a:rPr sz="1100" spc="-10" dirty="0">
                          <a:latin typeface="Calibri"/>
                          <a:cs typeface="Calibri"/>
                        </a:rPr>
                        <a:t> contents</a:t>
                      </a:r>
                      <a:r>
                        <a:rPr sz="1100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100" dirty="0">
                          <a:latin typeface="Calibri"/>
                          <a:cs typeface="Calibri"/>
                        </a:rPr>
                        <a:t>of</a:t>
                      </a:r>
                      <a:r>
                        <a:rPr sz="1100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100" dirty="0">
                          <a:latin typeface="Calibri"/>
                          <a:cs typeface="Calibri"/>
                        </a:rPr>
                        <a:t>"hello.txt"</a:t>
                      </a:r>
                      <a:r>
                        <a:rPr sz="1100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100" dirty="0">
                          <a:latin typeface="Calibri"/>
                          <a:cs typeface="Calibri"/>
                        </a:rPr>
                        <a:t>using</a:t>
                      </a:r>
                      <a:r>
                        <a:rPr sz="1100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100" spc="-20" dirty="0">
                          <a:latin typeface="Calibri"/>
                          <a:cs typeface="Calibri"/>
                        </a:rPr>
                        <a:t>cat.</a:t>
                      </a:r>
                      <a:endParaRPr sz="1100" dirty="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176530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90"/>
                        </a:lnSpc>
                      </a:pPr>
                      <a:r>
                        <a:rPr sz="1100" b="1" spc="-10" dirty="0">
                          <a:latin typeface="Calibri"/>
                          <a:cs typeface="Calibri"/>
                        </a:rPr>
                        <a:t>Command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90"/>
                        </a:lnSpc>
                      </a:pPr>
                      <a:r>
                        <a:rPr sz="1100" b="1" spc="-10" dirty="0">
                          <a:latin typeface="Calibri"/>
                          <a:cs typeface="Calibri"/>
                        </a:rPr>
                        <a:t>Output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695325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1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lang="en-MY" sz="1100" dirty="0"/>
                        <a:t>cat hello.txt </a:t>
                      </a:r>
                      <a:endParaRPr sz="11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47345">
                <a:tc rowSpan="3">
                  <a:txBody>
                    <a:bodyPr/>
                    <a:lstStyle/>
                    <a:p>
                      <a:pPr marL="103505">
                        <a:lnSpc>
                          <a:spcPts val="1290"/>
                        </a:lnSpc>
                      </a:pPr>
                      <a:r>
                        <a:rPr sz="1100" spc="-25" dirty="0">
                          <a:latin typeface="Calibri"/>
                          <a:cs typeface="Calibri"/>
                        </a:rPr>
                        <a:t>5.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 gridSpan="2">
                  <a:txBody>
                    <a:bodyPr/>
                    <a:lstStyle/>
                    <a:p>
                      <a:pPr marL="67945">
                        <a:lnSpc>
                          <a:spcPts val="1290"/>
                        </a:lnSpc>
                      </a:pPr>
                      <a:r>
                        <a:rPr sz="1100" dirty="0">
                          <a:latin typeface="Calibri"/>
                          <a:cs typeface="Calibri"/>
                        </a:rPr>
                        <a:t>Create</a:t>
                      </a:r>
                      <a:r>
                        <a:rPr sz="110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100" dirty="0">
                          <a:latin typeface="Calibri"/>
                          <a:cs typeface="Calibri"/>
                        </a:rPr>
                        <a:t>another</a:t>
                      </a:r>
                      <a:r>
                        <a:rPr sz="1100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100" dirty="0">
                          <a:latin typeface="Calibri"/>
                          <a:cs typeface="Calibri"/>
                        </a:rPr>
                        <a:t>file</a:t>
                      </a:r>
                      <a:r>
                        <a:rPr sz="110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100" dirty="0">
                          <a:latin typeface="Calibri"/>
                          <a:cs typeface="Calibri"/>
                        </a:rPr>
                        <a:t>named</a:t>
                      </a:r>
                      <a:r>
                        <a:rPr sz="110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100" dirty="0">
                          <a:latin typeface="Calibri"/>
                          <a:cs typeface="Calibri"/>
                        </a:rPr>
                        <a:t>"bye.txt"</a:t>
                      </a:r>
                      <a:r>
                        <a:rPr sz="110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100" dirty="0">
                          <a:latin typeface="Calibri"/>
                          <a:cs typeface="Calibri"/>
                        </a:rPr>
                        <a:t>with</a:t>
                      </a:r>
                      <a:r>
                        <a:rPr sz="110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100" dirty="0">
                          <a:latin typeface="Calibri"/>
                          <a:cs typeface="Calibri"/>
                        </a:rPr>
                        <a:t>the</a:t>
                      </a:r>
                      <a:r>
                        <a:rPr sz="1100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100" dirty="0">
                          <a:latin typeface="Calibri"/>
                          <a:cs typeface="Calibri"/>
                        </a:rPr>
                        <a:t>text</a:t>
                      </a:r>
                      <a:r>
                        <a:rPr sz="1100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100" dirty="0">
                          <a:latin typeface="Calibri"/>
                          <a:cs typeface="Calibri"/>
                        </a:rPr>
                        <a:t>"Goodbye</a:t>
                      </a:r>
                      <a:r>
                        <a:rPr sz="11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100" spc="-10" dirty="0">
                          <a:latin typeface="Calibri"/>
                          <a:cs typeface="Calibri"/>
                        </a:rPr>
                        <a:t>World"</a:t>
                      </a:r>
                      <a:r>
                        <a:rPr sz="1100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100" dirty="0">
                          <a:latin typeface="Calibri"/>
                          <a:cs typeface="Calibri"/>
                        </a:rPr>
                        <a:t>using</a:t>
                      </a:r>
                      <a:r>
                        <a:rPr sz="110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100" spc="-10" dirty="0">
                          <a:latin typeface="Calibri"/>
                          <a:cs typeface="Calibri"/>
                        </a:rPr>
                        <a:t>echo.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363855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90"/>
                        </a:lnSpc>
                      </a:pPr>
                      <a:r>
                        <a:rPr sz="1100" b="1" spc="-10" dirty="0">
                          <a:latin typeface="Calibri"/>
                          <a:cs typeface="Calibri"/>
                        </a:rPr>
                        <a:t>Command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90"/>
                        </a:lnSpc>
                      </a:pPr>
                      <a:r>
                        <a:rPr sz="1100" b="1" spc="-10" dirty="0">
                          <a:latin typeface="Calibri"/>
                          <a:cs typeface="Calibri"/>
                        </a:rPr>
                        <a:t>Output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7366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1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lang="en-US" sz="1100" dirty="0"/>
                        <a:t>touch bye.txt </a:t>
                      </a:r>
                    </a:p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100" dirty="0"/>
                        <a:t> echo "Goodbye World" &gt; bye.txt </a:t>
                      </a:r>
                      <a:endParaRPr sz="11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533400">
                <a:tc rowSpan="3">
                  <a:txBody>
                    <a:bodyPr/>
                    <a:lstStyle/>
                    <a:p>
                      <a:pPr marL="103505">
                        <a:lnSpc>
                          <a:spcPts val="1290"/>
                        </a:lnSpc>
                      </a:pPr>
                      <a:r>
                        <a:rPr sz="1100" spc="-25" dirty="0">
                          <a:latin typeface="Calibri"/>
                          <a:cs typeface="Calibri"/>
                        </a:rPr>
                        <a:t>6.</a:t>
                      </a:r>
                      <a:endParaRPr sz="1100" dirty="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 gridSpan="2">
                  <a:txBody>
                    <a:bodyPr/>
                    <a:lstStyle/>
                    <a:p>
                      <a:pPr marL="67945">
                        <a:lnSpc>
                          <a:spcPts val="1290"/>
                        </a:lnSpc>
                      </a:pPr>
                      <a:r>
                        <a:rPr sz="1100" spc="-10" dirty="0">
                          <a:latin typeface="Calibri"/>
                          <a:cs typeface="Calibri"/>
                        </a:rPr>
                        <a:t>Concatenate </a:t>
                      </a:r>
                      <a:r>
                        <a:rPr sz="1100" dirty="0">
                          <a:latin typeface="Calibri"/>
                          <a:cs typeface="Calibri"/>
                        </a:rPr>
                        <a:t>the</a:t>
                      </a:r>
                      <a:r>
                        <a:rPr sz="1100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100" spc="-10" dirty="0">
                          <a:latin typeface="Calibri"/>
                          <a:cs typeface="Calibri"/>
                        </a:rPr>
                        <a:t>contents</a:t>
                      </a:r>
                      <a:r>
                        <a:rPr sz="1100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100" dirty="0">
                          <a:latin typeface="Calibri"/>
                          <a:cs typeface="Calibri"/>
                        </a:rPr>
                        <a:t>of</a:t>
                      </a:r>
                      <a:r>
                        <a:rPr sz="1100" spc="-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100" dirty="0">
                          <a:latin typeface="Calibri"/>
                          <a:cs typeface="Calibri"/>
                        </a:rPr>
                        <a:t>"hello.txt"</a:t>
                      </a:r>
                      <a:r>
                        <a:rPr sz="1100" spc="-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100" dirty="0">
                          <a:latin typeface="Calibri"/>
                          <a:cs typeface="Calibri"/>
                        </a:rPr>
                        <a:t>and</a:t>
                      </a:r>
                      <a:r>
                        <a:rPr sz="1100" spc="-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100" dirty="0">
                          <a:latin typeface="Calibri"/>
                          <a:cs typeface="Calibri"/>
                        </a:rPr>
                        <a:t>"bye.txt"</a:t>
                      </a:r>
                      <a:r>
                        <a:rPr sz="1100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100" dirty="0">
                          <a:latin typeface="Calibri"/>
                          <a:cs typeface="Calibri"/>
                        </a:rPr>
                        <a:t>and</a:t>
                      </a:r>
                      <a:r>
                        <a:rPr sz="1100" spc="-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100" dirty="0">
                          <a:latin typeface="Calibri"/>
                          <a:cs typeface="Calibri"/>
                        </a:rPr>
                        <a:t>display</a:t>
                      </a:r>
                      <a:r>
                        <a:rPr sz="1100" spc="-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100" dirty="0">
                          <a:latin typeface="Calibri"/>
                          <a:cs typeface="Calibri"/>
                        </a:rPr>
                        <a:t>them</a:t>
                      </a:r>
                      <a:r>
                        <a:rPr sz="1100" spc="-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100" dirty="0">
                          <a:latin typeface="Calibri"/>
                          <a:cs typeface="Calibri"/>
                        </a:rPr>
                        <a:t>using</a:t>
                      </a:r>
                      <a:r>
                        <a:rPr sz="1100" spc="-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100" spc="-20" dirty="0">
                          <a:latin typeface="Calibri"/>
                          <a:cs typeface="Calibri"/>
                        </a:rPr>
                        <a:t>cat.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176530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90"/>
                        </a:lnSpc>
                      </a:pPr>
                      <a:r>
                        <a:rPr sz="1100" b="1" spc="-10" dirty="0">
                          <a:latin typeface="Calibri"/>
                          <a:cs typeface="Calibri"/>
                        </a:rPr>
                        <a:t>Command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90"/>
                        </a:lnSpc>
                      </a:pPr>
                      <a:r>
                        <a:rPr sz="1100" b="1" spc="-10" dirty="0">
                          <a:latin typeface="Calibri"/>
                          <a:cs typeface="Calibri"/>
                        </a:rPr>
                        <a:t>Output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814070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MY" sz="1100" dirty="0"/>
                        <a:t> cat hello.txt bye.txt </a:t>
                      </a:r>
                      <a:endParaRPr sz="11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  <a:tr h="517525">
                <a:tc rowSpan="3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45"/>
                        </a:spcBef>
                      </a:pPr>
                      <a:endParaRPr sz="1100" dirty="0">
                        <a:latin typeface="Times New Roman"/>
                        <a:cs typeface="Times New Roman"/>
                      </a:endParaRPr>
                    </a:p>
                    <a:p>
                      <a:pPr marL="103505">
                        <a:lnSpc>
                          <a:spcPct val="100000"/>
                        </a:lnSpc>
                      </a:pPr>
                      <a:r>
                        <a:rPr sz="1100" spc="-25" dirty="0">
                          <a:latin typeface="Calibri"/>
                          <a:cs typeface="Calibri"/>
                        </a:rPr>
                        <a:t>7.</a:t>
                      </a:r>
                      <a:endParaRPr sz="1100" dirty="0">
                        <a:latin typeface="Calibri"/>
                        <a:cs typeface="Calibri"/>
                      </a:endParaRPr>
                    </a:p>
                  </a:txBody>
                  <a:tcPr marL="0" marR="0" marT="571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 gridSpan="2">
                  <a:txBody>
                    <a:bodyPr/>
                    <a:lstStyle/>
                    <a:p>
                      <a:pPr marL="67945">
                        <a:lnSpc>
                          <a:spcPts val="1290"/>
                        </a:lnSpc>
                      </a:pPr>
                      <a:r>
                        <a:rPr sz="1100" spc="-10" dirty="0">
                          <a:latin typeface="Calibri"/>
                          <a:cs typeface="Calibri"/>
                        </a:rPr>
                        <a:t>Concatenate</a:t>
                      </a:r>
                      <a:r>
                        <a:rPr sz="1100" spc="-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100" dirty="0">
                          <a:latin typeface="Calibri"/>
                          <a:cs typeface="Calibri"/>
                        </a:rPr>
                        <a:t>the</a:t>
                      </a:r>
                      <a:r>
                        <a:rPr sz="1100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100" spc="-10" dirty="0">
                          <a:latin typeface="Calibri"/>
                          <a:cs typeface="Calibri"/>
                        </a:rPr>
                        <a:t>contents </a:t>
                      </a:r>
                      <a:r>
                        <a:rPr sz="1100" dirty="0">
                          <a:latin typeface="Calibri"/>
                          <a:cs typeface="Calibri"/>
                        </a:rPr>
                        <a:t>of</a:t>
                      </a:r>
                      <a:r>
                        <a:rPr sz="1100" spc="-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100" dirty="0">
                          <a:latin typeface="Calibri"/>
                          <a:cs typeface="Calibri"/>
                        </a:rPr>
                        <a:t>"hello.txt" and</a:t>
                      </a:r>
                      <a:r>
                        <a:rPr sz="1100" spc="-10" dirty="0">
                          <a:latin typeface="Calibri"/>
                          <a:cs typeface="Calibri"/>
                        </a:rPr>
                        <a:t> "bye.txt"</a:t>
                      </a:r>
                      <a:r>
                        <a:rPr sz="1100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100" dirty="0">
                          <a:latin typeface="Calibri"/>
                          <a:cs typeface="Calibri"/>
                        </a:rPr>
                        <a:t>and</a:t>
                      </a:r>
                      <a:r>
                        <a:rPr sz="1100" spc="-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100" dirty="0">
                          <a:latin typeface="Calibri"/>
                          <a:cs typeface="Calibri"/>
                        </a:rPr>
                        <a:t>write</a:t>
                      </a:r>
                      <a:r>
                        <a:rPr sz="1100" spc="-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100" dirty="0">
                          <a:latin typeface="Calibri"/>
                          <a:cs typeface="Calibri"/>
                        </a:rPr>
                        <a:t>them</a:t>
                      </a:r>
                      <a:r>
                        <a:rPr sz="1100" spc="-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100" dirty="0">
                          <a:latin typeface="Calibri"/>
                          <a:cs typeface="Calibri"/>
                        </a:rPr>
                        <a:t>to</a:t>
                      </a:r>
                      <a:r>
                        <a:rPr sz="1100" spc="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100" dirty="0">
                          <a:latin typeface="Calibri"/>
                          <a:cs typeface="Calibri"/>
                        </a:rPr>
                        <a:t>a</a:t>
                      </a:r>
                      <a:r>
                        <a:rPr sz="1100" spc="-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100" dirty="0">
                          <a:latin typeface="Calibri"/>
                          <a:cs typeface="Calibri"/>
                        </a:rPr>
                        <a:t>new</a:t>
                      </a:r>
                      <a:r>
                        <a:rPr sz="1100" spc="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100" dirty="0">
                          <a:latin typeface="Calibri"/>
                          <a:cs typeface="Calibri"/>
                        </a:rPr>
                        <a:t>file</a:t>
                      </a:r>
                      <a:r>
                        <a:rPr sz="1100" spc="-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100" spc="-10" dirty="0">
                          <a:latin typeface="Calibri"/>
                          <a:cs typeface="Calibri"/>
                        </a:rPr>
                        <a:t>named</a:t>
                      </a:r>
                      <a:endParaRPr sz="1100" dirty="0">
                        <a:latin typeface="Calibri"/>
                        <a:cs typeface="Calibri"/>
                      </a:endParaRPr>
                    </a:p>
                    <a:p>
                      <a:pPr marL="67945">
                        <a:lnSpc>
                          <a:spcPct val="100000"/>
                        </a:lnSpc>
                        <a:spcBef>
                          <a:spcPts val="20"/>
                        </a:spcBef>
                      </a:pPr>
                      <a:r>
                        <a:rPr sz="1100" spc="-10" dirty="0">
                          <a:latin typeface="Calibri"/>
                          <a:cs typeface="Calibri"/>
                        </a:rPr>
                        <a:t>"greeting.txt"</a:t>
                      </a:r>
                      <a:r>
                        <a:rPr sz="1100" spc="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100" dirty="0">
                          <a:latin typeface="Calibri"/>
                          <a:cs typeface="Calibri"/>
                        </a:rPr>
                        <a:t>using</a:t>
                      </a:r>
                      <a:r>
                        <a:rPr sz="1100" spc="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100" spc="-20" dirty="0">
                          <a:latin typeface="Calibri"/>
                          <a:cs typeface="Calibri"/>
                        </a:rPr>
                        <a:t>cat.</a:t>
                      </a:r>
                      <a:endParaRPr sz="1100" dirty="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18"/>
                  </a:ext>
                </a:extLst>
              </a:tr>
              <a:tr h="176530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571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90"/>
                        </a:lnSpc>
                      </a:pPr>
                      <a:r>
                        <a:rPr sz="1100" b="1" spc="-10" dirty="0">
                          <a:latin typeface="Calibri"/>
                          <a:cs typeface="Calibri"/>
                        </a:rPr>
                        <a:t>Command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90"/>
                        </a:lnSpc>
                      </a:pPr>
                      <a:r>
                        <a:rPr sz="1100" b="1" spc="-10" dirty="0">
                          <a:latin typeface="Calibri"/>
                          <a:cs typeface="Calibri"/>
                        </a:rPr>
                        <a:t>Output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9"/>
                  </a:ext>
                </a:extLst>
              </a:tr>
              <a:tr h="296545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571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1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lang="en-US" sz="1100" dirty="0"/>
                        <a:t>cat hello.txt bye.txt &gt; greeting.txt </a:t>
                      </a: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20"/>
                  </a:ext>
                </a:extLst>
              </a:tr>
            </a:tbl>
          </a:graphicData>
        </a:graphic>
      </p:graphicFrame>
      <p:pic>
        <p:nvPicPr>
          <p:cNvPr id="6" name="Picture 5">
            <a:extLst>
              <a:ext uri="{FF2B5EF4-FFF2-40B4-BE49-F238E27FC236}">
                <a16:creationId xmlns:a16="http://schemas.microsoft.com/office/drawing/2014/main" id="{196E1302-7A0E-443A-BAA6-D9783D0362B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06850" y="2146300"/>
            <a:ext cx="2869259" cy="643017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B5389EB0-2616-49D2-BB67-EF5ACAB6963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84600" y="3397118"/>
            <a:ext cx="3243577" cy="534882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7044C971-4F20-4C1E-BB03-CF0F2A279DC2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77727"/>
          <a:stretch/>
        </p:blipFill>
        <p:spPr>
          <a:xfrm>
            <a:off x="3848886" y="4544713"/>
            <a:ext cx="3115004" cy="139044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852BEABB-0433-4526-A937-E3FCAC778A8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93044" y="5435940"/>
            <a:ext cx="2296869" cy="587225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75A94FCA-5213-45BF-A30C-0F367778DB5D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75676" y="6870700"/>
            <a:ext cx="2931604" cy="613147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689EE3E3-FA70-4FF6-B459-5AAD111922C2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59439" y="8331382"/>
            <a:ext cx="2836720" cy="699872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14DBC9D3-0AB8-4EA0-A5CE-B057BE773FC6}"/>
              </a:ext>
            </a:extLst>
          </p:cNvPr>
          <p:cNvPicPr>
            <a:picLocks noChangeAspect="1"/>
          </p:cNvPicPr>
          <p:nvPr/>
        </p:nvPicPr>
        <p:blipFill rotWithShape="1"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76094"/>
          <a:stretch/>
        </p:blipFill>
        <p:spPr>
          <a:xfrm>
            <a:off x="3714736" y="9809267"/>
            <a:ext cx="3326127" cy="139044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44719438"/>
              </p:ext>
            </p:extLst>
          </p:nvPr>
        </p:nvGraphicFramePr>
        <p:xfrm>
          <a:off x="914704" y="914399"/>
          <a:ext cx="6207125" cy="4559936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1369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733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42011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47345">
                <a:tc rowSpan="3">
                  <a:txBody>
                    <a:bodyPr/>
                    <a:lstStyle/>
                    <a:p>
                      <a:pPr marL="103505">
                        <a:lnSpc>
                          <a:spcPts val="1290"/>
                        </a:lnSpc>
                      </a:pPr>
                      <a:r>
                        <a:rPr sz="1100" spc="-25" dirty="0">
                          <a:latin typeface="Calibri"/>
                          <a:cs typeface="Calibri"/>
                        </a:rPr>
                        <a:t>8.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 gridSpan="2">
                  <a:txBody>
                    <a:bodyPr/>
                    <a:lstStyle/>
                    <a:p>
                      <a:pPr marL="67945">
                        <a:lnSpc>
                          <a:spcPts val="1290"/>
                        </a:lnSpc>
                      </a:pPr>
                      <a:r>
                        <a:rPr sz="1100" dirty="0">
                          <a:latin typeface="Calibri"/>
                          <a:cs typeface="Calibri"/>
                        </a:rPr>
                        <a:t>Display</a:t>
                      </a:r>
                      <a:r>
                        <a:rPr sz="1100" spc="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100" dirty="0">
                          <a:latin typeface="Calibri"/>
                          <a:cs typeface="Calibri"/>
                        </a:rPr>
                        <a:t>the</a:t>
                      </a:r>
                      <a:r>
                        <a:rPr sz="1100" spc="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100" spc="-10" dirty="0">
                          <a:latin typeface="Calibri"/>
                          <a:cs typeface="Calibri"/>
                        </a:rPr>
                        <a:t>contents</a:t>
                      </a:r>
                      <a:r>
                        <a:rPr sz="1100" spc="-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100" dirty="0">
                          <a:latin typeface="Calibri"/>
                          <a:cs typeface="Calibri"/>
                        </a:rPr>
                        <a:t>of</a:t>
                      </a:r>
                      <a:r>
                        <a:rPr sz="1100" spc="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100" spc="-10" dirty="0">
                          <a:latin typeface="Calibri"/>
                          <a:cs typeface="Calibri"/>
                        </a:rPr>
                        <a:t>"greeting.txt"</a:t>
                      </a:r>
                      <a:r>
                        <a:rPr sz="1100" spc="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100" dirty="0">
                          <a:latin typeface="Calibri"/>
                          <a:cs typeface="Calibri"/>
                        </a:rPr>
                        <a:t>using</a:t>
                      </a:r>
                      <a:r>
                        <a:rPr sz="1100" spc="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100" spc="-20" dirty="0">
                          <a:latin typeface="Calibri"/>
                          <a:cs typeface="Calibri"/>
                        </a:rPr>
                        <a:t>cat.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76530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930910" algn="r">
                        <a:lnSpc>
                          <a:spcPts val="1290"/>
                        </a:lnSpc>
                      </a:pPr>
                      <a:r>
                        <a:rPr sz="1100" b="1" spc="-10" dirty="0">
                          <a:latin typeface="Calibri"/>
                          <a:cs typeface="Calibri"/>
                        </a:rPr>
                        <a:t>Command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90"/>
                        </a:lnSpc>
                      </a:pPr>
                      <a:r>
                        <a:rPr sz="1100" b="1" spc="-10" dirty="0">
                          <a:latin typeface="Calibri"/>
                          <a:cs typeface="Calibri"/>
                        </a:rPr>
                        <a:t>Output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012826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1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lang="en-MY" sz="1100" dirty="0"/>
                        <a:t>cat greeting.txt </a:t>
                      </a:r>
                      <a:endParaRPr sz="11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7345">
                <a:tc rowSpan="3">
                  <a:txBody>
                    <a:bodyPr/>
                    <a:lstStyle/>
                    <a:p>
                      <a:pPr marL="103505">
                        <a:lnSpc>
                          <a:spcPts val="1290"/>
                        </a:lnSpc>
                      </a:pPr>
                      <a:r>
                        <a:rPr sz="1100" spc="-25" dirty="0">
                          <a:latin typeface="Calibri"/>
                          <a:cs typeface="Calibri"/>
                        </a:rPr>
                        <a:t>9.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 gridSpan="2">
                  <a:txBody>
                    <a:bodyPr/>
                    <a:lstStyle/>
                    <a:p>
                      <a:pPr marL="67945">
                        <a:lnSpc>
                          <a:spcPts val="1290"/>
                        </a:lnSpc>
                      </a:pPr>
                      <a:r>
                        <a:rPr sz="1100" dirty="0">
                          <a:latin typeface="Calibri"/>
                          <a:cs typeface="Calibri"/>
                        </a:rPr>
                        <a:t>Edit</a:t>
                      </a:r>
                      <a:r>
                        <a:rPr sz="1100" spc="-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100" dirty="0">
                          <a:latin typeface="Calibri"/>
                          <a:cs typeface="Calibri"/>
                        </a:rPr>
                        <a:t>the</a:t>
                      </a:r>
                      <a:r>
                        <a:rPr sz="1100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100" dirty="0">
                          <a:latin typeface="Calibri"/>
                          <a:cs typeface="Calibri"/>
                        </a:rPr>
                        <a:t>file</a:t>
                      </a:r>
                      <a:r>
                        <a:rPr sz="1100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100" spc="-10" dirty="0">
                          <a:latin typeface="Calibri"/>
                          <a:cs typeface="Calibri"/>
                        </a:rPr>
                        <a:t>"greeting.txt"</a:t>
                      </a:r>
                      <a:r>
                        <a:rPr sz="1100" spc="-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100" dirty="0">
                          <a:latin typeface="Calibri"/>
                          <a:cs typeface="Calibri"/>
                        </a:rPr>
                        <a:t>using</a:t>
                      </a:r>
                      <a:r>
                        <a:rPr sz="1100" spc="-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100" dirty="0">
                          <a:latin typeface="Calibri"/>
                          <a:cs typeface="Calibri"/>
                        </a:rPr>
                        <a:t>Nano</a:t>
                      </a:r>
                      <a:r>
                        <a:rPr sz="1100" spc="-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100" dirty="0">
                          <a:latin typeface="Calibri"/>
                          <a:cs typeface="Calibri"/>
                        </a:rPr>
                        <a:t>and</a:t>
                      </a:r>
                      <a:r>
                        <a:rPr sz="1100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100" dirty="0">
                          <a:latin typeface="Calibri"/>
                          <a:cs typeface="Calibri"/>
                        </a:rPr>
                        <a:t>change</a:t>
                      </a:r>
                      <a:r>
                        <a:rPr sz="1100" spc="-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100" dirty="0">
                          <a:latin typeface="Calibri"/>
                          <a:cs typeface="Calibri"/>
                        </a:rPr>
                        <a:t>the</a:t>
                      </a:r>
                      <a:r>
                        <a:rPr sz="1100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100" dirty="0">
                          <a:latin typeface="Calibri"/>
                          <a:cs typeface="Calibri"/>
                        </a:rPr>
                        <a:t>word</a:t>
                      </a:r>
                      <a:r>
                        <a:rPr sz="1100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100" spc="-10" dirty="0">
                          <a:latin typeface="Calibri"/>
                          <a:cs typeface="Calibri"/>
                        </a:rPr>
                        <a:t>"World" </a:t>
                      </a:r>
                      <a:r>
                        <a:rPr sz="1100" dirty="0">
                          <a:latin typeface="Calibri"/>
                          <a:cs typeface="Calibri"/>
                        </a:rPr>
                        <a:t>to</a:t>
                      </a:r>
                      <a:r>
                        <a:rPr sz="1100" spc="-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100" dirty="0">
                          <a:latin typeface="Calibri"/>
                          <a:cs typeface="Calibri"/>
                        </a:rPr>
                        <a:t>your</a:t>
                      </a:r>
                      <a:r>
                        <a:rPr sz="1100" spc="-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100" dirty="0">
                          <a:latin typeface="Calibri"/>
                          <a:cs typeface="Calibri"/>
                        </a:rPr>
                        <a:t>name</a:t>
                      </a:r>
                      <a:r>
                        <a:rPr sz="1100" spc="-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100" dirty="0">
                          <a:latin typeface="Calibri"/>
                          <a:cs typeface="Calibri"/>
                        </a:rPr>
                        <a:t>in</a:t>
                      </a:r>
                      <a:r>
                        <a:rPr sz="1100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100" dirty="0">
                          <a:latin typeface="Calibri"/>
                          <a:cs typeface="Calibri"/>
                        </a:rPr>
                        <a:t>both</a:t>
                      </a:r>
                      <a:r>
                        <a:rPr sz="1100" spc="-10" dirty="0">
                          <a:latin typeface="Calibri"/>
                          <a:cs typeface="Calibri"/>
                        </a:rPr>
                        <a:t> lines.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76530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930910" algn="r">
                        <a:lnSpc>
                          <a:spcPts val="1290"/>
                        </a:lnSpc>
                      </a:pPr>
                      <a:r>
                        <a:rPr sz="1100" b="1" spc="-10" dirty="0">
                          <a:latin typeface="Calibri"/>
                          <a:cs typeface="Calibri"/>
                        </a:rPr>
                        <a:t>Command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90"/>
                        </a:lnSpc>
                      </a:pPr>
                      <a:r>
                        <a:rPr sz="1100" b="1" spc="-10" dirty="0">
                          <a:latin typeface="Calibri"/>
                          <a:cs typeface="Calibri"/>
                        </a:rPr>
                        <a:t>Output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71525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1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lang="en-MY" sz="1100" dirty="0"/>
                        <a:t>nano greeting.txt </a:t>
                      </a:r>
                      <a:endParaRPr sz="11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47345">
                <a:tc rowSpan="3">
                  <a:txBody>
                    <a:bodyPr/>
                    <a:lstStyle/>
                    <a:p>
                      <a:pPr marL="67945">
                        <a:lnSpc>
                          <a:spcPts val="1290"/>
                        </a:lnSpc>
                      </a:pPr>
                      <a:r>
                        <a:rPr sz="1100" spc="-25" dirty="0">
                          <a:latin typeface="Calibri"/>
                          <a:cs typeface="Calibri"/>
                        </a:rPr>
                        <a:t>10.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 gridSpan="2">
                  <a:txBody>
                    <a:bodyPr/>
                    <a:lstStyle/>
                    <a:p>
                      <a:pPr marL="67945">
                        <a:lnSpc>
                          <a:spcPts val="1290"/>
                        </a:lnSpc>
                      </a:pPr>
                      <a:r>
                        <a:rPr sz="1100" dirty="0">
                          <a:latin typeface="Calibri"/>
                          <a:cs typeface="Calibri"/>
                        </a:rPr>
                        <a:t>Display the modified</a:t>
                      </a:r>
                      <a:r>
                        <a:rPr sz="1100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100" spc="-10" dirty="0">
                          <a:latin typeface="Calibri"/>
                          <a:cs typeface="Calibri"/>
                        </a:rPr>
                        <a:t>contents</a:t>
                      </a:r>
                      <a:r>
                        <a:rPr sz="1100" spc="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100" dirty="0">
                          <a:latin typeface="Calibri"/>
                          <a:cs typeface="Calibri"/>
                        </a:rPr>
                        <a:t>of</a:t>
                      </a:r>
                      <a:r>
                        <a:rPr sz="1100" spc="-10" dirty="0">
                          <a:latin typeface="Calibri"/>
                          <a:cs typeface="Calibri"/>
                        </a:rPr>
                        <a:t> "greeting.txt"</a:t>
                      </a:r>
                      <a:r>
                        <a:rPr sz="1100" dirty="0">
                          <a:latin typeface="Calibri"/>
                          <a:cs typeface="Calibri"/>
                        </a:rPr>
                        <a:t> using</a:t>
                      </a:r>
                      <a:r>
                        <a:rPr sz="1100" spc="-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100" spc="-20" dirty="0">
                          <a:latin typeface="Calibri"/>
                          <a:cs typeface="Calibri"/>
                        </a:rPr>
                        <a:t>cat.</a:t>
                      </a:r>
                      <a:endParaRPr sz="1100" dirty="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76530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930910" algn="r">
                        <a:lnSpc>
                          <a:spcPts val="1290"/>
                        </a:lnSpc>
                      </a:pPr>
                      <a:r>
                        <a:rPr sz="1100" b="1" spc="-10" dirty="0">
                          <a:latin typeface="Calibri"/>
                          <a:cs typeface="Calibri"/>
                        </a:rPr>
                        <a:t>Command</a:t>
                      </a:r>
                      <a:endParaRPr sz="1100" dirty="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90"/>
                        </a:lnSpc>
                      </a:pPr>
                      <a:r>
                        <a:rPr sz="1100" b="1" spc="-10" dirty="0">
                          <a:latin typeface="Calibri"/>
                          <a:cs typeface="Calibri"/>
                        </a:rPr>
                        <a:t>Output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847725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1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lang="en-MY" sz="1100" dirty="0"/>
                        <a:t>cat greeting.txt </a:t>
                      </a:r>
                      <a:endParaRPr sz="11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5623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7945">
                        <a:lnSpc>
                          <a:spcPts val="1405"/>
                        </a:lnSpc>
                      </a:pPr>
                      <a:r>
                        <a:rPr sz="1200" b="1" spc="-20" dirty="0">
                          <a:latin typeface="Calibri"/>
                          <a:cs typeface="Calibri"/>
                        </a:rPr>
                        <a:t>Total</a:t>
                      </a:r>
                      <a:r>
                        <a:rPr sz="1200" b="1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b="1" spc="-10" dirty="0">
                          <a:latin typeface="Calibri"/>
                          <a:cs typeface="Calibri"/>
                        </a:rPr>
                        <a:t>Mark: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pic>
        <p:nvPicPr>
          <p:cNvPr id="4" name="Picture 3">
            <a:extLst>
              <a:ext uri="{FF2B5EF4-FFF2-40B4-BE49-F238E27FC236}">
                <a16:creationId xmlns:a16="http://schemas.microsoft.com/office/drawing/2014/main" id="{3C6C7EEA-1A34-435A-8053-4CF278D594EE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8882"/>
          <a:stretch/>
        </p:blipFill>
        <p:spPr>
          <a:xfrm>
            <a:off x="3930650" y="1536700"/>
            <a:ext cx="2899458" cy="8382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5A6C2A64-0FA7-4C22-BED1-67948A4BFB6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43350" y="2997201"/>
            <a:ext cx="2955272" cy="722806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DC0B525A-E033-41F9-9155-AAB11F48580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03650" y="4297081"/>
            <a:ext cx="3162741" cy="75258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1530781"/>
              </p:ext>
            </p:extLst>
          </p:nvPr>
        </p:nvGraphicFramePr>
        <p:xfrm>
          <a:off x="902004" y="749178"/>
          <a:ext cx="3722370" cy="18605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08521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3715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86055">
                <a:tc>
                  <a:txBody>
                    <a:bodyPr/>
                    <a:lstStyle/>
                    <a:p>
                      <a:pPr marL="68580">
                        <a:lnSpc>
                          <a:spcPts val="1365"/>
                        </a:lnSpc>
                      </a:pPr>
                      <a:r>
                        <a:rPr sz="120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ACTIVITY</a:t>
                      </a:r>
                      <a:r>
                        <a:rPr sz="1200" b="1" spc="-3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20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3</a:t>
                      </a:r>
                      <a:r>
                        <a:rPr sz="1200" b="1" spc="-4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200" b="1" spc="-5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: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67945">
                        <a:lnSpc>
                          <a:spcPts val="1365"/>
                        </a:lnSpc>
                      </a:pPr>
                      <a:r>
                        <a:rPr sz="1200" b="1" dirty="0">
                          <a:latin typeface="Calibri"/>
                          <a:cs typeface="Calibri"/>
                        </a:rPr>
                        <a:t>WRITE,</a:t>
                      </a:r>
                      <a:r>
                        <a:rPr sz="1200" b="1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b="1" dirty="0">
                          <a:latin typeface="Calibri"/>
                          <a:cs typeface="Calibri"/>
                        </a:rPr>
                        <a:t>COMPILE</a:t>
                      </a:r>
                      <a:r>
                        <a:rPr sz="1200" b="1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b="1" dirty="0">
                          <a:latin typeface="Calibri"/>
                          <a:cs typeface="Calibri"/>
                        </a:rPr>
                        <a:t>AND</a:t>
                      </a:r>
                      <a:r>
                        <a:rPr sz="1200" b="1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b="1" dirty="0">
                          <a:latin typeface="Calibri"/>
                          <a:cs typeface="Calibri"/>
                        </a:rPr>
                        <a:t>RUN</a:t>
                      </a:r>
                      <a:r>
                        <a:rPr sz="1200" b="1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b="1" dirty="0">
                          <a:latin typeface="Calibri"/>
                          <a:cs typeface="Calibri"/>
                        </a:rPr>
                        <a:t>C</a:t>
                      </a:r>
                      <a:r>
                        <a:rPr sz="1200" b="1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b="1" spc="-10" dirty="0">
                          <a:latin typeface="Calibri"/>
                          <a:cs typeface="Calibri"/>
                        </a:rPr>
                        <a:t>PROGRAM</a:t>
                      </a:r>
                      <a:endParaRPr sz="1200" dirty="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3" name="object 3"/>
          <p:cNvSpPr txBox="1"/>
          <p:nvPr/>
        </p:nvSpPr>
        <p:spPr>
          <a:xfrm>
            <a:off x="902004" y="1080137"/>
            <a:ext cx="5266055" cy="364490"/>
          </a:xfrm>
          <a:prstGeom prst="rect">
            <a:avLst/>
          </a:prstGeom>
        </p:spPr>
        <p:txBody>
          <a:bodyPr vert="horz" wrap="square" lIns="0" tIns="10160" rIns="0" bIns="0" rtlCol="0">
            <a:spAutoFit/>
          </a:bodyPr>
          <a:lstStyle/>
          <a:p>
            <a:pPr marL="12700" marR="5080">
              <a:lnSpc>
                <a:spcPct val="101800"/>
              </a:lnSpc>
              <a:spcBef>
                <a:spcPts val="80"/>
              </a:spcBef>
            </a:pPr>
            <a:r>
              <a:rPr sz="1100" dirty="0">
                <a:latin typeface="Calibri"/>
                <a:cs typeface="Calibri"/>
              </a:rPr>
              <a:t>In</a:t>
            </a:r>
            <a:r>
              <a:rPr sz="1100" spc="-2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this</a:t>
            </a:r>
            <a:r>
              <a:rPr sz="1100" spc="-1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activity,</a:t>
            </a:r>
            <a:r>
              <a:rPr sz="1100" spc="-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you</a:t>
            </a:r>
            <a:r>
              <a:rPr sz="1100" spc="-2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will</a:t>
            </a:r>
            <a:r>
              <a:rPr sz="1100" spc="-1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practice</a:t>
            </a:r>
            <a:r>
              <a:rPr sz="1100" spc="-1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how</a:t>
            </a:r>
            <a:r>
              <a:rPr sz="1100" spc="-1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to</a:t>
            </a:r>
            <a:r>
              <a:rPr sz="1100" spc="-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write,</a:t>
            </a:r>
            <a:r>
              <a:rPr sz="1100" spc="-1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compile</a:t>
            </a:r>
            <a:r>
              <a:rPr sz="1100" spc="-2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and</a:t>
            </a:r>
            <a:r>
              <a:rPr sz="1100" spc="-1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run</a:t>
            </a:r>
            <a:r>
              <a:rPr sz="1100" spc="-2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a</a:t>
            </a:r>
            <a:r>
              <a:rPr sz="1100" spc="-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simple</a:t>
            </a:r>
            <a:r>
              <a:rPr sz="1100" spc="-1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C</a:t>
            </a:r>
            <a:r>
              <a:rPr sz="1100" spc="-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program</a:t>
            </a:r>
            <a:r>
              <a:rPr sz="1100" spc="-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using</a:t>
            </a:r>
            <a:r>
              <a:rPr sz="1100" spc="-10" dirty="0">
                <a:latin typeface="Calibri"/>
                <a:cs typeface="Calibri"/>
              </a:rPr>
              <a:t> </a:t>
            </a:r>
            <a:r>
              <a:rPr sz="1100" spc="-20" dirty="0">
                <a:latin typeface="Calibri"/>
                <a:cs typeface="Calibri"/>
              </a:rPr>
              <a:t>gcc. </a:t>
            </a:r>
            <a:r>
              <a:rPr sz="1100" dirty="0">
                <a:latin typeface="Calibri"/>
                <a:cs typeface="Calibri"/>
              </a:rPr>
              <a:t>For</a:t>
            </a:r>
            <a:r>
              <a:rPr sz="1100" spc="-1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each</a:t>
            </a:r>
            <a:r>
              <a:rPr sz="1100" spc="-1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question,</a:t>
            </a:r>
            <a:r>
              <a:rPr sz="1100" spc="-1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write</a:t>
            </a:r>
            <a:r>
              <a:rPr sz="1100" spc="-1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down</a:t>
            </a:r>
            <a:r>
              <a:rPr sz="1100" spc="-1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the</a:t>
            </a:r>
            <a:r>
              <a:rPr sz="1100" spc="-2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command</a:t>
            </a:r>
            <a:r>
              <a:rPr sz="1100" spc="-1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and</a:t>
            </a:r>
            <a:r>
              <a:rPr sz="1100" spc="-1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the</a:t>
            </a:r>
            <a:r>
              <a:rPr sz="1100" spc="-3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output</a:t>
            </a:r>
            <a:r>
              <a:rPr sz="1100" spc="-1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(if</a:t>
            </a:r>
            <a:r>
              <a:rPr sz="1100" spc="-2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any)</a:t>
            </a:r>
            <a:r>
              <a:rPr sz="1100" spc="-1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in</a:t>
            </a:r>
            <a:r>
              <a:rPr sz="1100" spc="-3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the</a:t>
            </a:r>
            <a:r>
              <a:rPr sz="1100" spc="-1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answer</a:t>
            </a:r>
            <a:r>
              <a:rPr sz="1100" spc="-10" dirty="0">
                <a:latin typeface="Calibri"/>
                <a:cs typeface="Calibri"/>
              </a:rPr>
              <a:t> sheet.</a:t>
            </a:r>
            <a:endParaRPr sz="1100">
              <a:latin typeface="Calibri"/>
              <a:cs typeface="Calibri"/>
            </a:endParaRPr>
          </a:p>
        </p:txBody>
      </p:sp>
      <p:graphicFrame>
        <p:nvGraphicFramePr>
          <p:cNvPr id="4" name="object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07713739"/>
              </p:ext>
            </p:extLst>
          </p:nvPr>
        </p:nvGraphicFramePr>
        <p:xfrm>
          <a:off x="902004" y="1589531"/>
          <a:ext cx="6207125" cy="840536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1369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733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42011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47345">
                <a:tc rowSpan="3">
                  <a:txBody>
                    <a:bodyPr/>
                    <a:lstStyle/>
                    <a:p>
                      <a:pPr marL="103505">
                        <a:lnSpc>
                          <a:spcPts val="1290"/>
                        </a:lnSpc>
                      </a:pPr>
                      <a:r>
                        <a:rPr sz="1100" spc="-25" dirty="0">
                          <a:latin typeface="Calibri"/>
                          <a:cs typeface="Calibri"/>
                        </a:rPr>
                        <a:t>1.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 gridSpan="2">
                  <a:txBody>
                    <a:bodyPr/>
                    <a:lstStyle/>
                    <a:p>
                      <a:pPr marL="67945">
                        <a:lnSpc>
                          <a:spcPts val="1290"/>
                        </a:lnSpc>
                      </a:pPr>
                      <a:r>
                        <a:rPr sz="1100" spc="-10" dirty="0">
                          <a:latin typeface="Calibri"/>
                          <a:cs typeface="Calibri"/>
                        </a:rPr>
                        <a:t>Write</a:t>
                      </a:r>
                      <a:r>
                        <a:rPr sz="11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100" dirty="0">
                          <a:latin typeface="Calibri"/>
                          <a:cs typeface="Calibri"/>
                        </a:rPr>
                        <a:t>a</a:t>
                      </a:r>
                      <a:r>
                        <a:rPr sz="110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100" dirty="0">
                          <a:latin typeface="Calibri"/>
                          <a:cs typeface="Calibri"/>
                        </a:rPr>
                        <a:t>C</a:t>
                      </a:r>
                      <a:r>
                        <a:rPr sz="110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100" spc="-10" dirty="0">
                          <a:latin typeface="Calibri"/>
                          <a:cs typeface="Calibri"/>
                        </a:rPr>
                        <a:t>program</a:t>
                      </a:r>
                      <a:r>
                        <a:rPr sz="1100" spc="-4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100" dirty="0">
                          <a:latin typeface="Calibri"/>
                          <a:cs typeface="Calibri"/>
                        </a:rPr>
                        <a:t>that</a:t>
                      </a:r>
                      <a:r>
                        <a:rPr sz="11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100" dirty="0">
                          <a:latin typeface="Calibri"/>
                          <a:cs typeface="Calibri"/>
                        </a:rPr>
                        <a:t>prints</a:t>
                      </a:r>
                      <a:r>
                        <a:rPr sz="11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100" dirty="0">
                          <a:latin typeface="Calibri"/>
                          <a:cs typeface="Calibri"/>
                        </a:rPr>
                        <a:t>"Hello</a:t>
                      </a:r>
                      <a:r>
                        <a:rPr sz="1100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100" spc="-10" dirty="0">
                          <a:latin typeface="Calibri"/>
                          <a:cs typeface="Calibri"/>
                        </a:rPr>
                        <a:t>World"</a:t>
                      </a:r>
                      <a:r>
                        <a:rPr sz="11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100" dirty="0">
                          <a:latin typeface="Calibri"/>
                          <a:cs typeface="Calibri"/>
                        </a:rPr>
                        <a:t>to</a:t>
                      </a:r>
                      <a:r>
                        <a:rPr sz="1100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100" dirty="0">
                          <a:latin typeface="Calibri"/>
                          <a:cs typeface="Calibri"/>
                        </a:rPr>
                        <a:t>the</a:t>
                      </a:r>
                      <a:r>
                        <a:rPr sz="11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100" spc="-10" dirty="0">
                          <a:latin typeface="Calibri"/>
                          <a:cs typeface="Calibri"/>
                        </a:rPr>
                        <a:t>standard</a:t>
                      </a:r>
                      <a:r>
                        <a:rPr sz="110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100" dirty="0">
                          <a:latin typeface="Calibri"/>
                          <a:cs typeface="Calibri"/>
                        </a:rPr>
                        <a:t>output</a:t>
                      </a:r>
                      <a:r>
                        <a:rPr sz="11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100" dirty="0">
                          <a:latin typeface="Calibri"/>
                          <a:cs typeface="Calibri"/>
                        </a:rPr>
                        <a:t>using</a:t>
                      </a:r>
                      <a:r>
                        <a:rPr sz="110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100" dirty="0">
                          <a:latin typeface="Calibri"/>
                          <a:cs typeface="Calibri"/>
                        </a:rPr>
                        <a:t>Nano</a:t>
                      </a:r>
                      <a:r>
                        <a:rPr sz="110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100" dirty="0">
                          <a:latin typeface="Calibri"/>
                          <a:cs typeface="Calibri"/>
                        </a:rPr>
                        <a:t>and</a:t>
                      </a:r>
                      <a:r>
                        <a:rPr sz="110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100" dirty="0">
                          <a:latin typeface="Calibri"/>
                          <a:cs typeface="Calibri"/>
                        </a:rPr>
                        <a:t>save</a:t>
                      </a:r>
                      <a:r>
                        <a:rPr sz="11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100" dirty="0">
                          <a:latin typeface="Calibri"/>
                          <a:cs typeface="Calibri"/>
                        </a:rPr>
                        <a:t>it</a:t>
                      </a:r>
                      <a:r>
                        <a:rPr sz="110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100" dirty="0">
                          <a:latin typeface="Calibri"/>
                          <a:cs typeface="Calibri"/>
                        </a:rPr>
                        <a:t>as</a:t>
                      </a:r>
                      <a:r>
                        <a:rPr sz="1100" spc="-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100" spc="-10" dirty="0">
                          <a:latin typeface="Calibri"/>
                          <a:cs typeface="Calibri"/>
                        </a:rPr>
                        <a:t>"hello.c".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76530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90"/>
                        </a:lnSpc>
                      </a:pPr>
                      <a:r>
                        <a:rPr sz="1100" b="1" spc="-10" dirty="0">
                          <a:latin typeface="Calibri"/>
                          <a:cs typeface="Calibri"/>
                        </a:rPr>
                        <a:t>Command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90"/>
                        </a:lnSpc>
                      </a:pPr>
                      <a:r>
                        <a:rPr sz="1100" b="1" spc="-10" dirty="0">
                          <a:latin typeface="Calibri"/>
                          <a:cs typeface="Calibri"/>
                        </a:rPr>
                        <a:t>Output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023494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100" dirty="0">
                          <a:latin typeface="Times New Roman"/>
                          <a:cs typeface="Times New Roman"/>
                        </a:rPr>
                        <a:t> nano </a:t>
                      </a:r>
                      <a:r>
                        <a:rPr lang="en-US" sz="1100" dirty="0" err="1">
                          <a:latin typeface="Times New Roman"/>
                          <a:cs typeface="Times New Roman"/>
                        </a:rPr>
                        <a:t>hello.c</a:t>
                      </a:r>
                      <a:endParaRPr sz="11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7345">
                <a:tc rowSpan="3">
                  <a:txBody>
                    <a:bodyPr/>
                    <a:lstStyle/>
                    <a:p>
                      <a:pPr marL="103505">
                        <a:lnSpc>
                          <a:spcPts val="1300"/>
                        </a:lnSpc>
                      </a:pPr>
                      <a:r>
                        <a:rPr sz="1100" spc="-25" dirty="0">
                          <a:latin typeface="Calibri"/>
                          <a:cs typeface="Calibri"/>
                        </a:rPr>
                        <a:t>2.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 gridSpan="2">
                  <a:txBody>
                    <a:bodyPr/>
                    <a:lstStyle/>
                    <a:p>
                      <a:pPr marL="67945">
                        <a:lnSpc>
                          <a:spcPts val="1300"/>
                        </a:lnSpc>
                      </a:pPr>
                      <a:r>
                        <a:rPr sz="1100" dirty="0">
                          <a:latin typeface="Calibri"/>
                          <a:cs typeface="Calibri"/>
                        </a:rPr>
                        <a:t>Compile</a:t>
                      </a:r>
                      <a:r>
                        <a:rPr sz="1100" spc="-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100" dirty="0">
                          <a:latin typeface="Calibri"/>
                          <a:cs typeface="Calibri"/>
                        </a:rPr>
                        <a:t>the</a:t>
                      </a:r>
                      <a:r>
                        <a:rPr sz="1100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100" dirty="0">
                          <a:latin typeface="Calibri"/>
                          <a:cs typeface="Calibri"/>
                        </a:rPr>
                        <a:t>program</a:t>
                      </a:r>
                      <a:r>
                        <a:rPr sz="1100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100" dirty="0">
                          <a:latin typeface="Calibri"/>
                          <a:cs typeface="Calibri"/>
                        </a:rPr>
                        <a:t>"hello.c"</a:t>
                      </a:r>
                      <a:r>
                        <a:rPr sz="1100" spc="-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100" dirty="0">
                          <a:latin typeface="Calibri"/>
                          <a:cs typeface="Calibri"/>
                        </a:rPr>
                        <a:t>using</a:t>
                      </a:r>
                      <a:r>
                        <a:rPr sz="1100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100" dirty="0">
                          <a:latin typeface="Calibri"/>
                          <a:cs typeface="Calibri"/>
                        </a:rPr>
                        <a:t>gcc and</a:t>
                      </a:r>
                      <a:r>
                        <a:rPr sz="11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100" spc="-10" dirty="0">
                          <a:latin typeface="Calibri"/>
                          <a:cs typeface="Calibri"/>
                        </a:rPr>
                        <a:t>generate</a:t>
                      </a:r>
                      <a:r>
                        <a:rPr sz="1100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100" dirty="0">
                          <a:latin typeface="Calibri"/>
                          <a:cs typeface="Calibri"/>
                        </a:rPr>
                        <a:t>an</a:t>
                      </a:r>
                      <a:r>
                        <a:rPr sz="1100" spc="-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100" spc="-10" dirty="0">
                          <a:latin typeface="Calibri"/>
                          <a:cs typeface="Calibri"/>
                        </a:rPr>
                        <a:t>executable </a:t>
                      </a:r>
                      <a:r>
                        <a:rPr sz="1100" dirty="0">
                          <a:latin typeface="Calibri"/>
                          <a:cs typeface="Calibri"/>
                        </a:rPr>
                        <a:t>file</a:t>
                      </a:r>
                      <a:r>
                        <a:rPr sz="1100" spc="-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100" dirty="0">
                          <a:latin typeface="Calibri"/>
                          <a:cs typeface="Calibri"/>
                        </a:rPr>
                        <a:t>named</a:t>
                      </a:r>
                      <a:r>
                        <a:rPr sz="1100" spc="-10" dirty="0">
                          <a:latin typeface="Calibri"/>
                          <a:cs typeface="Calibri"/>
                        </a:rPr>
                        <a:t> "hello".</a:t>
                      </a:r>
                      <a:endParaRPr sz="1100" dirty="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76530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90"/>
                        </a:lnSpc>
                      </a:pPr>
                      <a:r>
                        <a:rPr sz="1100" b="1" spc="-10" dirty="0">
                          <a:latin typeface="Calibri"/>
                          <a:cs typeface="Calibri"/>
                        </a:rPr>
                        <a:t>Command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90"/>
                        </a:lnSpc>
                      </a:pPr>
                      <a:r>
                        <a:rPr sz="1100" b="1" spc="-10" dirty="0">
                          <a:latin typeface="Calibri"/>
                          <a:cs typeface="Calibri"/>
                        </a:rPr>
                        <a:t>Output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66725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1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lang="en-US" sz="1100" dirty="0" err="1">
                          <a:latin typeface="Times New Roman"/>
                          <a:cs typeface="Times New Roman"/>
                        </a:rPr>
                        <a:t>gcc</a:t>
                      </a:r>
                      <a:r>
                        <a:rPr lang="en-US" sz="11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lang="en-US" sz="1100" dirty="0" err="1">
                          <a:latin typeface="Times New Roman"/>
                          <a:cs typeface="Times New Roman"/>
                        </a:rPr>
                        <a:t>hello..c</a:t>
                      </a:r>
                      <a:r>
                        <a:rPr lang="en-US" sz="1100" dirty="0">
                          <a:latin typeface="Times New Roman"/>
                          <a:cs typeface="Times New Roman"/>
                        </a:rPr>
                        <a:t> –o hello</a:t>
                      </a:r>
                      <a:endParaRPr sz="11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47345">
                <a:tc rowSpan="3">
                  <a:txBody>
                    <a:bodyPr/>
                    <a:lstStyle/>
                    <a:p>
                      <a:pPr marL="103505">
                        <a:lnSpc>
                          <a:spcPts val="1290"/>
                        </a:lnSpc>
                      </a:pPr>
                      <a:r>
                        <a:rPr sz="1100" spc="-25" dirty="0">
                          <a:latin typeface="Calibri"/>
                          <a:cs typeface="Calibri"/>
                        </a:rPr>
                        <a:t>3.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 gridSpan="2">
                  <a:txBody>
                    <a:bodyPr/>
                    <a:lstStyle/>
                    <a:p>
                      <a:pPr marL="67945">
                        <a:lnSpc>
                          <a:spcPts val="1290"/>
                        </a:lnSpc>
                      </a:pPr>
                      <a:r>
                        <a:rPr sz="1100" dirty="0">
                          <a:latin typeface="Calibri"/>
                          <a:cs typeface="Calibri"/>
                        </a:rPr>
                        <a:t>Run</a:t>
                      </a:r>
                      <a:r>
                        <a:rPr sz="11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100" dirty="0">
                          <a:latin typeface="Calibri"/>
                          <a:cs typeface="Calibri"/>
                        </a:rPr>
                        <a:t>the</a:t>
                      </a:r>
                      <a:r>
                        <a:rPr sz="1100" spc="-10" dirty="0">
                          <a:latin typeface="Calibri"/>
                          <a:cs typeface="Calibri"/>
                        </a:rPr>
                        <a:t> executable</a:t>
                      </a:r>
                      <a:r>
                        <a:rPr sz="1100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100" dirty="0">
                          <a:latin typeface="Calibri"/>
                          <a:cs typeface="Calibri"/>
                        </a:rPr>
                        <a:t>file</a:t>
                      </a:r>
                      <a:r>
                        <a:rPr sz="1100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100" dirty="0">
                          <a:latin typeface="Calibri"/>
                          <a:cs typeface="Calibri"/>
                        </a:rPr>
                        <a:t>"hello"</a:t>
                      </a:r>
                      <a:r>
                        <a:rPr sz="1100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100" dirty="0">
                          <a:latin typeface="Calibri"/>
                          <a:cs typeface="Calibri"/>
                        </a:rPr>
                        <a:t>and</a:t>
                      </a:r>
                      <a:r>
                        <a:rPr sz="1100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100" dirty="0">
                          <a:latin typeface="Calibri"/>
                          <a:cs typeface="Calibri"/>
                        </a:rPr>
                        <a:t>display</a:t>
                      </a:r>
                      <a:r>
                        <a:rPr sz="1100" spc="-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100" dirty="0">
                          <a:latin typeface="Calibri"/>
                          <a:cs typeface="Calibri"/>
                        </a:rPr>
                        <a:t>its</a:t>
                      </a:r>
                      <a:r>
                        <a:rPr sz="11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100" spc="-10" dirty="0">
                          <a:latin typeface="Calibri"/>
                          <a:cs typeface="Calibri"/>
                        </a:rPr>
                        <a:t>output.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76530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90"/>
                        </a:lnSpc>
                      </a:pPr>
                      <a:r>
                        <a:rPr sz="1100" b="1" spc="-10" dirty="0">
                          <a:latin typeface="Calibri"/>
                          <a:cs typeface="Calibri"/>
                        </a:rPr>
                        <a:t>Command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90"/>
                        </a:lnSpc>
                      </a:pPr>
                      <a:r>
                        <a:rPr sz="1100" b="1" spc="-10" dirty="0">
                          <a:latin typeface="Calibri"/>
                          <a:cs typeface="Calibri"/>
                        </a:rPr>
                        <a:t>Output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695325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100" dirty="0">
                          <a:latin typeface="Times New Roman"/>
                          <a:cs typeface="Times New Roman"/>
                        </a:rPr>
                        <a:t> ./hello</a:t>
                      </a:r>
                      <a:endParaRPr sz="11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517525">
                <a:tc rowSpan="3">
                  <a:txBody>
                    <a:bodyPr/>
                    <a:lstStyle/>
                    <a:p>
                      <a:pPr marL="103505">
                        <a:lnSpc>
                          <a:spcPts val="1290"/>
                        </a:lnSpc>
                      </a:pPr>
                      <a:r>
                        <a:rPr sz="1100" spc="-25" dirty="0">
                          <a:latin typeface="Calibri"/>
                          <a:cs typeface="Calibri"/>
                        </a:rPr>
                        <a:t>4.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 gridSpan="2">
                  <a:txBody>
                    <a:bodyPr/>
                    <a:lstStyle/>
                    <a:p>
                      <a:pPr marL="67945">
                        <a:lnSpc>
                          <a:spcPts val="1290"/>
                        </a:lnSpc>
                      </a:pPr>
                      <a:r>
                        <a:rPr sz="1100" dirty="0">
                          <a:latin typeface="Calibri"/>
                          <a:cs typeface="Calibri"/>
                        </a:rPr>
                        <a:t>Write</a:t>
                      </a:r>
                      <a:r>
                        <a:rPr sz="1100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100" dirty="0">
                          <a:latin typeface="Calibri"/>
                          <a:cs typeface="Calibri"/>
                        </a:rPr>
                        <a:t>a</a:t>
                      </a:r>
                      <a:r>
                        <a:rPr sz="110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100" dirty="0">
                          <a:latin typeface="Calibri"/>
                          <a:cs typeface="Calibri"/>
                        </a:rPr>
                        <a:t>C</a:t>
                      </a:r>
                      <a:r>
                        <a:rPr sz="1100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100" dirty="0">
                          <a:latin typeface="Calibri"/>
                          <a:cs typeface="Calibri"/>
                        </a:rPr>
                        <a:t>program</a:t>
                      </a:r>
                      <a:r>
                        <a:rPr sz="110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100" dirty="0">
                          <a:latin typeface="Calibri"/>
                          <a:cs typeface="Calibri"/>
                        </a:rPr>
                        <a:t>that</a:t>
                      </a:r>
                      <a:r>
                        <a:rPr sz="11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100" dirty="0">
                          <a:latin typeface="Calibri"/>
                          <a:cs typeface="Calibri"/>
                        </a:rPr>
                        <a:t>takes</a:t>
                      </a:r>
                      <a:r>
                        <a:rPr sz="1100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100" dirty="0">
                          <a:latin typeface="Calibri"/>
                          <a:cs typeface="Calibri"/>
                        </a:rPr>
                        <a:t>two</a:t>
                      </a:r>
                      <a:r>
                        <a:rPr sz="1100" spc="-10" dirty="0">
                          <a:latin typeface="Calibri"/>
                          <a:cs typeface="Calibri"/>
                        </a:rPr>
                        <a:t> integers</a:t>
                      </a:r>
                      <a:r>
                        <a:rPr sz="110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100" dirty="0">
                          <a:latin typeface="Calibri"/>
                          <a:cs typeface="Calibri"/>
                        </a:rPr>
                        <a:t>as</a:t>
                      </a:r>
                      <a:r>
                        <a:rPr sz="1100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100" dirty="0">
                          <a:latin typeface="Calibri"/>
                          <a:cs typeface="Calibri"/>
                        </a:rPr>
                        <a:t>command</a:t>
                      </a:r>
                      <a:r>
                        <a:rPr sz="11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100" dirty="0">
                          <a:latin typeface="Calibri"/>
                          <a:cs typeface="Calibri"/>
                        </a:rPr>
                        <a:t>line</a:t>
                      </a:r>
                      <a:r>
                        <a:rPr sz="1100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100" dirty="0">
                          <a:latin typeface="Calibri"/>
                          <a:cs typeface="Calibri"/>
                        </a:rPr>
                        <a:t>arguments</a:t>
                      </a:r>
                      <a:r>
                        <a:rPr sz="1100" spc="-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100" dirty="0">
                          <a:latin typeface="Calibri"/>
                          <a:cs typeface="Calibri"/>
                        </a:rPr>
                        <a:t>and</a:t>
                      </a:r>
                      <a:r>
                        <a:rPr sz="11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100" dirty="0">
                          <a:latin typeface="Calibri"/>
                          <a:cs typeface="Calibri"/>
                        </a:rPr>
                        <a:t>prints</a:t>
                      </a:r>
                      <a:r>
                        <a:rPr sz="11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100" dirty="0">
                          <a:latin typeface="Calibri"/>
                          <a:cs typeface="Calibri"/>
                        </a:rPr>
                        <a:t>their</a:t>
                      </a:r>
                      <a:r>
                        <a:rPr sz="1100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100" dirty="0">
                          <a:latin typeface="Calibri"/>
                          <a:cs typeface="Calibri"/>
                        </a:rPr>
                        <a:t>sum</a:t>
                      </a:r>
                      <a:r>
                        <a:rPr sz="11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100" dirty="0">
                          <a:latin typeface="Calibri"/>
                          <a:cs typeface="Calibri"/>
                        </a:rPr>
                        <a:t>to </a:t>
                      </a:r>
                      <a:r>
                        <a:rPr sz="1100" spc="-25" dirty="0">
                          <a:latin typeface="Calibri"/>
                          <a:cs typeface="Calibri"/>
                        </a:rPr>
                        <a:t>the</a:t>
                      </a:r>
                      <a:endParaRPr sz="1100">
                        <a:latin typeface="Calibri"/>
                        <a:cs typeface="Calibri"/>
                      </a:endParaRPr>
                    </a:p>
                    <a:p>
                      <a:pPr marL="67945">
                        <a:lnSpc>
                          <a:spcPct val="100000"/>
                        </a:lnSpc>
                        <a:spcBef>
                          <a:spcPts val="25"/>
                        </a:spcBef>
                      </a:pPr>
                      <a:r>
                        <a:rPr sz="1100" dirty="0">
                          <a:latin typeface="Calibri"/>
                          <a:cs typeface="Calibri"/>
                        </a:rPr>
                        <a:t>standard</a:t>
                      </a:r>
                      <a:r>
                        <a:rPr sz="11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100" dirty="0">
                          <a:latin typeface="Calibri"/>
                          <a:cs typeface="Calibri"/>
                        </a:rPr>
                        <a:t>output</a:t>
                      </a:r>
                      <a:r>
                        <a:rPr sz="1100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100" dirty="0">
                          <a:latin typeface="Calibri"/>
                          <a:cs typeface="Calibri"/>
                        </a:rPr>
                        <a:t>using</a:t>
                      </a:r>
                      <a:r>
                        <a:rPr sz="11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100" dirty="0">
                          <a:latin typeface="Calibri"/>
                          <a:cs typeface="Calibri"/>
                        </a:rPr>
                        <a:t>Nano</a:t>
                      </a:r>
                      <a:r>
                        <a:rPr sz="1100" spc="-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100" dirty="0">
                          <a:latin typeface="Calibri"/>
                          <a:cs typeface="Calibri"/>
                        </a:rPr>
                        <a:t>and</a:t>
                      </a:r>
                      <a:r>
                        <a:rPr sz="110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100" dirty="0">
                          <a:latin typeface="Calibri"/>
                          <a:cs typeface="Calibri"/>
                        </a:rPr>
                        <a:t>save</a:t>
                      </a:r>
                      <a:r>
                        <a:rPr sz="1100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100" dirty="0">
                          <a:latin typeface="Calibri"/>
                          <a:cs typeface="Calibri"/>
                        </a:rPr>
                        <a:t>it</a:t>
                      </a:r>
                      <a:r>
                        <a:rPr sz="1100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100" dirty="0">
                          <a:latin typeface="Calibri"/>
                          <a:cs typeface="Calibri"/>
                        </a:rPr>
                        <a:t>as</a:t>
                      </a:r>
                      <a:r>
                        <a:rPr sz="1100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100" spc="-10" dirty="0">
                          <a:latin typeface="Calibri"/>
                          <a:cs typeface="Calibri"/>
                        </a:rPr>
                        <a:t>"sum.c".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176530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90"/>
                        </a:lnSpc>
                      </a:pPr>
                      <a:r>
                        <a:rPr sz="1100" b="1" spc="-10" dirty="0">
                          <a:latin typeface="Calibri"/>
                          <a:cs typeface="Calibri"/>
                        </a:rPr>
                        <a:t>Command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90"/>
                        </a:lnSpc>
                      </a:pPr>
                      <a:r>
                        <a:rPr sz="1100" b="1" spc="-10" dirty="0">
                          <a:latin typeface="Calibri"/>
                          <a:cs typeface="Calibri"/>
                        </a:rPr>
                        <a:t>Output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1896745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100" dirty="0">
                          <a:latin typeface="Times New Roman"/>
                          <a:cs typeface="Times New Roman"/>
                        </a:rPr>
                        <a:t> nano </a:t>
                      </a:r>
                      <a:r>
                        <a:rPr lang="en-US" sz="1100" dirty="0" err="1">
                          <a:latin typeface="Times New Roman"/>
                          <a:cs typeface="Times New Roman"/>
                        </a:rPr>
                        <a:t>sum.c</a:t>
                      </a:r>
                      <a:endParaRPr sz="11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47345">
                <a:tc rowSpan="3">
                  <a:txBody>
                    <a:bodyPr/>
                    <a:lstStyle/>
                    <a:p>
                      <a:pPr marL="103505">
                        <a:lnSpc>
                          <a:spcPts val="1290"/>
                        </a:lnSpc>
                      </a:pPr>
                      <a:r>
                        <a:rPr sz="1100" spc="-25" dirty="0">
                          <a:latin typeface="Calibri"/>
                          <a:cs typeface="Calibri"/>
                        </a:rPr>
                        <a:t>5.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 gridSpan="2">
                  <a:txBody>
                    <a:bodyPr/>
                    <a:lstStyle/>
                    <a:p>
                      <a:pPr marL="67945">
                        <a:lnSpc>
                          <a:spcPts val="1290"/>
                        </a:lnSpc>
                      </a:pPr>
                      <a:r>
                        <a:rPr sz="1100" dirty="0">
                          <a:latin typeface="Calibri"/>
                          <a:cs typeface="Calibri"/>
                        </a:rPr>
                        <a:t>Compile</a:t>
                      </a:r>
                      <a:r>
                        <a:rPr sz="1100" spc="-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100" dirty="0">
                          <a:latin typeface="Calibri"/>
                          <a:cs typeface="Calibri"/>
                        </a:rPr>
                        <a:t>the</a:t>
                      </a:r>
                      <a:r>
                        <a:rPr sz="1100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100" dirty="0">
                          <a:latin typeface="Calibri"/>
                          <a:cs typeface="Calibri"/>
                        </a:rPr>
                        <a:t>program</a:t>
                      </a:r>
                      <a:r>
                        <a:rPr sz="1100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100" dirty="0">
                          <a:latin typeface="Calibri"/>
                          <a:cs typeface="Calibri"/>
                        </a:rPr>
                        <a:t>"sum.c"</a:t>
                      </a:r>
                      <a:r>
                        <a:rPr sz="1100" spc="-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100" dirty="0">
                          <a:latin typeface="Calibri"/>
                          <a:cs typeface="Calibri"/>
                        </a:rPr>
                        <a:t>using</a:t>
                      </a:r>
                      <a:r>
                        <a:rPr sz="1100" spc="-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100" dirty="0">
                          <a:latin typeface="Calibri"/>
                          <a:cs typeface="Calibri"/>
                        </a:rPr>
                        <a:t>gcc</a:t>
                      </a:r>
                      <a:r>
                        <a:rPr sz="1100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100" dirty="0">
                          <a:latin typeface="Calibri"/>
                          <a:cs typeface="Calibri"/>
                        </a:rPr>
                        <a:t>and</a:t>
                      </a:r>
                      <a:r>
                        <a:rPr sz="1100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100" spc="-10" dirty="0">
                          <a:latin typeface="Calibri"/>
                          <a:cs typeface="Calibri"/>
                        </a:rPr>
                        <a:t>generate</a:t>
                      </a:r>
                      <a:r>
                        <a:rPr sz="11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100" dirty="0">
                          <a:latin typeface="Calibri"/>
                          <a:cs typeface="Calibri"/>
                        </a:rPr>
                        <a:t>an</a:t>
                      </a:r>
                      <a:r>
                        <a:rPr sz="1100" spc="-10" dirty="0">
                          <a:latin typeface="Calibri"/>
                          <a:cs typeface="Calibri"/>
                        </a:rPr>
                        <a:t> executable</a:t>
                      </a:r>
                      <a:r>
                        <a:rPr sz="1100" spc="-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100" dirty="0">
                          <a:latin typeface="Calibri"/>
                          <a:cs typeface="Calibri"/>
                        </a:rPr>
                        <a:t>file</a:t>
                      </a:r>
                      <a:r>
                        <a:rPr sz="1100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100" dirty="0">
                          <a:latin typeface="Calibri"/>
                          <a:cs typeface="Calibri"/>
                        </a:rPr>
                        <a:t>named</a:t>
                      </a:r>
                      <a:r>
                        <a:rPr sz="1100" spc="-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100" spc="-10" dirty="0">
                          <a:latin typeface="Calibri"/>
                          <a:cs typeface="Calibri"/>
                        </a:rPr>
                        <a:t>"sum".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176530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90"/>
                        </a:lnSpc>
                      </a:pPr>
                      <a:r>
                        <a:rPr sz="1100" b="1" spc="-10" dirty="0">
                          <a:latin typeface="Calibri"/>
                          <a:cs typeface="Calibri"/>
                        </a:rPr>
                        <a:t>Command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90"/>
                        </a:lnSpc>
                      </a:pPr>
                      <a:r>
                        <a:rPr sz="1100" b="1" spc="-10" dirty="0">
                          <a:latin typeface="Calibri"/>
                          <a:cs typeface="Calibri"/>
                        </a:rPr>
                        <a:t>Output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390525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1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lang="en-US" sz="1100" dirty="0" err="1">
                          <a:latin typeface="Times New Roman"/>
                          <a:cs typeface="Times New Roman"/>
                        </a:rPr>
                        <a:t>gcc</a:t>
                      </a:r>
                      <a:r>
                        <a:rPr lang="en-US" sz="11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lang="en-US" sz="1100" dirty="0" err="1">
                          <a:latin typeface="Times New Roman"/>
                          <a:cs typeface="Times New Roman"/>
                        </a:rPr>
                        <a:t>sum.c</a:t>
                      </a:r>
                      <a:r>
                        <a:rPr lang="en-US" sz="1100" dirty="0">
                          <a:latin typeface="Times New Roman"/>
                          <a:cs typeface="Times New Roman"/>
                        </a:rPr>
                        <a:t> –o sum</a:t>
                      </a:r>
                      <a:endParaRPr sz="11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347345">
                <a:tc rowSpan="3">
                  <a:txBody>
                    <a:bodyPr/>
                    <a:lstStyle/>
                    <a:p>
                      <a:pPr marL="103505">
                        <a:lnSpc>
                          <a:spcPts val="1290"/>
                        </a:lnSpc>
                      </a:pPr>
                      <a:r>
                        <a:rPr sz="1100" spc="-25" dirty="0">
                          <a:latin typeface="Calibri"/>
                          <a:cs typeface="Calibri"/>
                        </a:rPr>
                        <a:t>6.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 gridSpan="2">
                  <a:txBody>
                    <a:bodyPr/>
                    <a:lstStyle/>
                    <a:p>
                      <a:pPr marL="67945">
                        <a:lnSpc>
                          <a:spcPts val="1290"/>
                        </a:lnSpc>
                      </a:pPr>
                      <a:r>
                        <a:rPr sz="1100" dirty="0">
                          <a:latin typeface="Calibri"/>
                          <a:cs typeface="Calibri"/>
                        </a:rPr>
                        <a:t>Run</a:t>
                      </a:r>
                      <a:r>
                        <a:rPr sz="11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100" dirty="0">
                          <a:latin typeface="Calibri"/>
                          <a:cs typeface="Calibri"/>
                        </a:rPr>
                        <a:t>the</a:t>
                      </a:r>
                      <a:r>
                        <a:rPr sz="1100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100" spc="-10" dirty="0">
                          <a:latin typeface="Calibri"/>
                          <a:cs typeface="Calibri"/>
                        </a:rPr>
                        <a:t>executable</a:t>
                      </a:r>
                      <a:r>
                        <a:rPr sz="1100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100" dirty="0">
                          <a:latin typeface="Calibri"/>
                          <a:cs typeface="Calibri"/>
                        </a:rPr>
                        <a:t>file</a:t>
                      </a:r>
                      <a:r>
                        <a:rPr sz="11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100" dirty="0">
                          <a:latin typeface="Calibri"/>
                          <a:cs typeface="Calibri"/>
                        </a:rPr>
                        <a:t>"sum"</a:t>
                      </a:r>
                      <a:r>
                        <a:rPr sz="1100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100" dirty="0">
                          <a:latin typeface="Calibri"/>
                          <a:cs typeface="Calibri"/>
                        </a:rPr>
                        <a:t>with</a:t>
                      </a:r>
                      <a:r>
                        <a:rPr sz="11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100" dirty="0">
                          <a:latin typeface="Calibri"/>
                          <a:cs typeface="Calibri"/>
                        </a:rPr>
                        <a:t>10</a:t>
                      </a:r>
                      <a:r>
                        <a:rPr sz="11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100" dirty="0">
                          <a:latin typeface="Calibri"/>
                          <a:cs typeface="Calibri"/>
                        </a:rPr>
                        <a:t>and</a:t>
                      </a:r>
                      <a:r>
                        <a:rPr sz="1100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100" dirty="0">
                          <a:latin typeface="Calibri"/>
                          <a:cs typeface="Calibri"/>
                        </a:rPr>
                        <a:t>20</a:t>
                      </a:r>
                      <a:r>
                        <a:rPr sz="1100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100" dirty="0">
                          <a:latin typeface="Calibri"/>
                          <a:cs typeface="Calibri"/>
                        </a:rPr>
                        <a:t>as</a:t>
                      </a:r>
                      <a:r>
                        <a:rPr sz="1100" spc="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100" dirty="0">
                          <a:latin typeface="Calibri"/>
                          <a:cs typeface="Calibri"/>
                        </a:rPr>
                        <a:t>arguments</a:t>
                      </a:r>
                      <a:r>
                        <a:rPr sz="1100" spc="-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100" dirty="0">
                          <a:latin typeface="Calibri"/>
                          <a:cs typeface="Calibri"/>
                        </a:rPr>
                        <a:t>and</a:t>
                      </a:r>
                      <a:r>
                        <a:rPr sz="1100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100" dirty="0">
                          <a:latin typeface="Calibri"/>
                          <a:cs typeface="Calibri"/>
                        </a:rPr>
                        <a:t>display</a:t>
                      </a:r>
                      <a:r>
                        <a:rPr sz="1100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100" dirty="0">
                          <a:latin typeface="Calibri"/>
                          <a:cs typeface="Calibri"/>
                        </a:rPr>
                        <a:t>its</a:t>
                      </a:r>
                      <a:r>
                        <a:rPr sz="11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100" spc="-10" dirty="0">
                          <a:latin typeface="Calibri"/>
                          <a:cs typeface="Calibri"/>
                        </a:rPr>
                        <a:t>output.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176530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90"/>
                        </a:lnSpc>
                      </a:pPr>
                      <a:r>
                        <a:rPr sz="1100" b="1" spc="-10" dirty="0">
                          <a:latin typeface="Calibri"/>
                          <a:cs typeface="Calibri"/>
                        </a:rPr>
                        <a:t>Command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90"/>
                        </a:lnSpc>
                      </a:pPr>
                      <a:r>
                        <a:rPr sz="1100" b="1" spc="-10" dirty="0">
                          <a:latin typeface="Calibri"/>
                          <a:cs typeface="Calibri"/>
                        </a:rPr>
                        <a:t>Output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619125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100" dirty="0">
                          <a:latin typeface="Times New Roman"/>
                          <a:cs typeface="Times New Roman"/>
                        </a:rPr>
                        <a:t> ./sum 10 20</a:t>
                      </a:r>
                      <a:endParaRPr sz="11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</a:tbl>
          </a:graphicData>
        </a:graphic>
      </p:graphicFrame>
      <p:pic>
        <p:nvPicPr>
          <p:cNvPr id="6" name="Picture 5">
            <a:extLst>
              <a:ext uri="{FF2B5EF4-FFF2-40B4-BE49-F238E27FC236}">
                <a16:creationId xmlns:a16="http://schemas.microsoft.com/office/drawing/2014/main" id="{CA7FDB4F-D41F-4B22-A08D-F2A27AD5B27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35450" y="2146300"/>
            <a:ext cx="2294737" cy="91440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23AC4D27-3D45-4C87-B272-39BC1C2FE97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37053" y="3746500"/>
            <a:ext cx="3291530" cy="362777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4FD3761D-D20D-4305-A603-E78398256A9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49158" y="4660900"/>
            <a:ext cx="2467319" cy="609685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F4824E78-DA6F-451D-A4CB-70DDD099BF37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64050" y="6108700"/>
            <a:ext cx="1933888" cy="1785760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2DD34B5C-8CEC-4E58-B417-A74879D2A6FE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10972" y="8470900"/>
            <a:ext cx="3143689" cy="352474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DE5FF17A-D2ED-43CC-9363-37E57657D0EF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54439" y="9402352"/>
            <a:ext cx="2753109" cy="581106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73362314"/>
              </p:ext>
            </p:extLst>
          </p:nvPr>
        </p:nvGraphicFramePr>
        <p:xfrm>
          <a:off x="914704" y="914399"/>
          <a:ext cx="6207126" cy="7150736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1369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733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42011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93701">
                <a:tc rowSpan="3">
                  <a:txBody>
                    <a:bodyPr/>
                    <a:lstStyle/>
                    <a:p>
                      <a:pPr marL="103505">
                        <a:lnSpc>
                          <a:spcPts val="1290"/>
                        </a:lnSpc>
                      </a:pPr>
                      <a:r>
                        <a:rPr lang="en-US" sz="1100" dirty="0">
                          <a:latin typeface="Calibri"/>
                          <a:cs typeface="Calibri"/>
                        </a:rPr>
                        <a:t>7.</a:t>
                      </a:r>
                      <a:endParaRPr sz="1100" dirty="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 gridSpan="2">
                  <a:txBody>
                    <a:bodyPr/>
                    <a:lstStyle/>
                    <a:p>
                      <a:pPr marL="67945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25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dirty="0">
                          <a:latin typeface="+mn-lt"/>
                          <a:cs typeface="Calibri"/>
                        </a:rPr>
                        <a:t>Run</a:t>
                      </a:r>
                      <a:r>
                        <a:rPr lang="en-US" sz="1100" spc="-25" dirty="0">
                          <a:latin typeface="+mn-lt"/>
                          <a:cs typeface="Calibri"/>
                        </a:rPr>
                        <a:t> </a:t>
                      </a:r>
                      <a:r>
                        <a:rPr lang="en-US" sz="1100" dirty="0">
                          <a:latin typeface="+mn-lt"/>
                          <a:cs typeface="Calibri"/>
                        </a:rPr>
                        <a:t>the</a:t>
                      </a:r>
                      <a:r>
                        <a:rPr lang="en-US" sz="1100" spc="-15" dirty="0">
                          <a:latin typeface="+mn-lt"/>
                          <a:cs typeface="Calibri"/>
                        </a:rPr>
                        <a:t> </a:t>
                      </a:r>
                      <a:r>
                        <a:rPr lang="en-US" sz="1100" spc="-10" dirty="0">
                          <a:latin typeface="+mn-lt"/>
                          <a:cs typeface="Calibri"/>
                        </a:rPr>
                        <a:t>executable</a:t>
                      </a:r>
                      <a:r>
                        <a:rPr lang="en-US" sz="1100" spc="-15" dirty="0">
                          <a:latin typeface="+mn-lt"/>
                          <a:cs typeface="Calibri"/>
                        </a:rPr>
                        <a:t> </a:t>
                      </a:r>
                      <a:r>
                        <a:rPr lang="en-US" sz="1100" dirty="0">
                          <a:latin typeface="+mn-lt"/>
                          <a:cs typeface="Calibri"/>
                        </a:rPr>
                        <a:t>file</a:t>
                      </a:r>
                      <a:r>
                        <a:rPr lang="en-US" sz="1100" spc="-25" dirty="0">
                          <a:latin typeface="+mn-lt"/>
                          <a:cs typeface="Calibri"/>
                        </a:rPr>
                        <a:t> </a:t>
                      </a:r>
                      <a:r>
                        <a:rPr lang="en-US" sz="1100" dirty="0">
                          <a:latin typeface="+mn-lt"/>
                          <a:cs typeface="Calibri"/>
                        </a:rPr>
                        <a:t>"sum"</a:t>
                      </a:r>
                      <a:r>
                        <a:rPr lang="en-US" sz="1100" spc="-15" dirty="0">
                          <a:latin typeface="+mn-lt"/>
                          <a:cs typeface="Calibri"/>
                        </a:rPr>
                        <a:t> </a:t>
                      </a:r>
                      <a:r>
                        <a:rPr lang="en-US" sz="1100" dirty="0">
                          <a:latin typeface="+mn-lt"/>
                          <a:cs typeface="Calibri"/>
                        </a:rPr>
                        <a:t>with </a:t>
                      </a:r>
                      <a:r>
                        <a:rPr lang="en-US" sz="1100" spc="-15" dirty="0">
                          <a:latin typeface="+mn-lt"/>
                          <a:cs typeface="Calibri"/>
                        </a:rPr>
                        <a:t>-</a:t>
                      </a:r>
                      <a:r>
                        <a:rPr lang="en-US" sz="1100" dirty="0">
                          <a:latin typeface="+mn-lt"/>
                          <a:cs typeface="Calibri"/>
                        </a:rPr>
                        <a:t>5</a:t>
                      </a:r>
                      <a:r>
                        <a:rPr lang="en-US" sz="1100" spc="-15" dirty="0">
                          <a:latin typeface="+mn-lt"/>
                          <a:cs typeface="Calibri"/>
                        </a:rPr>
                        <a:t> </a:t>
                      </a:r>
                      <a:r>
                        <a:rPr lang="en-US" sz="1100" dirty="0">
                          <a:latin typeface="+mn-lt"/>
                          <a:cs typeface="Calibri"/>
                        </a:rPr>
                        <a:t>and</a:t>
                      </a:r>
                      <a:r>
                        <a:rPr lang="en-US" sz="1100" spc="-25" dirty="0">
                          <a:latin typeface="+mn-lt"/>
                          <a:cs typeface="Calibri"/>
                        </a:rPr>
                        <a:t> </a:t>
                      </a:r>
                      <a:r>
                        <a:rPr lang="en-US" sz="1100" dirty="0">
                          <a:latin typeface="+mn-lt"/>
                          <a:cs typeface="Calibri"/>
                        </a:rPr>
                        <a:t>15</a:t>
                      </a:r>
                      <a:r>
                        <a:rPr lang="en-US" sz="1100" spc="-15" dirty="0">
                          <a:latin typeface="+mn-lt"/>
                          <a:cs typeface="Calibri"/>
                        </a:rPr>
                        <a:t> </a:t>
                      </a:r>
                      <a:r>
                        <a:rPr lang="en-US" sz="1100" dirty="0">
                          <a:latin typeface="+mn-lt"/>
                          <a:cs typeface="Calibri"/>
                        </a:rPr>
                        <a:t>as</a:t>
                      </a:r>
                      <a:r>
                        <a:rPr lang="en-US" sz="1100" spc="-25" dirty="0">
                          <a:latin typeface="+mn-lt"/>
                          <a:cs typeface="Calibri"/>
                        </a:rPr>
                        <a:t> </a:t>
                      </a:r>
                      <a:r>
                        <a:rPr lang="en-US" sz="1100" dirty="0">
                          <a:latin typeface="+mn-lt"/>
                          <a:cs typeface="Calibri"/>
                        </a:rPr>
                        <a:t>arguments</a:t>
                      </a:r>
                      <a:r>
                        <a:rPr lang="en-US" sz="1100" spc="-10" dirty="0">
                          <a:latin typeface="+mn-lt"/>
                          <a:cs typeface="Calibri"/>
                        </a:rPr>
                        <a:t> </a:t>
                      </a:r>
                      <a:r>
                        <a:rPr lang="en-US" sz="1100" dirty="0">
                          <a:latin typeface="+mn-lt"/>
                          <a:cs typeface="Calibri"/>
                        </a:rPr>
                        <a:t>and</a:t>
                      </a:r>
                      <a:r>
                        <a:rPr lang="en-US" sz="1100" spc="-20" dirty="0">
                          <a:latin typeface="+mn-lt"/>
                          <a:cs typeface="Calibri"/>
                        </a:rPr>
                        <a:t> </a:t>
                      </a:r>
                      <a:r>
                        <a:rPr lang="en-US" sz="1100" dirty="0">
                          <a:latin typeface="+mn-lt"/>
                          <a:cs typeface="Calibri"/>
                        </a:rPr>
                        <a:t>display</a:t>
                      </a:r>
                      <a:r>
                        <a:rPr lang="en-US" sz="1100" spc="-15" dirty="0">
                          <a:latin typeface="+mn-lt"/>
                          <a:cs typeface="Calibri"/>
                        </a:rPr>
                        <a:t> </a:t>
                      </a:r>
                      <a:r>
                        <a:rPr lang="en-US" sz="1100" dirty="0">
                          <a:latin typeface="+mn-lt"/>
                          <a:cs typeface="Calibri"/>
                        </a:rPr>
                        <a:t>its</a:t>
                      </a:r>
                      <a:r>
                        <a:rPr lang="en-US" sz="1100" spc="-20" dirty="0">
                          <a:latin typeface="+mn-lt"/>
                          <a:cs typeface="Calibri"/>
                        </a:rPr>
                        <a:t> </a:t>
                      </a:r>
                      <a:r>
                        <a:rPr lang="en-US" sz="1100" spc="-10" dirty="0">
                          <a:latin typeface="+mn-lt"/>
                          <a:cs typeface="Calibri"/>
                        </a:rPr>
                        <a:t>output.</a:t>
                      </a:r>
                      <a:endParaRPr lang="en-US" sz="1100" dirty="0">
                        <a:latin typeface="+mn-lt"/>
                        <a:cs typeface="Calibri"/>
                      </a:endParaRPr>
                    </a:p>
                    <a:p>
                      <a:pPr marL="67945">
                        <a:lnSpc>
                          <a:spcPct val="100000"/>
                        </a:lnSpc>
                        <a:spcBef>
                          <a:spcPts val="25"/>
                        </a:spcBef>
                      </a:pPr>
                      <a:endParaRPr sz="1100" dirty="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MY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44917253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pPr marL="103505">
                        <a:lnSpc>
                          <a:spcPts val="1290"/>
                        </a:lnSpc>
                      </a:pPr>
                      <a:endParaRPr sz="1100" dirty="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7945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25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MY" sz="1100" b="1" spc="-10" dirty="0">
                          <a:latin typeface="+mn-lt"/>
                          <a:cs typeface="Calibri"/>
                        </a:rPr>
                        <a:t>Command</a:t>
                      </a:r>
                      <a:endParaRPr lang="en-MY" sz="1100" dirty="0">
                        <a:latin typeface="+mn-lt"/>
                        <a:cs typeface="Calibri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MY" sz="1100" b="1" spc="-10" dirty="0">
                          <a:latin typeface="+mn-lt"/>
                          <a:cs typeface="Calibri"/>
                        </a:rPr>
                        <a:t>Output</a:t>
                      </a:r>
                      <a:endParaRPr lang="en-MY" sz="1100" dirty="0">
                        <a:latin typeface="+mn-lt"/>
                        <a:cs typeface="Calibri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0342065"/>
                  </a:ext>
                </a:extLst>
              </a:tr>
              <a:tr h="746760">
                <a:tc vMerge="1">
                  <a:txBody>
                    <a:bodyPr/>
                    <a:lstStyle/>
                    <a:p>
                      <a:endParaRPr lang="en-MY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67945">
                        <a:lnSpc>
                          <a:spcPct val="100000"/>
                        </a:lnSpc>
                        <a:spcBef>
                          <a:spcPts val="25"/>
                        </a:spcBef>
                      </a:pPr>
                      <a:r>
                        <a:rPr lang="en-US" sz="1100" dirty="0">
                          <a:latin typeface="Calibri"/>
                          <a:cs typeface="Calibri"/>
                        </a:rPr>
                        <a:t>./sum -5 15</a:t>
                      </a:r>
                      <a:endParaRPr sz="1100" dirty="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endParaRPr lang="en-MY" dirty="0"/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22427430"/>
                  </a:ext>
                </a:extLst>
              </a:tr>
              <a:tr h="518159">
                <a:tc rowSpan="3">
                  <a:txBody>
                    <a:bodyPr/>
                    <a:lstStyle/>
                    <a:p>
                      <a:pPr marL="103505">
                        <a:lnSpc>
                          <a:spcPts val="1290"/>
                        </a:lnSpc>
                      </a:pPr>
                      <a:r>
                        <a:rPr sz="1100" spc="-25" dirty="0">
                          <a:latin typeface="Calibri"/>
                          <a:cs typeface="Calibri"/>
                        </a:rPr>
                        <a:t>8.</a:t>
                      </a:r>
                      <a:endParaRPr sz="1100" dirty="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 gridSpan="2">
                  <a:txBody>
                    <a:bodyPr/>
                    <a:lstStyle/>
                    <a:p>
                      <a:pPr marL="67945">
                        <a:lnSpc>
                          <a:spcPts val="1290"/>
                        </a:lnSpc>
                      </a:pPr>
                      <a:r>
                        <a:rPr sz="1100" dirty="0">
                          <a:latin typeface="Calibri"/>
                          <a:cs typeface="Calibri"/>
                        </a:rPr>
                        <a:t>Write</a:t>
                      </a:r>
                      <a:r>
                        <a:rPr sz="1100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100" dirty="0">
                          <a:latin typeface="Calibri"/>
                          <a:cs typeface="Calibri"/>
                        </a:rPr>
                        <a:t>a</a:t>
                      </a:r>
                      <a:r>
                        <a:rPr sz="11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100" dirty="0">
                          <a:latin typeface="Calibri"/>
                          <a:cs typeface="Calibri"/>
                        </a:rPr>
                        <a:t>C</a:t>
                      </a:r>
                      <a:r>
                        <a:rPr sz="1100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100" dirty="0">
                          <a:latin typeface="Calibri"/>
                          <a:cs typeface="Calibri"/>
                        </a:rPr>
                        <a:t>program</a:t>
                      </a:r>
                      <a:r>
                        <a:rPr sz="110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100" dirty="0">
                          <a:latin typeface="Calibri"/>
                          <a:cs typeface="Calibri"/>
                        </a:rPr>
                        <a:t>that</a:t>
                      </a:r>
                      <a:r>
                        <a:rPr sz="11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100" dirty="0">
                          <a:latin typeface="Calibri"/>
                          <a:cs typeface="Calibri"/>
                        </a:rPr>
                        <a:t>reads</a:t>
                      </a:r>
                      <a:r>
                        <a:rPr sz="1100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100" dirty="0">
                          <a:latin typeface="Calibri"/>
                          <a:cs typeface="Calibri"/>
                        </a:rPr>
                        <a:t>a</a:t>
                      </a:r>
                      <a:r>
                        <a:rPr sz="1100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100" dirty="0">
                          <a:latin typeface="Calibri"/>
                          <a:cs typeface="Calibri"/>
                        </a:rPr>
                        <a:t>line</a:t>
                      </a:r>
                      <a:r>
                        <a:rPr sz="11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100" dirty="0">
                          <a:latin typeface="Calibri"/>
                          <a:cs typeface="Calibri"/>
                        </a:rPr>
                        <a:t>of</a:t>
                      </a:r>
                      <a:r>
                        <a:rPr sz="1100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100" dirty="0">
                          <a:latin typeface="Calibri"/>
                          <a:cs typeface="Calibri"/>
                        </a:rPr>
                        <a:t>text</a:t>
                      </a:r>
                      <a:r>
                        <a:rPr sz="11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100" dirty="0">
                          <a:latin typeface="Calibri"/>
                          <a:cs typeface="Calibri"/>
                        </a:rPr>
                        <a:t>from</a:t>
                      </a:r>
                      <a:r>
                        <a:rPr sz="11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100" dirty="0">
                          <a:latin typeface="Calibri"/>
                          <a:cs typeface="Calibri"/>
                        </a:rPr>
                        <a:t>the</a:t>
                      </a:r>
                      <a:r>
                        <a:rPr sz="110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100" dirty="0">
                          <a:latin typeface="Calibri"/>
                          <a:cs typeface="Calibri"/>
                        </a:rPr>
                        <a:t>standard</a:t>
                      </a:r>
                      <a:r>
                        <a:rPr sz="1100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100" dirty="0">
                          <a:latin typeface="Calibri"/>
                          <a:cs typeface="Calibri"/>
                        </a:rPr>
                        <a:t>input</a:t>
                      </a:r>
                      <a:r>
                        <a:rPr sz="1100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100" dirty="0">
                          <a:latin typeface="Calibri"/>
                          <a:cs typeface="Calibri"/>
                        </a:rPr>
                        <a:t>and</a:t>
                      </a:r>
                      <a:r>
                        <a:rPr sz="1100" spc="-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100" dirty="0">
                          <a:latin typeface="Calibri"/>
                          <a:cs typeface="Calibri"/>
                        </a:rPr>
                        <a:t>prints</a:t>
                      </a:r>
                      <a:r>
                        <a:rPr sz="1100" spc="-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100" dirty="0">
                          <a:latin typeface="Calibri"/>
                          <a:cs typeface="Calibri"/>
                        </a:rPr>
                        <a:t>it</a:t>
                      </a:r>
                      <a:r>
                        <a:rPr sz="1100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100" dirty="0">
                          <a:latin typeface="Calibri"/>
                          <a:cs typeface="Calibri"/>
                        </a:rPr>
                        <a:t>to</a:t>
                      </a:r>
                      <a:r>
                        <a:rPr sz="1100" spc="-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100" dirty="0">
                          <a:latin typeface="Calibri"/>
                          <a:cs typeface="Calibri"/>
                        </a:rPr>
                        <a:t>the</a:t>
                      </a:r>
                      <a:r>
                        <a:rPr sz="11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100" spc="-10" dirty="0">
                          <a:latin typeface="Calibri"/>
                          <a:cs typeface="Calibri"/>
                        </a:rPr>
                        <a:t>standard</a:t>
                      </a:r>
                      <a:endParaRPr sz="1100" dirty="0">
                        <a:latin typeface="Calibri"/>
                        <a:cs typeface="Calibri"/>
                      </a:endParaRPr>
                    </a:p>
                    <a:p>
                      <a:pPr marL="67945">
                        <a:lnSpc>
                          <a:spcPct val="100000"/>
                        </a:lnSpc>
                        <a:spcBef>
                          <a:spcPts val="25"/>
                        </a:spcBef>
                      </a:pPr>
                      <a:r>
                        <a:rPr sz="1100" dirty="0">
                          <a:latin typeface="Calibri"/>
                          <a:cs typeface="Calibri"/>
                        </a:rPr>
                        <a:t>output</a:t>
                      </a:r>
                      <a:r>
                        <a:rPr sz="1100" spc="-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100" dirty="0">
                          <a:latin typeface="Calibri"/>
                          <a:cs typeface="Calibri"/>
                        </a:rPr>
                        <a:t>using</a:t>
                      </a:r>
                      <a:r>
                        <a:rPr sz="1100" spc="-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100" dirty="0">
                          <a:latin typeface="Calibri"/>
                          <a:cs typeface="Calibri"/>
                        </a:rPr>
                        <a:t>Nano</a:t>
                      </a:r>
                      <a:r>
                        <a:rPr sz="1100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100" dirty="0">
                          <a:latin typeface="Calibri"/>
                          <a:cs typeface="Calibri"/>
                        </a:rPr>
                        <a:t>and</a:t>
                      </a:r>
                      <a:r>
                        <a:rPr sz="1100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100" dirty="0">
                          <a:latin typeface="Calibri"/>
                          <a:cs typeface="Calibri"/>
                        </a:rPr>
                        <a:t>save</a:t>
                      </a:r>
                      <a:r>
                        <a:rPr sz="1100" spc="-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100" dirty="0">
                          <a:latin typeface="Calibri"/>
                          <a:cs typeface="Calibri"/>
                        </a:rPr>
                        <a:t>it</a:t>
                      </a:r>
                      <a:r>
                        <a:rPr sz="1100" spc="-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100" dirty="0">
                          <a:latin typeface="Calibri"/>
                          <a:cs typeface="Calibri"/>
                        </a:rPr>
                        <a:t>as</a:t>
                      </a:r>
                      <a:r>
                        <a:rPr sz="1100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100" spc="-10" dirty="0">
                          <a:latin typeface="Calibri"/>
                          <a:cs typeface="Calibri"/>
                        </a:rPr>
                        <a:t>"echo.c".</a:t>
                      </a:r>
                      <a:endParaRPr sz="1100" dirty="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76530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930910" algn="r">
                        <a:lnSpc>
                          <a:spcPts val="1290"/>
                        </a:lnSpc>
                      </a:pPr>
                      <a:r>
                        <a:rPr sz="1100" b="1" spc="-10" dirty="0">
                          <a:latin typeface="Calibri"/>
                          <a:cs typeface="Calibri"/>
                        </a:rPr>
                        <a:t>Command</a:t>
                      </a:r>
                      <a:endParaRPr sz="1100" dirty="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90"/>
                        </a:lnSpc>
                      </a:pPr>
                      <a:r>
                        <a:rPr sz="1100" b="1" spc="-10" dirty="0">
                          <a:latin typeface="Calibri"/>
                          <a:cs typeface="Calibri"/>
                        </a:rPr>
                        <a:t>Output</a:t>
                      </a:r>
                      <a:endParaRPr sz="1100" dirty="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200911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100" dirty="0">
                          <a:latin typeface="Times New Roman"/>
                          <a:cs typeface="Times New Roman"/>
                        </a:rPr>
                        <a:t> nano </a:t>
                      </a:r>
                      <a:r>
                        <a:rPr lang="en-US" sz="1100" dirty="0" err="1">
                          <a:latin typeface="Times New Roman"/>
                          <a:cs typeface="Times New Roman"/>
                        </a:rPr>
                        <a:t>echo.c</a:t>
                      </a:r>
                      <a:endParaRPr sz="11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7345">
                <a:tc rowSpan="3">
                  <a:txBody>
                    <a:bodyPr/>
                    <a:lstStyle/>
                    <a:p>
                      <a:pPr marL="103505">
                        <a:lnSpc>
                          <a:spcPts val="1290"/>
                        </a:lnSpc>
                      </a:pPr>
                      <a:r>
                        <a:rPr sz="1100" spc="-25" dirty="0">
                          <a:latin typeface="Calibri"/>
                          <a:cs typeface="Calibri"/>
                        </a:rPr>
                        <a:t>9.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 gridSpan="2">
                  <a:txBody>
                    <a:bodyPr/>
                    <a:lstStyle/>
                    <a:p>
                      <a:pPr marL="67945">
                        <a:lnSpc>
                          <a:spcPts val="1290"/>
                        </a:lnSpc>
                      </a:pPr>
                      <a:r>
                        <a:rPr sz="1100" dirty="0">
                          <a:latin typeface="Calibri"/>
                          <a:cs typeface="Calibri"/>
                        </a:rPr>
                        <a:t>Compile</a:t>
                      </a:r>
                      <a:r>
                        <a:rPr sz="1100" spc="-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100" dirty="0">
                          <a:latin typeface="Calibri"/>
                          <a:cs typeface="Calibri"/>
                        </a:rPr>
                        <a:t>the</a:t>
                      </a:r>
                      <a:r>
                        <a:rPr sz="1100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100" dirty="0">
                          <a:latin typeface="Calibri"/>
                          <a:cs typeface="Calibri"/>
                        </a:rPr>
                        <a:t>program</a:t>
                      </a:r>
                      <a:r>
                        <a:rPr sz="1100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100" dirty="0">
                          <a:latin typeface="Calibri"/>
                          <a:cs typeface="Calibri"/>
                        </a:rPr>
                        <a:t>"echo.c"</a:t>
                      </a:r>
                      <a:r>
                        <a:rPr sz="1100" spc="-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100" dirty="0">
                          <a:latin typeface="Calibri"/>
                          <a:cs typeface="Calibri"/>
                        </a:rPr>
                        <a:t>using</a:t>
                      </a:r>
                      <a:r>
                        <a:rPr sz="1100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100" dirty="0">
                          <a:latin typeface="Calibri"/>
                          <a:cs typeface="Calibri"/>
                        </a:rPr>
                        <a:t>gcc</a:t>
                      </a:r>
                      <a:r>
                        <a:rPr sz="1100" spc="-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100" dirty="0">
                          <a:latin typeface="Calibri"/>
                          <a:cs typeface="Calibri"/>
                        </a:rPr>
                        <a:t>and</a:t>
                      </a:r>
                      <a:r>
                        <a:rPr sz="11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100" spc="-10" dirty="0">
                          <a:latin typeface="Calibri"/>
                          <a:cs typeface="Calibri"/>
                        </a:rPr>
                        <a:t>generate</a:t>
                      </a:r>
                      <a:r>
                        <a:rPr sz="1100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100" dirty="0">
                          <a:latin typeface="Calibri"/>
                          <a:cs typeface="Calibri"/>
                        </a:rPr>
                        <a:t>an</a:t>
                      </a:r>
                      <a:r>
                        <a:rPr sz="1100" spc="-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100" spc="-10" dirty="0">
                          <a:latin typeface="Calibri"/>
                          <a:cs typeface="Calibri"/>
                        </a:rPr>
                        <a:t>executable </a:t>
                      </a:r>
                      <a:r>
                        <a:rPr sz="1100" dirty="0">
                          <a:latin typeface="Calibri"/>
                          <a:cs typeface="Calibri"/>
                        </a:rPr>
                        <a:t>file</a:t>
                      </a:r>
                      <a:r>
                        <a:rPr sz="1100" spc="-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100" dirty="0">
                          <a:latin typeface="Calibri"/>
                          <a:cs typeface="Calibri"/>
                        </a:rPr>
                        <a:t>named</a:t>
                      </a:r>
                      <a:r>
                        <a:rPr sz="1100" spc="-10" dirty="0">
                          <a:latin typeface="Calibri"/>
                          <a:cs typeface="Calibri"/>
                        </a:rPr>
                        <a:t> "echo".</a:t>
                      </a:r>
                      <a:endParaRPr sz="1100" dirty="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76530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930910" algn="r">
                        <a:lnSpc>
                          <a:spcPts val="1290"/>
                        </a:lnSpc>
                      </a:pPr>
                      <a:r>
                        <a:rPr sz="1100" b="1" spc="-10" dirty="0">
                          <a:latin typeface="Calibri"/>
                          <a:cs typeface="Calibri"/>
                        </a:rPr>
                        <a:t>Command</a:t>
                      </a:r>
                      <a:endParaRPr sz="1100" dirty="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90"/>
                        </a:lnSpc>
                      </a:pPr>
                      <a:r>
                        <a:rPr sz="1100" b="1" spc="-10" dirty="0">
                          <a:latin typeface="Calibri"/>
                          <a:cs typeface="Calibri"/>
                        </a:rPr>
                        <a:t>Output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95325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1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lang="en-US" sz="1100" dirty="0" err="1">
                          <a:latin typeface="Times New Roman"/>
                          <a:cs typeface="Times New Roman"/>
                        </a:rPr>
                        <a:t>gcc</a:t>
                      </a:r>
                      <a:r>
                        <a:rPr lang="en-US" sz="11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lang="en-US" sz="1100" dirty="0" err="1">
                          <a:latin typeface="Times New Roman"/>
                          <a:cs typeface="Times New Roman"/>
                        </a:rPr>
                        <a:t>echo.c</a:t>
                      </a:r>
                      <a:r>
                        <a:rPr lang="en-US" sz="1100" dirty="0">
                          <a:latin typeface="Times New Roman"/>
                          <a:cs typeface="Times New Roman"/>
                        </a:rPr>
                        <a:t> –o echo</a:t>
                      </a:r>
                      <a:endParaRPr sz="11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47345">
                <a:tc rowSpan="3">
                  <a:txBody>
                    <a:bodyPr/>
                    <a:lstStyle/>
                    <a:p>
                      <a:pPr marL="67945">
                        <a:lnSpc>
                          <a:spcPts val="1290"/>
                        </a:lnSpc>
                      </a:pPr>
                      <a:r>
                        <a:rPr sz="1100" spc="-25" dirty="0">
                          <a:latin typeface="Calibri"/>
                          <a:cs typeface="Calibri"/>
                        </a:rPr>
                        <a:t>10.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 gridSpan="2">
                  <a:txBody>
                    <a:bodyPr/>
                    <a:lstStyle/>
                    <a:p>
                      <a:pPr marL="67945">
                        <a:lnSpc>
                          <a:spcPts val="1290"/>
                        </a:lnSpc>
                      </a:pPr>
                      <a:r>
                        <a:rPr sz="1100" dirty="0">
                          <a:latin typeface="Calibri"/>
                          <a:cs typeface="Calibri"/>
                        </a:rPr>
                        <a:t>Run</a:t>
                      </a:r>
                      <a:r>
                        <a:rPr sz="11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100" dirty="0">
                          <a:latin typeface="Calibri"/>
                          <a:cs typeface="Calibri"/>
                        </a:rPr>
                        <a:t>the</a:t>
                      </a:r>
                      <a:r>
                        <a:rPr sz="1100" spc="-10" dirty="0">
                          <a:latin typeface="Calibri"/>
                          <a:cs typeface="Calibri"/>
                        </a:rPr>
                        <a:t> executable </a:t>
                      </a:r>
                      <a:r>
                        <a:rPr sz="1100" dirty="0">
                          <a:latin typeface="Calibri"/>
                          <a:cs typeface="Calibri"/>
                        </a:rPr>
                        <a:t>file</a:t>
                      </a:r>
                      <a:r>
                        <a:rPr sz="1100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100" dirty="0">
                          <a:latin typeface="Calibri"/>
                          <a:cs typeface="Calibri"/>
                        </a:rPr>
                        <a:t>"echo",</a:t>
                      </a:r>
                      <a:r>
                        <a:rPr sz="1100" spc="-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100" dirty="0">
                          <a:latin typeface="Calibri"/>
                          <a:cs typeface="Calibri"/>
                        </a:rPr>
                        <a:t>type</a:t>
                      </a:r>
                      <a:r>
                        <a:rPr sz="1100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100" dirty="0">
                          <a:latin typeface="Calibri"/>
                          <a:cs typeface="Calibri"/>
                        </a:rPr>
                        <a:t>"Hello</a:t>
                      </a:r>
                      <a:r>
                        <a:rPr sz="1100" spc="-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100" spc="-10" dirty="0">
                          <a:latin typeface="Calibri"/>
                          <a:cs typeface="Calibri"/>
                        </a:rPr>
                        <a:t>World" </a:t>
                      </a:r>
                      <a:r>
                        <a:rPr sz="1100" dirty="0">
                          <a:latin typeface="Calibri"/>
                          <a:cs typeface="Calibri"/>
                        </a:rPr>
                        <a:t>as</a:t>
                      </a:r>
                      <a:r>
                        <a:rPr sz="11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100" dirty="0">
                          <a:latin typeface="Calibri"/>
                          <a:cs typeface="Calibri"/>
                        </a:rPr>
                        <a:t>input</a:t>
                      </a:r>
                      <a:r>
                        <a:rPr sz="1100" spc="-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100" dirty="0">
                          <a:latin typeface="Calibri"/>
                          <a:cs typeface="Calibri"/>
                        </a:rPr>
                        <a:t>and</a:t>
                      </a:r>
                      <a:r>
                        <a:rPr sz="1100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100" dirty="0">
                          <a:latin typeface="Calibri"/>
                          <a:cs typeface="Calibri"/>
                        </a:rPr>
                        <a:t>display</a:t>
                      </a:r>
                      <a:r>
                        <a:rPr sz="1100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100" dirty="0">
                          <a:latin typeface="Calibri"/>
                          <a:cs typeface="Calibri"/>
                        </a:rPr>
                        <a:t>its</a:t>
                      </a:r>
                      <a:r>
                        <a:rPr sz="1100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100" spc="-10" dirty="0">
                          <a:latin typeface="Calibri"/>
                          <a:cs typeface="Calibri"/>
                        </a:rPr>
                        <a:t>output.</a:t>
                      </a:r>
                      <a:endParaRPr sz="1100" dirty="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76530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930910" algn="r">
                        <a:lnSpc>
                          <a:spcPts val="1290"/>
                        </a:lnSpc>
                      </a:pPr>
                      <a:r>
                        <a:rPr sz="1100" b="1" spc="-10" dirty="0">
                          <a:latin typeface="Calibri"/>
                          <a:cs typeface="Calibri"/>
                        </a:rPr>
                        <a:t>Command</a:t>
                      </a:r>
                      <a:endParaRPr sz="1100" dirty="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90"/>
                        </a:lnSpc>
                      </a:pPr>
                      <a:r>
                        <a:rPr sz="1100" b="1" spc="-10" dirty="0">
                          <a:latin typeface="Calibri"/>
                          <a:cs typeface="Calibri"/>
                        </a:rPr>
                        <a:t>Output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847725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100" dirty="0">
                          <a:latin typeface="Times New Roman"/>
                          <a:cs typeface="Times New Roman"/>
                        </a:rPr>
                        <a:t> ./echo</a:t>
                      </a:r>
                      <a:endParaRPr sz="11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5623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7945">
                        <a:lnSpc>
                          <a:spcPts val="1405"/>
                        </a:lnSpc>
                      </a:pPr>
                      <a:r>
                        <a:rPr sz="1200" b="1" spc="-20" dirty="0">
                          <a:latin typeface="Calibri"/>
                          <a:cs typeface="Calibri"/>
                        </a:rPr>
                        <a:t>Total</a:t>
                      </a:r>
                      <a:r>
                        <a:rPr sz="1200" b="1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b="1" spc="-10" dirty="0">
                          <a:latin typeface="Calibri"/>
                          <a:cs typeface="Calibri"/>
                        </a:rPr>
                        <a:t>Mark: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pic>
        <p:nvPicPr>
          <p:cNvPr id="4" name="Picture 3">
            <a:extLst>
              <a:ext uri="{FF2B5EF4-FFF2-40B4-BE49-F238E27FC236}">
                <a16:creationId xmlns:a16="http://schemas.microsoft.com/office/drawing/2014/main" id="{94274208-EC29-4690-B2FC-978D7351388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18267" y="1536700"/>
            <a:ext cx="2743583" cy="600159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6016FDFF-72AD-4C82-B558-92E3518B45A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32476" y="5699120"/>
            <a:ext cx="3315163" cy="581106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8BC6A3C0-2083-4DCE-97A6-97109FDCA0D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82921" y="6946555"/>
            <a:ext cx="3067478" cy="724001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949055CE-9380-4CE2-B489-8F20750202A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33249" y="2984500"/>
            <a:ext cx="3004450" cy="2099091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93</TotalTime>
  <Words>1126</Words>
  <Application>Microsoft Office PowerPoint</Application>
  <PresentationFormat>Custom</PresentationFormat>
  <Paragraphs>191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Calibri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Panji Alam</dc:creator>
  <cp:lastModifiedBy>adriana jefri</cp:lastModifiedBy>
  <cp:revision>12</cp:revision>
  <dcterms:created xsi:type="dcterms:W3CDTF">2025-04-23T02:15:24Z</dcterms:created>
  <dcterms:modified xsi:type="dcterms:W3CDTF">2025-04-23T10:26:04Z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2025-04-14T00:00:00Z</vt:filetime>
  </property>
  <property fmtid="{D5CDD505-2E9C-101B-9397-08002B2CF9AE}" pid="3" name="Creator">
    <vt:lpwstr>Microsoft® Word for Microsoft 365</vt:lpwstr>
  </property>
  <property fmtid="{D5CDD505-2E9C-101B-9397-08002B2CF9AE}" pid="4" name="LastSaved">
    <vt:filetime>2025-04-23T00:00:00Z</vt:filetime>
  </property>
  <property fmtid="{D5CDD505-2E9C-101B-9397-08002B2CF9AE}" pid="5" name="Producer">
    <vt:lpwstr>Microsoft® Word for Microsoft 365</vt:lpwstr>
  </property>
</Properties>
</file>