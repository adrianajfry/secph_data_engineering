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61" r:id="rId4"/>
    <p:sldId id="259" r:id="rId5"/>
    <p:sldId id="256" r:id="rId6"/>
    <p:sldId id="257" r:id="rId7"/>
    <p:sldId id="262" r:id="rId8"/>
    <p:sldId id="265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12" autoAdjust="0"/>
    <p:restoredTop sz="94660"/>
  </p:normalViewPr>
  <p:slideViewPr>
    <p:cSldViewPr snapToGrid="0">
      <p:cViewPr>
        <p:scale>
          <a:sx n="82" d="100"/>
          <a:sy n="82" d="100"/>
        </p:scale>
        <p:origin x="222" y="-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B83BF-4B51-480B-BE1F-379399F009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464AEB-104F-4D87-A3AF-47A5108AC6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9D4D1-FEC3-423B-AA7D-90FE372EA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85DCC-CB28-4D6E-AA28-4FF57A321CAE}" type="datetimeFigureOut">
              <a:rPr lang="en-MY" smtClean="0"/>
              <a:t>22/5/2024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FA3C2-1F1E-413D-BF43-1B853BFB5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D8D90-DEAF-4346-AFFE-DF0376468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DBAFF-38FF-41CC-A418-DDDF70759DF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13113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09222-6C67-4803-9E47-391EE1FF0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6F809-DE0D-4862-95E6-4C12F8E07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D255E-64DF-4B6E-B288-254D57A78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85DCC-CB28-4D6E-AA28-4FF57A321CAE}" type="datetimeFigureOut">
              <a:rPr lang="en-MY" smtClean="0"/>
              <a:t>22/5/2024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0B70A-524A-4465-90A2-4809A5290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A6267-7BBD-4BA8-96E1-97A8BABA0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DBAFF-38FF-41CC-A418-DDDF70759DF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1075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95794-9343-4034-A61A-4C3660EF3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6DC95-2EA2-4013-A38E-1AD8EA400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F7E35-9A21-47DF-B27A-1D8076E76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85DCC-CB28-4D6E-AA28-4FF57A321CAE}" type="datetimeFigureOut">
              <a:rPr lang="en-MY" smtClean="0"/>
              <a:t>22/5/2024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055C8-2AD9-4ECE-96EA-E5721DDCB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BEB6C-61E7-4FB9-A4A5-F2311AFAC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DBAFF-38FF-41CC-A418-DDDF70759DF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73472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0305C-F521-40D0-937E-74A6F319D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277DE-6CF7-4058-9BED-DA765389BA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077404-A755-4B5F-B3EC-54B6D71C32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1C894B-247F-4DE2-9026-FFF0A0C26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85DCC-CB28-4D6E-AA28-4FF57A321CAE}" type="datetimeFigureOut">
              <a:rPr lang="en-MY" smtClean="0"/>
              <a:t>22/5/2024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5AEF60-3C3C-4C90-AA91-69E89CED5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C9FED6-CDCF-403F-85DA-5FC20979B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DBAFF-38FF-41CC-A418-DDDF70759DF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00221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D1D3A-6772-479F-916E-A18F04B04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BE2EF-6B7C-4457-A982-EBBA92CFC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A8C891-F5C0-401C-BEE5-FEC5F734B6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BC1E26-11AC-4783-AFC8-F37D2EF3F2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3AA1A6-E7B5-4E3F-B6E6-79AF18AC37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501793-42E7-44EF-880E-3E9BC97A6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85DCC-CB28-4D6E-AA28-4FF57A321CAE}" type="datetimeFigureOut">
              <a:rPr lang="en-MY" smtClean="0"/>
              <a:t>22/5/2024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AB40E8-8339-4369-A382-874EBF9A2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1F6331-3D82-4902-AEA6-E2C17B0A4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DBAFF-38FF-41CC-A418-DDDF70759DF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31287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0762D-3051-4278-ADC7-0BC78B4CD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22967B-DEB2-476B-865E-A649CD1EC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85DCC-CB28-4D6E-AA28-4FF57A321CAE}" type="datetimeFigureOut">
              <a:rPr lang="en-MY" smtClean="0"/>
              <a:t>22/5/2024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8D8F00-917C-4CEA-8D1D-8FC38D758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1E995A-9F17-44C9-8235-F4B1D0D3D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DBAFF-38FF-41CC-A418-DDDF70759DF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58351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A72803-737F-4E3A-B7F6-140F04E15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85DCC-CB28-4D6E-AA28-4FF57A321CAE}" type="datetimeFigureOut">
              <a:rPr lang="en-MY" smtClean="0"/>
              <a:t>22/5/2024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B9374C-A724-4C66-A469-2E2E13EBB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0CAB7E-4B39-4ADA-9838-7AB0FC167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DBAFF-38FF-41CC-A418-DDDF70759DF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6207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AAE41-E1F5-4EC5-864A-83D1AB5F9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7E46-ED87-4624-BF4A-1797F31C0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ADE696-2A18-472D-8150-8DD2A693D9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D89DD5-933B-47BB-89F3-AB3767571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85DCC-CB28-4D6E-AA28-4FF57A321CAE}" type="datetimeFigureOut">
              <a:rPr lang="en-MY" smtClean="0"/>
              <a:t>22/5/2024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2BDBBB-D1BE-4D0D-AB56-AD9E92BBD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9AD5B0-CE22-4AB7-B8E6-2FEBD489D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DBAFF-38FF-41CC-A418-DDDF70759DF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38064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29E6F-E52F-415F-9494-FD078C8B2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60138B-F889-4855-AFC2-374D26892D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A2E36B-CE9F-47C4-92A7-28A24F32A2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B06DA-CADA-40B2-BBE0-C053053B6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85DCC-CB28-4D6E-AA28-4FF57A321CAE}" type="datetimeFigureOut">
              <a:rPr lang="en-MY" smtClean="0"/>
              <a:t>22/5/2024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E138F6-74D8-4EFC-8CC5-F37FF941B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6B8A6F-248C-427D-85A9-50FCFFBAE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DBAFF-38FF-41CC-A418-DDDF70759DF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33193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ECDB9-0BBC-46C9-BA43-7B33CB1A7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DF98AE-604B-418B-802F-F9A15126A7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F175B-55C1-453B-8BC0-56A0A137A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85DCC-CB28-4D6E-AA28-4FF57A321CAE}" type="datetimeFigureOut">
              <a:rPr lang="en-MY" smtClean="0"/>
              <a:t>22/5/2024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6B2F0-07F3-440A-BE79-719CE59C9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A2A76B-227C-43C2-A8D3-AF77AA96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DBAFF-38FF-41CC-A418-DDDF70759DF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58635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12A4B8-0F63-4262-B029-911C61FD1C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955153-1E14-4D2A-BEA1-F3660A939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21DBE-D684-43C0-AC05-17937B94A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85DCC-CB28-4D6E-AA28-4FF57A321CAE}" type="datetimeFigureOut">
              <a:rPr lang="en-MY" smtClean="0"/>
              <a:t>22/5/2024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57544-5517-4490-9571-A43126CE7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D0111-8F02-4C3A-9948-E809BD14F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DBAFF-38FF-41CC-A418-DDDF70759DF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9846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B2064C-3E08-469D-BB9F-CEDB3BB3A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3E9C77-57DC-4DE9-A821-CB11DCCD9F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9145B-15DF-4DA0-A851-B0F66776CA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C85DCC-CB28-4D6E-AA28-4FF57A321CAE}" type="datetimeFigureOut">
              <a:rPr lang="en-MY" smtClean="0"/>
              <a:t>22/5/2024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CFF14-241D-4408-AB05-8D24392955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86908-F43B-4A65-A89C-129C1868B9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2DBAFF-38FF-41CC-A418-DDDF70759DF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9581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B3221B0-2892-4AF7-ABF8-BC0B2A9B10B4}"/>
              </a:ext>
            </a:extLst>
          </p:cNvPr>
          <p:cNvSpPr txBox="1"/>
          <p:nvPr/>
        </p:nvSpPr>
        <p:spPr>
          <a:xfrm>
            <a:off x="307577" y="211579"/>
            <a:ext cx="1815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1 USER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42289C-62A9-41DA-9F78-C234C81D485F}"/>
              </a:ext>
            </a:extLst>
          </p:cNvPr>
          <p:cNvSpPr/>
          <p:nvPr/>
        </p:nvSpPr>
        <p:spPr>
          <a:xfrm>
            <a:off x="3595685" y="1214408"/>
            <a:ext cx="5000625" cy="5238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the temperature of the room to 16 degrees</a:t>
            </a:r>
          </a:p>
          <a:p>
            <a:pPr algn="r"/>
            <a:r>
              <a:rPr lang="en-MY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0B550F-F819-4690-8DAF-267066170B51}"/>
              </a:ext>
            </a:extLst>
          </p:cNvPr>
          <p:cNvSpPr/>
          <p:nvPr/>
        </p:nvSpPr>
        <p:spPr>
          <a:xfrm>
            <a:off x="9056784" y="3428999"/>
            <a:ext cx="2079007" cy="12548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Move the temperature meter to 16 degrees </a:t>
            </a:r>
          </a:p>
          <a:p>
            <a:pPr algn="r"/>
            <a:r>
              <a:rPr lang="en-MY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6399F1-C5B7-4F47-AF7B-BD25BBF1E897}"/>
              </a:ext>
            </a:extLst>
          </p:cNvPr>
          <p:cNvSpPr/>
          <p:nvPr/>
        </p:nvSpPr>
        <p:spPr>
          <a:xfrm>
            <a:off x="6427628" y="3428998"/>
            <a:ext cx="2079007" cy="12548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the </a:t>
            </a:r>
          </a:p>
          <a:p>
            <a:pPr algn="ctr"/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 of selected</a:t>
            </a:r>
          </a:p>
          <a:p>
            <a:pPr algn="ctr"/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electrical appliances </a:t>
            </a:r>
          </a:p>
          <a:p>
            <a:pPr algn="r"/>
            <a:r>
              <a:rPr lang="en-MY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1C4168-10D7-473C-979A-730F8B24223E}"/>
              </a:ext>
            </a:extLst>
          </p:cNvPr>
          <p:cNvSpPr/>
          <p:nvPr/>
        </p:nvSpPr>
        <p:spPr>
          <a:xfrm>
            <a:off x="3741918" y="3448073"/>
            <a:ext cx="2079008" cy="12357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Turn on the </a:t>
            </a:r>
          </a:p>
          <a:p>
            <a:pPr algn="ctr"/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selected electrical appliances</a:t>
            </a:r>
          </a:p>
          <a:p>
            <a:pPr algn="r"/>
            <a:r>
              <a:rPr lang="en-MY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037FF23-D403-4087-A875-ED77B8D97DAF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7467132" y="2583628"/>
            <a:ext cx="0" cy="8453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A4443CA-658F-4267-8447-7DAA920EAE5C}"/>
              </a:ext>
            </a:extLst>
          </p:cNvPr>
          <p:cNvCxnSpPr>
            <a:cxnSpLocks/>
          </p:cNvCxnSpPr>
          <p:nvPr/>
        </p:nvCxnSpPr>
        <p:spPr>
          <a:xfrm flipV="1">
            <a:off x="2093191" y="2583628"/>
            <a:ext cx="8003095" cy="238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51FA49C-DDD4-4609-A12D-3DDA120D691B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4781422" y="2607496"/>
            <a:ext cx="0" cy="8405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56419AF-6C1A-425E-A48C-CE58DE6A9010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0096286" y="2583628"/>
            <a:ext cx="2" cy="8453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27D1A1C-91C2-41F1-98A7-A5DF2D34211B}"/>
              </a:ext>
            </a:extLst>
          </p:cNvPr>
          <p:cNvSpPr txBox="1"/>
          <p:nvPr/>
        </p:nvSpPr>
        <p:spPr>
          <a:xfrm>
            <a:off x="2022443" y="1805376"/>
            <a:ext cx="198567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0: </a:t>
            </a:r>
          </a:p>
          <a:p>
            <a:r>
              <a:rPr lang="en-MY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regular user, do 2-3-4.</a:t>
            </a:r>
          </a:p>
          <a:p>
            <a:r>
              <a:rPr lang="en-MY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new user, do1-2-3-4-5.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57E0D9A-291C-40F4-8AB7-723E9DADC73B}"/>
              </a:ext>
            </a:extLst>
          </p:cNvPr>
          <p:cNvSpPr/>
          <p:nvPr/>
        </p:nvSpPr>
        <p:spPr>
          <a:xfrm>
            <a:off x="1056209" y="3452867"/>
            <a:ext cx="2079008" cy="123576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 code to pair electrical appliances with application</a:t>
            </a:r>
          </a:p>
          <a:p>
            <a:pPr algn="r"/>
            <a:r>
              <a:rPr lang="en-MY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3BAE27B-BA22-44E4-BCA8-128256DD7517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2093191" y="2607496"/>
            <a:ext cx="2522" cy="8453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30354B4-11C4-45B3-BB59-2417B2B54C14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6094738" y="1738256"/>
            <a:ext cx="1260" cy="8453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D02096D-541D-4A90-A090-8093B712372F}"/>
              </a:ext>
            </a:extLst>
          </p:cNvPr>
          <p:cNvCxnSpPr>
            <a:cxnSpLocks/>
          </p:cNvCxnSpPr>
          <p:nvPr/>
        </p:nvCxnSpPr>
        <p:spPr>
          <a:xfrm>
            <a:off x="2093191" y="5066256"/>
            <a:ext cx="239216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139F9946-F879-4A7A-9090-FD3861DB9357}"/>
              </a:ext>
            </a:extLst>
          </p:cNvPr>
          <p:cNvSpPr/>
          <p:nvPr/>
        </p:nvSpPr>
        <p:spPr>
          <a:xfrm>
            <a:off x="1053687" y="5381982"/>
            <a:ext cx="2079008" cy="8241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 unit number and brand</a:t>
            </a:r>
          </a:p>
          <a:p>
            <a:pPr algn="r"/>
            <a:r>
              <a:rPr lang="en-MY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4ADB9D3-11C5-4F46-A57C-3C74623430EE}"/>
              </a:ext>
            </a:extLst>
          </p:cNvPr>
          <p:cNvSpPr/>
          <p:nvPr/>
        </p:nvSpPr>
        <p:spPr>
          <a:xfrm>
            <a:off x="3445853" y="5381982"/>
            <a:ext cx="2079008" cy="8241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icon</a:t>
            </a:r>
          </a:p>
          <a:p>
            <a:pPr algn="r"/>
            <a:endParaRPr lang="en-MY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MY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1.2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59989DF-8676-42A4-A3C9-AC645845CB4C}"/>
              </a:ext>
            </a:extLst>
          </p:cNvPr>
          <p:cNvCxnSpPr>
            <a:cxnSpLocks/>
            <a:endCxn id="42" idx="0"/>
          </p:cNvCxnSpPr>
          <p:nvPr/>
        </p:nvCxnSpPr>
        <p:spPr>
          <a:xfrm>
            <a:off x="2091928" y="5055393"/>
            <a:ext cx="1263" cy="3265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553DA08-C140-4560-93F5-1A91D63F6450}"/>
              </a:ext>
            </a:extLst>
          </p:cNvPr>
          <p:cNvCxnSpPr>
            <a:cxnSpLocks/>
            <a:endCxn id="43" idx="0"/>
          </p:cNvCxnSpPr>
          <p:nvPr/>
        </p:nvCxnSpPr>
        <p:spPr>
          <a:xfrm>
            <a:off x="4485357" y="5066256"/>
            <a:ext cx="0" cy="3157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0609AA9-FC6D-4680-9577-D7164DC75DA9}"/>
              </a:ext>
            </a:extLst>
          </p:cNvPr>
          <p:cNvCxnSpPr>
            <a:cxnSpLocks/>
            <a:stCxn id="26" idx="2"/>
          </p:cNvCxnSpPr>
          <p:nvPr/>
        </p:nvCxnSpPr>
        <p:spPr>
          <a:xfrm flipH="1">
            <a:off x="2093189" y="4688628"/>
            <a:ext cx="2524" cy="1915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5FF863A5-C3CA-44A5-9892-A0E891F7FF7C}"/>
              </a:ext>
            </a:extLst>
          </p:cNvPr>
          <p:cNvCxnSpPr>
            <a:cxnSpLocks/>
          </p:cNvCxnSpPr>
          <p:nvPr/>
        </p:nvCxnSpPr>
        <p:spPr>
          <a:xfrm flipV="1">
            <a:off x="2093189" y="4862725"/>
            <a:ext cx="1196085" cy="119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A4D9BB4-7AF2-403A-BCF8-220C60C40816}"/>
              </a:ext>
            </a:extLst>
          </p:cNvPr>
          <p:cNvCxnSpPr>
            <a:cxnSpLocks/>
          </p:cNvCxnSpPr>
          <p:nvPr/>
        </p:nvCxnSpPr>
        <p:spPr>
          <a:xfrm>
            <a:off x="3289274" y="4871474"/>
            <a:ext cx="0" cy="1947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03C414A2-E5BB-439D-B783-4FABD4FE3A7F}"/>
              </a:ext>
            </a:extLst>
          </p:cNvPr>
          <p:cNvSpPr txBox="1"/>
          <p:nvPr/>
        </p:nvSpPr>
        <p:spPr>
          <a:xfrm>
            <a:off x="5569624" y="5120372"/>
            <a:ext cx="32488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1: </a:t>
            </a:r>
          </a:p>
          <a:p>
            <a:r>
              <a:rPr lang="en-MY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both regular and new user, do 1.1-1.2 .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A34E5DDE-0C2B-4449-80B9-5199E02D16FC}"/>
              </a:ext>
            </a:extLst>
          </p:cNvPr>
          <p:cNvCxnSpPr/>
          <p:nvPr/>
        </p:nvCxnSpPr>
        <p:spPr>
          <a:xfrm>
            <a:off x="1053687" y="6265628"/>
            <a:ext cx="20790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2FDE220-E8C1-4472-9F13-99F50976E02E}"/>
              </a:ext>
            </a:extLst>
          </p:cNvPr>
          <p:cNvCxnSpPr/>
          <p:nvPr/>
        </p:nvCxnSpPr>
        <p:spPr>
          <a:xfrm>
            <a:off x="3445853" y="6265628"/>
            <a:ext cx="20790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D9FD761-9E42-40DF-BCB2-9BC00009B4BB}"/>
              </a:ext>
            </a:extLst>
          </p:cNvPr>
          <p:cNvCxnSpPr/>
          <p:nvPr/>
        </p:nvCxnSpPr>
        <p:spPr>
          <a:xfrm>
            <a:off x="9056784" y="4759699"/>
            <a:ext cx="20790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A426E84-A323-4704-97AC-65BFFEAAF241}"/>
              </a:ext>
            </a:extLst>
          </p:cNvPr>
          <p:cNvCxnSpPr/>
          <p:nvPr/>
        </p:nvCxnSpPr>
        <p:spPr>
          <a:xfrm>
            <a:off x="6427627" y="4759699"/>
            <a:ext cx="20790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6E1D1B4-243C-43D3-A7E1-6F631ABE3D78}"/>
              </a:ext>
            </a:extLst>
          </p:cNvPr>
          <p:cNvCxnSpPr/>
          <p:nvPr/>
        </p:nvCxnSpPr>
        <p:spPr>
          <a:xfrm>
            <a:off x="3741918" y="4759699"/>
            <a:ext cx="20790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007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3575A99-146A-4A75-9FDF-FA5F2E88B663}"/>
              </a:ext>
            </a:extLst>
          </p:cNvPr>
          <p:cNvSpPr/>
          <p:nvPr/>
        </p:nvSpPr>
        <p:spPr>
          <a:xfrm>
            <a:off x="3786290" y="543753"/>
            <a:ext cx="4619416" cy="4860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home electricity monthly bill</a:t>
            </a:r>
          </a:p>
          <a:p>
            <a:pPr algn="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12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b="0" i="0" dirty="0">
              <a:solidFill>
                <a:schemeClr val="tx1"/>
              </a:solidFill>
              <a:effectLst/>
              <a:latin typeface="Helvetica" panose="020B0604020202020204" pitchFamily="34" charset="0"/>
            </a:endParaRPr>
          </a:p>
          <a:p>
            <a:pPr algn="ctr"/>
            <a:endParaRPr lang="en-MY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2ABEA0-4C2F-4C31-84EB-0A2EA62E5A4C}"/>
              </a:ext>
            </a:extLst>
          </p:cNvPr>
          <p:cNvSpPr/>
          <p:nvPr/>
        </p:nvSpPr>
        <p:spPr>
          <a:xfrm>
            <a:off x="975324" y="2242541"/>
            <a:ext cx="2362225" cy="81956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Enter electricity </a:t>
            </a:r>
          </a:p>
          <a:p>
            <a:pPr algn="ctr"/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 unit</a:t>
            </a:r>
          </a:p>
          <a:p>
            <a:pPr algn="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2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b="0" i="0" dirty="0">
              <a:solidFill>
                <a:schemeClr val="tx1"/>
              </a:solidFill>
              <a:effectLst/>
              <a:latin typeface="Helvetica" panose="020B0604020202020204" pitchFamily="34" charset="0"/>
            </a:endParaRPr>
          </a:p>
          <a:p>
            <a:pPr algn="ctr"/>
            <a:endParaRPr lang="en-MY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7DB41E-5972-48C6-A535-5194A44CDC19}"/>
              </a:ext>
            </a:extLst>
          </p:cNvPr>
          <p:cNvSpPr/>
          <p:nvPr/>
        </p:nvSpPr>
        <p:spPr>
          <a:xfrm>
            <a:off x="4914886" y="2242541"/>
            <a:ext cx="2362225" cy="81956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Choose any </a:t>
            </a:r>
          </a:p>
          <a:p>
            <a:pPr algn="ctr"/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electrical appliances </a:t>
            </a:r>
          </a:p>
          <a:p>
            <a:pPr algn="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2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b="0" i="0" dirty="0">
              <a:solidFill>
                <a:schemeClr val="tx1"/>
              </a:solidFill>
              <a:effectLst/>
              <a:latin typeface="Helvetica" panose="020B0604020202020204" pitchFamily="34" charset="0"/>
            </a:endParaRPr>
          </a:p>
          <a:p>
            <a:pPr algn="ctr"/>
            <a:endParaRPr lang="en-MY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8DC6D6-7F2E-43E1-832D-B49B81C76756}"/>
              </a:ext>
            </a:extLst>
          </p:cNvPr>
          <p:cNvSpPr/>
          <p:nvPr/>
        </p:nvSpPr>
        <p:spPr>
          <a:xfrm>
            <a:off x="8854447" y="2242541"/>
            <a:ext cx="2362225" cy="81956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Tap on the </a:t>
            </a:r>
          </a:p>
          <a:p>
            <a:pPr algn="ctr"/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 Result option </a:t>
            </a:r>
          </a:p>
          <a:p>
            <a:pPr algn="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2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b="0" i="0" dirty="0">
              <a:solidFill>
                <a:schemeClr val="tx1"/>
              </a:solidFill>
              <a:effectLst/>
              <a:latin typeface="Helvetica" panose="020B0604020202020204" pitchFamily="34" charset="0"/>
            </a:endParaRPr>
          </a:p>
          <a:p>
            <a:pPr algn="ctr"/>
            <a:endParaRPr lang="en-MY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67A768-9B11-4516-B937-A0F8E8C93350}"/>
              </a:ext>
            </a:extLst>
          </p:cNvPr>
          <p:cNvSpPr/>
          <p:nvPr/>
        </p:nvSpPr>
        <p:spPr>
          <a:xfrm>
            <a:off x="6382856" y="4959807"/>
            <a:ext cx="2022856" cy="81956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Enter hour of </a:t>
            </a:r>
          </a:p>
          <a:p>
            <a:pPr algn="ctr"/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daily use</a:t>
            </a:r>
          </a:p>
          <a:p>
            <a:pPr algn="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2.3</a:t>
            </a:r>
            <a:endParaRPr lang="en-US" sz="12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b="0" i="0" dirty="0">
              <a:solidFill>
                <a:schemeClr val="tx1"/>
              </a:solidFill>
              <a:effectLst/>
              <a:latin typeface="Helvetica" panose="020B0604020202020204" pitchFamily="34" charset="0"/>
            </a:endParaRPr>
          </a:p>
          <a:p>
            <a:pPr algn="ctr"/>
            <a:endParaRPr lang="en-MY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19DC89D-D369-47E0-A03F-009D9F89EB5C}"/>
              </a:ext>
            </a:extLst>
          </p:cNvPr>
          <p:cNvSpPr/>
          <p:nvPr/>
        </p:nvSpPr>
        <p:spPr>
          <a:xfrm>
            <a:off x="3794910" y="4959806"/>
            <a:ext cx="2014235" cy="81956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Enter quantity</a:t>
            </a:r>
          </a:p>
          <a:p>
            <a:pPr algn="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</a:t>
            </a:r>
            <a:endParaRPr lang="en-US" sz="1200" b="0" i="0" dirty="0">
              <a:solidFill>
                <a:schemeClr val="tx1"/>
              </a:solidFill>
              <a:effectLst/>
              <a:latin typeface="Helvetica" panose="020B0604020202020204" pitchFamily="34" charset="0"/>
            </a:endParaRPr>
          </a:p>
          <a:p>
            <a:pPr algn="ctr"/>
            <a:endParaRPr lang="en-MY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0D2523-6AA9-41D9-9D92-449BEBF8C1E9}"/>
              </a:ext>
            </a:extLst>
          </p:cNvPr>
          <p:cNvSpPr/>
          <p:nvPr/>
        </p:nvSpPr>
        <p:spPr>
          <a:xfrm>
            <a:off x="975324" y="4959806"/>
            <a:ext cx="2315479" cy="81956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Enter wattage</a:t>
            </a:r>
          </a:p>
          <a:p>
            <a:pPr algn="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</a:t>
            </a:r>
            <a:endParaRPr lang="en-US" sz="12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b="0" i="0" dirty="0">
              <a:solidFill>
                <a:schemeClr val="tx1"/>
              </a:solidFill>
              <a:effectLst/>
              <a:latin typeface="Helvetica" panose="020B0604020202020204" pitchFamily="34" charset="0"/>
            </a:endParaRPr>
          </a:p>
          <a:p>
            <a:pPr algn="ctr"/>
            <a:endParaRPr lang="en-MY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7A3A282-0C4E-4203-BF5C-F4335A3F9201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>
            <a:off x="6095998" y="1029768"/>
            <a:ext cx="1" cy="12127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1B089DD-74E0-4599-B240-22ED387BA7DD}"/>
              </a:ext>
            </a:extLst>
          </p:cNvPr>
          <p:cNvCxnSpPr>
            <a:cxnSpLocks/>
          </p:cNvCxnSpPr>
          <p:nvPr/>
        </p:nvCxnSpPr>
        <p:spPr>
          <a:xfrm>
            <a:off x="2145611" y="1756526"/>
            <a:ext cx="790077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C1129FA-4290-4DC6-955E-69710A181632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2156437" y="1756526"/>
            <a:ext cx="0" cy="4860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9829E44-6FFE-4F23-8AB1-EC4D1B59F2BE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10035557" y="1747510"/>
            <a:ext cx="3" cy="4950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5639612-5E79-43E5-8C88-CDD5D98A70D7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4802028" y="4448140"/>
            <a:ext cx="0" cy="5116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0634B6F-DFB7-4201-A8E3-37EC606B7B95}"/>
              </a:ext>
            </a:extLst>
          </p:cNvPr>
          <p:cNvCxnSpPr>
            <a:cxnSpLocks/>
          </p:cNvCxnSpPr>
          <p:nvPr/>
        </p:nvCxnSpPr>
        <p:spPr>
          <a:xfrm>
            <a:off x="2123010" y="4448140"/>
            <a:ext cx="79402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B6B8D68-A6A6-4839-ABC5-ED6A65F043B4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2133064" y="4448140"/>
            <a:ext cx="0" cy="5116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3C6F392-F5C6-4821-81B3-7FD0569FC4D3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7394284" y="4448140"/>
            <a:ext cx="0" cy="5116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669732F-2528-4DEB-B396-BCBB4702E7E0}"/>
              </a:ext>
            </a:extLst>
          </p:cNvPr>
          <p:cNvCxnSpPr>
            <a:cxnSpLocks/>
          </p:cNvCxnSpPr>
          <p:nvPr/>
        </p:nvCxnSpPr>
        <p:spPr>
          <a:xfrm>
            <a:off x="975324" y="5848709"/>
            <a:ext cx="2315479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39077B4-D07A-4F71-BFEC-649E4DAE15F6}"/>
              </a:ext>
            </a:extLst>
          </p:cNvPr>
          <p:cNvCxnSpPr>
            <a:cxnSpLocks/>
          </p:cNvCxnSpPr>
          <p:nvPr/>
        </p:nvCxnSpPr>
        <p:spPr>
          <a:xfrm>
            <a:off x="6382856" y="5848709"/>
            <a:ext cx="2022850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3F70688-6741-4BE2-899A-E1C1491489F4}"/>
              </a:ext>
            </a:extLst>
          </p:cNvPr>
          <p:cNvCxnSpPr>
            <a:cxnSpLocks/>
          </p:cNvCxnSpPr>
          <p:nvPr/>
        </p:nvCxnSpPr>
        <p:spPr>
          <a:xfrm>
            <a:off x="3794910" y="5848709"/>
            <a:ext cx="2014235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BA92E1A4-950C-4C23-8119-D10E6B583BBB}"/>
              </a:ext>
            </a:extLst>
          </p:cNvPr>
          <p:cNvSpPr txBox="1"/>
          <p:nvPr/>
        </p:nvSpPr>
        <p:spPr>
          <a:xfrm>
            <a:off x="1422561" y="3812853"/>
            <a:ext cx="38163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Plan 2: </a:t>
            </a:r>
          </a:p>
          <a:p>
            <a:r>
              <a:rPr lang="en-MY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both regular and new user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do 2.1-2.2-2.3-2.4 .</a:t>
            </a:r>
            <a:endParaRPr lang="en-MY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0BF65DF-7646-41BA-9353-975DAC8F88AC}"/>
              </a:ext>
            </a:extLst>
          </p:cNvPr>
          <p:cNvSpPr txBox="1"/>
          <p:nvPr/>
        </p:nvSpPr>
        <p:spPr>
          <a:xfrm>
            <a:off x="1216518" y="1121239"/>
            <a:ext cx="31286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Plan 0: </a:t>
            </a:r>
          </a:p>
          <a:p>
            <a:r>
              <a:rPr lang="en-MY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both regular and new user, do 1-2-3 .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BF1196D-CD29-4EA7-8513-BC300E7BDFDF}"/>
              </a:ext>
            </a:extLst>
          </p:cNvPr>
          <p:cNvSpPr txBox="1"/>
          <p:nvPr/>
        </p:nvSpPr>
        <p:spPr>
          <a:xfrm>
            <a:off x="307577" y="211579"/>
            <a:ext cx="1815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2 USER 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B5F0350-0DE7-4D1A-B1D2-747680713B39}"/>
              </a:ext>
            </a:extLst>
          </p:cNvPr>
          <p:cNvSpPr/>
          <p:nvPr/>
        </p:nvSpPr>
        <p:spPr>
          <a:xfrm>
            <a:off x="8909820" y="4959807"/>
            <a:ext cx="2306852" cy="81956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Save the appliances information</a:t>
            </a:r>
          </a:p>
          <a:p>
            <a:pPr algn="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2.4</a:t>
            </a:r>
            <a:endParaRPr lang="en-US" sz="1200" b="0" i="0" dirty="0">
              <a:solidFill>
                <a:schemeClr val="tx1"/>
              </a:solidFill>
              <a:effectLst/>
              <a:latin typeface="Helvetica" panose="020B0604020202020204" pitchFamily="34" charset="0"/>
            </a:endParaRPr>
          </a:p>
          <a:p>
            <a:pPr algn="ctr"/>
            <a:endParaRPr lang="en-MY" dirty="0">
              <a:solidFill>
                <a:schemeClr val="tx1"/>
              </a:solidFill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AB43582-B6E2-429B-8F0B-3D90095464B2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10063246" y="4448140"/>
            <a:ext cx="0" cy="5116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04ADFF4-006F-476F-A834-D9EC0FB42831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6095998" y="3062110"/>
            <a:ext cx="1" cy="13860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5C3CE34-6F11-4413-B5FB-FFB405C9B350}"/>
              </a:ext>
            </a:extLst>
          </p:cNvPr>
          <p:cNvCxnSpPr>
            <a:cxnSpLocks/>
          </p:cNvCxnSpPr>
          <p:nvPr/>
        </p:nvCxnSpPr>
        <p:spPr>
          <a:xfrm>
            <a:off x="8909820" y="5848709"/>
            <a:ext cx="2306852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113CB71-AD0C-4177-83D9-443CFF6E030C}"/>
              </a:ext>
            </a:extLst>
          </p:cNvPr>
          <p:cNvCxnSpPr>
            <a:cxnSpLocks/>
          </p:cNvCxnSpPr>
          <p:nvPr/>
        </p:nvCxnSpPr>
        <p:spPr>
          <a:xfrm>
            <a:off x="8854447" y="3128513"/>
            <a:ext cx="23622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AE908E9-59DF-41FC-8AA1-F88F49A54CBA}"/>
              </a:ext>
            </a:extLst>
          </p:cNvPr>
          <p:cNvCxnSpPr>
            <a:cxnSpLocks/>
          </p:cNvCxnSpPr>
          <p:nvPr/>
        </p:nvCxnSpPr>
        <p:spPr>
          <a:xfrm>
            <a:off x="975324" y="3123807"/>
            <a:ext cx="23622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307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6A74E2-2947-4B25-BA65-613881833980}"/>
              </a:ext>
            </a:extLst>
          </p:cNvPr>
          <p:cNvSpPr txBox="1"/>
          <p:nvPr/>
        </p:nvSpPr>
        <p:spPr>
          <a:xfrm>
            <a:off x="307577" y="211579"/>
            <a:ext cx="1815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3 USER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2C3B8B-F0D9-4B27-BF97-FDD2E2866AA1}"/>
              </a:ext>
            </a:extLst>
          </p:cNvPr>
          <p:cNvSpPr/>
          <p:nvPr/>
        </p:nvSpPr>
        <p:spPr>
          <a:xfrm>
            <a:off x="1658976" y="870011"/>
            <a:ext cx="8874048" cy="71016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 the usage of electric appliances and identify the peak time of its electricity usage</a:t>
            </a:r>
          </a:p>
          <a:p>
            <a:pPr algn="r"/>
            <a:r>
              <a:rPr lang="en-MY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87C3A7-DDB0-4A7D-8772-B12C6DA6B0D1}"/>
              </a:ext>
            </a:extLst>
          </p:cNvPr>
          <p:cNvSpPr/>
          <p:nvPr/>
        </p:nvSpPr>
        <p:spPr>
          <a:xfrm>
            <a:off x="1658976" y="2864950"/>
            <a:ext cx="2438096" cy="95272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Click on Usage </a:t>
            </a:r>
          </a:p>
          <a:p>
            <a:pPr algn="ctr"/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(Go Save) option</a:t>
            </a:r>
          </a:p>
          <a:p>
            <a:pPr algn="r"/>
            <a:r>
              <a:rPr lang="en-MY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778B8C-99FA-4BDE-BBF0-72BA26E6EB0F}"/>
              </a:ext>
            </a:extLst>
          </p:cNvPr>
          <p:cNvSpPr/>
          <p:nvPr/>
        </p:nvSpPr>
        <p:spPr>
          <a:xfrm>
            <a:off x="4876952" y="2864950"/>
            <a:ext cx="2438095" cy="95272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Observe the consumption graph </a:t>
            </a:r>
          </a:p>
          <a:p>
            <a:pPr algn="r"/>
            <a:r>
              <a:rPr lang="en-MY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386D6D-980D-4150-9E7F-FA8C2CB3F85F}"/>
              </a:ext>
            </a:extLst>
          </p:cNvPr>
          <p:cNvSpPr/>
          <p:nvPr/>
        </p:nvSpPr>
        <p:spPr>
          <a:xfrm>
            <a:off x="8094927" y="2860826"/>
            <a:ext cx="2438095" cy="9568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Click on the </a:t>
            </a:r>
          </a:p>
          <a:p>
            <a:pPr algn="ctr"/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electricity bill section</a:t>
            </a:r>
          </a:p>
          <a:p>
            <a:pPr algn="r"/>
            <a:r>
              <a:rPr lang="en-MY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438EF5-142B-42D5-8AFD-8D54CAA747D9}"/>
              </a:ext>
            </a:extLst>
          </p:cNvPr>
          <p:cNvSpPr/>
          <p:nvPr/>
        </p:nvSpPr>
        <p:spPr>
          <a:xfrm>
            <a:off x="3079691" y="5054749"/>
            <a:ext cx="2893539" cy="8924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Choose week or </a:t>
            </a:r>
          </a:p>
          <a:p>
            <a:pPr algn="ctr"/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month usage</a:t>
            </a:r>
          </a:p>
          <a:p>
            <a:pPr algn="r"/>
            <a:r>
              <a:rPr lang="en-MY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E41AF2-3FB7-437A-BC24-2246ACD07E0A}"/>
              </a:ext>
            </a:extLst>
          </p:cNvPr>
          <p:cNvSpPr/>
          <p:nvPr/>
        </p:nvSpPr>
        <p:spPr>
          <a:xfrm>
            <a:off x="6218771" y="5054748"/>
            <a:ext cx="2893539" cy="8924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peak </a:t>
            </a:r>
          </a:p>
          <a:p>
            <a:pPr algn="ctr"/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usage time</a:t>
            </a:r>
          </a:p>
          <a:p>
            <a:pPr algn="r"/>
            <a:r>
              <a:rPr lang="en-MY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79B66A-01A7-4379-BBEA-39D423F4466F}"/>
              </a:ext>
            </a:extLst>
          </p:cNvPr>
          <p:cNvSpPr txBox="1"/>
          <p:nvPr/>
        </p:nvSpPr>
        <p:spPr>
          <a:xfrm>
            <a:off x="1313716" y="1829773"/>
            <a:ext cx="31286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0: </a:t>
            </a:r>
          </a:p>
          <a:p>
            <a:r>
              <a:rPr lang="en-MY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both regular and new user, do 1-2-3 .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E88FFE3-DADF-43A3-9571-39642E49A154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6096000" y="1580177"/>
            <a:ext cx="0" cy="12847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3FF500E-A823-4A33-8CA3-7A3E9438160B}"/>
              </a:ext>
            </a:extLst>
          </p:cNvPr>
          <p:cNvCxnSpPr>
            <a:cxnSpLocks/>
          </p:cNvCxnSpPr>
          <p:nvPr/>
        </p:nvCxnSpPr>
        <p:spPr>
          <a:xfrm>
            <a:off x="2878024" y="2400300"/>
            <a:ext cx="64359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054B163-5506-4D31-9042-08DE13A2600D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2878024" y="2422605"/>
            <a:ext cx="0" cy="4423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687620F-2AEF-495F-905C-FBA62656BAFC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9313975" y="2387381"/>
            <a:ext cx="0" cy="4734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E4B0984-90CF-4F74-9EED-A256ED5FA031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6096000" y="3817676"/>
            <a:ext cx="0" cy="7812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8C41A60-0E9F-498E-B7E8-EBCE73FAB27C}"/>
              </a:ext>
            </a:extLst>
          </p:cNvPr>
          <p:cNvCxnSpPr>
            <a:cxnSpLocks/>
          </p:cNvCxnSpPr>
          <p:nvPr/>
        </p:nvCxnSpPr>
        <p:spPr>
          <a:xfrm>
            <a:off x="4526461" y="4598894"/>
            <a:ext cx="31390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1E93894-214A-4FEC-BE05-D200BDBD22C7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4526461" y="4598894"/>
            <a:ext cx="0" cy="4558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CEAF637-A85C-4320-8F72-FA1223A71E6A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7665541" y="4598894"/>
            <a:ext cx="0" cy="4558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8F8D26C9-FB63-414C-A604-A49D53BD9818}"/>
              </a:ext>
            </a:extLst>
          </p:cNvPr>
          <p:cNvSpPr txBox="1"/>
          <p:nvPr/>
        </p:nvSpPr>
        <p:spPr>
          <a:xfrm>
            <a:off x="1313716" y="4457700"/>
            <a:ext cx="32488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2: </a:t>
            </a:r>
          </a:p>
          <a:p>
            <a:r>
              <a:rPr lang="en-MY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both regular and new user, do 2.1-2.2 .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F690B3A-C568-4EB7-8B50-12551F1DE6E3}"/>
              </a:ext>
            </a:extLst>
          </p:cNvPr>
          <p:cNvCxnSpPr/>
          <p:nvPr/>
        </p:nvCxnSpPr>
        <p:spPr>
          <a:xfrm>
            <a:off x="3079691" y="6041829"/>
            <a:ext cx="28935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5FC5F46-64FB-4963-8199-919D202C8FA7}"/>
              </a:ext>
            </a:extLst>
          </p:cNvPr>
          <p:cNvCxnSpPr>
            <a:cxnSpLocks/>
          </p:cNvCxnSpPr>
          <p:nvPr/>
        </p:nvCxnSpPr>
        <p:spPr>
          <a:xfrm>
            <a:off x="6218771" y="6041829"/>
            <a:ext cx="28935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E04C614-DDD5-4410-9B13-9F50041DF6C7}"/>
              </a:ext>
            </a:extLst>
          </p:cNvPr>
          <p:cNvCxnSpPr>
            <a:cxnSpLocks/>
          </p:cNvCxnSpPr>
          <p:nvPr/>
        </p:nvCxnSpPr>
        <p:spPr>
          <a:xfrm>
            <a:off x="8094927" y="3905121"/>
            <a:ext cx="243809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5FAA159-E085-419B-B152-C19B85A33CEB}"/>
              </a:ext>
            </a:extLst>
          </p:cNvPr>
          <p:cNvCxnSpPr>
            <a:cxnSpLocks/>
          </p:cNvCxnSpPr>
          <p:nvPr/>
        </p:nvCxnSpPr>
        <p:spPr>
          <a:xfrm>
            <a:off x="1645948" y="3905121"/>
            <a:ext cx="24641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8841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B3221B0-2892-4AF7-ABF8-BC0B2A9B10B4}"/>
              </a:ext>
            </a:extLst>
          </p:cNvPr>
          <p:cNvSpPr txBox="1"/>
          <p:nvPr/>
        </p:nvSpPr>
        <p:spPr>
          <a:xfrm>
            <a:off x="307577" y="211579"/>
            <a:ext cx="1815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1 USER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42289C-62A9-41DA-9F78-C234C81D485F}"/>
              </a:ext>
            </a:extLst>
          </p:cNvPr>
          <p:cNvSpPr/>
          <p:nvPr/>
        </p:nvSpPr>
        <p:spPr>
          <a:xfrm>
            <a:off x="3595685" y="1204856"/>
            <a:ext cx="5000625" cy="533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the temperature of the room to 16 degrees</a:t>
            </a:r>
          </a:p>
          <a:p>
            <a:pPr algn="r"/>
            <a:r>
              <a:rPr lang="en-MY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0B550F-F819-4690-8DAF-267066170B51}"/>
              </a:ext>
            </a:extLst>
          </p:cNvPr>
          <p:cNvSpPr/>
          <p:nvPr/>
        </p:nvSpPr>
        <p:spPr>
          <a:xfrm>
            <a:off x="9171717" y="3323791"/>
            <a:ext cx="2172556" cy="11018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Drag the </a:t>
            </a:r>
          </a:p>
          <a:p>
            <a:pPr algn="ctr"/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temperature meter </a:t>
            </a:r>
          </a:p>
          <a:p>
            <a:pPr algn="ctr"/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16 degrees</a:t>
            </a:r>
          </a:p>
          <a:p>
            <a:pPr algn="r"/>
            <a:r>
              <a:rPr lang="en-MY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6399F1-C5B7-4F47-AF7B-BD25BBF1E897}"/>
              </a:ext>
            </a:extLst>
          </p:cNvPr>
          <p:cNvSpPr/>
          <p:nvPr/>
        </p:nvSpPr>
        <p:spPr>
          <a:xfrm>
            <a:off x="6423754" y="3323794"/>
            <a:ext cx="2172556" cy="11018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Click on the electrical appliances interface</a:t>
            </a:r>
          </a:p>
          <a:p>
            <a:pPr algn="r"/>
            <a:r>
              <a:rPr lang="en-MY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1C4168-10D7-473C-979A-730F8B24223E}"/>
              </a:ext>
            </a:extLst>
          </p:cNvPr>
          <p:cNvSpPr/>
          <p:nvPr/>
        </p:nvSpPr>
        <p:spPr>
          <a:xfrm>
            <a:off x="3595690" y="3323792"/>
            <a:ext cx="2172557" cy="11018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Tap on the Remote Control section</a:t>
            </a:r>
          </a:p>
          <a:p>
            <a:pPr algn="r"/>
            <a:r>
              <a:rPr lang="en-MY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037FF23-D403-4087-A875-ED77B8D97DAF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7510032" y="2663139"/>
            <a:ext cx="0" cy="6606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A4443CA-658F-4267-8447-7DAA920EAE5C}"/>
              </a:ext>
            </a:extLst>
          </p:cNvPr>
          <p:cNvCxnSpPr>
            <a:cxnSpLocks/>
          </p:cNvCxnSpPr>
          <p:nvPr/>
        </p:nvCxnSpPr>
        <p:spPr>
          <a:xfrm>
            <a:off x="1934004" y="2650956"/>
            <a:ext cx="8323990" cy="121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51FA49C-DDD4-4609-A12D-3DDA120D691B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4681969" y="2650956"/>
            <a:ext cx="0" cy="6728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56419AF-6C1A-425E-A48C-CE58DE6A9010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0257995" y="2663139"/>
            <a:ext cx="0" cy="6606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27D1A1C-91C2-41F1-98A7-A5DF2D34211B}"/>
              </a:ext>
            </a:extLst>
          </p:cNvPr>
          <p:cNvSpPr txBox="1"/>
          <p:nvPr/>
        </p:nvSpPr>
        <p:spPr>
          <a:xfrm>
            <a:off x="1934001" y="1838670"/>
            <a:ext cx="242649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0: </a:t>
            </a:r>
          </a:p>
          <a:p>
            <a:r>
              <a:rPr lang="en-MY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both regular and new user, </a:t>
            </a:r>
          </a:p>
          <a:p>
            <a:r>
              <a:rPr lang="en-MY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1-2-3-4 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5473170-6451-48EF-8208-B246E1395631}"/>
              </a:ext>
            </a:extLst>
          </p:cNvPr>
          <p:cNvSpPr/>
          <p:nvPr/>
        </p:nvSpPr>
        <p:spPr>
          <a:xfrm>
            <a:off x="847726" y="3323791"/>
            <a:ext cx="2172557" cy="11018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 the app</a:t>
            </a:r>
          </a:p>
          <a:p>
            <a:pPr algn="r"/>
            <a:r>
              <a:rPr lang="en-MY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49545BD-91D4-4723-AF33-40D97F980AC7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1934005" y="2650956"/>
            <a:ext cx="0" cy="6728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A9E3AA3-4998-439C-83EC-FB78E79DBF10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6095997" y="1738256"/>
            <a:ext cx="1" cy="9248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8F054C07-E95F-416B-A9FA-B49426E686B9}"/>
              </a:ext>
            </a:extLst>
          </p:cNvPr>
          <p:cNvSpPr/>
          <p:nvPr/>
        </p:nvSpPr>
        <p:spPr>
          <a:xfrm>
            <a:off x="3359327" y="5139107"/>
            <a:ext cx="2645282" cy="8436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Switch on the selected</a:t>
            </a:r>
          </a:p>
          <a:p>
            <a:pPr algn="ctr"/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electrical appliances</a:t>
            </a:r>
          </a:p>
          <a:p>
            <a:pPr algn="r"/>
            <a:r>
              <a:rPr lang="en-MY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96CF0EF-F3F9-447A-AE1E-46680EE99EFF}"/>
              </a:ext>
            </a:extLst>
          </p:cNvPr>
          <p:cNvCxnSpPr/>
          <p:nvPr/>
        </p:nvCxnSpPr>
        <p:spPr>
          <a:xfrm>
            <a:off x="3355038" y="6083149"/>
            <a:ext cx="264957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0091F78-E135-4FC3-8ED3-6BC8C955FA37}"/>
              </a:ext>
            </a:extLst>
          </p:cNvPr>
          <p:cNvCxnSpPr>
            <a:cxnSpLocks/>
            <a:stCxn id="8" idx="2"/>
            <a:endCxn id="39" idx="0"/>
          </p:cNvCxnSpPr>
          <p:nvPr/>
        </p:nvCxnSpPr>
        <p:spPr>
          <a:xfrm flipH="1">
            <a:off x="4681968" y="4425678"/>
            <a:ext cx="1" cy="7134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21AFFA60-B0EB-47D2-9FFF-6C74716A22E2}"/>
              </a:ext>
            </a:extLst>
          </p:cNvPr>
          <p:cNvSpPr txBox="1"/>
          <p:nvPr/>
        </p:nvSpPr>
        <p:spPr>
          <a:xfrm>
            <a:off x="6095997" y="4776152"/>
            <a:ext cx="250031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2: </a:t>
            </a:r>
          </a:p>
          <a:p>
            <a:r>
              <a:rPr lang="en-MY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both regular and new user,</a:t>
            </a:r>
          </a:p>
          <a:p>
            <a:r>
              <a:rPr lang="en-MY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2.1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97E04A9-350F-4FDD-A879-D066F0898788}"/>
              </a:ext>
            </a:extLst>
          </p:cNvPr>
          <p:cNvCxnSpPr>
            <a:cxnSpLocks/>
          </p:cNvCxnSpPr>
          <p:nvPr/>
        </p:nvCxnSpPr>
        <p:spPr>
          <a:xfrm>
            <a:off x="9171717" y="4538061"/>
            <a:ext cx="21725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554E842-20CE-4517-92E7-25F813DD2B97}"/>
              </a:ext>
            </a:extLst>
          </p:cNvPr>
          <p:cNvCxnSpPr>
            <a:cxnSpLocks/>
          </p:cNvCxnSpPr>
          <p:nvPr/>
        </p:nvCxnSpPr>
        <p:spPr>
          <a:xfrm>
            <a:off x="6423754" y="4538061"/>
            <a:ext cx="21725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440AB31-C9EC-4970-AD09-052235682381}"/>
              </a:ext>
            </a:extLst>
          </p:cNvPr>
          <p:cNvCxnSpPr>
            <a:cxnSpLocks/>
          </p:cNvCxnSpPr>
          <p:nvPr/>
        </p:nvCxnSpPr>
        <p:spPr>
          <a:xfrm>
            <a:off x="847726" y="4538555"/>
            <a:ext cx="21725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1371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3575A99-146A-4A75-9FDF-FA5F2E88B663}"/>
              </a:ext>
            </a:extLst>
          </p:cNvPr>
          <p:cNvSpPr/>
          <p:nvPr/>
        </p:nvSpPr>
        <p:spPr>
          <a:xfrm>
            <a:off x="3786290" y="543753"/>
            <a:ext cx="4619416" cy="4860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home electricity monthly bill</a:t>
            </a:r>
          </a:p>
          <a:p>
            <a:pPr algn="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12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b="0" i="0" dirty="0">
              <a:solidFill>
                <a:schemeClr val="tx1"/>
              </a:solidFill>
              <a:effectLst/>
              <a:latin typeface="Helvetica" panose="020B0604020202020204" pitchFamily="34" charset="0"/>
            </a:endParaRPr>
          </a:p>
          <a:p>
            <a:pPr algn="ctr"/>
            <a:endParaRPr lang="en-MY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2ABEA0-4C2F-4C31-84EB-0A2EA62E5A4C}"/>
              </a:ext>
            </a:extLst>
          </p:cNvPr>
          <p:cNvSpPr/>
          <p:nvPr/>
        </p:nvSpPr>
        <p:spPr>
          <a:xfrm>
            <a:off x="975324" y="2064304"/>
            <a:ext cx="2362225" cy="99780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Enter electricity price per unit</a:t>
            </a:r>
          </a:p>
          <a:p>
            <a:pPr algn="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endParaRPr lang="en-US" b="0" i="0" dirty="0">
              <a:solidFill>
                <a:schemeClr val="tx1"/>
              </a:solidFill>
              <a:effectLst/>
              <a:latin typeface="Helvetica" panose="020B0604020202020204" pitchFamily="34" charset="0"/>
            </a:endParaRPr>
          </a:p>
          <a:p>
            <a:pPr algn="ctr"/>
            <a:endParaRPr lang="en-MY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7DB41E-5972-48C6-A535-5194A44CDC19}"/>
              </a:ext>
            </a:extLst>
          </p:cNvPr>
          <p:cNvSpPr/>
          <p:nvPr/>
        </p:nvSpPr>
        <p:spPr>
          <a:xfrm>
            <a:off x="4914886" y="2064305"/>
            <a:ext cx="2362225" cy="9978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Choose electrical appliances </a:t>
            </a:r>
          </a:p>
          <a:p>
            <a:pPr algn="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2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b="0" i="0" dirty="0">
              <a:solidFill>
                <a:schemeClr val="tx1"/>
              </a:solidFill>
              <a:effectLst/>
              <a:latin typeface="Helvetica" panose="020B0604020202020204" pitchFamily="34" charset="0"/>
            </a:endParaRPr>
          </a:p>
          <a:p>
            <a:pPr algn="ctr"/>
            <a:endParaRPr lang="en-MY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8DC6D6-7F2E-43E1-832D-B49B81C76756}"/>
              </a:ext>
            </a:extLst>
          </p:cNvPr>
          <p:cNvSpPr/>
          <p:nvPr/>
        </p:nvSpPr>
        <p:spPr>
          <a:xfrm>
            <a:off x="8854447" y="2064305"/>
            <a:ext cx="2362225" cy="9978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Choose the Show Result option </a:t>
            </a:r>
          </a:p>
          <a:p>
            <a:pPr algn="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2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b="0" i="0" dirty="0">
              <a:solidFill>
                <a:schemeClr val="tx1"/>
              </a:solidFill>
              <a:effectLst/>
              <a:latin typeface="Helvetica" panose="020B0604020202020204" pitchFamily="34" charset="0"/>
            </a:endParaRPr>
          </a:p>
          <a:p>
            <a:pPr algn="ctr"/>
            <a:endParaRPr lang="en-MY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67A768-9B11-4516-B937-A0F8E8C93350}"/>
              </a:ext>
            </a:extLst>
          </p:cNvPr>
          <p:cNvSpPr/>
          <p:nvPr/>
        </p:nvSpPr>
        <p:spPr>
          <a:xfrm>
            <a:off x="7782417" y="4967421"/>
            <a:ext cx="2527639" cy="9161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Save the appliance information </a:t>
            </a:r>
          </a:p>
          <a:p>
            <a:pPr algn="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2.3</a:t>
            </a:r>
            <a:endParaRPr lang="en-US" sz="12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b="0" i="0" dirty="0">
              <a:solidFill>
                <a:schemeClr val="tx1"/>
              </a:solidFill>
              <a:effectLst/>
              <a:latin typeface="Helvetica" panose="020B0604020202020204" pitchFamily="34" charset="0"/>
            </a:endParaRPr>
          </a:p>
          <a:p>
            <a:pPr algn="ctr"/>
            <a:endParaRPr lang="en-MY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19DC89D-D369-47E0-A03F-009D9F89EB5C}"/>
              </a:ext>
            </a:extLst>
          </p:cNvPr>
          <p:cNvSpPr/>
          <p:nvPr/>
        </p:nvSpPr>
        <p:spPr>
          <a:xfrm>
            <a:off x="4832180" y="4967421"/>
            <a:ext cx="2530834" cy="9161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Enter hour of </a:t>
            </a:r>
          </a:p>
          <a:p>
            <a:pPr algn="ctr"/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daily use</a:t>
            </a:r>
          </a:p>
          <a:p>
            <a:pPr algn="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</a:t>
            </a:r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endParaRPr lang="en-US" b="0" i="0" dirty="0">
              <a:solidFill>
                <a:schemeClr val="tx1"/>
              </a:solidFill>
              <a:effectLst/>
              <a:latin typeface="Helvetica" panose="020B0604020202020204" pitchFamily="34" charset="0"/>
            </a:endParaRPr>
          </a:p>
          <a:p>
            <a:pPr algn="ctr"/>
            <a:endParaRPr lang="en-MY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0D2523-6AA9-41D9-9D92-449BEBF8C1E9}"/>
              </a:ext>
            </a:extLst>
          </p:cNvPr>
          <p:cNvSpPr/>
          <p:nvPr/>
        </p:nvSpPr>
        <p:spPr>
          <a:xfrm>
            <a:off x="1894166" y="4967421"/>
            <a:ext cx="2530834" cy="9161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Enter </a:t>
            </a:r>
          </a:p>
          <a:p>
            <a:pPr algn="ctr"/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wattage</a:t>
            </a:r>
          </a:p>
          <a:p>
            <a:pPr algn="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</a:t>
            </a:r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endParaRPr lang="en-US" b="0" i="0" dirty="0">
              <a:solidFill>
                <a:schemeClr val="tx1"/>
              </a:solidFill>
              <a:effectLst/>
              <a:latin typeface="Helvetica" panose="020B0604020202020204" pitchFamily="34" charset="0"/>
            </a:endParaRPr>
          </a:p>
          <a:p>
            <a:pPr algn="ctr"/>
            <a:endParaRPr lang="en-MY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7A3A282-0C4E-4203-BF5C-F4335A3F9201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>
            <a:off x="6095998" y="1029768"/>
            <a:ext cx="1" cy="10345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1B089DD-74E0-4599-B240-22ED387BA7DD}"/>
              </a:ext>
            </a:extLst>
          </p:cNvPr>
          <p:cNvCxnSpPr>
            <a:cxnSpLocks/>
          </p:cNvCxnSpPr>
          <p:nvPr/>
        </p:nvCxnSpPr>
        <p:spPr>
          <a:xfrm>
            <a:off x="2145611" y="1756526"/>
            <a:ext cx="790077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C1129FA-4290-4DC6-955E-69710A181632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2156437" y="1756526"/>
            <a:ext cx="0" cy="3077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9829E44-6FFE-4F23-8AB1-EC4D1B59F2BE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10035557" y="1747510"/>
            <a:ext cx="3" cy="3167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5639612-5E79-43E5-8C88-CDD5D98A70D7}"/>
              </a:ext>
            </a:extLst>
          </p:cNvPr>
          <p:cNvCxnSpPr>
            <a:cxnSpLocks/>
            <a:stCxn id="9" idx="2"/>
            <a:endCxn id="12" idx="0"/>
          </p:cNvCxnSpPr>
          <p:nvPr/>
        </p:nvCxnSpPr>
        <p:spPr>
          <a:xfrm>
            <a:off x="6095999" y="3062109"/>
            <a:ext cx="1598" cy="19053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0634B6F-DFB7-4201-A8E3-37EC606B7B95}"/>
              </a:ext>
            </a:extLst>
          </p:cNvPr>
          <p:cNvCxnSpPr>
            <a:cxnSpLocks/>
          </p:cNvCxnSpPr>
          <p:nvPr/>
        </p:nvCxnSpPr>
        <p:spPr>
          <a:xfrm>
            <a:off x="3156385" y="4512113"/>
            <a:ext cx="587922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B6B8D68-A6A6-4839-ABC5-ED6A65F043B4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3159583" y="4527597"/>
            <a:ext cx="0" cy="4398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3C6F392-F5C6-4821-81B3-7FD0569FC4D3}"/>
              </a:ext>
            </a:extLst>
          </p:cNvPr>
          <p:cNvCxnSpPr>
            <a:cxnSpLocks/>
            <a:endCxn id="11" idx="0"/>
          </p:cNvCxnSpPr>
          <p:nvPr/>
        </p:nvCxnSpPr>
        <p:spPr>
          <a:xfrm flipH="1">
            <a:off x="9046237" y="4527597"/>
            <a:ext cx="1596" cy="4398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669732F-2528-4DEB-B396-BCBB4702E7E0}"/>
              </a:ext>
            </a:extLst>
          </p:cNvPr>
          <p:cNvCxnSpPr/>
          <p:nvPr/>
        </p:nvCxnSpPr>
        <p:spPr>
          <a:xfrm>
            <a:off x="1894166" y="5999018"/>
            <a:ext cx="25308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39077B4-D07A-4F71-BFEC-649E4DAE15F6}"/>
              </a:ext>
            </a:extLst>
          </p:cNvPr>
          <p:cNvCxnSpPr/>
          <p:nvPr/>
        </p:nvCxnSpPr>
        <p:spPr>
          <a:xfrm>
            <a:off x="7782417" y="5999018"/>
            <a:ext cx="25308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3F70688-6741-4BE2-899A-E1C1491489F4}"/>
              </a:ext>
            </a:extLst>
          </p:cNvPr>
          <p:cNvCxnSpPr/>
          <p:nvPr/>
        </p:nvCxnSpPr>
        <p:spPr>
          <a:xfrm>
            <a:off x="4832180" y="5999018"/>
            <a:ext cx="25308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BA92E1A4-950C-4C23-8119-D10E6B583BBB}"/>
              </a:ext>
            </a:extLst>
          </p:cNvPr>
          <p:cNvSpPr txBox="1"/>
          <p:nvPr/>
        </p:nvSpPr>
        <p:spPr>
          <a:xfrm>
            <a:off x="1390100" y="3858742"/>
            <a:ext cx="3532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Plan 2: </a:t>
            </a:r>
          </a:p>
          <a:p>
            <a:r>
              <a:rPr lang="en-MY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both regular and new user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do 2.1-2.2-2.3 .</a:t>
            </a:r>
            <a:endParaRPr lang="en-MY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0BF65DF-7646-41BA-9353-975DAC8F88AC}"/>
              </a:ext>
            </a:extLst>
          </p:cNvPr>
          <p:cNvSpPr txBox="1"/>
          <p:nvPr/>
        </p:nvSpPr>
        <p:spPr>
          <a:xfrm>
            <a:off x="1795684" y="1085777"/>
            <a:ext cx="30837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Plan 0: </a:t>
            </a:r>
          </a:p>
          <a:p>
            <a:r>
              <a:rPr lang="en-MY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both regular and new user, do 1-2-3.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BF1196D-CD29-4EA7-8513-BC300E7BDFDF}"/>
              </a:ext>
            </a:extLst>
          </p:cNvPr>
          <p:cNvSpPr txBox="1"/>
          <p:nvPr/>
        </p:nvSpPr>
        <p:spPr>
          <a:xfrm>
            <a:off x="307577" y="211579"/>
            <a:ext cx="1815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2 USER 2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82D9B6A-A818-4A3F-BD00-C48D580885DC}"/>
              </a:ext>
            </a:extLst>
          </p:cNvPr>
          <p:cNvCxnSpPr>
            <a:cxnSpLocks/>
          </p:cNvCxnSpPr>
          <p:nvPr/>
        </p:nvCxnSpPr>
        <p:spPr>
          <a:xfrm>
            <a:off x="8854447" y="3165202"/>
            <a:ext cx="23622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B401ED0-B368-4BD4-A327-6B33BAF9C544}"/>
              </a:ext>
            </a:extLst>
          </p:cNvPr>
          <p:cNvCxnSpPr>
            <a:cxnSpLocks/>
          </p:cNvCxnSpPr>
          <p:nvPr/>
        </p:nvCxnSpPr>
        <p:spPr>
          <a:xfrm>
            <a:off x="975324" y="3165202"/>
            <a:ext cx="23622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9424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6A74E2-2947-4B25-BA65-613881833980}"/>
              </a:ext>
            </a:extLst>
          </p:cNvPr>
          <p:cNvSpPr txBox="1"/>
          <p:nvPr/>
        </p:nvSpPr>
        <p:spPr>
          <a:xfrm>
            <a:off x="307577" y="211579"/>
            <a:ext cx="1815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3 USER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2C3B8B-F0D9-4B27-BF97-FDD2E2866AA1}"/>
              </a:ext>
            </a:extLst>
          </p:cNvPr>
          <p:cNvSpPr/>
          <p:nvPr/>
        </p:nvSpPr>
        <p:spPr>
          <a:xfrm>
            <a:off x="1658976" y="870011"/>
            <a:ext cx="8874048" cy="71016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 the usage of electric appliances and identify the peak time of its electricity usage</a:t>
            </a:r>
          </a:p>
          <a:p>
            <a:pPr algn="r"/>
            <a:r>
              <a:rPr lang="en-MY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87C3A7-DDB0-4A7D-8772-B12C6DA6B0D1}"/>
              </a:ext>
            </a:extLst>
          </p:cNvPr>
          <p:cNvSpPr/>
          <p:nvPr/>
        </p:nvSpPr>
        <p:spPr>
          <a:xfrm>
            <a:off x="606842" y="3126259"/>
            <a:ext cx="1395170" cy="90296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Click Home</a:t>
            </a:r>
          </a:p>
          <a:p>
            <a:pPr algn="r"/>
            <a:endParaRPr lang="en-MY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MY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2D67AC-ADD9-453C-84A0-70F3C191FDE5}"/>
              </a:ext>
            </a:extLst>
          </p:cNvPr>
          <p:cNvSpPr/>
          <p:nvPr/>
        </p:nvSpPr>
        <p:spPr>
          <a:xfrm>
            <a:off x="2734895" y="2825768"/>
            <a:ext cx="1935086" cy="12034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Click on Energy Consumption Usage</a:t>
            </a:r>
          </a:p>
          <a:p>
            <a:pPr algn="r"/>
            <a:r>
              <a:rPr lang="en-MY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778B8C-99FA-4BDE-BBF0-72BA26E6EB0F}"/>
              </a:ext>
            </a:extLst>
          </p:cNvPr>
          <p:cNvSpPr/>
          <p:nvPr/>
        </p:nvSpPr>
        <p:spPr>
          <a:xfrm>
            <a:off x="5270925" y="2827265"/>
            <a:ext cx="1649492" cy="120346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Click on any electrical appliances</a:t>
            </a:r>
          </a:p>
          <a:p>
            <a:pPr algn="r"/>
            <a:r>
              <a:rPr lang="en-MY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7C9B96-543B-412B-BBBE-729128692710}"/>
              </a:ext>
            </a:extLst>
          </p:cNvPr>
          <p:cNvSpPr/>
          <p:nvPr/>
        </p:nvSpPr>
        <p:spPr>
          <a:xfrm>
            <a:off x="7520370" y="2827265"/>
            <a:ext cx="1649491" cy="120346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peak usage times on the graph</a:t>
            </a:r>
          </a:p>
          <a:p>
            <a:pPr algn="r"/>
            <a:r>
              <a:rPr lang="en-MY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386D6D-980D-4150-9E7F-FA8C2CB3F85F}"/>
              </a:ext>
            </a:extLst>
          </p:cNvPr>
          <p:cNvSpPr/>
          <p:nvPr/>
        </p:nvSpPr>
        <p:spPr>
          <a:xfrm>
            <a:off x="9769815" y="3126259"/>
            <a:ext cx="1833026" cy="90296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the electricity bill</a:t>
            </a:r>
          </a:p>
          <a:p>
            <a:pPr algn="r"/>
            <a:r>
              <a:rPr lang="en-MY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438EF5-142B-42D5-8AFD-8D54CAA747D9}"/>
              </a:ext>
            </a:extLst>
          </p:cNvPr>
          <p:cNvSpPr/>
          <p:nvPr/>
        </p:nvSpPr>
        <p:spPr>
          <a:xfrm>
            <a:off x="3079691" y="5046667"/>
            <a:ext cx="2893539" cy="90054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Choose week or month usage</a:t>
            </a:r>
          </a:p>
          <a:p>
            <a:pPr algn="r"/>
            <a:endParaRPr lang="en-MY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MY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E41AF2-3FB7-437A-BC24-2246ACD07E0A}"/>
              </a:ext>
            </a:extLst>
          </p:cNvPr>
          <p:cNvSpPr/>
          <p:nvPr/>
        </p:nvSpPr>
        <p:spPr>
          <a:xfrm>
            <a:off x="6218771" y="5046667"/>
            <a:ext cx="2893539" cy="9005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Tap on the consumption graph for comparison</a:t>
            </a:r>
          </a:p>
          <a:p>
            <a:pPr algn="r"/>
            <a:r>
              <a:rPr lang="en-MY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79B66A-01A7-4379-BBEA-39D423F4466F}"/>
              </a:ext>
            </a:extLst>
          </p:cNvPr>
          <p:cNvSpPr txBox="1"/>
          <p:nvPr/>
        </p:nvSpPr>
        <p:spPr>
          <a:xfrm>
            <a:off x="900812" y="1758383"/>
            <a:ext cx="33818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0: </a:t>
            </a:r>
          </a:p>
          <a:p>
            <a:r>
              <a:rPr lang="en-MY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both regular and new user, do 1-2-3-4-5.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E88FFE3-DADF-43A3-9571-39642E49A154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6095671" y="1580177"/>
            <a:ext cx="329" cy="12470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3FF500E-A823-4A33-8CA3-7A3E9438160B}"/>
              </a:ext>
            </a:extLst>
          </p:cNvPr>
          <p:cNvCxnSpPr>
            <a:cxnSpLocks/>
          </p:cNvCxnSpPr>
          <p:nvPr/>
        </p:nvCxnSpPr>
        <p:spPr>
          <a:xfrm>
            <a:off x="1316341" y="2400300"/>
            <a:ext cx="936998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054B163-5506-4D31-9042-08DE13A2600D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1304427" y="2398816"/>
            <a:ext cx="5770" cy="7274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7D4D494-59F8-43CC-8889-5F68DE9CC1E3}"/>
              </a:ext>
            </a:extLst>
          </p:cNvPr>
          <p:cNvCxnSpPr>
            <a:cxnSpLocks/>
            <a:endCxn id="7" idx="0"/>
          </p:cNvCxnSpPr>
          <p:nvPr/>
        </p:nvCxnSpPr>
        <p:spPr>
          <a:xfrm flipH="1">
            <a:off x="3702438" y="2398816"/>
            <a:ext cx="5770" cy="4269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93AA9D3-919F-45E9-AC51-A8DBA78E08A5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8345116" y="2400300"/>
            <a:ext cx="0" cy="4269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687620F-2AEF-495F-905C-FBA62656BAFC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10686328" y="2400300"/>
            <a:ext cx="0" cy="7259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E4B0984-90CF-4F74-9EED-A256ED5FA031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6095671" y="4030734"/>
            <a:ext cx="0" cy="5681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8C41A60-0E9F-498E-B7E8-EBCE73FAB27C}"/>
              </a:ext>
            </a:extLst>
          </p:cNvPr>
          <p:cNvCxnSpPr>
            <a:cxnSpLocks/>
          </p:cNvCxnSpPr>
          <p:nvPr/>
        </p:nvCxnSpPr>
        <p:spPr>
          <a:xfrm>
            <a:off x="4526461" y="4598894"/>
            <a:ext cx="31390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1E93894-214A-4FEC-BE05-D200BDBD22C7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4526461" y="4598894"/>
            <a:ext cx="0" cy="4477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CEAF637-A85C-4320-8F72-FA1223A71E6A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7665541" y="4598894"/>
            <a:ext cx="0" cy="4477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8F8D26C9-FB63-414C-A604-A49D53BD9818}"/>
              </a:ext>
            </a:extLst>
          </p:cNvPr>
          <p:cNvSpPr txBox="1"/>
          <p:nvPr/>
        </p:nvSpPr>
        <p:spPr>
          <a:xfrm>
            <a:off x="1110476" y="4464609"/>
            <a:ext cx="32488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3: </a:t>
            </a:r>
          </a:p>
          <a:p>
            <a:r>
              <a:rPr lang="en-MY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both regular and new user, do 3.1-3.2 .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F690B3A-C568-4EB7-8B50-12551F1DE6E3}"/>
              </a:ext>
            </a:extLst>
          </p:cNvPr>
          <p:cNvCxnSpPr/>
          <p:nvPr/>
        </p:nvCxnSpPr>
        <p:spPr>
          <a:xfrm>
            <a:off x="3079691" y="6041829"/>
            <a:ext cx="28935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5FC5F46-64FB-4963-8199-919D202C8FA7}"/>
              </a:ext>
            </a:extLst>
          </p:cNvPr>
          <p:cNvCxnSpPr>
            <a:cxnSpLocks/>
          </p:cNvCxnSpPr>
          <p:nvPr/>
        </p:nvCxnSpPr>
        <p:spPr>
          <a:xfrm>
            <a:off x="6218771" y="6041829"/>
            <a:ext cx="28935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A06E32D-D02C-4B3D-A25A-9484E4612128}"/>
              </a:ext>
            </a:extLst>
          </p:cNvPr>
          <p:cNvCxnSpPr>
            <a:cxnSpLocks/>
          </p:cNvCxnSpPr>
          <p:nvPr/>
        </p:nvCxnSpPr>
        <p:spPr>
          <a:xfrm>
            <a:off x="9769815" y="4137638"/>
            <a:ext cx="183302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7EEB16C-D643-4230-913F-0D774F1DE628}"/>
              </a:ext>
            </a:extLst>
          </p:cNvPr>
          <p:cNvCxnSpPr>
            <a:cxnSpLocks/>
          </p:cNvCxnSpPr>
          <p:nvPr/>
        </p:nvCxnSpPr>
        <p:spPr>
          <a:xfrm>
            <a:off x="7520370" y="4143007"/>
            <a:ext cx="16494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68F458D-8DBD-4982-B696-7A2207EB6D17}"/>
              </a:ext>
            </a:extLst>
          </p:cNvPr>
          <p:cNvCxnSpPr>
            <a:cxnSpLocks/>
          </p:cNvCxnSpPr>
          <p:nvPr/>
        </p:nvCxnSpPr>
        <p:spPr>
          <a:xfrm>
            <a:off x="2734895" y="4143007"/>
            <a:ext cx="193508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52B81CD-AC54-4565-9FFE-01C93057CCEC}"/>
              </a:ext>
            </a:extLst>
          </p:cNvPr>
          <p:cNvCxnSpPr>
            <a:cxnSpLocks/>
          </p:cNvCxnSpPr>
          <p:nvPr/>
        </p:nvCxnSpPr>
        <p:spPr>
          <a:xfrm>
            <a:off x="606842" y="4143007"/>
            <a:ext cx="139517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835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B3221B0-2892-4AF7-ABF8-BC0B2A9B10B4}"/>
              </a:ext>
            </a:extLst>
          </p:cNvPr>
          <p:cNvSpPr txBox="1"/>
          <p:nvPr/>
        </p:nvSpPr>
        <p:spPr>
          <a:xfrm>
            <a:off x="307577" y="211579"/>
            <a:ext cx="1815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1 USER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42289C-62A9-41DA-9F78-C234C81D485F}"/>
              </a:ext>
            </a:extLst>
          </p:cNvPr>
          <p:cNvSpPr/>
          <p:nvPr/>
        </p:nvSpPr>
        <p:spPr>
          <a:xfrm>
            <a:off x="3595686" y="687228"/>
            <a:ext cx="5000625" cy="533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the temperature of the room to 16 degrees</a:t>
            </a:r>
          </a:p>
          <a:p>
            <a:pPr algn="r"/>
            <a:r>
              <a:rPr lang="en-MY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0B550F-F819-4690-8DAF-267066170B51}"/>
              </a:ext>
            </a:extLst>
          </p:cNvPr>
          <p:cNvSpPr/>
          <p:nvPr/>
        </p:nvSpPr>
        <p:spPr>
          <a:xfrm>
            <a:off x="9700055" y="2483708"/>
            <a:ext cx="1848197" cy="151026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the temperature meter to 16 degrees</a:t>
            </a:r>
          </a:p>
          <a:p>
            <a:pPr algn="r"/>
            <a:r>
              <a:rPr lang="en-MY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6399F1-C5B7-4F47-AF7B-BD25BBF1E897}"/>
              </a:ext>
            </a:extLst>
          </p:cNvPr>
          <p:cNvSpPr/>
          <p:nvPr/>
        </p:nvSpPr>
        <p:spPr>
          <a:xfrm>
            <a:off x="5287767" y="2483708"/>
            <a:ext cx="1612850" cy="15102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any electrical appliances</a:t>
            </a:r>
          </a:p>
          <a:p>
            <a:pPr algn="r"/>
            <a:endParaRPr lang="en-MY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MY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1C4168-10D7-473C-979A-730F8B24223E}"/>
              </a:ext>
            </a:extLst>
          </p:cNvPr>
          <p:cNvSpPr/>
          <p:nvPr/>
        </p:nvSpPr>
        <p:spPr>
          <a:xfrm>
            <a:off x="2888435" y="2483708"/>
            <a:ext cx="1612850" cy="15102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Click on</a:t>
            </a:r>
          </a:p>
          <a:p>
            <a:pPr algn="ctr"/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Home</a:t>
            </a:r>
          </a:p>
          <a:p>
            <a:pPr algn="r"/>
            <a:endParaRPr lang="en-MY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MY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037FF23-D403-4087-A875-ED77B8D97DAF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flipH="1">
            <a:off x="6094192" y="1220628"/>
            <a:ext cx="1807" cy="12630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A4443CA-658F-4267-8447-7DAA920EAE5C}"/>
              </a:ext>
            </a:extLst>
          </p:cNvPr>
          <p:cNvCxnSpPr>
            <a:cxnSpLocks/>
          </p:cNvCxnSpPr>
          <p:nvPr/>
        </p:nvCxnSpPr>
        <p:spPr>
          <a:xfrm flipV="1">
            <a:off x="1440651" y="1928699"/>
            <a:ext cx="9183503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51FA49C-DDD4-4609-A12D-3DDA120D691B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3694860" y="1928699"/>
            <a:ext cx="0" cy="5550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56419AF-6C1A-425E-A48C-CE58DE6A9010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0624154" y="1927098"/>
            <a:ext cx="0" cy="5566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27D1A1C-91C2-41F1-98A7-A5DF2D34211B}"/>
              </a:ext>
            </a:extLst>
          </p:cNvPr>
          <p:cNvSpPr txBox="1"/>
          <p:nvPr/>
        </p:nvSpPr>
        <p:spPr>
          <a:xfrm>
            <a:off x="1345362" y="1151455"/>
            <a:ext cx="208986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0: </a:t>
            </a:r>
          </a:p>
          <a:p>
            <a:r>
              <a:rPr lang="en-MY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regular user, do 2-3-4-5.</a:t>
            </a:r>
          </a:p>
          <a:p>
            <a:r>
              <a:rPr lang="en-MY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new user, do 1-2-3-4-5.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1BE070-3FE6-4636-A13E-C07BC9434A88}"/>
              </a:ext>
            </a:extLst>
          </p:cNvPr>
          <p:cNvSpPr/>
          <p:nvPr/>
        </p:nvSpPr>
        <p:spPr>
          <a:xfrm>
            <a:off x="7532456" y="2491774"/>
            <a:ext cx="1572961" cy="1502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Turn on the electrical appliances</a:t>
            </a:r>
          </a:p>
          <a:p>
            <a:pPr algn="r"/>
            <a:endParaRPr lang="en-MY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MY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F9FA00F-584C-4AB8-91DC-E0019FEF6ECD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8318937" y="1928699"/>
            <a:ext cx="0" cy="5630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7D81127-8973-4DAD-83BE-50F2BAF8B0B3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3694860" y="3993987"/>
            <a:ext cx="0" cy="5764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7BBAAD46-EA7A-4356-A21B-48ECECA75DBA}"/>
              </a:ext>
            </a:extLst>
          </p:cNvPr>
          <p:cNvSpPr/>
          <p:nvPr/>
        </p:nvSpPr>
        <p:spPr>
          <a:xfrm>
            <a:off x="643745" y="2491774"/>
            <a:ext cx="1572961" cy="15022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 in and connect app to Wi-fi</a:t>
            </a:r>
            <a:endParaRPr lang="en-MY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MY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MY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FA056D6-A087-4923-A074-B76EFB24BD1A}"/>
              </a:ext>
            </a:extLst>
          </p:cNvPr>
          <p:cNvCxnSpPr>
            <a:cxnSpLocks/>
            <a:endCxn id="15" idx="0"/>
          </p:cNvCxnSpPr>
          <p:nvPr/>
        </p:nvCxnSpPr>
        <p:spPr>
          <a:xfrm flipH="1">
            <a:off x="1430226" y="1921230"/>
            <a:ext cx="10426" cy="5705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2686EC79-7572-4028-9537-32300C105A12}"/>
              </a:ext>
            </a:extLst>
          </p:cNvPr>
          <p:cNvSpPr/>
          <p:nvPr/>
        </p:nvSpPr>
        <p:spPr>
          <a:xfrm>
            <a:off x="643745" y="4929301"/>
            <a:ext cx="3493102" cy="8072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Pair electrical appliances to applications</a:t>
            </a:r>
          </a:p>
          <a:p>
            <a:pPr algn="r"/>
            <a:r>
              <a:rPr lang="en-MY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1A4765B-3BD6-4EE5-8183-87AB0FC9B7BF}"/>
              </a:ext>
            </a:extLst>
          </p:cNvPr>
          <p:cNvSpPr/>
          <p:nvPr/>
        </p:nvSpPr>
        <p:spPr>
          <a:xfrm>
            <a:off x="4643021" y="4929297"/>
            <a:ext cx="3493102" cy="8072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Tap Done once the connection is ready</a:t>
            </a:r>
          </a:p>
          <a:p>
            <a:pPr algn="r"/>
            <a:r>
              <a:rPr lang="en-MY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9035074-7B24-4E5C-B217-43D20D3124CA}"/>
              </a:ext>
            </a:extLst>
          </p:cNvPr>
          <p:cNvCxnSpPr>
            <a:cxnSpLocks/>
          </p:cNvCxnSpPr>
          <p:nvPr/>
        </p:nvCxnSpPr>
        <p:spPr>
          <a:xfrm>
            <a:off x="2390296" y="4570399"/>
            <a:ext cx="39992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D554B3E-0EED-4654-BD3C-D115538BE9E0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2390296" y="4570399"/>
            <a:ext cx="0" cy="3589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9ADDC69-316B-4223-9BF7-EB1AF9C29979}"/>
              </a:ext>
            </a:extLst>
          </p:cNvPr>
          <p:cNvCxnSpPr>
            <a:cxnSpLocks/>
            <a:endCxn id="29" idx="0"/>
          </p:cNvCxnSpPr>
          <p:nvPr/>
        </p:nvCxnSpPr>
        <p:spPr>
          <a:xfrm flipH="1">
            <a:off x="6389572" y="4570399"/>
            <a:ext cx="2" cy="3588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94F66005-25CE-449F-B2AC-0FCB4E1C356E}"/>
              </a:ext>
            </a:extLst>
          </p:cNvPr>
          <p:cNvCxnSpPr>
            <a:cxnSpLocks/>
          </p:cNvCxnSpPr>
          <p:nvPr/>
        </p:nvCxnSpPr>
        <p:spPr>
          <a:xfrm>
            <a:off x="643745" y="5806704"/>
            <a:ext cx="3493102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6FCCDBA-3BB2-4820-A78D-7D3CD564A8BE}"/>
              </a:ext>
            </a:extLst>
          </p:cNvPr>
          <p:cNvCxnSpPr>
            <a:cxnSpLocks/>
          </p:cNvCxnSpPr>
          <p:nvPr/>
        </p:nvCxnSpPr>
        <p:spPr>
          <a:xfrm>
            <a:off x="4643021" y="5806704"/>
            <a:ext cx="3493102" cy="16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501F780D-CAA6-4A6C-A773-8F56506D91DF}"/>
              </a:ext>
            </a:extLst>
          </p:cNvPr>
          <p:cNvSpPr txBox="1"/>
          <p:nvPr/>
        </p:nvSpPr>
        <p:spPr>
          <a:xfrm>
            <a:off x="6455454" y="4282193"/>
            <a:ext cx="20273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2:</a:t>
            </a:r>
          </a:p>
          <a:p>
            <a:r>
              <a:rPr lang="en-MY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new user, do 2.1-2.2 .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5D8FEB1-ECB6-4A46-BD88-F81947329792}"/>
              </a:ext>
            </a:extLst>
          </p:cNvPr>
          <p:cNvCxnSpPr>
            <a:cxnSpLocks/>
          </p:cNvCxnSpPr>
          <p:nvPr/>
        </p:nvCxnSpPr>
        <p:spPr>
          <a:xfrm>
            <a:off x="5287767" y="4051889"/>
            <a:ext cx="1612850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14D740D-164D-4407-8B59-8A60DD6F5410}"/>
              </a:ext>
            </a:extLst>
          </p:cNvPr>
          <p:cNvCxnSpPr>
            <a:cxnSpLocks/>
          </p:cNvCxnSpPr>
          <p:nvPr/>
        </p:nvCxnSpPr>
        <p:spPr>
          <a:xfrm>
            <a:off x="7532456" y="4051889"/>
            <a:ext cx="1572961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84813A2-4A08-40CC-86C0-48E633CA2315}"/>
              </a:ext>
            </a:extLst>
          </p:cNvPr>
          <p:cNvCxnSpPr>
            <a:cxnSpLocks/>
          </p:cNvCxnSpPr>
          <p:nvPr/>
        </p:nvCxnSpPr>
        <p:spPr>
          <a:xfrm>
            <a:off x="9700055" y="4051876"/>
            <a:ext cx="1848197" cy="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F9761F9-1D99-48D9-9B6F-4E1686651859}"/>
              </a:ext>
            </a:extLst>
          </p:cNvPr>
          <p:cNvCxnSpPr>
            <a:cxnSpLocks/>
          </p:cNvCxnSpPr>
          <p:nvPr/>
        </p:nvCxnSpPr>
        <p:spPr>
          <a:xfrm>
            <a:off x="643745" y="4051876"/>
            <a:ext cx="15729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0723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3575A99-146A-4A75-9FDF-FA5F2E88B663}"/>
              </a:ext>
            </a:extLst>
          </p:cNvPr>
          <p:cNvSpPr/>
          <p:nvPr/>
        </p:nvSpPr>
        <p:spPr>
          <a:xfrm>
            <a:off x="3786290" y="543753"/>
            <a:ext cx="4619416" cy="4860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home electricity monthly bill</a:t>
            </a:r>
          </a:p>
          <a:p>
            <a:pPr algn="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12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b="0" i="0" dirty="0">
              <a:solidFill>
                <a:schemeClr val="tx1"/>
              </a:solidFill>
              <a:effectLst/>
              <a:latin typeface="Helvetica" panose="020B0604020202020204" pitchFamily="34" charset="0"/>
            </a:endParaRPr>
          </a:p>
          <a:p>
            <a:pPr algn="ctr"/>
            <a:endParaRPr lang="en-MY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2ABEA0-4C2F-4C31-84EB-0A2EA62E5A4C}"/>
              </a:ext>
            </a:extLst>
          </p:cNvPr>
          <p:cNvSpPr/>
          <p:nvPr/>
        </p:nvSpPr>
        <p:spPr>
          <a:xfrm>
            <a:off x="975324" y="2093206"/>
            <a:ext cx="1999266" cy="9079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 Home Electricity Bill</a:t>
            </a:r>
          </a:p>
          <a:p>
            <a:pPr algn="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2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b="0" i="0" dirty="0">
              <a:solidFill>
                <a:schemeClr val="tx1"/>
              </a:solidFill>
              <a:effectLst/>
              <a:latin typeface="Helvetica" panose="020B0604020202020204" pitchFamily="34" charset="0"/>
            </a:endParaRPr>
          </a:p>
          <a:p>
            <a:pPr algn="ctr"/>
            <a:endParaRPr lang="en-MY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8DC6D6-7F2E-43E1-832D-B49B81C76756}"/>
              </a:ext>
            </a:extLst>
          </p:cNvPr>
          <p:cNvSpPr/>
          <p:nvPr/>
        </p:nvSpPr>
        <p:spPr>
          <a:xfrm>
            <a:off x="8951264" y="2093206"/>
            <a:ext cx="1999267" cy="9079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Tap on the Show Result option</a:t>
            </a:r>
          </a:p>
          <a:p>
            <a:pPr algn="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endParaRPr lang="en-US" b="0" i="0" dirty="0">
              <a:solidFill>
                <a:schemeClr val="tx1"/>
              </a:solidFill>
              <a:effectLst/>
              <a:latin typeface="Helvetica" panose="020B0604020202020204" pitchFamily="34" charset="0"/>
            </a:endParaRPr>
          </a:p>
          <a:p>
            <a:pPr algn="ctr"/>
            <a:endParaRPr lang="en-MY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67A768-9B11-4516-B937-A0F8E8C93350}"/>
              </a:ext>
            </a:extLst>
          </p:cNvPr>
          <p:cNvSpPr/>
          <p:nvPr/>
        </p:nvSpPr>
        <p:spPr>
          <a:xfrm>
            <a:off x="6382856" y="4959807"/>
            <a:ext cx="2022856" cy="81956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Enter hour of </a:t>
            </a:r>
          </a:p>
          <a:p>
            <a:pPr algn="ctr"/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daily use</a:t>
            </a:r>
          </a:p>
          <a:p>
            <a:pPr algn="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2.3</a:t>
            </a:r>
            <a:endParaRPr lang="en-US" sz="12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b="0" i="0" dirty="0">
              <a:solidFill>
                <a:schemeClr val="tx1"/>
              </a:solidFill>
              <a:effectLst/>
              <a:latin typeface="Helvetica" panose="020B0604020202020204" pitchFamily="34" charset="0"/>
            </a:endParaRPr>
          </a:p>
          <a:p>
            <a:pPr algn="ctr"/>
            <a:endParaRPr lang="en-MY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19DC89D-D369-47E0-A03F-009D9F89EB5C}"/>
              </a:ext>
            </a:extLst>
          </p:cNvPr>
          <p:cNvSpPr/>
          <p:nvPr/>
        </p:nvSpPr>
        <p:spPr>
          <a:xfrm>
            <a:off x="3794910" y="4959806"/>
            <a:ext cx="2014235" cy="81956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Enter </a:t>
            </a:r>
          </a:p>
          <a:p>
            <a:pPr algn="ctr"/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quantity</a:t>
            </a:r>
          </a:p>
          <a:p>
            <a:pPr algn="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</a:t>
            </a:r>
            <a:endParaRPr lang="en-US" sz="1200" b="0" i="0" dirty="0">
              <a:solidFill>
                <a:schemeClr val="tx1"/>
              </a:solidFill>
              <a:effectLst/>
              <a:latin typeface="Helvetica" panose="020B0604020202020204" pitchFamily="34" charset="0"/>
            </a:endParaRPr>
          </a:p>
          <a:p>
            <a:pPr algn="ctr"/>
            <a:endParaRPr lang="en-MY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0D2523-6AA9-41D9-9D92-449BEBF8C1E9}"/>
              </a:ext>
            </a:extLst>
          </p:cNvPr>
          <p:cNvSpPr/>
          <p:nvPr/>
        </p:nvSpPr>
        <p:spPr>
          <a:xfrm>
            <a:off x="975324" y="4959806"/>
            <a:ext cx="2315479" cy="81956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Enter </a:t>
            </a:r>
          </a:p>
          <a:p>
            <a:pPr algn="ctr"/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wattage</a:t>
            </a:r>
          </a:p>
          <a:p>
            <a:pPr algn="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</a:t>
            </a:r>
            <a:endParaRPr lang="en-US" sz="12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b="0" i="0" dirty="0">
              <a:solidFill>
                <a:schemeClr val="tx1"/>
              </a:solidFill>
              <a:effectLst/>
              <a:latin typeface="Helvetica" panose="020B0604020202020204" pitchFamily="34" charset="0"/>
            </a:endParaRPr>
          </a:p>
          <a:p>
            <a:pPr algn="ctr"/>
            <a:endParaRPr lang="en-MY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7A3A282-0C4E-4203-BF5C-F4335A3F9201}"/>
              </a:ext>
            </a:extLst>
          </p:cNvPr>
          <p:cNvCxnSpPr>
            <a:cxnSpLocks/>
          </p:cNvCxnSpPr>
          <p:nvPr/>
        </p:nvCxnSpPr>
        <p:spPr>
          <a:xfrm>
            <a:off x="4728878" y="1775532"/>
            <a:ext cx="0" cy="2004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C1129FA-4290-4DC6-955E-69710A181632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1974955" y="1764000"/>
            <a:ext cx="2" cy="3292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9829E44-6FFE-4F23-8AB1-EC4D1B59F2BE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9950898" y="1751579"/>
            <a:ext cx="0" cy="3416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5639612-5E79-43E5-8C88-CDD5D98A70D7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4802028" y="4448140"/>
            <a:ext cx="0" cy="5116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0634B6F-DFB7-4201-A8E3-37EC606B7B95}"/>
              </a:ext>
            </a:extLst>
          </p:cNvPr>
          <p:cNvCxnSpPr>
            <a:cxnSpLocks/>
          </p:cNvCxnSpPr>
          <p:nvPr/>
        </p:nvCxnSpPr>
        <p:spPr>
          <a:xfrm>
            <a:off x="2123010" y="4448140"/>
            <a:ext cx="79402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B6B8D68-A6A6-4839-ABC5-ED6A65F043B4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2133064" y="4448140"/>
            <a:ext cx="0" cy="5116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3C6F392-F5C6-4821-81B3-7FD0569FC4D3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7394284" y="4448140"/>
            <a:ext cx="0" cy="5116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669732F-2528-4DEB-B396-BCBB4702E7E0}"/>
              </a:ext>
            </a:extLst>
          </p:cNvPr>
          <p:cNvCxnSpPr>
            <a:cxnSpLocks/>
          </p:cNvCxnSpPr>
          <p:nvPr/>
        </p:nvCxnSpPr>
        <p:spPr>
          <a:xfrm>
            <a:off x="975324" y="5891442"/>
            <a:ext cx="23154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39077B4-D07A-4F71-BFEC-649E4DAE15F6}"/>
              </a:ext>
            </a:extLst>
          </p:cNvPr>
          <p:cNvCxnSpPr>
            <a:cxnSpLocks/>
          </p:cNvCxnSpPr>
          <p:nvPr/>
        </p:nvCxnSpPr>
        <p:spPr>
          <a:xfrm>
            <a:off x="6382856" y="5909208"/>
            <a:ext cx="20228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3F70688-6741-4BE2-899A-E1C1491489F4}"/>
              </a:ext>
            </a:extLst>
          </p:cNvPr>
          <p:cNvCxnSpPr>
            <a:cxnSpLocks/>
          </p:cNvCxnSpPr>
          <p:nvPr/>
        </p:nvCxnSpPr>
        <p:spPr>
          <a:xfrm>
            <a:off x="3786290" y="5891442"/>
            <a:ext cx="20228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BA92E1A4-950C-4C23-8119-D10E6B583BBB}"/>
              </a:ext>
            </a:extLst>
          </p:cNvPr>
          <p:cNvSpPr txBox="1"/>
          <p:nvPr/>
        </p:nvSpPr>
        <p:spPr>
          <a:xfrm>
            <a:off x="1486169" y="3832255"/>
            <a:ext cx="38163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Plan 2: </a:t>
            </a:r>
          </a:p>
          <a:p>
            <a:r>
              <a:rPr lang="en-MY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both regular and new user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do 2.1-2.2-2.3-2.4 .</a:t>
            </a:r>
            <a:endParaRPr lang="en-MY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0BF65DF-7646-41BA-9353-975DAC8F88AC}"/>
              </a:ext>
            </a:extLst>
          </p:cNvPr>
          <p:cNvSpPr txBox="1"/>
          <p:nvPr/>
        </p:nvSpPr>
        <p:spPr>
          <a:xfrm>
            <a:off x="1496070" y="1129063"/>
            <a:ext cx="32328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Plan 0: </a:t>
            </a:r>
          </a:p>
          <a:p>
            <a:r>
              <a:rPr lang="en-MY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both regular and new user, do 1-2-3-4.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BF1196D-CD29-4EA7-8513-BC300E7BDFDF}"/>
              </a:ext>
            </a:extLst>
          </p:cNvPr>
          <p:cNvSpPr txBox="1"/>
          <p:nvPr/>
        </p:nvSpPr>
        <p:spPr>
          <a:xfrm>
            <a:off x="307577" y="211579"/>
            <a:ext cx="1815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2 USER 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B5F0350-0DE7-4D1A-B1D2-747680713B39}"/>
              </a:ext>
            </a:extLst>
          </p:cNvPr>
          <p:cNvSpPr/>
          <p:nvPr/>
        </p:nvSpPr>
        <p:spPr>
          <a:xfrm>
            <a:off x="8909820" y="4959807"/>
            <a:ext cx="2306852" cy="81956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Save the appliances information</a:t>
            </a:r>
          </a:p>
          <a:p>
            <a:pPr algn="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2.4</a:t>
            </a:r>
            <a:endParaRPr lang="en-US" sz="1200" b="0" i="0" dirty="0">
              <a:solidFill>
                <a:schemeClr val="tx1"/>
              </a:solidFill>
              <a:effectLst/>
              <a:latin typeface="Helvetica" panose="020B0604020202020204" pitchFamily="34" charset="0"/>
            </a:endParaRPr>
          </a:p>
          <a:p>
            <a:pPr algn="ctr"/>
            <a:endParaRPr lang="en-MY" dirty="0">
              <a:solidFill>
                <a:schemeClr val="tx1"/>
              </a:solidFill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AB43582-B6E2-429B-8F0B-3D90095464B2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10063246" y="4448140"/>
            <a:ext cx="0" cy="5116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04ADFF4-006F-476F-A834-D9EC0FB42831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6095998" y="1029768"/>
            <a:ext cx="0" cy="7379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5C3CE34-6F11-4413-B5FB-FFB405C9B350}"/>
              </a:ext>
            </a:extLst>
          </p:cNvPr>
          <p:cNvCxnSpPr>
            <a:cxnSpLocks/>
          </p:cNvCxnSpPr>
          <p:nvPr/>
        </p:nvCxnSpPr>
        <p:spPr>
          <a:xfrm>
            <a:off x="8909820" y="5905176"/>
            <a:ext cx="23068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6EAA7FAE-5863-4C8A-9279-39E58DEBAAE2}"/>
              </a:ext>
            </a:extLst>
          </p:cNvPr>
          <p:cNvSpPr/>
          <p:nvPr/>
        </p:nvSpPr>
        <p:spPr>
          <a:xfrm>
            <a:off x="6381331" y="2096904"/>
            <a:ext cx="1999266" cy="9079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Enter average price per unit</a:t>
            </a:r>
          </a:p>
          <a:p>
            <a:pPr algn="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2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b="0" i="0" dirty="0">
              <a:solidFill>
                <a:schemeClr val="tx1"/>
              </a:solidFill>
              <a:effectLst/>
              <a:latin typeface="Helvetica" panose="020B0604020202020204" pitchFamily="34" charset="0"/>
            </a:endParaRPr>
          </a:p>
          <a:p>
            <a:pPr algn="ctr"/>
            <a:endParaRPr lang="en-MY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2191AFE-E4FC-41C8-8829-AFABBD7876AA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7380964" y="1759867"/>
            <a:ext cx="0" cy="3370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E66BCB6-C5A5-4BE4-A325-8201BDAA5622}"/>
              </a:ext>
            </a:extLst>
          </p:cNvPr>
          <p:cNvCxnSpPr>
            <a:cxnSpLocks/>
            <a:stCxn id="38" idx="2"/>
          </p:cNvCxnSpPr>
          <p:nvPr/>
        </p:nvCxnSpPr>
        <p:spPr>
          <a:xfrm>
            <a:off x="4677961" y="2999364"/>
            <a:ext cx="0" cy="5408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649D0A1D-F886-4D20-938C-273545490E9A}"/>
              </a:ext>
            </a:extLst>
          </p:cNvPr>
          <p:cNvCxnSpPr>
            <a:cxnSpLocks/>
          </p:cNvCxnSpPr>
          <p:nvPr/>
        </p:nvCxnSpPr>
        <p:spPr>
          <a:xfrm flipV="1">
            <a:off x="4677961" y="3540204"/>
            <a:ext cx="1373373" cy="164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418704B9-DD9D-44AF-A39A-FF2A87040D37}"/>
              </a:ext>
            </a:extLst>
          </p:cNvPr>
          <p:cNvCxnSpPr>
            <a:cxnSpLocks/>
          </p:cNvCxnSpPr>
          <p:nvPr/>
        </p:nvCxnSpPr>
        <p:spPr>
          <a:xfrm>
            <a:off x="6051334" y="3540205"/>
            <a:ext cx="0" cy="9079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703870A3-CB95-4F9E-AB9A-EDCF6D1384DC}"/>
              </a:ext>
            </a:extLst>
          </p:cNvPr>
          <p:cNvSpPr/>
          <p:nvPr/>
        </p:nvSpPr>
        <p:spPr>
          <a:xfrm>
            <a:off x="3543721" y="2096904"/>
            <a:ext cx="2268479" cy="9024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Choose any </a:t>
            </a:r>
          </a:p>
          <a:p>
            <a:pPr algn="ctr"/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electrical appliances</a:t>
            </a:r>
          </a:p>
          <a:p>
            <a:pPr algn="r"/>
            <a:r>
              <a:rPr lang="en-US" sz="12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/>
            <a:endParaRPr lang="en-US" b="0" i="0" dirty="0">
              <a:solidFill>
                <a:schemeClr val="tx1"/>
              </a:solidFill>
              <a:effectLst/>
              <a:latin typeface="Helvetica" panose="020B0604020202020204" pitchFamily="34" charset="0"/>
            </a:endParaRPr>
          </a:p>
          <a:p>
            <a:pPr algn="ctr"/>
            <a:endParaRPr lang="en-MY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EE22ED-3B3B-469E-AECC-5FF8E0D1E518}"/>
              </a:ext>
            </a:extLst>
          </p:cNvPr>
          <p:cNvSpPr/>
          <p:nvPr/>
        </p:nvSpPr>
        <p:spPr>
          <a:xfrm>
            <a:off x="4544890" y="1775531"/>
            <a:ext cx="372421" cy="2004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50B9464-F900-4932-823D-61C615B42787}"/>
              </a:ext>
            </a:extLst>
          </p:cNvPr>
          <p:cNvCxnSpPr>
            <a:cxnSpLocks/>
            <a:endCxn id="38" idx="0"/>
          </p:cNvCxnSpPr>
          <p:nvPr/>
        </p:nvCxnSpPr>
        <p:spPr>
          <a:xfrm>
            <a:off x="4677961" y="1767698"/>
            <a:ext cx="0" cy="3292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14355A1-8BB2-4EA4-A58A-902653678706}"/>
              </a:ext>
            </a:extLst>
          </p:cNvPr>
          <p:cNvCxnSpPr>
            <a:cxnSpLocks/>
          </p:cNvCxnSpPr>
          <p:nvPr/>
        </p:nvCxnSpPr>
        <p:spPr>
          <a:xfrm>
            <a:off x="8951264" y="3081706"/>
            <a:ext cx="199926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7D183A63-EDC5-42AE-811A-88B557B135C2}"/>
              </a:ext>
            </a:extLst>
          </p:cNvPr>
          <p:cNvCxnSpPr>
            <a:cxnSpLocks/>
          </p:cNvCxnSpPr>
          <p:nvPr/>
        </p:nvCxnSpPr>
        <p:spPr>
          <a:xfrm>
            <a:off x="6381331" y="3081706"/>
            <a:ext cx="199926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314DEF0-23C8-446B-AF1D-9FE64106E20C}"/>
              </a:ext>
            </a:extLst>
          </p:cNvPr>
          <p:cNvCxnSpPr>
            <a:cxnSpLocks/>
          </p:cNvCxnSpPr>
          <p:nvPr/>
        </p:nvCxnSpPr>
        <p:spPr>
          <a:xfrm>
            <a:off x="975324" y="3081706"/>
            <a:ext cx="199926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C7CF8C3-0CF1-4577-9F06-3E3E3B6B779B}"/>
              </a:ext>
            </a:extLst>
          </p:cNvPr>
          <p:cNvCxnSpPr>
            <a:cxnSpLocks/>
          </p:cNvCxnSpPr>
          <p:nvPr/>
        </p:nvCxnSpPr>
        <p:spPr>
          <a:xfrm flipV="1">
            <a:off x="1974954" y="1751579"/>
            <a:ext cx="7975943" cy="234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5689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6A74E2-2947-4B25-BA65-613881833980}"/>
              </a:ext>
            </a:extLst>
          </p:cNvPr>
          <p:cNvSpPr txBox="1"/>
          <p:nvPr/>
        </p:nvSpPr>
        <p:spPr>
          <a:xfrm>
            <a:off x="307577" y="211579"/>
            <a:ext cx="1815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3 USER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2C3B8B-F0D9-4B27-BF97-FDD2E2866AA1}"/>
              </a:ext>
            </a:extLst>
          </p:cNvPr>
          <p:cNvSpPr/>
          <p:nvPr/>
        </p:nvSpPr>
        <p:spPr>
          <a:xfrm>
            <a:off x="1658976" y="870011"/>
            <a:ext cx="8874048" cy="71016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 the usage of electric appliances and identify the peak time of its electricity usage</a:t>
            </a:r>
          </a:p>
          <a:p>
            <a:pPr algn="r"/>
            <a:r>
              <a:rPr lang="en-MY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87C3A7-DDB0-4A7D-8772-B12C6DA6B0D1}"/>
              </a:ext>
            </a:extLst>
          </p:cNvPr>
          <p:cNvSpPr/>
          <p:nvPr/>
        </p:nvSpPr>
        <p:spPr>
          <a:xfrm>
            <a:off x="2927228" y="2762758"/>
            <a:ext cx="1835462" cy="18444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Click on selected electrical appliances interface</a:t>
            </a:r>
          </a:p>
          <a:p>
            <a:pPr algn="r"/>
            <a:r>
              <a:rPr lang="en-MY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2D67AC-ADD9-453C-84A0-70F3C191FDE5}"/>
              </a:ext>
            </a:extLst>
          </p:cNvPr>
          <p:cNvSpPr/>
          <p:nvPr/>
        </p:nvSpPr>
        <p:spPr>
          <a:xfrm>
            <a:off x="5218360" y="2761715"/>
            <a:ext cx="1752696" cy="18444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Tap on Useful Features </a:t>
            </a:r>
          </a:p>
          <a:p>
            <a:pPr algn="r"/>
            <a:r>
              <a:rPr lang="en-MY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778B8C-99FA-4BDE-BBF0-72BA26E6EB0F}"/>
              </a:ext>
            </a:extLst>
          </p:cNvPr>
          <p:cNvSpPr/>
          <p:nvPr/>
        </p:nvSpPr>
        <p:spPr>
          <a:xfrm>
            <a:off x="7364251" y="2758730"/>
            <a:ext cx="1752693" cy="186416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Energy Monitoring</a:t>
            </a:r>
          </a:p>
          <a:p>
            <a:pPr algn="r"/>
            <a:r>
              <a:rPr lang="en-MY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438EF5-142B-42D5-8AFD-8D54CAA747D9}"/>
              </a:ext>
            </a:extLst>
          </p:cNvPr>
          <p:cNvSpPr/>
          <p:nvPr/>
        </p:nvSpPr>
        <p:spPr>
          <a:xfrm>
            <a:off x="6793827" y="5276105"/>
            <a:ext cx="2893539" cy="90054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Click day, week,</a:t>
            </a:r>
          </a:p>
          <a:p>
            <a:pPr algn="ctr"/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month or year of usage</a:t>
            </a:r>
          </a:p>
          <a:p>
            <a:pPr algn="r"/>
            <a:r>
              <a:rPr lang="en-MY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E41AF2-3FB7-437A-BC24-2246ACD07E0A}"/>
              </a:ext>
            </a:extLst>
          </p:cNvPr>
          <p:cNvSpPr/>
          <p:nvPr/>
        </p:nvSpPr>
        <p:spPr>
          <a:xfrm>
            <a:off x="9654094" y="2762871"/>
            <a:ext cx="1752693" cy="18630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peak time usage from the graph</a:t>
            </a:r>
          </a:p>
          <a:p>
            <a:pPr algn="r"/>
            <a:r>
              <a:rPr lang="en-MY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79B66A-01A7-4379-BBEA-39D423F4466F}"/>
              </a:ext>
            </a:extLst>
          </p:cNvPr>
          <p:cNvSpPr txBox="1"/>
          <p:nvPr/>
        </p:nvSpPr>
        <p:spPr>
          <a:xfrm>
            <a:off x="1420212" y="1869277"/>
            <a:ext cx="33818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0: </a:t>
            </a:r>
          </a:p>
          <a:p>
            <a:r>
              <a:rPr lang="en-MY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both regular and new user, do 1-2-3-4-5.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E88FFE3-DADF-43A3-9571-39642E49A154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flipH="1">
            <a:off x="6094708" y="1580177"/>
            <a:ext cx="1292" cy="11815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3FF500E-A823-4A33-8CA3-7A3E9438160B}"/>
              </a:ext>
            </a:extLst>
          </p:cNvPr>
          <p:cNvCxnSpPr>
            <a:cxnSpLocks/>
          </p:cNvCxnSpPr>
          <p:nvPr/>
        </p:nvCxnSpPr>
        <p:spPr>
          <a:xfrm flipV="1">
            <a:off x="1658976" y="2395517"/>
            <a:ext cx="8871465" cy="419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054B163-5506-4D31-9042-08DE13A2600D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3844959" y="2422531"/>
            <a:ext cx="0" cy="3402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7D4D494-59F8-43CC-8889-5F68DE9CC1E3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8240598" y="2422531"/>
            <a:ext cx="0" cy="3361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8C41A60-0E9F-498E-B7E8-EBCE73FAB27C}"/>
              </a:ext>
            </a:extLst>
          </p:cNvPr>
          <p:cNvCxnSpPr>
            <a:cxnSpLocks/>
          </p:cNvCxnSpPr>
          <p:nvPr/>
        </p:nvCxnSpPr>
        <p:spPr>
          <a:xfrm>
            <a:off x="5218360" y="4694173"/>
            <a:ext cx="17526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1E93894-214A-4FEC-BE05-D200BDBD22C7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 flipH="1">
            <a:off x="8240597" y="4622891"/>
            <a:ext cx="1" cy="6532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CEAF637-A85C-4320-8F72-FA1223A71E6A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10530441" y="2392497"/>
            <a:ext cx="2583" cy="3703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8F8D26C9-FB63-414C-A604-A49D53BD9818}"/>
              </a:ext>
            </a:extLst>
          </p:cNvPr>
          <p:cNvSpPr txBox="1"/>
          <p:nvPr/>
        </p:nvSpPr>
        <p:spPr>
          <a:xfrm>
            <a:off x="3906878" y="5126710"/>
            <a:ext cx="29202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4: </a:t>
            </a:r>
          </a:p>
          <a:p>
            <a:r>
              <a:rPr lang="en-MY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both regular and new user, do 4.1.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5FC5F46-64FB-4963-8199-919D202C8FA7}"/>
              </a:ext>
            </a:extLst>
          </p:cNvPr>
          <p:cNvCxnSpPr>
            <a:cxnSpLocks/>
          </p:cNvCxnSpPr>
          <p:nvPr/>
        </p:nvCxnSpPr>
        <p:spPr>
          <a:xfrm>
            <a:off x="6793827" y="6258489"/>
            <a:ext cx="28935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E0BFB99-D203-4B1B-8A26-2D9915A6DF8F}"/>
              </a:ext>
            </a:extLst>
          </p:cNvPr>
          <p:cNvCxnSpPr>
            <a:cxnSpLocks/>
          </p:cNvCxnSpPr>
          <p:nvPr/>
        </p:nvCxnSpPr>
        <p:spPr>
          <a:xfrm>
            <a:off x="9654094" y="4694173"/>
            <a:ext cx="17526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538A809E-B547-411F-9593-1CA06E1D333F}"/>
              </a:ext>
            </a:extLst>
          </p:cNvPr>
          <p:cNvSpPr/>
          <p:nvPr/>
        </p:nvSpPr>
        <p:spPr>
          <a:xfrm>
            <a:off x="953577" y="2784644"/>
            <a:ext cx="1304742" cy="18337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Click on </a:t>
            </a:r>
          </a:p>
          <a:p>
            <a:pPr algn="ctr"/>
            <a:r>
              <a:rPr lang="en-MY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Home</a:t>
            </a:r>
          </a:p>
          <a:p>
            <a:pPr algn="r"/>
            <a:r>
              <a:rPr lang="en-MY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64A7FDD-1376-4978-A90F-649148787625}"/>
              </a:ext>
            </a:extLst>
          </p:cNvPr>
          <p:cNvCxnSpPr>
            <a:cxnSpLocks/>
          </p:cNvCxnSpPr>
          <p:nvPr/>
        </p:nvCxnSpPr>
        <p:spPr>
          <a:xfrm>
            <a:off x="1658976" y="2422531"/>
            <a:ext cx="0" cy="3508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C95F933-E377-44CF-B4F5-156D1C568B13}"/>
              </a:ext>
            </a:extLst>
          </p:cNvPr>
          <p:cNvCxnSpPr>
            <a:cxnSpLocks/>
          </p:cNvCxnSpPr>
          <p:nvPr/>
        </p:nvCxnSpPr>
        <p:spPr>
          <a:xfrm>
            <a:off x="2927228" y="4694173"/>
            <a:ext cx="18354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FFBCFA2-7966-4A09-B152-6FFCC913BFE1}"/>
              </a:ext>
            </a:extLst>
          </p:cNvPr>
          <p:cNvCxnSpPr>
            <a:cxnSpLocks/>
          </p:cNvCxnSpPr>
          <p:nvPr/>
        </p:nvCxnSpPr>
        <p:spPr>
          <a:xfrm>
            <a:off x="953577" y="4694173"/>
            <a:ext cx="13047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8791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673</TotalTime>
  <Words>712</Words>
  <Application>Microsoft Office PowerPoint</Application>
  <PresentationFormat>Widescreen</PresentationFormat>
  <Paragraphs>256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Helvetica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adriana jefri</dc:creator>
  <cp:lastModifiedBy>adriana jefri</cp:lastModifiedBy>
  <cp:revision>38</cp:revision>
  <dcterms:created xsi:type="dcterms:W3CDTF">2024-05-21T17:37:59Z</dcterms:created>
  <dcterms:modified xsi:type="dcterms:W3CDTF">2024-05-22T16:01:59Z</dcterms:modified>
</cp:coreProperties>
</file>